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6858000" cx="12192000"/>
  <p:notesSz cx="6858000" cy="12192000"/>
  <p:embeddedFontLst>
    <p:embeddedFont>
      <p:font typeface="Montserrat"/>
      <p:regular r:id="rId36"/>
      <p:bold r:id="rId37"/>
      <p:italic r:id="rId38"/>
      <p:boldItalic r:id="rId39"/>
    </p:embeddedFont>
    <p:embeddedFont>
      <p:font typeface="JetBrains Mono"/>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4" roundtripDataSignature="AMtx7mg+NvTRkA256gFpcwgGGfWGuuVS6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B773AD2-FA50-4F7C-A878-0F7E4A0B4D0B}">
  <a:tblStyle styleId="{FB773AD2-FA50-4F7C-A878-0F7E4A0B4D0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JetBrainsMono-regular.fntdata"/><Relationship Id="rId20" Type="http://schemas.openxmlformats.org/officeDocument/2006/relationships/slide" Target="slides/slide15.xml"/><Relationship Id="rId42" Type="http://schemas.openxmlformats.org/officeDocument/2006/relationships/font" Target="fonts/JetBrainsMono-italic.fntdata"/><Relationship Id="rId41" Type="http://schemas.openxmlformats.org/officeDocument/2006/relationships/font" Target="fonts/JetBrainsMono-bold.fntdata"/><Relationship Id="rId22" Type="http://schemas.openxmlformats.org/officeDocument/2006/relationships/slide" Target="slides/slide17.xml"/><Relationship Id="rId44" Type="http://customschemas.google.com/relationships/presentationmetadata" Target="metadata"/><Relationship Id="rId21" Type="http://schemas.openxmlformats.org/officeDocument/2006/relationships/slide" Target="slides/slide16.xml"/><Relationship Id="rId43" Type="http://schemas.openxmlformats.org/officeDocument/2006/relationships/font" Target="fonts/JetBrainsMono-bold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Montserrat-bold.fntdata"/><Relationship Id="rId14" Type="http://schemas.openxmlformats.org/officeDocument/2006/relationships/slide" Target="slides/slide9.xml"/><Relationship Id="rId36" Type="http://schemas.openxmlformats.org/officeDocument/2006/relationships/font" Target="fonts/Montserrat-regular.fntdata"/><Relationship Id="rId17" Type="http://schemas.openxmlformats.org/officeDocument/2006/relationships/slide" Target="slides/slide12.xml"/><Relationship Id="rId39" Type="http://schemas.openxmlformats.org/officeDocument/2006/relationships/font" Target="fonts/Montserrat-boldItalic.fntdata"/><Relationship Id="rId16" Type="http://schemas.openxmlformats.org/officeDocument/2006/relationships/slide" Target="slides/slide11.xml"/><Relationship Id="rId38" Type="http://schemas.openxmlformats.org/officeDocument/2006/relationships/font" Target="fonts/Montserrat-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Montserrat"/>
                <a:ea typeface="Montserrat"/>
                <a:cs typeface="Montserrat"/>
                <a:sym typeface="Montserrat"/>
              </a:defRPr>
            </a:lvl1pPr>
            <a:lvl2pPr lvl="1"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2pPr>
            <a:lvl3pPr lvl="2"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3pPr>
            <a:lvl4pPr lvl="3"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4pPr>
            <a:lvl5pPr lvl="4"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5pPr>
            <a:lvl6pPr lvl="5"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6pPr>
            <a:lvl7pPr lvl="6"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7pPr>
            <a:lvl8pPr lvl="7"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8pPr>
            <a:lvl9pPr lvl="8"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Montserrat"/>
                <a:ea typeface="Montserrat"/>
                <a:cs typeface="Montserrat"/>
                <a:sym typeface="Montserrat"/>
              </a:defRPr>
            </a:lvl1pPr>
            <a:lvl2pPr lvl="1"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2pPr>
            <a:lvl3pPr lvl="2"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3pPr>
            <a:lvl4pPr lvl="3"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4pPr>
            <a:lvl5pPr lvl="4"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5pPr>
            <a:lvl6pPr lvl="5"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6pPr>
            <a:lvl7pPr lvl="6"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7pPr>
            <a:lvl8pPr lvl="7"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8pPr>
            <a:lvl9pPr lvl="8"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Montserrat"/>
                <a:ea typeface="Montserrat"/>
                <a:cs typeface="Montserrat"/>
                <a:sym typeface="Montserrat"/>
              </a:defRPr>
            </a:lvl1pPr>
            <a:lvl2pPr indent="-228600" lvl="1" marL="914400" marR="0" rtl="0" algn="l">
              <a:spcBef>
                <a:spcPts val="0"/>
              </a:spcBef>
              <a:spcAft>
                <a:spcPts val="0"/>
              </a:spcAft>
              <a:buSzPts val="1400"/>
              <a:buNone/>
              <a:defRPr b="0" i="0" sz="1200" u="none" cap="none" strike="noStrike">
                <a:solidFill>
                  <a:schemeClr val="dk1"/>
                </a:solidFill>
                <a:latin typeface="Montserrat"/>
                <a:ea typeface="Montserrat"/>
                <a:cs typeface="Montserrat"/>
                <a:sym typeface="Montserrat"/>
              </a:defRPr>
            </a:lvl2pPr>
            <a:lvl3pPr indent="-228600" lvl="2" marL="1371600" marR="0" rtl="0" algn="l">
              <a:spcBef>
                <a:spcPts val="0"/>
              </a:spcBef>
              <a:spcAft>
                <a:spcPts val="0"/>
              </a:spcAft>
              <a:buSzPts val="1400"/>
              <a:buNone/>
              <a:defRPr b="0" i="0" sz="1200" u="none" cap="none" strike="noStrike">
                <a:solidFill>
                  <a:schemeClr val="dk1"/>
                </a:solidFill>
                <a:latin typeface="Montserrat"/>
                <a:ea typeface="Montserrat"/>
                <a:cs typeface="Montserrat"/>
                <a:sym typeface="Montserrat"/>
              </a:defRPr>
            </a:lvl3pPr>
            <a:lvl4pPr indent="-228600" lvl="3" marL="1828800" marR="0" rtl="0" algn="l">
              <a:spcBef>
                <a:spcPts val="0"/>
              </a:spcBef>
              <a:spcAft>
                <a:spcPts val="0"/>
              </a:spcAft>
              <a:buSzPts val="1400"/>
              <a:buNone/>
              <a:defRPr b="0" i="0" sz="1200" u="none" cap="none" strike="noStrike">
                <a:solidFill>
                  <a:schemeClr val="dk1"/>
                </a:solidFill>
                <a:latin typeface="Montserrat"/>
                <a:ea typeface="Montserrat"/>
                <a:cs typeface="Montserrat"/>
                <a:sym typeface="Montserrat"/>
              </a:defRPr>
            </a:lvl4pPr>
            <a:lvl5pPr indent="-228600" lvl="4" marL="2286000" marR="0" rtl="0" algn="l">
              <a:spcBef>
                <a:spcPts val="0"/>
              </a:spcBef>
              <a:spcAft>
                <a:spcPts val="0"/>
              </a:spcAft>
              <a:buSzPts val="1400"/>
              <a:buNone/>
              <a:defRPr b="0" i="0" sz="1200" u="none" cap="none" strike="noStrike">
                <a:solidFill>
                  <a:schemeClr val="dk1"/>
                </a:solidFill>
                <a:latin typeface="Montserrat"/>
                <a:ea typeface="Montserrat"/>
                <a:cs typeface="Montserrat"/>
                <a:sym typeface="Montserrat"/>
              </a:defRPr>
            </a:lvl5pPr>
            <a:lvl6pPr indent="-228600" lvl="5" marL="2743200" marR="0" rtl="0" algn="l">
              <a:spcBef>
                <a:spcPts val="0"/>
              </a:spcBef>
              <a:spcAft>
                <a:spcPts val="0"/>
              </a:spcAft>
              <a:buSzPts val="1400"/>
              <a:buNone/>
              <a:defRPr b="0" i="0" sz="1200" u="none" cap="none" strike="noStrike">
                <a:solidFill>
                  <a:schemeClr val="dk1"/>
                </a:solidFill>
                <a:latin typeface="Montserrat"/>
                <a:ea typeface="Montserrat"/>
                <a:cs typeface="Montserrat"/>
                <a:sym typeface="Montserrat"/>
              </a:defRPr>
            </a:lvl6pPr>
            <a:lvl7pPr indent="-228600" lvl="6" marL="3200400" marR="0" rtl="0" algn="l">
              <a:spcBef>
                <a:spcPts val="0"/>
              </a:spcBef>
              <a:spcAft>
                <a:spcPts val="0"/>
              </a:spcAft>
              <a:buSzPts val="1400"/>
              <a:buNone/>
              <a:defRPr b="0" i="0" sz="1200" u="none" cap="none" strike="noStrike">
                <a:solidFill>
                  <a:schemeClr val="dk1"/>
                </a:solidFill>
                <a:latin typeface="Montserrat"/>
                <a:ea typeface="Montserrat"/>
                <a:cs typeface="Montserrat"/>
                <a:sym typeface="Montserrat"/>
              </a:defRPr>
            </a:lvl7pPr>
            <a:lvl8pPr indent="-228600" lvl="7" marL="3657600" marR="0" rtl="0" algn="l">
              <a:spcBef>
                <a:spcPts val="0"/>
              </a:spcBef>
              <a:spcAft>
                <a:spcPts val="0"/>
              </a:spcAft>
              <a:buSzPts val="1400"/>
              <a:buNone/>
              <a:defRPr b="0" i="0" sz="1200" u="none" cap="none" strike="noStrike">
                <a:solidFill>
                  <a:schemeClr val="dk1"/>
                </a:solidFill>
                <a:latin typeface="Montserrat"/>
                <a:ea typeface="Montserrat"/>
                <a:cs typeface="Montserrat"/>
                <a:sym typeface="Montserrat"/>
              </a:defRPr>
            </a:lvl8pPr>
            <a:lvl9pPr indent="-228600" lvl="8" marL="4114800" marR="0" rtl="0" algn="l">
              <a:spcBef>
                <a:spcPts val="0"/>
              </a:spcBef>
              <a:spcAft>
                <a:spcPts val="0"/>
              </a:spcAft>
              <a:buSzPts val="1400"/>
              <a:buNone/>
              <a:defRPr b="0" i="0" sz="1200" u="none" cap="none" strike="noStrike">
                <a:solidFill>
                  <a:schemeClr val="dk1"/>
                </a:solidFill>
                <a:latin typeface="Montserrat"/>
                <a:ea typeface="Montserrat"/>
                <a:cs typeface="Montserrat"/>
                <a:sym typeface="Montserrat"/>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Montserrat"/>
                <a:ea typeface="Montserrat"/>
                <a:cs typeface="Montserrat"/>
                <a:sym typeface="Montserrat"/>
              </a:defRPr>
            </a:lvl1pPr>
            <a:lvl2pPr lvl="1"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2pPr>
            <a:lvl3pPr lvl="2"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3pPr>
            <a:lvl4pPr lvl="3"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4pPr>
            <a:lvl5pPr lvl="4"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5pPr>
            <a:lvl6pPr lvl="5"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6pPr>
            <a:lvl7pPr lvl="6"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7pPr>
            <a:lvl8pPr lvl="7"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8pPr>
            <a:lvl9pPr lvl="8"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Montserrat"/>
                <a:ea typeface="Montserrat"/>
                <a:cs typeface="Montserrat"/>
                <a:sym typeface="Montserrat"/>
              </a:rPr>
              <a:t>‹#›</a:t>
            </a:fld>
            <a:endParaRPr b="0" i="0" sz="1200" u="none" cap="none" strike="noStrike">
              <a:solidFill>
                <a:schemeClr val="dk1"/>
              </a:solidFill>
              <a:latin typeface="Montserrat"/>
              <a:ea typeface="Montserrat"/>
              <a:cs typeface="Montserrat"/>
              <a:sym typeface="Montserrat"/>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Bienvenida. Este workshop tiene un objetivo: que salgas sabiendo escribir un informe de threat hunting que alguien pueda usar. Para llegar ahí vamos a cazar de verdad: una hipótesis sobre ClickFix, queries semilla en Microsoft Sentinel y telemetría sembrada en el lab. El hallazgo es la materia prima; el informe es el entregable.</a:t>
            </a:r>
            <a:endParaRPr/>
          </a:p>
        </p:txBody>
      </p:sp>
      <p:sp>
        <p:nvSpPr>
          <p:cNvPr id="25" name="Google Shape;2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 name="Google Shape;3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orden importa: primero cazamos para tener algo que contar, después aprendemos a contarlo. La mayor parte del tiempo va al bloque 6. Todo el material (queries, plantilla, consigna y rúbrica) está en el repo, así que no hace falta copiar nada de las slides.</a:t>
            </a:r>
            <a:endParaRPr/>
          </a:p>
        </p:txBody>
      </p:sp>
      <p:sp>
        <p:nvSpPr>
          <p:cNvPr id="36" name="Google Shape;3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Presentación breve. Lo que importa para este workshop: vengo del análisis de inteligencia, donde un informe mal escrito es un informe que nadie usa. Esa disciplina (separar hechos de evaluaciones, decir cuán seguro estás) es lo que vamos a llevar al threat hunting.</a:t>
            </a:r>
            <a:endParaRPr/>
          </a:p>
        </p:txBody>
      </p:sp>
      <p:sp>
        <p:nvSpPr>
          <p:cNvPr id="75" name="Google Shape;7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idea central del workshop. Podés encontrar la intrusión más interesante del año: si no la escribís de forma que otro la entienda y la pueda usar, para la organización no pasó. La query queda en tu historial; el informe es lo que se aprueba, se audita y se hereda.</a:t>
            </a:r>
            <a:endParaRPr/>
          </a:p>
        </p:txBody>
      </p:sp>
      <p:sp>
        <p:nvSpPr>
          <p:cNvPr id="103" name="Google Shape;10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Un mismo informe tiene cuatro lectores con necesidades distintas. El error más común es escribir solo para el SOC: queries y capturas sin una conclusión. El que decide lee el resumen ejecutivo y nada más; el resto vive en los anexos. Por eso el orden del informe importa tanto como el contenido.</a:t>
            </a:r>
            <a:endParaRPr/>
          </a:p>
        </p:txBody>
      </p:sp>
      <p:sp>
        <p:nvSpPr>
          <p:cNvPr id="113" name="Google Shape;11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Estas tres preguntas son el esqueleto del informe y valen también cuando la caza no encuentra nada. La segunda es la que más se omite: lo que no pudiste ver es información para el que decide, porque le dice cuánto confiar en el resto.</a:t>
            </a:r>
            <a:endParaRPr/>
          </a:p>
        </p:txBody>
      </p:sp>
      <p:sp>
        <p:nvSpPr>
          <p:cNvPr id="143" name="Google Shape;14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Antes de definir, despejamos confusiones. Las cuatro cosas de arriba son necesarias en un SOC, pero ninguna es cazar. La definición tiene tres partes que vamos a ver en el caso: asumimos que algo pasó los controles, partimos de una pregunta concreta y terminamos con algo que antes no teníamos (una detección, visibilidad o una contención).</a:t>
            </a:r>
            <a:endParaRPr/>
          </a:p>
        </p:txBody>
      </p:sp>
      <p:sp>
        <p:nvSpPr>
          <p:cNvPr id="164" name="Google Shape;16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Las tres son válidas y se combinan. Hoy usamos la primera: un dato de inteligencia (ClickFix domina el acceso inicial) se convierte en una pregunta que la telemetría puede responder. La clave es traducir TTPs, no IOCs: los IOCs del reporte ya están muertos cuando lo leés.</a:t>
            </a:r>
            <a:endParaRPr/>
          </a:p>
        </p:txBody>
      </p:sp>
      <p:sp>
        <p:nvSpPr>
          <p:cNvPr id="189" name="Google Shape;18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Cuanto más arriba detectás, más le cuesta al atacante cambiar. Lo vimos preparando este workshop: el dominio del stage-1 ya no resolvía a los pocos días y el script cambiaba de hash en cada descarga. Lo único estable fue el comportamiento. Por eso la hipótesis se escribe en el nivel de TTPs.</a:t>
            </a:r>
            <a:endParaRPr/>
          </a:p>
        </p:txBody>
      </p:sp>
      <p:sp>
        <p:nvSpPr>
          <p:cNvPr id="216" name="Google Shape;21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Cinco pasos en tres fases. Fijate que el informe es un paso del ciclo, no un trámite al final: es lo que convierte una caza en una detección, una brecha documentada o una nueva hipótesis. En el caso, la extensión del navegador que encontramos nos dejó la próxima caza.</a:t>
            </a:r>
            <a:endParaRPr/>
          </a:p>
        </p:txBody>
      </p:sp>
      <p:sp>
        <p:nvSpPr>
          <p:cNvPr id="238" name="Google Shape;23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Por qué ClickFix y no otra cosa: es el principal vector de acceso inicial del último año y llega por buscadores, así que el gateway de correo no lo ve. El EDR sí lo registra, pero como actividad del usuario, con binarios firmados por Microsoft y riesgo informativo. Es exactamente el tipo de cosa que hay que salir a buscar.</a:t>
            </a:r>
            <a:endParaRPr/>
          </a:p>
        </p:txBody>
      </p:sp>
      <p:sp>
        <p:nvSpPr>
          <p:cNvPr id="282" name="Google Shape;28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Así se ve del lado de la víctima. La página falsa copia el comando al portapapeles y da tres instrucciones. Lo que aparece en el cuadro Ejecutar parece un código de verificación, pero el principio de la línea es un PowerShell. Dato clave para el informe: el portapapeles no deja rastro, así que el pegado se demuestra con evidencia indirecta. Lo vamos a ver con ACH.</a:t>
            </a:r>
            <a:endParaRPr/>
          </a:p>
        </p:txBody>
      </p:sp>
      <p:sp>
        <p:nvSpPr>
          <p:cNvPr id="316" name="Google Shape;31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misma campaña, días después, ya no pedía Win+R: pedía Win+X y Terminal. Eso rompe una detección basada solo en la clave RunMRU, porque esa clave guarda únicamente lo que se escribe en el cuadro Ejecutar. Y como el comando se pega en un PowerShell ya abierto, tampoco aparece como proceso nuevo: lo ve Script Block Logging. Por eso la caza combina linaje, RunMRU y 4104: cada fuente tapa un hueco de otra. La infraestructura es pública: está documentada por Muhammad Hasan Ali en su análisis de la campaña.</a:t>
            </a:r>
            <a:endParaRPr/>
          </a:p>
        </p:txBody>
      </p:sp>
      <p:sp>
        <p:nvSpPr>
          <p:cNvPr id="331" name="Google Shape;33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5" name="Google Shape;34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Esta es la línea de tiempo del caso real en el que se basa el informe modelo. Cinco pasos quedaron registrados como informativos, sin alerta. La alerta llegó casi cinco minutos después y solo porque una de las tres IPs del atacante estaba en una lista. Si esa IP no hubiera estado listada, el ataque no habría generado ninguna alerta. Esa ventana ciega es la justificación de cazar.</a:t>
            </a:r>
            <a:endParaRPr/>
          </a:p>
        </p:txBody>
      </p:sp>
      <p:sp>
        <p:nvSpPr>
          <p:cNvPr id="346" name="Google Shape;34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1" name="Google Shape;39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Lo detonamos en ANY.RUN preparando el workshop. El veredicto fue limpio, pero las tres reglas de comportamiento se encendieron: es el preámbulo típico de un loader. En la segunda corrida el payload detectó el entorno y mostró un mensaje burlón en vez de ejecutar. Para el informe esto vale oro: es la prueba de por qué no alcanza con mirar el veredicto, y es una limitación que hay que declarar.</a:t>
            </a:r>
            <a:endParaRPr/>
          </a:p>
        </p:txBody>
      </p:sp>
      <p:sp>
        <p:nvSpPr>
          <p:cNvPr id="392" name="Google Shape;39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5" name="Google Shape;41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hipótesis se escribe para que los datos puedan confirmarla o refutarla, y por eso definimos de antemano qué la confirma, qué la refuta y qué no vamos a poder ver. Esta tabla va tal cual al informe: es la sección de hipótesis de la plantilla. Fijate que la brecha conocida está escrita antes de cazar, no como excusa después.</a:t>
            </a:r>
            <a:endParaRPr/>
          </a:p>
        </p:txBody>
      </p:sp>
      <p:sp>
        <p:nvSpPr>
          <p:cNvPr id="416" name="Google Shape;416;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7" name="Google Shape;42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Esto nos pasó de verdad preparando el lab, y es la mejor lección del workshop. Si hubiéramos escrito el informe con esas nueve queries vacías, habríamos concluido que no había nada, o que la plataforma no captura el evento. Las dos conclusiones habrían sido falsas. El control positivo no es un trámite: es lo que separa “no hay nada” de “no estoy mirando bien”.</a:t>
            </a:r>
            <a:endParaRPr/>
          </a:p>
        </p:txBody>
      </p:sp>
      <p:sp>
        <p:nvSpPr>
          <p:cNvPr id="428" name="Google Shape;428;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 name="Google Shape;45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Las queries no se corren sueltas: cada resultado genera la siguiente pregunta. Si la primera encuentra un equipo, la segunda explica por qué el usuario reintentó, la tercera muestra qué instaló, y así hasta la persistencia. La séptima queda planificada: es la hipótesis nueva que deja esta caza. Todas están en el repo, listas para copiar en Sentinel.</a:t>
            </a:r>
            <a:endParaRPr/>
          </a:p>
        </p:txBody>
      </p:sp>
      <p:sp>
        <p:nvSpPr>
          <p:cNvPr id="454" name="Google Shape;45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 name="Google Shape;463;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Esta es la query semilla que abre la caza. Busca intérpretes lanzados por Explorer (Win+R) o por el navegador (FileFix) con algo que huela a descarga. Es deliberadamente amplia: va a traer ruido, y clasificarlo es parte del ejercicio; el PowerShell que lanza el propio sensor queda afuera porque su padre es SenseIR. Lo que no ve es el pegado en una consola ya abierta, como la variante Win+X de la Terminal: ahí el comando corre dentro de un PowerShell interactivo y solo lo registra Script Block Logging. Antes de usarla, corré el control positivo en un equipo del lab que envíe telemetría.</a:t>
            </a:r>
            <a:endParaRPr/>
          </a:p>
        </p:txBody>
      </p:sp>
      <p:sp>
        <p:nvSpPr>
          <p:cNvPr id="464" name="Google Shape;464;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1" name="Google Shape;49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Las tres primeras filas las encontramos de verdad en el lab corriendo las queries. Todas parecen maliciosas a primera vista: PowerShell con bypass, comandos codificados, descargas. Ninguna lo es. El lab es compartido, así que vas a ver actividad de otros workshops: clasificala, no la ignores. Un falso positivo bien documentado es una exclusión que el próximo analista no tiene que volver a investigar.</a:t>
            </a:r>
            <a:endParaRPr/>
          </a:p>
        </p:txBody>
      </p:sp>
      <p:sp>
        <p:nvSpPr>
          <p:cNvPr id="492" name="Google Shape;492;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2" name="Google Shape;50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Cambio de bloque. Hasta acá tenemos hallazgos: resultados de queries, capturas, una línea de tiempo. Eso todavía no es un informe. En este bloque vemos la estructura, cómo se escribe el resumen ejecutivo, cómo separar hechos de evaluaciones y cómo decir cuán seguro estás.</a:t>
            </a:r>
            <a:endParaRPr/>
          </a:p>
        </p:txBody>
      </p:sp>
      <p:sp>
        <p:nvSpPr>
          <p:cNvPr id="503" name="Google Shape;503;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Diez secciones, en este orden. El orden no es estético: va de lo que necesita el que decide (arriba) a lo que necesita el que repite la caza (los anexos). El resumen ejecutivo está marcado porque es lo único que muchos lectores van a leer, y es lo que vemos a continuación.</a:t>
            </a:r>
            <a:endParaRPr/>
          </a:p>
        </p:txBody>
      </p:sp>
      <p:sp>
        <p:nvSpPr>
          <p:cNvPr id="513" name="Google Shape;513;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1" name="Google Shape;561;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BLUF: bottom line up front. La versión de la izquierda no está mal escrita, pero no dice nada: no hay veredicto, no hay alcance, no hay impacto, y termina pidiendo más trabajo. La de la derecha se entiende sin saber qué es KQL: qué pasó, dónde, cuánto tardó y por qué importa. Si el que decide solo lee el primer párrafo, ya tiene lo que necesita.</a:t>
            </a:r>
            <a:endParaRPr/>
          </a:p>
        </p:txBody>
      </p:sp>
      <p:sp>
        <p:nvSpPr>
          <p:cNvPr id="562" name="Google Shape;562;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9" name="Google Shape;579;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error más caro en un informe es mezclar lo observado con lo inferido. “csc.exe inyectado modificó el perfil” suena a hecho, pero la inyección es una evaluación: lo que viste es un csc.exe sin argumentos escribiendo un archivo de Chrome. Escribilos en frases distintas. Así, si mañana aparece evidencia nueva, se revisa la evaluación y el hecho queda en pie.</a:t>
            </a:r>
            <a:endParaRPr/>
          </a:p>
        </p:txBody>
      </p:sp>
      <p:sp>
        <p:nvSpPr>
          <p:cNvPr id="580" name="Google Shape;580;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 name="Google Shape;591;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Dos herramientas de inteligencia que el threat hunting adopta poco. Con ICD 203, “probable” deja de ser una opinión y pasa a ser un rango que el lector puede entender. La confianza es otra cosa: dice cuánta evidencia independiente tenés. Con Admiralty calificás cada fuente de inteligencia que citás: un reporte de vendor con buen historial puede ser B2. Se aplica por hallazgo, no una vez para todo el informe.</a:t>
            </a:r>
            <a:endParaRPr/>
          </a:p>
        </p:txBody>
      </p:sp>
      <p:sp>
        <p:nvSpPr>
          <p:cNvPr id="592" name="Google Shape;592;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0" name="Google Shape;640;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portapapeles no se registra, así que nunca vas a tener la prueba directa de que el comando se pegó. ACH te obliga a listar las explicaciones posibles y a buscar la evidencia que las contradice, no la que las apoya. Lo que vale en el informe es esta tabla: muestra por qué descartaste las alternativas, y le permite a otro analista discutir tu conclusión con los mismos datos.</a:t>
            </a:r>
            <a:endParaRPr/>
          </a:p>
        </p:txBody>
      </p:sp>
      <p:sp>
        <p:nvSpPr>
          <p:cNvPr id="641" name="Google Shape;641;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2" name="Google Shape;652;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mayoría de las cazas no encuentra nada, y es normal. El error es no escribirlas, o escribir solo “no se encontraron indicios”. Sin cobertura y sin control positivo, ese silencio no vale nada. Con ellos, es evidencia de que una técnica no está pasando en tu flota, y la lista de brechas le dice a la organización dónde invertir en visibilidad.</a:t>
            </a:r>
            <a:endParaRPr/>
          </a:p>
        </p:txBody>
      </p:sp>
      <p:sp>
        <p:nvSpPr>
          <p:cNvPr id="653" name="Google Shape;653;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9" name="Google Shape;679;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Ocho controles antes de mandar un informe. No son de estilo: cada uno responde a uno de los lectores que vimos al principio. Esta lista es la rúbrica del ejercicio, así que usala para revisar tu propio informe antes de compartirlo en Discord.</a:t>
            </a:r>
            <a:endParaRPr/>
          </a:p>
        </p:txBody>
      </p:sp>
      <p:sp>
        <p:nvSpPr>
          <p:cNvPr id="680" name="Google Shape;680;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5" name="Google Shape;705;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Ahora te toca a vos. El README del repo tiene el paso a paso, las queries listas para copiar y la consigna. No hace falta encontrar todo: un informe honesto sobre lo que encontraste y lo que no pudiste ver vale más que una lista de capturas. Compartilo en Discord y te devolvemos feedback con la misma rúbrica que viste recién.</a:t>
            </a:r>
            <a:endParaRPr/>
          </a:p>
        </p:txBody>
      </p:sp>
      <p:sp>
        <p:nvSpPr>
          <p:cNvPr id="706" name="Google Shape;706;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1" name="Google Shape;731;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Cierre. Lo que te llevás: una hunt sin informe no existió, el control positivo separa “no hay nada” de “no estoy mirando bien”, y un buen informe separa hechos de evaluaciones y dice cuán seguro estás. Todo el material queda en el repo. Nos vemos en Discord.</a:t>
            </a:r>
            <a:endParaRPr/>
          </a:p>
        </p:txBody>
      </p:sp>
      <p:sp>
        <p:nvSpPr>
          <p:cNvPr id="732" name="Google Shape;732;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background 1">
  <p:cSld name="Slide background 1">
    <p:bg>
      <p:bgPr>
        <a:blipFill>
          <a:blip r:embed="rId2">
            <a:alphaModFix/>
          </a:blip>
          <a:stretch>
            <a:fillRect/>
          </a:stretch>
        </a:blipFill>
      </p:bgPr>
    </p:bg>
    <p:spTree>
      <p:nvGrpSpPr>
        <p:cNvPr id="12" name="Shape 12"/>
        <p:cNvGrpSpPr/>
        <p:nvPr/>
      </p:nvGrpSpPr>
      <p:grpSpPr>
        <a:xfrm>
          <a:off x="0" y="0"/>
          <a:ext cx="0" cy="0"/>
          <a:chOff x="0" y="0"/>
          <a:chExt cx="0" cy="0"/>
        </a:xfrm>
      </p:grpSpPr>
      <p:sp>
        <p:nvSpPr>
          <p:cNvPr id="13" name="Google Shape;13;p32"/>
          <p:cNvSpPr txBox="1"/>
          <p:nvPr>
            <p:ph type="title"/>
          </p:nvPr>
        </p:nvSpPr>
        <p:spPr>
          <a:xfrm>
            <a:off x="812800" y="1127720"/>
            <a:ext cx="10566400" cy="44703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F1EEF7"/>
              </a:buClr>
              <a:buSzPts val="3200"/>
              <a:buFont typeface="Montserrat"/>
              <a:buNone/>
              <a:defRPr sz="3200">
                <a:solidFill>
                  <a:srgbClr val="F1EEF7"/>
                </a:solidFill>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32"/>
          <p:cNvSpPr txBox="1"/>
          <p:nvPr>
            <p:ph idx="1" type="body"/>
          </p:nvPr>
        </p:nvSpPr>
        <p:spPr>
          <a:xfrm>
            <a:off x="812800" y="1879550"/>
            <a:ext cx="10566400" cy="416565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F1EEF7"/>
              </a:buClr>
              <a:buSzPts val="1600"/>
              <a:buNone/>
              <a:defRPr sz="1600">
                <a:solidFill>
                  <a:srgbClr val="F1EEF7"/>
                </a:solidFill>
                <a:latin typeface="Montserrat"/>
                <a:ea typeface="Montserrat"/>
                <a:cs typeface="Montserrat"/>
                <a:sym typeface="Montserrat"/>
              </a:defRPr>
            </a:lvl1pPr>
            <a:lvl2pPr indent="-342900" lvl="1" marL="914400" algn="l">
              <a:spcBef>
                <a:spcPts val="360"/>
              </a:spcBef>
              <a:spcAft>
                <a:spcPts val="0"/>
              </a:spcAft>
              <a:buClr>
                <a:schemeClr val="lt1"/>
              </a:buClr>
              <a:buSzPts val="1800"/>
              <a:buChar char="–"/>
              <a:defRPr/>
            </a:lvl2pPr>
            <a:lvl3pPr indent="-342900" lvl="2" marL="1371600" algn="l">
              <a:spcBef>
                <a:spcPts val="360"/>
              </a:spcBef>
              <a:spcAft>
                <a:spcPts val="0"/>
              </a:spcAft>
              <a:buClr>
                <a:schemeClr val="lt1"/>
              </a:buClr>
              <a:buSzPts val="1800"/>
              <a:buChar char="•"/>
              <a:defRPr/>
            </a:lvl3pPr>
            <a:lvl4pPr indent="-342900" lvl="3" marL="1828800" algn="l">
              <a:spcBef>
                <a:spcPts val="360"/>
              </a:spcBef>
              <a:spcAft>
                <a:spcPts val="0"/>
              </a:spcAft>
              <a:buClr>
                <a:schemeClr val="lt1"/>
              </a:buClr>
              <a:buSzPts val="1800"/>
              <a:buChar char="–"/>
              <a:defRPr/>
            </a:lvl4pPr>
            <a:lvl5pPr indent="-342900" lvl="4" marL="2286000" algn="l">
              <a:spcBef>
                <a:spcPts val="360"/>
              </a:spcBef>
              <a:spcAft>
                <a:spcPts val="0"/>
              </a:spcAft>
              <a:buClr>
                <a:schemeClr val="lt1"/>
              </a:buClr>
              <a:buSzPts val="1800"/>
              <a:buChar char="»"/>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0C0B12"/>
        </a:solidFill>
      </p:bgPr>
    </p:bg>
    <p:spTree>
      <p:nvGrpSpPr>
        <p:cNvPr id="15" name="Shape 15"/>
        <p:cNvGrpSpPr/>
        <p:nvPr/>
      </p:nvGrpSpPr>
      <p:grpSpPr>
        <a:xfrm>
          <a:off x="0" y="0"/>
          <a:ext cx="0" cy="0"/>
          <a:chOff x="0" y="0"/>
          <a:chExt cx="0" cy="0"/>
        </a:xfrm>
      </p:grpSpPr>
      <p:sp>
        <p:nvSpPr>
          <p:cNvPr id="16" name="Google Shape;16;p33"/>
          <p:cNvSpPr txBox="1"/>
          <p:nvPr>
            <p:ph type="title"/>
          </p:nvPr>
        </p:nvSpPr>
        <p:spPr>
          <a:xfrm>
            <a:off x="812800" y="1127720"/>
            <a:ext cx="10566400" cy="44703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F1EEF7"/>
              </a:buClr>
              <a:buSzPts val="3200"/>
              <a:buFont typeface="Montserrat"/>
              <a:buNone/>
              <a:defRPr sz="3200">
                <a:solidFill>
                  <a:srgbClr val="F1EEF7"/>
                </a:solidFill>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3"/>
          <p:cNvSpPr txBox="1"/>
          <p:nvPr>
            <p:ph idx="1" type="body"/>
          </p:nvPr>
        </p:nvSpPr>
        <p:spPr>
          <a:xfrm>
            <a:off x="812800" y="1879550"/>
            <a:ext cx="10566400" cy="416565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F1EEF7"/>
              </a:buClr>
              <a:buSzPts val="1600"/>
              <a:buNone/>
              <a:defRPr sz="1600">
                <a:solidFill>
                  <a:srgbClr val="F1EEF7"/>
                </a:solidFill>
                <a:latin typeface="Montserrat"/>
                <a:ea typeface="Montserrat"/>
                <a:cs typeface="Montserrat"/>
                <a:sym typeface="Montserrat"/>
              </a:defRPr>
            </a:lvl1pPr>
            <a:lvl2pPr indent="-342900" lvl="1" marL="914400" algn="l">
              <a:spcBef>
                <a:spcPts val="360"/>
              </a:spcBef>
              <a:spcAft>
                <a:spcPts val="0"/>
              </a:spcAft>
              <a:buClr>
                <a:schemeClr val="lt1"/>
              </a:buClr>
              <a:buSzPts val="1800"/>
              <a:buChar char="–"/>
              <a:defRPr/>
            </a:lvl2pPr>
            <a:lvl3pPr indent="-342900" lvl="2" marL="1371600" algn="l">
              <a:spcBef>
                <a:spcPts val="360"/>
              </a:spcBef>
              <a:spcAft>
                <a:spcPts val="0"/>
              </a:spcAft>
              <a:buClr>
                <a:schemeClr val="lt1"/>
              </a:buClr>
              <a:buSzPts val="1800"/>
              <a:buChar char="•"/>
              <a:defRPr/>
            </a:lvl3pPr>
            <a:lvl4pPr indent="-342900" lvl="3" marL="1828800" algn="l">
              <a:spcBef>
                <a:spcPts val="360"/>
              </a:spcBef>
              <a:spcAft>
                <a:spcPts val="0"/>
              </a:spcAft>
              <a:buClr>
                <a:schemeClr val="lt1"/>
              </a:buClr>
              <a:buSzPts val="1800"/>
              <a:buChar char="–"/>
              <a:defRPr/>
            </a:lvl4pPr>
            <a:lvl5pPr indent="-342900" lvl="4" marL="2286000" algn="l">
              <a:spcBef>
                <a:spcPts val="360"/>
              </a:spcBef>
              <a:spcAft>
                <a:spcPts val="0"/>
              </a:spcAft>
              <a:buClr>
                <a:schemeClr val="lt1"/>
              </a:buClr>
              <a:buSzPts val="1800"/>
              <a:buChar char="»"/>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background 2">
  <p:cSld name="Slide background 2">
    <p:bg>
      <p:bgPr>
        <a:blipFill>
          <a:blip r:embed="rId2">
            <a:alphaModFix/>
          </a:blip>
          <a:stretch>
            <a:fillRect/>
          </a:stretch>
        </a:blipFill>
      </p:bgPr>
    </p:bg>
    <p:spTree>
      <p:nvGrpSpPr>
        <p:cNvPr id="18" name="Shape 18"/>
        <p:cNvGrpSpPr/>
        <p:nvPr/>
      </p:nvGrpSpPr>
      <p:grpSpPr>
        <a:xfrm>
          <a:off x="0" y="0"/>
          <a:ext cx="0" cy="0"/>
          <a:chOff x="0" y="0"/>
          <a:chExt cx="0" cy="0"/>
        </a:xfrm>
      </p:grpSpPr>
      <p:sp>
        <p:nvSpPr>
          <p:cNvPr id="19" name="Google Shape;19;p34"/>
          <p:cNvSpPr txBox="1"/>
          <p:nvPr>
            <p:ph type="title"/>
          </p:nvPr>
        </p:nvSpPr>
        <p:spPr>
          <a:xfrm>
            <a:off x="812800" y="1127720"/>
            <a:ext cx="10566400" cy="44703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F1EEF7"/>
              </a:buClr>
              <a:buSzPts val="3200"/>
              <a:buFont typeface="Montserrat"/>
              <a:buNone/>
              <a:defRPr sz="3200">
                <a:solidFill>
                  <a:srgbClr val="F1EEF7"/>
                </a:solidFill>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4"/>
          <p:cNvSpPr txBox="1"/>
          <p:nvPr>
            <p:ph idx="1" type="body"/>
          </p:nvPr>
        </p:nvSpPr>
        <p:spPr>
          <a:xfrm>
            <a:off x="812800" y="1879550"/>
            <a:ext cx="10566400" cy="416565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F1EEF7"/>
              </a:buClr>
              <a:buSzPts val="1600"/>
              <a:buNone/>
              <a:defRPr sz="1600">
                <a:solidFill>
                  <a:srgbClr val="F1EEF7"/>
                </a:solidFill>
                <a:latin typeface="Montserrat"/>
                <a:ea typeface="Montserrat"/>
                <a:cs typeface="Montserrat"/>
                <a:sym typeface="Montserrat"/>
              </a:defRPr>
            </a:lvl1pPr>
            <a:lvl2pPr indent="-342900" lvl="1" marL="914400" algn="l">
              <a:spcBef>
                <a:spcPts val="360"/>
              </a:spcBef>
              <a:spcAft>
                <a:spcPts val="0"/>
              </a:spcAft>
              <a:buClr>
                <a:schemeClr val="lt1"/>
              </a:buClr>
              <a:buSzPts val="1800"/>
              <a:buChar char="–"/>
              <a:defRPr/>
            </a:lvl2pPr>
            <a:lvl3pPr indent="-342900" lvl="2" marL="1371600" algn="l">
              <a:spcBef>
                <a:spcPts val="360"/>
              </a:spcBef>
              <a:spcAft>
                <a:spcPts val="0"/>
              </a:spcAft>
              <a:buClr>
                <a:schemeClr val="lt1"/>
              </a:buClr>
              <a:buSzPts val="1800"/>
              <a:buChar char="•"/>
              <a:defRPr/>
            </a:lvl3pPr>
            <a:lvl4pPr indent="-342900" lvl="3" marL="1828800" algn="l">
              <a:spcBef>
                <a:spcPts val="360"/>
              </a:spcBef>
              <a:spcAft>
                <a:spcPts val="0"/>
              </a:spcAft>
              <a:buClr>
                <a:schemeClr val="lt1"/>
              </a:buClr>
              <a:buSzPts val="1800"/>
              <a:buChar char="–"/>
              <a:defRPr/>
            </a:lvl4pPr>
            <a:lvl5pPr indent="-342900" lvl="4" marL="2286000" algn="l">
              <a:spcBef>
                <a:spcPts val="360"/>
              </a:spcBef>
              <a:spcAft>
                <a:spcPts val="0"/>
              </a:spcAft>
              <a:buClr>
                <a:schemeClr val="lt1"/>
              </a:buClr>
              <a:buSzPts val="1800"/>
              <a:buChar char="»"/>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dk1"/>
        </a:solidFill>
      </p:bgPr>
    </p:bg>
    <p:spTree>
      <p:nvGrpSpPr>
        <p:cNvPr id="21" name="Shape 2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9" name="Shape 9"/>
        <p:cNvGrpSpPr/>
        <p:nvPr/>
      </p:nvGrpSpPr>
      <p:grpSpPr>
        <a:xfrm>
          <a:off x="0" y="0"/>
          <a:ext cx="0" cy="0"/>
          <a:chOff x="0" y="0"/>
          <a:chExt cx="0" cy="0"/>
        </a:xfrm>
      </p:grpSpPr>
      <p:sp>
        <p:nvSpPr>
          <p:cNvPr id="10" name="Google Shape;10;p31"/>
          <p:cNvSpPr txBox="1"/>
          <p:nvPr>
            <p:ph type="title"/>
          </p:nvPr>
        </p:nvSpPr>
        <p:spPr>
          <a:xfrm>
            <a:off x="812800" y="1127720"/>
            <a:ext cx="10566400" cy="44703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F1EEF7"/>
              </a:buClr>
              <a:buSzPts val="3200"/>
              <a:buFont typeface="Montserrat"/>
              <a:buNone/>
              <a:defRPr b="0" i="0" sz="3200" u="none" cap="none" strike="noStrike">
                <a:solidFill>
                  <a:srgbClr val="F1EEF7"/>
                </a:solidFill>
                <a:latin typeface="Montserrat"/>
                <a:ea typeface="Montserrat"/>
                <a:cs typeface="Montserrat"/>
                <a:sym typeface="Montserra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1"/>
          <p:cNvSpPr txBox="1"/>
          <p:nvPr>
            <p:ph idx="1" type="body"/>
          </p:nvPr>
        </p:nvSpPr>
        <p:spPr>
          <a:xfrm>
            <a:off x="812800" y="1879550"/>
            <a:ext cx="10566400" cy="4165650"/>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F1EEF7"/>
              </a:buClr>
              <a:buSzPts val="1600"/>
              <a:buFont typeface="Arial"/>
              <a:buNone/>
              <a:defRPr b="0" i="0" sz="1600" u="none" cap="none" strike="noStrike">
                <a:solidFill>
                  <a:srgbClr val="F1EEF7"/>
                </a:solidFill>
                <a:latin typeface="Montserrat"/>
                <a:ea typeface="Montserrat"/>
                <a:cs typeface="Montserrat"/>
                <a:sym typeface="Montserrat"/>
              </a:defRPr>
            </a:lvl1pPr>
            <a:lvl2pPr indent="-406400" lvl="1" marL="914400" marR="0" rtl="0" algn="l">
              <a:spcBef>
                <a:spcPts val="560"/>
              </a:spcBef>
              <a:spcAft>
                <a:spcPts val="0"/>
              </a:spcAft>
              <a:buClr>
                <a:schemeClr val="lt1"/>
              </a:buClr>
              <a:buSzPts val="2800"/>
              <a:buFont typeface="Arial"/>
              <a:buChar char="–"/>
              <a:defRPr b="0" i="0" sz="2800" u="none" cap="none" strike="noStrike">
                <a:solidFill>
                  <a:schemeClr val="lt1"/>
                </a:solidFill>
                <a:latin typeface="Montserrat"/>
                <a:ea typeface="Montserrat"/>
                <a:cs typeface="Montserrat"/>
                <a:sym typeface="Montserrat"/>
              </a:defRPr>
            </a:lvl2pPr>
            <a:lvl3pPr indent="-381000" lvl="2" marL="1371600" marR="0" rtl="0" algn="l">
              <a:spcBef>
                <a:spcPts val="480"/>
              </a:spcBef>
              <a:spcAft>
                <a:spcPts val="0"/>
              </a:spcAft>
              <a:buClr>
                <a:schemeClr val="lt1"/>
              </a:buClr>
              <a:buSzPts val="2400"/>
              <a:buFont typeface="Arial"/>
              <a:buChar char="•"/>
              <a:defRPr b="0" i="0" sz="2400" u="none" cap="none" strike="noStrike">
                <a:solidFill>
                  <a:schemeClr val="lt1"/>
                </a:solidFill>
                <a:latin typeface="Montserrat"/>
                <a:ea typeface="Montserrat"/>
                <a:cs typeface="Montserrat"/>
                <a:sym typeface="Montserrat"/>
              </a:defRPr>
            </a:lvl3pPr>
            <a:lvl4pPr indent="-355600" lvl="3" marL="1828800" marR="0" rtl="0" algn="l">
              <a:spcBef>
                <a:spcPts val="400"/>
              </a:spcBef>
              <a:spcAft>
                <a:spcPts val="0"/>
              </a:spcAft>
              <a:buClr>
                <a:schemeClr val="lt1"/>
              </a:buClr>
              <a:buSzPts val="2000"/>
              <a:buFont typeface="Arial"/>
              <a:buChar char="–"/>
              <a:defRPr b="0" i="0" sz="2000" u="none" cap="none" strike="noStrike">
                <a:solidFill>
                  <a:schemeClr val="lt1"/>
                </a:solidFill>
                <a:latin typeface="Montserrat"/>
                <a:ea typeface="Montserrat"/>
                <a:cs typeface="Montserrat"/>
                <a:sym typeface="Montserrat"/>
              </a:defRPr>
            </a:lvl4pPr>
            <a:lvl5pPr indent="-355600" lvl="4" marL="2286000" marR="0" rtl="0" algn="l">
              <a:spcBef>
                <a:spcPts val="400"/>
              </a:spcBef>
              <a:spcAft>
                <a:spcPts val="0"/>
              </a:spcAft>
              <a:buClr>
                <a:schemeClr val="lt1"/>
              </a:buClr>
              <a:buSzPts val="2000"/>
              <a:buFont typeface="Arial"/>
              <a:buChar char="»"/>
              <a:defRPr b="0" i="0" sz="2000" u="none" cap="none" strike="noStrike">
                <a:solidFill>
                  <a:schemeClr val="lt1"/>
                </a:solidFill>
                <a:latin typeface="Montserrat"/>
                <a:ea typeface="Montserrat"/>
                <a:cs typeface="Montserrat"/>
                <a:sym typeface="Montserrat"/>
              </a:defRPr>
            </a:lvl5pPr>
            <a:lvl6pPr indent="-355600" lvl="5" marL="2743200" marR="0" rtl="0" algn="l">
              <a:spcBef>
                <a:spcPts val="400"/>
              </a:spcBef>
              <a:spcAft>
                <a:spcPts val="0"/>
              </a:spcAft>
              <a:buClr>
                <a:schemeClr val="lt1"/>
              </a:buClr>
              <a:buSzPts val="2000"/>
              <a:buFont typeface="Arial"/>
              <a:buChar char="•"/>
              <a:defRPr b="0" i="0" sz="2000" u="none" cap="none" strike="noStrike">
                <a:solidFill>
                  <a:schemeClr val="lt1"/>
                </a:solidFill>
                <a:latin typeface="Montserrat"/>
                <a:ea typeface="Montserrat"/>
                <a:cs typeface="Montserrat"/>
                <a:sym typeface="Montserrat"/>
              </a:defRPr>
            </a:lvl6pPr>
            <a:lvl7pPr indent="-355600" lvl="6" marL="3200400" marR="0" rtl="0" algn="l">
              <a:spcBef>
                <a:spcPts val="400"/>
              </a:spcBef>
              <a:spcAft>
                <a:spcPts val="0"/>
              </a:spcAft>
              <a:buClr>
                <a:schemeClr val="lt1"/>
              </a:buClr>
              <a:buSzPts val="2000"/>
              <a:buFont typeface="Arial"/>
              <a:buChar char="•"/>
              <a:defRPr b="0" i="0" sz="2000" u="none" cap="none" strike="noStrike">
                <a:solidFill>
                  <a:schemeClr val="lt1"/>
                </a:solidFill>
                <a:latin typeface="Montserrat"/>
                <a:ea typeface="Montserrat"/>
                <a:cs typeface="Montserrat"/>
                <a:sym typeface="Montserrat"/>
              </a:defRPr>
            </a:lvl7pPr>
            <a:lvl8pPr indent="-355600" lvl="7" marL="3657600" marR="0" rtl="0" algn="l">
              <a:spcBef>
                <a:spcPts val="400"/>
              </a:spcBef>
              <a:spcAft>
                <a:spcPts val="0"/>
              </a:spcAft>
              <a:buClr>
                <a:schemeClr val="lt1"/>
              </a:buClr>
              <a:buSzPts val="2000"/>
              <a:buFont typeface="Arial"/>
              <a:buChar char="•"/>
              <a:defRPr b="0" i="0" sz="2000" u="none" cap="none" strike="noStrike">
                <a:solidFill>
                  <a:schemeClr val="lt1"/>
                </a:solidFill>
                <a:latin typeface="Montserrat"/>
                <a:ea typeface="Montserrat"/>
                <a:cs typeface="Montserrat"/>
                <a:sym typeface="Montserrat"/>
              </a:defRPr>
            </a:lvl8pPr>
            <a:lvl9pPr indent="-355600" lvl="8" marL="4114800" marR="0" rtl="0" algn="l">
              <a:spcBef>
                <a:spcPts val="400"/>
              </a:spcBef>
              <a:spcAft>
                <a:spcPts val="0"/>
              </a:spcAft>
              <a:buClr>
                <a:schemeClr val="lt1"/>
              </a:buClr>
              <a:buSzPts val="2000"/>
              <a:buFont typeface="Arial"/>
              <a:buChar char="•"/>
              <a:defRPr b="0" i="0" sz="2000" u="none" cap="none" strike="noStrike">
                <a:solidFill>
                  <a:schemeClr val="lt1"/>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3.jpg"/><Relationship Id="rId4" Type="http://schemas.openxmlformats.org/officeDocument/2006/relationships/image" Target="../media/image10.png"/><Relationship Id="rId9"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12.png"/><Relationship Id="rId8"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20.png"/><Relationship Id="rId6"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5.png"/><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7.png"/><Relationship Id="rId4" Type="http://schemas.openxmlformats.org/officeDocument/2006/relationships/image" Target="../media/image26.png"/><Relationship Id="rId5" Type="http://schemas.openxmlformats.org/officeDocument/2006/relationships/image" Target="../media/image34.png"/><Relationship Id="rId6"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6.png"/><Relationship Id="rId4" Type="http://schemas.openxmlformats.org/officeDocument/2006/relationships/image" Target="../media/image35.png"/><Relationship Id="rId5" Type="http://schemas.openxmlformats.org/officeDocument/2006/relationships/image" Target="../media/image33.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 name="Shape 26"/>
        <p:cNvGrpSpPr/>
        <p:nvPr/>
      </p:nvGrpSpPr>
      <p:grpSpPr>
        <a:xfrm>
          <a:off x="0" y="0"/>
          <a:ext cx="0" cy="0"/>
          <a:chOff x="0" y="0"/>
          <a:chExt cx="0" cy="0"/>
        </a:xfrm>
      </p:grpSpPr>
      <p:sp>
        <p:nvSpPr>
          <p:cNvPr id="27" name="Google Shape;27;p1"/>
          <p:cNvSpPr/>
          <p:nvPr/>
        </p:nvSpPr>
        <p:spPr>
          <a:xfrm>
            <a:off x="812800" y="134243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200"/>
              <a:buFont typeface="JetBrains Mono"/>
              <a:buNone/>
            </a:pPr>
            <a:r>
              <a:rPr b="0" i="0" lang="en-US" sz="1200" u="none" cap="none" strike="noStrike">
                <a:solidFill>
                  <a:srgbClr val="F59E42"/>
                </a:solidFill>
                <a:latin typeface="JetBrains Mono"/>
                <a:ea typeface="JetBrains Mono"/>
                <a:cs typeface="JetBrains Mono"/>
                <a:sym typeface="JetBrains Mono"/>
              </a:rPr>
              <a:t>$ ./hunt --hipotesis clickfix &amp;&amp; ./write --informe</a:t>
            </a:r>
            <a:endParaRPr b="0" i="0" sz="1200" u="none" cap="none" strike="noStrike">
              <a:solidFill>
                <a:schemeClr val="lt1"/>
              </a:solidFill>
              <a:latin typeface="Montserrat"/>
              <a:ea typeface="Montserrat"/>
              <a:cs typeface="Montserrat"/>
              <a:sym typeface="Montserrat"/>
            </a:endParaRPr>
          </a:p>
        </p:txBody>
      </p:sp>
      <p:sp>
        <p:nvSpPr>
          <p:cNvPr id="28" name="Google Shape;28;p1"/>
          <p:cNvSpPr txBox="1"/>
          <p:nvPr>
            <p:ph type="title"/>
          </p:nvPr>
        </p:nvSpPr>
        <p:spPr>
          <a:xfrm>
            <a:off x="812800" y="1758950"/>
            <a:ext cx="6802120" cy="23114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rgbClr val="F1EEF7"/>
              </a:buClr>
              <a:buSzPts val="6000"/>
              <a:buFont typeface="Montserrat"/>
              <a:buNone/>
            </a:pPr>
            <a:r>
              <a:rPr b="1" i="0" lang="en-US" sz="6000">
                <a:solidFill>
                  <a:srgbClr val="F1EEF7"/>
                </a:solidFill>
                <a:latin typeface="Montserrat"/>
                <a:ea typeface="Montserrat"/>
                <a:cs typeface="Montserrat"/>
                <a:sym typeface="Montserrat"/>
              </a:rPr>
              <a:t>WRITING THE</a:t>
            </a:r>
            <a:endParaRPr sz="6000"/>
          </a:p>
          <a:p>
            <a:pPr indent="0" lvl="0" marL="0" rtl="0" algn="l">
              <a:lnSpc>
                <a:spcPct val="100000"/>
              </a:lnSpc>
              <a:spcBef>
                <a:spcPts val="0"/>
              </a:spcBef>
              <a:spcAft>
                <a:spcPts val="0"/>
              </a:spcAft>
              <a:buClr>
                <a:srgbClr val="F1EEF7"/>
              </a:buClr>
              <a:buSzPts val="6000"/>
              <a:buFont typeface="Montserrat"/>
              <a:buNone/>
            </a:pPr>
            <a:r>
              <a:rPr b="1" i="0" lang="en-US" sz="6000">
                <a:solidFill>
                  <a:srgbClr val="F1EEF7"/>
                </a:solidFill>
                <a:latin typeface="Montserrat"/>
                <a:ea typeface="Montserrat"/>
                <a:cs typeface="Montserrat"/>
                <a:sym typeface="Montserrat"/>
              </a:rPr>
              <a:t>INCIDENT</a:t>
            </a:r>
            <a:endParaRPr sz="6000"/>
          </a:p>
          <a:p>
            <a:pPr indent="0" lvl="0" marL="0" rtl="0" algn="l">
              <a:lnSpc>
                <a:spcPct val="100000"/>
              </a:lnSpc>
              <a:spcBef>
                <a:spcPts val="0"/>
              </a:spcBef>
              <a:spcAft>
                <a:spcPts val="0"/>
              </a:spcAft>
              <a:buClr>
                <a:srgbClr val="F1EEF7"/>
              </a:buClr>
              <a:buSzPts val="6000"/>
              <a:buFont typeface="Montserrat"/>
              <a:buNone/>
            </a:pPr>
            <a:r>
              <a:rPr b="1" i="0" lang="en-US" sz="6000">
                <a:solidFill>
                  <a:srgbClr val="F1EEF7"/>
                </a:solidFill>
                <a:latin typeface="Montserrat"/>
                <a:ea typeface="Montserrat"/>
                <a:cs typeface="Montserrat"/>
                <a:sym typeface="Montserrat"/>
              </a:rPr>
              <a:t>STORY</a:t>
            </a:r>
            <a:endParaRPr sz="6000"/>
          </a:p>
        </p:txBody>
      </p:sp>
      <p:sp>
        <p:nvSpPr>
          <p:cNvPr id="29" name="Google Shape;29;p1"/>
          <p:cNvSpPr/>
          <p:nvPr/>
        </p:nvSpPr>
        <p:spPr>
          <a:xfrm>
            <a:off x="812800" y="4984750"/>
            <a:ext cx="10883392"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David Pérez</a:t>
            </a:r>
            <a:endParaRPr b="0" i="0" sz="1500" u="none" cap="none" strike="noStrike">
              <a:solidFill>
                <a:schemeClr val="lt1"/>
              </a:solidFill>
              <a:latin typeface="Montserrat"/>
              <a:ea typeface="Montserrat"/>
              <a:cs typeface="Montserrat"/>
              <a:sym typeface="Montserrat"/>
            </a:endParaRPr>
          </a:p>
        </p:txBody>
      </p:sp>
      <p:sp>
        <p:nvSpPr>
          <p:cNvPr id="30" name="Google Shape;30;p1"/>
          <p:cNvSpPr/>
          <p:nvPr/>
        </p:nvSpPr>
        <p:spPr>
          <a:xfrm>
            <a:off x="812800" y="530225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0" i="0" lang="en-US" sz="1200" u="none" cap="none" strike="noStrike">
                <a:solidFill>
                  <a:srgbClr val="C2C2F4"/>
                </a:solidFill>
                <a:latin typeface="Montserrat"/>
                <a:ea typeface="Montserrat"/>
                <a:cs typeface="Montserrat"/>
                <a:sym typeface="Montserrat"/>
              </a:rPr>
              <a:t>Threat Intelligence &amp; Threat Hunting</a:t>
            </a:r>
            <a:endParaRPr b="0" i="0" sz="1200" u="none" cap="none" strike="noStrike">
              <a:solidFill>
                <a:schemeClr val="lt1"/>
              </a:solidFill>
              <a:latin typeface="Montserrat"/>
              <a:ea typeface="Montserrat"/>
              <a:cs typeface="Montserrat"/>
              <a:sym typeface="Montserrat"/>
            </a:endParaRPr>
          </a:p>
        </p:txBody>
      </p:sp>
      <p:sp>
        <p:nvSpPr>
          <p:cNvPr id="31" name="Google Shape;31;p1"/>
          <p:cNvSpPr/>
          <p:nvPr/>
        </p:nvSpPr>
        <p:spPr>
          <a:xfrm>
            <a:off x="812800" y="6238280"/>
            <a:ext cx="719455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DEATHCON 2026 · WORKSHOP · 13–14 DE NOVIEMBRE</a:t>
            </a:r>
            <a:endParaRPr b="0" i="0" sz="1200" u="none" cap="none" strike="noStrike">
              <a:solidFill>
                <a:schemeClr val="lt1"/>
              </a:solidFill>
              <a:latin typeface="Montserrat"/>
              <a:ea typeface="Montserrat"/>
              <a:cs typeface="Montserrat"/>
              <a:sym typeface="Montserrat"/>
            </a:endParaRPr>
          </a:p>
        </p:txBody>
      </p:sp>
      <p:pic>
        <p:nvPicPr>
          <p:cNvPr descr="Logo de DEATHCon 2026" id="32" name="Google Shape;32;p1"/>
          <p:cNvPicPr preferRelativeResize="0"/>
          <p:nvPr/>
        </p:nvPicPr>
        <p:blipFill rotWithShape="1">
          <a:blip r:embed="rId3">
            <a:alphaModFix/>
          </a:blip>
          <a:srcRect b="0" l="0" r="0" t="0"/>
          <a:stretch/>
        </p:blipFill>
        <p:spPr>
          <a:xfrm>
            <a:off x="7823200" y="1651000"/>
            <a:ext cx="3556000" cy="3556000"/>
          </a:xfrm>
          <a:prstGeom prst="roundRect">
            <a:avLst>
              <a:gd fmla="val 45714" name="adj"/>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37" name="Shape 37"/>
        <p:cNvGrpSpPr/>
        <p:nvPr/>
      </p:nvGrpSpPr>
      <p:grpSpPr>
        <a:xfrm>
          <a:off x="0" y="0"/>
          <a:ext cx="0" cy="0"/>
          <a:chOff x="0" y="0"/>
          <a:chExt cx="0" cy="0"/>
        </a:xfrm>
      </p:grpSpPr>
      <p:sp>
        <p:nvSpPr>
          <p:cNvPr id="38" name="Google Shape;38;p2"/>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APERTURA</a:t>
            </a:r>
            <a:endParaRPr b="0" i="0" sz="1200" u="none" cap="none" strike="noStrike">
              <a:solidFill>
                <a:schemeClr val="lt1"/>
              </a:solidFill>
              <a:latin typeface="Montserrat"/>
              <a:ea typeface="Montserrat"/>
              <a:cs typeface="Montserrat"/>
              <a:sym typeface="Montserrat"/>
            </a:endParaRPr>
          </a:p>
        </p:txBody>
      </p:sp>
      <p:sp>
        <p:nvSpPr>
          <p:cNvPr id="39" name="Google Shape;39;p2"/>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El workshop en una hora</a:t>
            </a:r>
            <a:endParaRPr sz="3200"/>
          </a:p>
        </p:txBody>
      </p:sp>
      <p:cxnSp>
        <p:nvCxnSpPr>
          <p:cNvPr id="40" name="Google Shape;40;p2"/>
          <p:cNvCxnSpPr/>
          <p:nvPr/>
        </p:nvCxnSpPr>
        <p:spPr>
          <a:xfrm>
            <a:off x="812800" y="1882725"/>
            <a:ext cx="10566400" cy="0"/>
          </a:xfrm>
          <a:prstGeom prst="straightConnector1">
            <a:avLst/>
          </a:prstGeom>
          <a:noFill/>
          <a:ln cap="flat" cmpd="sng" w="9525">
            <a:solidFill>
              <a:srgbClr val="2D2740"/>
            </a:solidFill>
            <a:prstDash val="solid"/>
            <a:round/>
            <a:headEnd len="sm" w="sm" type="none"/>
            <a:tailEnd len="sm" w="sm" type="none"/>
          </a:ln>
        </p:spPr>
      </p:cxnSp>
      <p:sp>
        <p:nvSpPr>
          <p:cNvPr id="41" name="Google Shape;41;p2"/>
          <p:cNvSpPr/>
          <p:nvPr/>
        </p:nvSpPr>
        <p:spPr>
          <a:xfrm>
            <a:off x="812800" y="1974800"/>
            <a:ext cx="50800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1" i="0" lang="en-US" sz="1500" u="none" cap="none" strike="noStrike">
                <a:solidFill>
                  <a:srgbClr val="F59E42"/>
                </a:solidFill>
                <a:latin typeface="Montserrat"/>
                <a:ea typeface="Montserrat"/>
                <a:cs typeface="Montserrat"/>
                <a:sym typeface="Montserrat"/>
              </a:rPr>
              <a:t>01</a:t>
            </a:r>
            <a:endParaRPr b="0" i="0" sz="1500" u="none" cap="none" strike="noStrike">
              <a:solidFill>
                <a:schemeClr val="lt1"/>
              </a:solidFill>
              <a:latin typeface="Montserrat"/>
              <a:ea typeface="Montserrat"/>
              <a:cs typeface="Montserrat"/>
              <a:sym typeface="Montserrat"/>
            </a:endParaRPr>
          </a:p>
        </p:txBody>
      </p:sp>
      <p:sp>
        <p:nvSpPr>
          <p:cNvPr id="42" name="Google Shape;42;p2"/>
          <p:cNvSpPr/>
          <p:nvPr/>
        </p:nvSpPr>
        <p:spPr>
          <a:xfrm>
            <a:off x="1473200" y="1974800"/>
            <a:ext cx="954913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Apertura</a:t>
            </a:r>
            <a:endParaRPr b="0" i="0" sz="1500" u="none" cap="none" strike="noStrike">
              <a:solidFill>
                <a:schemeClr val="lt1"/>
              </a:solidFill>
              <a:latin typeface="Montserrat"/>
              <a:ea typeface="Montserrat"/>
              <a:cs typeface="Montserrat"/>
              <a:sym typeface="Montserrat"/>
            </a:endParaRPr>
          </a:p>
        </p:txBody>
      </p:sp>
      <p:sp>
        <p:nvSpPr>
          <p:cNvPr id="43" name="Google Shape;43;p2"/>
          <p:cNvSpPr/>
          <p:nvPr/>
        </p:nvSpPr>
        <p:spPr>
          <a:xfrm>
            <a:off x="10947400" y="2001490"/>
            <a:ext cx="4826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3 min</a:t>
            </a:r>
            <a:endParaRPr b="0" i="0" sz="1200" u="none" cap="none" strike="noStrike">
              <a:solidFill>
                <a:schemeClr val="lt1"/>
              </a:solidFill>
              <a:latin typeface="Montserrat"/>
              <a:ea typeface="Montserrat"/>
              <a:cs typeface="Montserrat"/>
              <a:sym typeface="Montserrat"/>
            </a:endParaRPr>
          </a:p>
        </p:txBody>
      </p:sp>
      <p:cxnSp>
        <p:nvCxnSpPr>
          <p:cNvPr id="44" name="Google Shape;44;p2"/>
          <p:cNvCxnSpPr/>
          <p:nvPr/>
        </p:nvCxnSpPr>
        <p:spPr>
          <a:xfrm>
            <a:off x="812800" y="2333575"/>
            <a:ext cx="10566400" cy="0"/>
          </a:xfrm>
          <a:prstGeom prst="straightConnector1">
            <a:avLst/>
          </a:prstGeom>
          <a:noFill/>
          <a:ln cap="flat" cmpd="sng" w="9525">
            <a:solidFill>
              <a:srgbClr val="2D2740"/>
            </a:solidFill>
            <a:prstDash val="solid"/>
            <a:round/>
            <a:headEnd len="sm" w="sm" type="none"/>
            <a:tailEnd len="sm" w="sm" type="none"/>
          </a:ln>
        </p:spPr>
      </p:cxnSp>
      <p:sp>
        <p:nvSpPr>
          <p:cNvPr id="45" name="Google Shape;45;p2"/>
          <p:cNvSpPr/>
          <p:nvPr/>
        </p:nvSpPr>
        <p:spPr>
          <a:xfrm>
            <a:off x="812800" y="2425650"/>
            <a:ext cx="50800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1" i="0" lang="en-US" sz="1500" u="none" cap="none" strike="noStrike">
                <a:solidFill>
                  <a:srgbClr val="F59E42"/>
                </a:solidFill>
                <a:latin typeface="Montserrat"/>
                <a:ea typeface="Montserrat"/>
                <a:cs typeface="Montserrat"/>
                <a:sym typeface="Montserrat"/>
              </a:rPr>
              <a:t>02</a:t>
            </a:r>
            <a:endParaRPr b="0" i="0" sz="1500" u="none" cap="none" strike="noStrike">
              <a:solidFill>
                <a:schemeClr val="lt1"/>
              </a:solidFill>
              <a:latin typeface="Montserrat"/>
              <a:ea typeface="Montserrat"/>
              <a:cs typeface="Montserrat"/>
              <a:sym typeface="Montserrat"/>
            </a:endParaRPr>
          </a:p>
        </p:txBody>
      </p:sp>
      <p:sp>
        <p:nvSpPr>
          <p:cNvPr id="46" name="Google Shape;46;p2"/>
          <p:cNvSpPr/>
          <p:nvPr/>
        </p:nvSpPr>
        <p:spPr>
          <a:xfrm>
            <a:off x="1473200" y="2425650"/>
            <a:ext cx="9548926"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Por qué importa el informe</a:t>
            </a:r>
            <a:endParaRPr b="0" i="0" sz="1500" u="none" cap="none" strike="noStrike">
              <a:solidFill>
                <a:schemeClr val="lt1"/>
              </a:solidFill>
              <a:latin typeface="Montserrat"/>
              <a:ea typeface="Montserrat"/>
              <a:cs typeface="Montserrat"/>
              <a:sym typeface="Montserrat"/>
            </a:endParaRPr>
          </a:p>
        </p:txBody>
      </p:sp>
      <p:sp>
        <p:nvSpPr>
          <p:cNvPr id="47" name="Google Shape;47;p2"/>
          <p:cNvSpPr/>
          <p:nvPr/>
        </p:nvSpPr>
        <p:spPr>
          <a:xfrm>
            <a:off x="10947202" y="2452340"/>
            <a:ext cx="48279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5 min</a:t>
            </a:r>
            <a:endParaRPr b="0" i="0" sz="1200" u="none" cap="none" strike="noStrike">
              <a:solidFill>
                <a:schemeClr val="lt1"/>
              </a:solidFill>
              <a:latin typeface="Montserrat"/>
              <a:ea typeface="Montserrat"/>
              <a:cs typeface="Montserrat"/>
              <a:sym typeface="Montserrat"/>
            </a:endParaRPr>
          </a:p>
        </p:txBody>
      </p:sp>
      <p:cxnSp>
        <p:nvCxnSpPr>
          <p:cNvPr id="48" name="Google Shape;48;p2"/>
          <p:cNvCxnSpPr/>
          <p:nvPr/>
        </p:nvCxnSpPr>
        <p:spPr>
          <a:xfrm>
            <a:off x="812800" y="2784425"/>
            <a:ext cx="10566400" cy="0"/>
          </a:xfrm>
          <a:prstGeom prst="straightConnector1">
            <a:avLst/>
          </a:prstGeom>
          <a:noFill/>
          <a:ln cap="flat" cmpd="sng" w="9525">
            <a:solidFill>
              <a:srgbClr val="2D2740"/>
            </a:solidFill>
            <a:prstDash val="solid"/>
            <a:round/>
            <a:headEnd len="sm" w="sm" type="none"/>
            <a:tailEnd len="sm" w="sm" type="none"/>
          </a:ln>
        </p:spPr>
      </p:cxnSp>
      <p:sp>
        <p:nvSpPr>
          <p:cNvPr id="49" name="Google Shape;49;p2"/>
          <p:cNvSpPr/>
          <p:nvPr/>
        </p:nvSpPr>
        <p:spPr>
          <a:xfrm>
            <a:off x="812800" y="2876500"/>
            <a:ext cx="50800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1" i="0" lang="en-US" sz="1500" u="none" cap="none" strike="noStrike">
                <a:solidFill>
                  <a:srgbClr val="F59E42"/>
                </a:solidFill>
                <a:latin typeface="Montserrat"/>
                <a:ea typeface="Montserrat"/>
                <a:cs typeface="Montserrat"/>
                <a:sym typeface="Montserrat"/>
              </a:rPr>
              <a:t>03</a:t>
            </a:r>
            <a:endParaRPr b="0" i="0" sz="1500" u="none" cap="none" strike="noStrike">
              <a:solidFill>
                <a:schemeClr val="lt1"/>
              </a:solidFill>
              <a:latin typeface="Montserrat"/>
              <a:ea typeface="Montserrat"/>
              <a:cs typeface="Montserrat"/>
              <a:sym typeface="Montserrat"/>
            </a:endParaRPr>
          </a:p>
        </p:txBody>
      </p:sp>
      <p:sp>
        <p:nvSpPr>
          <p:cNvPr id="50" name="Google Shape;50;p2"/>
          <p:cNvSpPr/>
          <p:nvPr/>
        </p:nvSpPr>
        <p:spPr>
          <a:xfrm>
            <a:off x="1473200" y="2876500"/>
            <a:ext cx="9477133"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Threat hunting en diez minutos</a:t>
            </a:r>
            <a:endParaRPr b="0" i="0" sz="1500" u="none" cap="none" strike="noStrike">
              <a:solidFill>
                <a:schemeClr val="lt1"/>
              </a:solidFill>
              <a:latin typeface="Montserrat"/>
              <a:ea typeface="Montserrat"/>
              <a:cs typeface="Montserrat"/>
              <a:sym typeface="Montserrat"/>
            </a:endParaRPr>
          </a:p>
        </p:txBody>
      </p:sp>
      <p:sp>
        <p:nvSpPr>
          <p:cNvPr id="51" name="Google Shape;51;p2"/>
          <p:cNvSpPr/>
          <p:nvPr/>
        </p:nvSpPr>
        <p:spPr>
          <a:xfrm>
            <a:off x="10877500" y="2903190"/>
            <a:ext cx="5525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10 min</a:t>
            </a:r>
            <a:endParaRPr b="0" i="0" sz="1200" u="none" cap="none" strike="noStrike">
              <a:solidFill>
                <a:schemeClr val="lt1"/>
              </a:solidFill>
              <a:latin typeface="Montserrat"/>
              <a:ea typeface="Montserrat"/>
              <a:cs typeface="Montserrat"/>
              <a:sym typeface="Montserrat"/>
            </a:endParaRPr>
          </a:p>
        </p:txBody>
      </p:sp>
      <p:cxnSp>
        <p:nvCxnSpPr>
          <p:cNvPr id="52" name="Google Shape;52;p2"/>
          <p:cNvCxnSpPr/>
          <p:nvPr/>
        </p:nvCxnSpPr>
        <p:spPr>
          <a:xfrm>
            <a:off x="812800" y="3235275"/>
            <a:ext cx="10566400" cy="0"/>
          </a:xfrm>
          <a:prstGeom prst="straightConnector1">
            <a:avLst/>
          </a:prstGeom>
          <a:noFill/>
          <a:ln cap="flat" cmpd="sng" w="9525">
            <a:solidFill>
              <a:srgbClr val="2D2740"/>
            </a:solidFill>
            <a:prstDash val="solid"/>
            <a:round/>
            <a:headEnd len="sm" w="sm" type="none"/>
            <a:tailEnd len="sm" w="sm" type="none"/>
          </a:ln>
        </p:spPr>
      </p:cxnSp>
      <p:sp>
        <p:nvSpPr>
          <p:cNvPr id="53" name="Google Shape;53;p2"/>
          <p:cNvSpPr/>
          <p:nvPr/>
        </p:nvSpPr>
        <p:spPr>
          <a:xfrm>
            <a:off x="812800" y="3327350"/>
            <a:ext cx="50800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1" i="0" lang="en-US" sz="1500" u="none" cap="none" strike="noStrike">
                <a:solidFill>
                  <a:srgbClr val="F59E42"/>
                </a:solidFill>
                <a:latin typeface="Montserrat"/>
                <a:ea typeface="Montserrat"/>
                <a:cs typeface="Montserrat"/>
                <a:sym typeface="Montserrat"/>
              </a:rPr>
              <a:t>04</a:t>
            </a:r>
            <a:endParaRPr b="0" i="0" sz="1500" u="none" cap="none" strike="noStrike">
              <a:solidFill>
                <a:schemeClr val="lt1"/>
              </a:solidFill>
              <a:latin typeface="Montserrat"/>
              <a:ea typeface="Montserrat"/>
              <a:cs typeface="Montserrat"/>
              <a:sym typeface="Montserrat"/>
            </a:endParaRPr>
          </a:p>
        </p:txBody>
      </p:sp>
      <p:sp>
        <p:nvSpPr>
          <p:cNvPr id="54" name="Google Shape;54;p2"/>
          <p:cNvSpPr/>
          <p:nvPr/>
        </p:nvSpPr>
        <p:spPr>
          <a:xfrm>
            <a:off x="1473200" y="3327350"/>
            <a:ext cx="9477133"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El caso ClickFix: del señuelo a la única alerta</a:t>
            </a:r>
            <a:endParaRPr b="0" i="0" sz="1500" u="none" cap="none" strike="noStrike">
              <a:solidFill>
                <a:schemeClr val="lt1"/>
              </a:solidFill>
              <a:latin typeface="Montserrat"/>
              <a:ea typeface="Montserrat"/>
              <a:cs typeface="Montserrat"/>
              <a:sym typeface="Montserrat"/>
            </a:endParaRPr>
          </a:p>
        </p:txBody>
      </p:sp>
      <p:sp>
        <p:nvSpPr>
          <p:cNvPr id="55" name="Google Shape;55;p2"/>
          <p:cNvSpPr/>
          <p:nvPr/>
        </p:nvSpPr>
        <p:spPr>
          <a:xfrm>
            <a:off x="10877500" y="3354040"/>
            <a:ext cx="5525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10 min</a:t>
            </a:r>
            <a:endParaRPr b="0" i="0" sz="1200" u="none" cap="none" strike="noStrike">
              <a:solidFill>
                <a:schemeClr val="lt1"/>
              </a:solidFill>
              <a:latin typeface="Montserrat"/>
              <a:ea typeface="Montserrat"/>
              <a:cs typeface="Montserrat"/>
              <a:sym typeface="Montserrat"/>
            </a:endParaRPr>
          </a:p>
        </p:txBody>
      </p:sp>
      <p:cxnSp>
        <p:nvCxnSpPr>
          <p:cNvPr id="56" name="Google Shape;56;p2"/>
          <p:cNvCxnSpPr/>
          <p:nvPr/>
        </p:nvCxnSpPr>
        <p:spPr>
          <a:xfrm>
            <a:off x="812800" y="3686125"/>
            <a:ext cx="10566400" cy="0"/>
          </a:xfrm>
          <a:prstGeom prst="straightConnector1">
            <a:avLst/>
          </a:prstGeom>
          <a:noFill/>
          <a:ln cap="flat" cmpd="sng" w="9525">
            <a:solidFill>
              <a:srgbClr val="2D2740"/>
            </a:solidFill>
            <a:prstDash val="solid"/>
            <a:round/>
            <a:headEnd len="sm" w="sm" type="none"/>
            <a:tailEnd len="sm" w="sm" type="none"/>
          </a:ln>
        </p:spPr>
      </p:cxnSp>
      <p:sp>
        <p:nvSpPr>
          <p:cNvPr id="57" name="Google Shape;57;p2"/>
          <p:cNvSpPr/>
          <p:nvPr/>
        </p:nvSpPr>
        <p:spPr>
          <a:xfrm>
            <a:off x="812800" y="3778200"/>
            <a:ext cx="50800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1" i="0" lang="en-US" sz="1500" u="none" cap="none" strike="noStrike">
                <a:solidFill>
                  <a:srgbClr val="F59E42"/>
                </a:solidFill>
                <a:latin typeface="Montserrat"/>
                <a:ea typeface="Montserrat"/>
                <a:cs typeface="Montserrat"/>
                <a:sym typeface="Montserrat"/>
              </a:rPr>
              <a:t>05</a:t>
            </a:r>
            <a:endParaRPr b="0" i="0" sz="1500" u="none" cap="none" strike="noStrike">
              <a:solidFill>
                <a:schemeClr val="lt1"/>
              </a:solidFill>
              <a:latin typeface="Montserrat"/>
              <a:ea typeface="Montserrat"/>
              <a:cs typeface="Montserrat"/>
              <a:sym typeface="Montserrat"/>
            </a:endParaRPr>
          </a:p>
        </p:txBody>
      </p:sp>
      <p:sp>
        <p:nvSpPr>
          <p:cNvPr id="58" name="Google Shape;58;p2"/>
          <p:cNvSpPr/>
          <p:nvPr/>
        </p:nvSpPr>
        <p:spPr>
          <a:xfrm>
            <a:off x="1473200" y="3778200"/>
            <a:ext cx="9491901"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La caza en Microsoft Sentinel</a:t>
            </a:r>
            <a:endParaRPr b="0" i="0" sz="1500" u="none" cap="none" strike="noStrike">
              <a:solidFill>
                <a:schemeClr val="lt1"/>
              </a:solidFill>
              <a:latin typeface="Montserrat"/>
              <a:ea typeface="Montserrat"/>
              <a:cs typeface="Montserrat"/>
              <a:sym typeface="Montserrat"/>
            </a:endParaRPr>
          </a:p>
        </p:txBody>
      </p:sp>
      <p:sp>
        <p:nvSpPr>
          <p:cNvPr id="59" name="Google Shape;59;p2"/>
          <p:cNvSpPr/>
          <p:nvPr/>
        </p:nvSpPr>
        <p:spPr>
          <a:xfrm>
            <a:off x="10891838" y="3804890"/>
            <a:ext cx="538163"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12 min</a:t>
            </a:r>
            <a:endParaRPr b="0" i="0" sz="1200" u="none" cap="none" strike="noStrike">
              <a:solidFill>
                <a:schemeClr val="lt1"/>
              </a:solidFill>
              <a:latin typeface="Montserrat"/>
              <a:ea typeface="Montserrat"/>
              <a:cs typeface="Montserrat"/>
              <a:sym typeface="Montserrat"/>
            </a:endParaRPr>
          </a:p>
        </p:txBody>
      </p:sp>
      <p:sp>
        <p:nvSpPr>
          <p:cNvPr id="60" name="Google Shape;60;p2"/>
          <p:cNvSpPr/>
          <p:nvPr/>
        </p:nvSpPr>
        <p:spPr>
          <a:xfrm>
            <a:off x="812800" y="4133800"/>
            <a:ext cx="10566400" cy="450850"/>
          </a:xfrm>
          <a:prstGeom prst="rect">
            <a:avLst/>
          </a:prstGeom>
          <a:solidFill>
            <a:srgbClr val="1B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2"/>
          <p:cNvCxnSpPr/>
          <p:nvPr/>
        </p:nvCxnSpPr>
        <p:spPr>
          <a:xfrm>
            <a:off x="812800" y="4136975"/>
            <a:ext cx="10566400" cy="0"/>
          </a:xfrm>
          <a:prstGeom prst="straightConnector1">
            <a:avLst/>
          </a:prstGeom>
          <a:noFill/>
          <a:ln cap="flat" cmpd="sng" w="9525">
            <a:solidFill>
              <a:srgbClr val="2D2740"/>
            </a:solidFill>
            <a:prstDash val="solid"/>
            <a:round/>
            <a:headEnd len="sm" w="sm" type="none"/>
            <a:tailEnd len="sm" w="sm" type="none"/>
          </a:ln>
        </p:spPr>
      </p:cxnSp>
      <p:sp>
        <p:nvSpPr>
          <p:cNvPr id="62" name="Google Shape;62;p2"/>
          <p:cNvSpPr/>
          <p:nvPr/>
        </p:nvSpPr>
        <p:spPr>
          <a:xfrm>
            <a:off x="965200" y="4229050"/>
            <a:ext cx="35560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1" i="0" lang="en-US" sz="1500" u="none" cap="none" strike="noStrike">
                <a:solidFill>
                  <a:srgbClr val="F59E42"/>
                </a:solidFill>
                <a:latin typeface="Montserrat"/>
                <a:ea typeface="Montserrat"/>
                <a:cs typeface="Montserrat"/>
                <a:sym typeface="Montserrat"/>
              </a:rPr>
              <a:t>06</a:t>
            </a:r>
            <a:endParaRPr b="0" i="0" sz="1500" u="none" cap="none" strike="noStrike">
              <a:solidFill>
                <a:schemeClr val="lt1"/>
              </a:solidFill>
              <a:latin typeface="Montserrat"/>
              <a:ea typeface="Montserrat"/>
              <a:cs typeface="Montserrat"/>
              <a:sym typeface="Montserrat"/>
            </a:endParaRPr>
          </a:p>
        </p:txBody>
      </p:sp>
      <p:sp>
        <p:nvSpPr>
          <p:cNvPr id="63" name="Google Shape;63;p2"/>
          <p:cNvSpPr/>
          <p:nvPr/>
        </p:nvSpPr>
        <p:spPr>
          <a:xfrm>
            <a:off x="1473200" y="4229050"/>
            <a:ext cx="7179834"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Escribir la historia</a:t>
            </a:r>
            <a:endParaRPr b="0" i="0" sz="1500" u="none" cap="none" strike="noStrike">
              <a:solidFill>
                <a:schemeClr val="lt1"/>
              </a:solidFill>
              <a:latin typeface="Montserrat"/>
              <a:ea typeface="Montserrat"/>
              <a:cs typeface="Montserrat"/>
              <a:sym typeface="Montserrat"/>
            </a:endParaRPr>
          </a:p>
        </p:txBody>
      </p:sp>
      <p:sp>
        <p:nvSpPr>
          <p:cNvPr id="64" name="Google Shape;64;p2"/>
          <p:cNvSpPr/>
          <p:nvPr/>
        </p:nvSpPr>
        <p:spPr>
          <a:xfrm>
            <a:off x="8647113" y="4255740"/>
            <a:ext cx="273208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15 min · el corazón del workshop</a:t>
            </a:r>
            <a:endParaRPr b="0" i="0" sz="1200" u="none" cap="none" strike="noStrike">
              <a:solidFill>
                <a:schemeClr val="lt1"/>
              </a:solidFill>
              <a:latin typeface="Montserrat"/>
              <a:ea typeface="Montserrat"/>
              <a:cs typeface="Montserrat"/>
              <a:sym typeface="Montserrat"/>
            </a:endParaRPr>
          </a:p>
        </p:txBody>
      </p:sp>
      <p:cxnSp>
        <p:nvCxnSpPr>
          <p:cNvPr id="65" name="Google Shape;65;p2"/>
          <p:cNvCxnSpPr/>
          <p:nvPr/>
        </p:nvCxnSpPr>
        <p:spPr>
          <a:xfrm>
            <a:off x="812800" y="4587825"/>
            <a:ext cx="10566400" cy="0"/>
          </a:xfrm>
          <a:prstGeom prst="straightConnector1">
            <a:avLst/>
          </a:prstGeom>
          <a:noFill/>
          <a:ln cap="flat" cmpd="sng" w="9525">
            <a:solidFill>
              <a:srgbClr val="2D2740"/>
            </a:solidFill>
            <a:prstDash val="solid"/>
            <a:round/>
            <a:headEnd len="sm" w="sm" type="none"/>
            <a:tailEnd len="sm" w="sm" type="none"/>
          </a:ln>
        </p:spPr>
      </p:cxnSp>
      <p:cxnSp>
        <p:nvCxnSpPr>
          <p:cNvPr id="66" name="Google Shape;66;p2"/>
          <p:cNvCxnSpPr/>
          <p:nvPr/>
        </p:nvCxnSpPr>
        <p:spPr>
          <a:xfrm>
            <a:off x="812800" y="5038675"/>
            <a:ext cx="10566400" cy="0"/>
          </a:xfrm>
          <a:prstGeom prst="straightConnector1">
            <a:avLst/>
          </a:prstGeom>
          <a:noFill/>
          <a:ln cap="flat" cmpd="sng" w="9525">
            <a:solidFill>
              <a:srgbClr val="2D2740"/>
            </a:solidFill>
            <a:prstDash val="solid"/>
            <a:round/>
            <a:headEnd len="sm" w="sm" type="none"/>
            <a:tailEnd len="sm" w="sm" type="none"/>
          </a:ln>
        </p:spPr>
      </p:cxnSp>
      <p:sp>
        <p:nvSpPr>
          <p:cNvPr id="67" name="Google Shape;67;p2"/>
          <p:cNvSpPr/>
          <p:nvPr/>
        </p:nvSpPr>
        <p:spPr>
          <a:xfrm>
            <a:off x="812800" y="4679900"/>
            <a:ext cx="50800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1" i="0" lang="en-US" sz="1500" u="none" cap="none" strike="noStrike">
                <a:solidFill>
                  <a:srgbClr val="F59E42"/>
                </a:solidFill>
                <a:latin typeface="Montserrat"/>
                <a:ea typeface="Montserrat"/>
                <a:cs typeface="Montserrat"/>
                <a:sym typeface="Montserrat"/>
              </a:rPr>
              <a:t>07</a:t>
            </a:r>
            <a:endParaRPr b="0" i="0" sz="1500" u="none" cap="none" strike="noStrike">
              <a:solidFill>
                <a:schemeClr val="lt1"/>
              </a:solidFill>
              <a:latin typeface="Montserrat"/>
              <a:ea typeface="Montserrat"/>
              <a:cs typeface="Montserrat"/>
              <a:sym typeface="Montserrat"/>
            </a:endParaRPr>
          </a:p>
        </p:txBody>
      </p:sp>
      <p:sp>
        <p:nvSpPr>
          <p:cNvPr id="68" name="Google Shape;68;p2"/>
          <p:cNvSpPr/>
          <p:nvPr/>
        </p:nvSpPr>
        <p:spPr>
          <a:xfrm>
            <a:off x="1473200" y="4679900"/>
            <a:ext cx="9548926"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Te toca: el ejercicio</a:t>
            </a:r>
            <a:endParaRPr b="0" i="0" sz="1500" u="none" cap="none" strike="noStrike">
              <a:solidFill>
                <a:schemeClr val="lt1"/>
              </a:solidFill>
              <a:latin typeface="Montserrat"/>
              <a:ea typeface="Montserrat"/>
              <a:cs typeface="Montserrat"/>
              <a:sym typeface="Montserrat"/>
            </a:endParaRPr>
          </a:p>
        </p:txBody>
      </p:sp>
      <p:sp>
        <p:nvSpPr>
          <p:cNvPr id="69" name="Google Shape;69;p2"/>
          <p:cNvSpPr/>
          <p:nvPr/>
        </p:nvSpPr>
        <p:spPr>
          <a:xfrm>
            <a:off x="10947202" y="4706590"/>
            <a:ext cx="48279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5 min</a:t>
            </a:r>
            <a:endParaRPr b="0" i="0" sz="1200" u="none" cap="none" strike="noStrike">
              <a:solidFill>
                <a:schemeClr val="lt1"/>
              </a:solidFill>
              <a:latin typeface="Montserrat"/>
              <a:ea typeface="Montserrat"/>
              <a:cs typeface="Montserrat"/>
              <a:sym typeface="Montserrat"/>
            </a:endParaRPr>
          </a:p>
        </p:txBody>
      </p:sp>
      <p:sp>
        <p:nvSpPr>
          <p:cNvPr id="70" name="Google Shape;70;p2"/>
          <p:cNvSpPr/>
          <p:nvPr/>
        </p:nvSpPr>
        <p:spPr>
          <a:xfrm>
            <a:off x="812800" y="6238280"/>
            <a:ext cx="523482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WRITING THE INCIDENT STORY · DEATHCON 2026</a:t>
            </a:r>
            <a:endParaRPr b="0" i="0" sz="1200" u="none" cap="none" strike="noStrike">
              <a:solidFill>
                <a:schemeClr val="lt1"/>
              </a:solidFill>
              <a:latin typeface="Montserrat"/>
              <a:ea typeface="Montserrat"/>
              <a:cs typeface="Montserrat"/>
              <a:sym typeface="Montserrat"/>
            </a:endParaRPr>
          </a:p>
        </p:txBody>
      </p:sp>
      <p:sp>
        <p:nvSpPr>
          <p:cNvPr id="71" name="Google Shape;71;p2"/>
          <p:cNvSpPr/>
          <p:nvPr/>
        </p:nvSpPr>
        <p:spPr>
          <a:xfrm>
            <a:off x="11241832" y="6238280"/>
            <a:ext cx="137368"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2</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76" name="Shape 76"/>
        <p:cNvGrpSpPr/>
        <p:nvPr/>
      </p:nvGrpSpPr>
      <p:grpSpPr>
        <a:xfrm>
          <a:off x="0" y="0"/>
          <a:ext cx="0" cy="0"/>
          <a:chOff x="0" y="0"/>
          <a:chExt cx="0" cy="0"/>
        </a:xfrm>
      </p:grpSpPr>
      <p:sp>
        <p:nvSpPr>
          <p:cNvPr id="77" name="Google Shape;77;p3"/>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APERTURA</a:t>
            </a:r>
            <a:endParaRPr b="0" i="0" sz="1200" u="none" cap="none" strike="noStrike">
              <a:solidFill>
                <a:schemeClr val="lt1"/>
              </a:solidFill>
              <a:latin typeface="Montserrat"/>
              <a:ea typeface="Montserrat"/>
              <a:cs typeface="Montserrat"/>
              <a:sym typeface="Montserrat"/>
            </a:endParaRPr>
          </a:p>
        </p:txBody>
      </p:sp>
      <p:sp>
        <p:nvSpPr>
          <p:cNvPr id="78" name="Google Shape;78;p3"/>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Who am I?</a:t>
            </a:r>
            <a:endParaRPr sz="3200"/>
          </a:p>
        </p:txBody>
      </p:sp>
      <p:pic>
        <p:nvPicPr>
          <p:cNvPr descr="David Pérez (Anakin) con un cosplayer de Darth Vader en Black Hat USA 2023" id="79" name="Google Shape;79;p3"/>
          <p:cNvPicPr preferRelativeResize="0"/>
          <p:nvPr/>
        </p:nvPicPr>
        <p:blipFill rotWithShape="1">
          <a:blip r:embed="rId3">
            <a:alphaModFix/>
          </a:blip>
          <a:srcRect b="0" l="0" r="0" t="0"/>
          <a:stretch/>
        </p:blipFill>
        <p:spPr>
          <a:xfrm>
            <a:off x="939800" y="1828750"/>
            <a:ext cx="2794000" cy="2794000"/>
          </a:xfrm>
          <a:prstGeom prst="ellipse">
            <a:avLst/>
          </a:prstGeom>
          <a:noFill/>
          <a:ln>
            <a:noFill/>
          </a:ln>
        </p:spPr>
      </p:pic>
      <p:sp>
        <p:nvSpPr>
          <p:cNvPr id="80" name="Google Shape;80;p3"/>
          <p:cNvSpPr/>
          <p:nvPr/>
        </p:nvSpPr>
        <p:spPr>
          <a:xfrm>
            <a:off x="1097841" y="4724350"/>
            <a:ext cx="2477869" cy="29210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David Pérez · Anakin</a:t>
            </a:r>
            <a:endParaRPr b="0" i="0" sz="1500" u="none" cap="none" strike="noStrike">
              <a:solidFill>
                <a:schemeClr val="lt1"/>
              </a:solidFill>
              <a:latin typeface="Montserrat"/>
              <a:ea typeface="Montserrat"/>
              <a:cs typeface="Montserrat"/>
              <a:sym typeface="Montserrat"/>
            </a:endParaRPr>
          </a:p>
        </p:txBody>
      </p:sp>
      <p:sp>
        <p:nvSpPr>
          <p:cNvPr id="81" name="Google Shape;81;p3"/>
          <p:cNvSpPr/>
          <p:nvPr/>
        </p:nvSpPr>
        <p:spPr>
          <a:xfrm>
            <a:off x="767080" y="5092650"/>
            <a:ext cx="3139440" cy="41652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C2C2F4"/>
              </a:buClr>
              <a:buSzPts val="1100"/>
              <a:buFont typeface="Montserrat"/>
              <a:buNone/>
            </a:pPr>
            <a:r>
              <a:rPr b="0" i="0" lang="en-US" sz="1100" u="none" cap="none" strike="noStrike">
                <a:solidFill>
                  <a:srgbClr val="C2C2F4"/>
                </a:solidFill>
                <a:latin typeface="Montserrat"/>
                <a:ea typeface="Montserrat"/>
                <a:cs typeface="Montserrat"/>
                <a:sym typeface="Montserrat"/>
              </a:rPr>
              <a:t>Threat Intelligence &amp; Threat Hunting</a:t>
            </a:r>
            <a:endParaRPr b="0" i="0" sz="1100" u="none" cap="none" strike="noStrike">
              <a:solidFill>
                <a:schemeClr val="lt1"/>
              </a:solidFill>
              <a:latin typeface="Montserrat"/>
              <a:ea typeface="Montserrat"/>
              <a:cs typeface="Montserrat"/>
              <a:sym typeface="Montserrat"/>
            </a:endParaRPr>
          </a:p>
        </p:txBody>
      </p:sp>
      <p:sp>
        <p:nvSpPr>
          <p:cNvPr id="82" name="Google Shape;82;p3"/>
          <p:cNvSpPr/>
          <p:nvPr/>
        </p:nvSpPr>
        <p:spPr>
          <a:xfrm>
            <a:off x="4267200" y="2044700"/>
            <a:ext cx="1574800" cy="2209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100"/>
              <a:buFont typeface="Montserrat"/>
              <a:buNone/>
            </a:pPr>
            <a:r>
              <a:rPr b="1" i="0" lang="en-US" sz="1100" u="none" cap="none" strike="noStrike">
                <a:solidFill>
                  <a:srgbClr val="C2C2F4"/>
                </a:solidFill>
                <a:latin typeface="Montserrat"/>
                <a:ea typeface="Montserrat"/>
                <a:cs typeface="Montserrat"/>
                <a:sym typeface="Montserrat"/>
              </a:rPr>
              <a:t>TRAYECTORIA</a:t>
            </a:r>
            <a:endParaRPr b="0" i="0" sz="1100" u="none" cap="none" strike="noStrike">
              <a:solidFill>
                <a:schemeClr val="lt1"/>
              </a:solidFill>
              <a:latin typeface="Montserrat"/>
              <a:ea typeface="Montserrat"/>
              <a:cs typeface="Montserrat"/>
              <a:sym typeface="Montserrat"/>
            </a:endParaRPr>
          </a:p>
        </p:txBody>
      </p:sp>
      <p:sp>
        <p:nvSpPr>
          <p:cNvPr id="83" name="Google Shape;83;p3"/>
          <p:cNvSpPr/>
          <p:nvPr/>
        </p:nvSpPr>
        <p:spPr>
          <a:xfrm>
            <a:off x="5791200" y="2006600"/>
            <a:ext cx="5755640" cy="7187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300"/>
              <a:buFont typeface="Montserrat"/>
              <a:buNone/>
            </a:pPr>
            <a:r>
              <a:rPr b="0" i="0" lang="en-US" sz="1300" u="none" cap="none" strike="noStrike">
                <a:solidFill>
                  <a:srgbClr val="F1EEF7"/>
                </a:solidFill>
                <a:latin typeface="Montserrat"/>
                <a:ea typeface="Montserrat"/>
                <a:cs typeface="Montserrat"/>
                <a:sym typeface="Montserrat"/>
              </a:rPr>
              <a:t>SOC Analyst (L1, L2) → Phishing Analyst → Threat Intelligence, Threat Hunter e Incident Response. Hoy, líder de SOC e IR</a:t>
            </a:r>
            <a:r>
              <a:rPr lang="en-US" sz="1300">
                <a:solidFill>
                  <a:srgbClr val="F1EEF7"/>
                </a:solidFill>
                <a:latin typeface="Montserrat"/>
                <a:ea typeface="Montserrat"/>
                <a:cs typeface="Montserrat"/>
                <a:sym typeface="Montserrat"/>
              </a:rPr>
              <a:t>.</a:t>
            </a:r>
            <a:endParaRPr b="0" i="0" sz="1300" u="none" cap="none" strike="noStrike">
              <a:solidFill>
                <a:schemeClr val="lt1"/>
              </a:solidFill>
              <a:latin typeface="Montserrat"/>
              <a:ea typeface="Montserrat"/>
              <a:cs typeface="Montserrat"/>
              <a:sym typeface="Montserrat"/>
            </a:endParaRPr>
          </a:p>
        </p:txBody>
      </p:sp>
      <p:sp>
        <p:nvSpPr>
          <p:cNvPr id="84" name="Google Shape;84;p3"/>
          <p:cNvSpPr/>
          <p:nvPr/>
        </p:nvSpPr>
        <p:spPr>
          <a:xfrm>
            <a:off x="4267200" y="2738090"/>
            <a:ext cx="1574800" cy="2209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100"/>
              <a:buFont typeface="Montserrat"/>
              <a:buNone/>
            </a:pPr>
            <a:r>
              <a:rPr b="1" i="0" lang="en-US" sz="1100" u="none" cap="none" strike="noStrike">
                <a:solidFill>
                  <a:srgbClr val="C2C2F4"/>
                </a:solidFill>
                <a:latin typeface="Montserrat"/>
                <a:ea typeface="Montserrat"/>
                <a:cs typeface="Montserrat"/>
                <a:sym typeface="Montserrat"/>
              </a:rPr>
              <a:t>EN EL ESTADO</a:t>
            </a:r>
            <a:endParaRPr b="0" i="0" sz="1100" u="none" cap="none" strike="noStrike">
              <a:solidFill>
                <a:schemeClr val="lt1"/>
              </a:solidFill>
              <a:latin typeface="Montserrat"/>
              <a:ea typeface="Montserrat"/>
              <a:cs typeface="Montserrat"/>
              <a:sym typeface="Montserrat"/>
            </a:endParaRPr>
          </a:p>
        </p:txBody>
      </p:sp>
      <p:sp>
        <p:nvSpPr>
          <p:cNvPr id="85" name="Google Shape;85;p3"/>
          <p:cNvSpPr/>
          <p:nvPr/>
        </p:nvSpPr>
        <p:spPr>
          <a:xfrm>
            <a:off x="5791200" y="2699990"/>
            <a:ext cx="5755640" cy="7187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300"/>
              <a:buFont typeface="Montserrat"/>
              <a:buNone/>
            </a:pPr>
            <a:r>
              <a:rPr b="0" i="0" lang="en-US" sz="1300" u="none" cap="none" strike="noStrike">
                <a:solidFill>
                  <a:srgbClr val="F1EEF7"/>
                </a:solidFill>
                <a:latin typeface="Montserrat"/>
                <a:ea typeface="Montserrat"/>
                <a:cs typeface="Montserrat"/>
                <a:sym typeface="Montserrat"/>
              </a:rPr>
              <a:t>Inteligencia criminal (Área de Reunión de Información) y D</a:t>
            </a:r>
            <a:r>
              <a:rPr lang="en-US" sz="1300">
                <a:solidFill>
                  <a:srgbClr val="F1EEF7"/>
                </a:solidFill>
                <a:latin typeface="Montserrat"/>
                <a:ea typeface="Montserrat"/>
                <a:cs typeface="Montserrat"/>
                <a:sym typeface="Montserrat"/>
              </a:rPr>
              <a:t>pto.</a:t>
            </a:r>
            <a:r>
              <a:rPr b="0" i="0" lang="en-US" sz="1300" u="none" cap="none" strike="noStrike">
                <a:solidFill>
                  <a:srgbClr val="F1EEF7"/>
                </a:solidFill>
                <a:latin typeface="Montserrat"/>
                <a:ea typeface="Montserrat"/>
                <a:cs typeface="Montserrat"/>
                <a:sym typeface="Montserrat"/>
              </a:rPr>
              <a:t> de Análisis y Contrainteligencia, Ministerio de Justicia de Buenos Aires.</a:t>
            </a:r>
            <a:endParaRPr b="0" i="0" sz="1300" u="none" cap="none" strike="noStrike">
              <a:solidFill>
                <a:schemeClr val="lt1"/>
              </a:solidFill>
              <a:latin typeface="Montserrat"/>
              <a:ea typeface="Montserrat"/>
              <a:cs typeface="Montserrat"/>
              <a:sym typeface="Montserrat"/>
            </a:endParaRPr>
          </a:p>
        </p:txBody>
      </p:sp>
      <p:sp>
        <p:nvSpPr>
          <p:cNvPr id="86" name="Google Shape;86;p3"/>
          <p:cNvSpPr/>
          <p:nvPr/>
        </p:nvSpPr>
        <p:spPr>
          <a:xfrm>
            <a:off x="4267200" y="3431480"/>
            <a:ext cx="1574800" cy="2209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100"/>
              <a:buFont typeface="Montserrat"/>
              <a:buNone/>
            </a:pPr>
            <a:r>
              <a:rPr b="1" i="0" lang="en-US" sz="1100" u="none" cap="none" strike="noStrike">
                <a:solidFill>
                  <a:srgbClr val="C2C2F4"/>
                </a:solidFill>
                <a:latin typeface="Montserrat"/>
                <a:ea typeface="Montserrat"/>
                <a:cs typeface="Montserrat"/>
                <a:sym typeface="Montserrat"/>
              </a:rPr>
              <a:t>TEMAS QUE SIGO</a:t>
            </a:r>
            <a:endParaRPr b="0" i="0" sz="1100" u="none" cap="none" strike="noStrike">
              <a:solidFill>
                <a:schemeClr val="lt1"/>
              </a:solidFill>
              <a:latin typeface="Montserrat"/>
              <a:ea typeface="Montserrat"/>
              <a:cs typeface="Montserrat"/>
              <a:sym typeface="Montserrat"/>
            </a:endParaRPr>
          </a:p>
        </p:txBody>
      </p:sp>
      <p:sp>
        <p:nvSpPr>
          <p:cNvPr id="87" name="Google Shape;87;p3"/>
          <p:cNvSpPr/>
          <p:nvPr/>
        </p:nvSpPr>
        <p:spPr>
          <a:xfrm>
            <a:off x="5791200" y="3393380"/>
            <a:ext cx="5755640" cy="4876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300"/>
              <a:buFont typeface="Montserrat"/>
              <a:buNone/>
            </a:pPr>
            <a:r>
              <a:rPr b="0" i="0" lang="en-US" sz="1300" u="none" cap="none" strike="noStrike">
                <a:solidFill>
                  <a:srgbClr val="F1EEF7"/>
                </a:solidFill>
                <a:latin typeface="Montserrat"/>
                <a:ea typeface="Montserrat"/>
                <a:cs typeface="Montserrat"/>
                <a:sym typeface="Montserrat"/>
              </a:rPr>
              <a:t>Threat intelligence, ransomware, el ecosistema de acceso inicial y los leaks en LATAM.</a:t>
            </a:r>
            <a:endParaRPr b="0" i="0" sz="1300" u="none" cap="none" strike="noStrike">
              <a:solidFill>
                <a:schemeClr val="lt1"/>
              </a:solidFill>
              <a:latin typeface="Montserrat"/>
              <a:ea typeface="Montserrat"/>
              <a:cs typeface="Montserrat"/>
              <a:sym typeface="Montserrat"/>
            </a:endParaRPr>
          </a:p>
        </p:txBody>
      </p:sp>
      <p:sp>
        <p:nvSpPr>
          <p:cNvPr id="88" name="Google Shape;88;p3"/>
          <p:cNvSpPr/>
          <p:nvPr/>
        </p:nvSpPr>
        <p:spPr>
          <a:xfrm>
            <a:off x="4267200" y="3893741"/>
            <a:ext cx="1574800" cy="2209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100"/>
              <a:buFont typeface="Montserrat"/>
              <a:buNone/>
            </a:pPr>
            <a:r>
              <a:rPr b="1" i="0" lang="en-US" sz="1100" u="none" cap="none" strike="noStrike">
                <a:solidFill>
                  <a:srgbClr val="C2C2F4"/>
                </a:solidFill>
                <a:latin typeface="Montserrat"/>
                <a:ea typeface="Montserrat"/>
                <a:cs typeface="Montserrat"/>
                <a:sym typeface="Montserrat"/>
              </a:rPr>
              <a:t>CERTIFICACIONES</a:t>
            </a:r>
            <a:endParaRPr b="0" i="0" sz="1100" u="none" cap="none" strike="noStrike">
              <a:solidFill>
                <a:schemeClr val="lt1"/>
              </a:solidFill>
              <a:latin typeface="Montserrat"/>
              <a:ea typeface="Montserrat"/>
              <a:cs typeface="Montserrat"/>
              <a:sym typeface="Montserrat"/>
            </a:endParaRPr>
          </a:p>
        </p:txBody>
      </p:sp>
      <p:pic>
        <p:nvPicPr>
          <p:cNvPr descr="eCIR" id="89" name="Google Shape;89;p3"/>
          <p:cNvPicPr preferRelativeResize="0"/>
          <p:nvPr/>
        </p:nvPicPr>
        <p:blipFill rotWithShape="1">
          <a:blip r:embed="rId4">
            <a:alphaModFix/>
          </a:blip>
          <a:srcRect b="0" l="0" r="0" t="0"/>
          <a:stretch/>
        </p:blipFill>
        <p:spPr>
          <a:xfrm>
            <a:off x="5791200" y="3855641"/>
            <a:ext cx="533400" cy="533400"/>
          </a:xfrm>
          <a:prstGeom prst="rect">
            <a:avLst/>
          </a:prstGeom>
          <a:noFill/>
          <a:ln>
            <a:noFill/>
          </a:ln>
        </p:spPr>
      </p:pic>
      <p:pic>
        <p:nvPicPr>
          <p:cNvPr descr="eCTHP" id="90" name="Google Shape;90;p3"/>
          <p:cNvPicPr preferRelativeResize="0"/>
          <p:nvPr/>
        </p:nvPicPr>
        <p:blipFill rotWithShape="1">
          <a:blip r:embed="rId5">
            <a:alphaModFix/>
          </a:blip>
          <a:srcRect b="-7" l="0" r="0" t="-7"/>
          <a:stretch/>
        </p:blipFill>
        <p:spPr>
          <a:xfrm>
            <a:off x="6438900" y="3855641"/>
            <a:ext cx="330250" cy="533400"/>
          </a:xfrm>
          <a:prstGeom prst="rect">
            <a:avLst/>
          </a:prstGeom>
          <a:noFill/>
          <a:ln>
            <a:noFill/>
          </a:ln>
        </p:spPr>
      </p:pic>
      <p:pic>
        <p:nvPicPr>
          <p:cNvPr descr="CTIA" id="91" name="Google Shape;91;p3"/>
          <p:cNvPicPr preferRelativeResize="0"/>
          <p:nvPr/>
        </p:nvPicPr>
        <p:blipFill rotWithShape="1">
          <a:blip r:embed="rId6">
            <a:alphaModFix/>
          </a:blip>
          <a:srcRect b="0" l="0" r="0" t="0"/>
          <a:stretch/>
        </p:blipFill>
        <p:spPr>
          <a:xfrm>
            <a:off x="6883450" y="3855641"/>
            <a:ext cx="533400" cy="533400"/>
          </a:xfrm>
          <a:prstGeom prst="rect">
            <a:avLst/>
          </a:prstGeom>
          <a:noFill/>
          <a:ln>
            <a:noFill/>
          </a:ln>
        </p:spPr>
      </p:pic>
      <p:pic>
        <p:nvPicPr>
          <p:cNvPr descr="ECIH" id="92" name="Google Shape;92;p3"/>
          <p:cNvPicPr preferRelativeResize="0"/>
          <p:nvPr/>
        </p:nvPicPr>
        <p:blipFill rotWithShape="1">
          <a:blip r:embed="rId7">
            <a:alphaModFix/>
          </a:blip>
          <a:srcRect b="0" l="0" r="0" t="0"/>
          <a:stretch/>
        </p:blipFill>
        <p:spPr>
          <a:xfrm>
            <a:off x="7531150" y="3855641"/>
            <a:ext cx="533400" cy="533400"/>
          </a:xfrm>
          <a:prstGeom prst="rect">
            <a:avLst/>
          </a:prstGeom>
          <a:noFill/>
          <a:ln>
            <a:noFill/>
          </a:ln>
        </p:spPr>
      </p:pic>
      <p:pic>
        <p:nvPicPr>
          <p:cNvPr descr="CCFA" id="93" name="Google Shape;93;p3"/>
          <p:cNvPicPr preferRelativeResize="0"/>
          <p:nvPr/>
        </p:nvPicPr>
        <p:blipFill rotWithShape="1">
          <a:blip r:embed="rId8">
            <a:alphaModFix/>
          </a:blip>
          <a:srcRect b="0" l="0" r="0" t="0"/>
          <a:stretch/>
        </p:blipFill>
        <p:spPr>
          <a:xfrm>
            <a:off x="8178850" y="3855641"/>
            <a:ext cx="533400" cy="533400"/>
          </a:xfrm>
          <a:prstGeom prst="rect">
            <a:avLst/>
          </a:prstGeom>
          <a:noFill/>
          <a:ln>
            <a:noFill/>
          </a:ln>
        </p:spPr>
      </p:pic>
      <p:pic>
        <p:nvPicPr>
          <p:cNvPr descr="Microsoft Certified Associate (SC-200)" id="94" name="Google Shape;94;p3"/>
          <p:cNvPicPr preferRelativeResize="0"/>
          <p:nvPr/>
        </p:nvPicPr>
        <p:blipFill rotWithShape="1">
          <a:blip r:embed="rId9">
            <a:alphaModFix/>
          </a:blip>
          <a:srcRect b="0" l="0" r="0" t="0"/>
          <a:stretch/>
        </p:blipFill>
        <p:spPr>
          <a:xfrm>
            <a:off x="8826550" y="3855641"/>
            <a:ext cx="533400" cy="533400"/>
          </a:xfrm>
          <a:prstGeom prst="rect">
            <a:avLst/>
          </a:prstGeom>
          <a:noFill/>
          <a:ln>
            <a:noFill/>
          </a:ln>
        </p:spPr>
      </p:pic>
      <p:sp>
        <p:nvSpPr>
          <p:cNvPr id="95" name="Google Shape;95;p3"/>
          <p:cNvSpPr/>
          <p:nvPr/>
        </p:nvSpPr>
        <p:spPr>
          <a:xfrm>
            <a:off x="5791200" y="4452541"/>
            <a:ext cx="5755640" cy="416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100"/>
              <a:buFont typeface="Montserrat"/>
              <a:buNone/>
            </a:pPr>
            <a:r>
              <a:rPr b="0" i="0" lang="en-US" sz="1100" u="none" cap="none" strike="noStrike">
                <a:solidFill>
                  <a:srgbClr val="8F8AA6"/>
                </a:solidFill>
                <a:latin typeface="Montserrat"/>
                <a:ea typeface="Montserrat"/>
                <a:cs typeface="Montserrat"/>
                <a:sym typeface="Montserrat"/>
              </a:rPr>
              <a:t>eCIR · eCTHP (INE Security) · CTIA · ECIH (EC-Council) · CCFA (CrowdStrike) · SC-200 (Microsoft) · CC (ISC²)</a:t>
            </a:r>
            <a:endParaRPr b="0" i="0" sz="1100" u="none" cap="none" strike="noStrike">
              <a:solidFill>
                <a:schemeClr val="lt1"/>
              </a:solidFill>
              <a:latin typeface="Montserrat"/>
              <a:ea typeface="Montserrat"/>
              <a:cs typeface="Montserrat"/>
              <a:sym typeface="Montserrat"/>
            </a:endParaRPr>
          </a:p>
        </p:txBody>
      </p:sp>
      <p:sp>
        <p:nvSpPr>
          <p:cNvPr id="96" name="Google Shape;96;p3"/>
          <p:cNvSpPr/>
          <p:nvPr/>
        </p:nvSpPr>
        <p:spPr>
          <a:xfrm>
            <a:off x="4267200" y="4881761"/>
            <a:ext cx="1574800" cy="2209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100"/>
              <a:buFont typeface="Montserrat"/>
              <a:buNone/>
            </a:pPr>
            <a:r>
              <a:rPr b="1" i="0" lang="en-US" sz="1100" u="none" cap="none" strike="noStrike">
                <a:solidFill>
                  <a:srgbClr val="C2C2F4"/>
                </a:solidFill>
                <a:latin typeface="Montserrat"/>
                <a:ea typeface="Montserrat"/>
                <a:cs typeface="Montserrat"/>
                <a:sym typeface="Montserrat"/>
              </a:rPr>
              <a:t>CONTACTO</a:t>
            </a:r>
            <a:endParaRPr b="0" i="0" sz="1100" u="none" cap="none" strike="noStrike">
              <a:solidFill>
                <a:schemeClr val="lt1"/>
              </a:solidFill>
              <a:latin typeface="Montserrat"/>
              <a:ea typeface="Montserrat"/>
              <a:cs typeface="Montserrat"/>
              <a:sym typeface="Montserrat"/>
            </a:endParaRPr>
          </a:p>
        </p:txBody>
      </p:sp>
      <p:sp>
        <p:nvSpPr>
          <p:cNvPr id="97" name="Google Shape;97;p3"/>
          <p:cNvSpPr/>
          <p:nvPr/>
        </p:nvSpPr>
        <p:spPr>
          <a:xfrm>
            <a:off x="5791200" y="4843661"/>
            <a:ext cx="5755640" cy="4876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300"/>
              <a:buFont typeface="Montserrat"/>
              <a:buNone/>
            </a:pPr>
            <a:r>
              <a:rPr b="0" i="0" lang="en-US" sz="1300" u="none" cap="none" strike="noStrike">
                <a:solidFill>
                  <a:srgbClr val="F59E42"/>
                </a:solidFill>
                <a:latin typeface="Montserrat"/>
                <a:ea typeface="Montserrat"/>
                <a:cs typeface="Montserrat"/>
                <a:sym typeface="Montserrat"/>
              </a:rPr>
              <a:t>@anakinswal · github.com/Ank1nskywalker/talks · perez.edav@gmail.com</a:t>
            </a:r>
            <a:endParaRPr b="0" i="0" sz="1300" u="none" cap="none" strike="noStrike">
              <a:solidFill>
                <a:schemeClr val="lt1"/>
              </a:solidFill>
              <a:latin typeface="Montserrat"/>
              <a:ea typeface="Montserrat"/>
              <a:cs typeface="Montserrat"/>
              <a:sym typeface="Montserrat"/>
            </a:endParaRPr>
          </a:p>
        </p:txBody>
      </p:sp>
      <p:sp>
        <p:nvSpPr>
          <p:cNvPr id="98" name="Google Shape;98;p3"/>
          <p:cNvSpPr/>
          <p:nvPr/>
        </p:nvSpPr>
        <p:spPr>
          <a:xfrm>
            <a:off x="812800" y="6238280"/>
            <a:ext cx="523482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WRITING THE INCIDENT STORY · DEATHCON 2026</a:t>
            </a:r>
            <a:endParaRPr b="0" i="0" sz="1200" u="none" cap="none" strike="noStrike">
              <a:solidFill>
                <a:schemeClr val="lt1"/>
              </a:solidFill>
              <a:latin typeface="Montserrat"/>
              <a:ea typeface="Montserrat"/>
              <a:cs typeface="Montserrat"/>
              <a:sym typeface="Montserrat"/>
            </a:endParaRPr>
          </a:p>
        </p:txBody>
      </p:sp>
      <p:sp>
        <p:nvSpPr>
          <p:cNvPr id="99" name="Google Shape;99;p3"/>
          <p:cNvSpPr/>
          <p:nvPr/>
        </p:nvSpPr>
        <p:spPr>
          <a:xfrm>
            <a:off x="11242377" y="6238280"/>
            <a:ext cx="136823"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3</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9E42"/>
        </a:solidFill>
      </p:bgPr>
    </p:bg>
    <p:spTree>
      <p:nvGrpSpPr>
        <p:cNvPr id="104" name="Shape 104"/>
        <p:cNvGrpSpPr/>
        <p:nvPr/>
      </p:nvGrpSpPr>
      <p:grpSpPr>
        <a:xfrm>
          <a:off x="0" y="0"/>
          <a:ext cx="0" cy="0"/>
          <a:chOff x="0" y="0"/>
          <a:chExt cx="0" cy="0"/>
        </a:xfrm>
      </p:grpSpPr>
      <p:sp>
        <p:nvSpPr>
          <p:cNvPr id="105" name="Google Shape;105;p4"/>
          <p:cNvSpPr/>
          <p:nvPr/>
        </p:nvSpPr>
        <p:spPr>
          <a:xfrm>
            <a:off x="812800" y="198884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A2208"/>
              </a:buClr>
              <a:buSzPts val="1200"/>
              <a:buFont typeface="Montserrat"/>
              <a:buNone/>
            </a:pPr>
            <a:r>
              <a:rPr b="1" i="0" lang="en-US" sz="1200" u="none" cap="none" strike="noStrike">
                <a:solidFill>
                  <a:srgbClr val="3A2208"/>
                </a:solidFill>
                <a:latin typeface="Montserrat"/>
                <a:ea typeface="Montserrat"/>
                <a:cs typeface="Montserrat"/>
                <a:sym typeface="Montserrat"/>
              </a:rPr>
              <a:t>POR QUÉ ESTAMOS ACÁ</a:t>
            </a:r>
            <a:endParaRPr b="0" i="0" sz="1200" u="none" cap="none" strike="noStrike">
              <a:solidFill>
                <a:schemeClr val="lt1"/>
              </a:solidFill>
              <a:latin typeface="Montserrat"/>
              <a:ea typeface="Montserrat"/>
              <a:cs typeface="Montserrat"/>
              <a:sym typeface="Montserrat"/>
            </a:endParaRPr>
          </a:p>
        </p:txBody>
      </p:sp>
      <p:sp>
        <p:nvSpPr>
          <p:cNvPr id="106" name="Google Shape;106;p4"/>
          <p:cNvSpPr txBox="1"/>
          <p:nvPr>
            <p:ph type="title"/>
          </p:nvPr>
        </p:nvSpPr>
        <p:spPr>
          <a:xfrm>
            <a:off x="812800" y="2456160"/>
            <a:ext cx="9810750" cy="1625600"/>
          </a:xfrm>
          <a:prstGeom prst="rect">
            <a:avLst/>
          </a:prstGeom>
          <a:noFill/>
          <a:ln>
            <a:noFill/>
          </a:ln>
        </p:spPr>
        <p:txBody>
          <a:bodyPr anchorCtr="0" anchor="t" bIns="0" lIns="0" spcFirstLastPara="1" rIns="0" wrap="square" tIns="0">
            <a:normAutofit/>
          </a:bodyPr>
          <a:lstStyle/>
          <a:p>
            <a:pPr indent="0" lvl="0" marL="0" rtl="0" algn="l">
              <a:lnSpc>
                <a:spcPct val="104999"/>
              </a:lnSpc>
              <a:spcBef>
                <a:spcPts val="0"/>
              </a:spcBef>
              <a:spcAft>
                <a:spcPts val="0"/>
              </a:spcAft>
              <a:buClr>
                <a:srgbClr val="0C0B12"/>
              </a:buClr>
              <a:buSzPts val="6000"/>
              <a:buFont typeface="Montserrat"/>
              <a:buNone/>
            </a:pPr>
            <a:r>
              <a:rPr b="1" i="0" lang="en-US" sz="6000">
                <a:solidFill>
                  <a:srgbClr val="0C0B12"/>
                </a:solidFill>
                <a:latin typeface="Montserrat"/>
                <a:ea typeface="Montserrat"/>
                <a:cs typeface="Montserrat"/>
                <a:sym typeface="Montserrat"/>
              </a:rPr>
              <a:t>Una hunt sin informe no existió.</a:t>
            </a:r>
            <a:endParaRPr sz="6000"/>
          </a:p>
        </p:txBody>
      </p:sp>
      <p:sp>
        <p:nvSpPr>
          <p:cNvPr id="107" name="Google Shape;107;p4"/>
          <p:cNvSpPr/>
          <p:nvPr/>
        </p:nvSpPr>
        <p:spPr>
          <a:xfrm>
            <a:off x="812800" y="4310360"/>
            <a:ext cx="10883392" cy="3810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1A08"/>
              </a:buClr>
              <a:buSzPts val="2000"/>
              <a:buFont typeface="Montserrat"/>
              <a:buNone/>
            </a:pPr>
            <a:r>
              <a:rPr b="0" i="0" lang="en-US" sz="2000" u="none" cap="none" strike="noStrike">
                <a:solidFill>
                  <a:srgbClr val="2A1A08"/>
                </a:solidFill>
                <a:latin typeface="Montserrat"/>
                <a:ea typeface="Montserrat"/>
                <a:cs typeface="Montserrat"/>
                <a:sym typeface="Montserrat"/>
              </a:rPr>
              <a:t>La query se pierde. El informe queda.</a:t>
            </a:r>
            <a:endParaRPr b="0" i="0" sz="2000" u="none" cap="none" strike="noStrike">
              <a:solidFill>
                <a:schemeClr val="lt1"/>
              </a:solidFill>
              <a:latin typeface="Montserrat"/>
              <a:ea typeface="Montserrat"/>
              <a:cs typeface="Montserrat"/>
              <a:sym typeface="Montserrat"/>
            </a:endParaRPr>
          </a:p>
        </p:txBody>
      </p:sp>
      <p:sp>
        <p:nvSpPr>
          <p:cNvPr id="108" name="Google Shape;108;p4"/>
          <p:cNvSpPr/>
          <p:nvPr/>
        </p:nvSpPr>
        <p:spPr>
          <a:xfrm>
            <a:off x="812800" y="6238280"/>
            <a:ext cx="523482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A2208"/>
              </a:buClr>
              <a:buSzPts val="1200"/>
              <a:buFont typeface="Montserrat"/>
              <a:buNone/>
            </a:pPr>
            <a:r>
              <a:rPr b="0" i="0" lang="en-US" sz="1200" u="none" cap="none" strike="noStrike">
                <a:solidFill>
                  <a:srgbClr val="3A2208"/>
                </a:solidFill>
                <a:latin typeface="Montserrat"/>
                <a:ea typeface="Montserrat"/>
                <a:cs typeface="Montserrat"/>
                <a:sym typeface="Montserrat"/>
              </a:rPr>
              <a:t>WRITING THE INCIDENT STORY · DEATHCON 2026</a:t>
            </a:r>
            <a:endParaRPr b="0" i="0" sz="1200" u="none" cap="none" strike="noStrike">
              <a:solidFill>
                <a:schemeClr val="lt1"/>
              </a:solidFill>
              <a:latin typeface="Montserrat"/>
              <a:ea typeface="Montserrat"/>
              <a:cs typeface="Montserrat"/>
              <a:sym typeface="Montserrat"/>
            </a:endParaRPr>
          </a:p>
        </p:txBody>
      </p:sp>
      <p:sp>
        <p:nvSpPr>
          <p:cNvPr id="109" name="Google Shape;109;p4"/>
          <p:cNvSpPr/>
          <p:nvPr/>
        </p:nvSpPr>
        <p:spPr>
          <a:xfrm>
            <a:off x="11227643" y="6238280"/>
            <a:ext cx="151557"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3A2208"/>
              </a:buClr>
              <a:buSzPts val="1200"/>
              <a:buFont typeface="Montserrat"/>
              <a:buNone/>
            </a:pPr>
            <a:r>
              <a:rPr b="0" i="0" lang="en-US" sz="1200" u="none" cap="none" strike="noStrike">
                <a:solidFill>
                  <a:srgbClr val="3A2208"/>
                </a:solidFill>
                <a:latin typeface="Montserrat"/>
                <a:ea typeface="Montserrat"/>
                <a:cs typeface="Montserrat"/>
                <a:sym typeface="Montserrat"/>
              </a:rPr>
              <a:t>4</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114" name="Shape 114"/>
        <p:cNvGrpSpPr/>
        <p:nvPr/>
      </p:nvGrpSpPr>
      <p:grpSpPr>
        <a:xfrm>
          <a:off x="0" y="0"/>
          <a:ext cx="0" cy="0"/>
          <a:chOff x="0" y="0"/>
          <a:chExt cx="0" cy="0"/>
        </a:xfrm>
      </p:grpSpPr>
      <p:sp>
        <p:nvSpPr>
          <p:cNvPr id="115" name="Google Shape;115;p5"/>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POR QUÉ IMPORTA EL INFORME</a:t>
            </a:r>
            <a:endParaRPr b="0" i="0" sz="1200" u="none" cap="none" strike="noStrike">
              <a:solidFill>
                <a:schemeClr val="lt1"/>
              </a:solidFill>
              <a:latin typeface="Montserrat"/>
              <a:ea typeface="Montserrat"/>
              <a:cs typeface="Montserrat"/>
              <a:sym typeface="Montserrat"/>
            </a:endParaRPr>
          </a:p>
        </p:txBody>
      </p:sp>
      <p:sp>
        <p:nvSpPr>
          <p:cNvPr id="116" name="Google Shape;116;p5"/>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¿Quién lee tu informe?</a:t>
            </a:r>
            <a:endParaRPr sz="3200"/>
          </a:p>
        </p:txBody>
      </p:sp>
      <p:sp>
        <p:nvSpPr>
          <p:cNvPr id="117" name="Google Shape;117;p5"/>
          <p:cNvSpPr/>
          <p:nvPr/>
        </p:nvSpPr>
        <p:spPr>
          <a:xfrm>
            <a:off x="815975" y="1882725"/>
            <a:ext cx="2482850" cy="2205831"/>
          </a:xfrm>
          <a:prstGeom prst="roundRect">
            <a:avLst>
              <a:gd fmla="val 4462"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sers" id="118" name="Google Shape;118;p5"/>
          <p:cNvPicPr preferRelativeResize="0"/>
          <p:nvPr/>
        </p:nvPicPr>
        <p:blipFill rotWithShape="1">
          <a:blip r:embed="rId3">
            <a:alphaModFix/>
          </a:blip>
          <a:srcRect b="0" l="0" r="0" t="0"/>
          <a:stretch/>
        </p:blipFill>
        <p:spPr>
          <a:xfrm>
            <a:off x="1073150" y="2139900"/>
            <a:ext cx="304800" cy="304800"/>
          </a:xfrm>
          <a:prstGeom prst="rect">
            <a:avLst/>
          </a:prstGeom>
          <a:noFill/>
          <a:ln>
            <a:noFill/>
          </a:ln>
        </p:spPr>
      </p:pic>
      <p:sp>
        <p:nvSpPr>
          <p:cNvPr id="119" name="Google Shape;119;p5"/>
          <p:cNvSpPr/>
          <p:nvPr/>
        </p:nvSpPr>
        <p:spPr>
          <a:xfrm>
            <a:off x="1073150" y="2546300"/>
            <a:ext cx="2027555"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El que decide</a:t>
            </a:r>
            <a:endParaRPr b="0" i="0" sz="1500" u="none" cap="none" strike="noStrike">
              <a:solidFill>
                <a:schemeClr val="lt1"/>
              </a:solidFill>
              <a:latin typeface="Montserrat"/>
              <a:ea typeface="Montserrat"/>
              <a:cs typeface="Montserrat"/>
              <a:sym typeface="Montserrat"/>
            </a:endParaRPr>
          </a:p>
        </p:txBody>
      </p:sp>
      <p:sp>
        <p:nvSpPr>
          <p:cNvPr id="120" name="Google Shape;120;p5"/>
          <p:cNvSpPr/>
          <p:nvPr/>
        </p:nvSpPr>
        <p:spPr>
          <a:xfrm>
            <a:off x="1073150" y="2876500"/>
            <a:ext cx="202755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Gerencia o CISO</a:t>
            </a:r>
            <a:endParaRPr b="0" i="0" sz="1200" u="none" cap="none" strike="noStrike">
              <a:solidFill>
                <a:schemeClr val="lt1"/>
              </a:solidFill>
              <a:latin typeface="Montserrat"/>
              <a:ea typeface="Montserrat"/>
              <a:cs typeface="Montserrat"/>
              <a:sym typeface="Montserrat"/>
            </a:endParaRPr>
          </a:p>
        </p:txBody>
      </p:sp>
      <p:sp>
        <p:nvSpPr>
          <p:cNvPr id="121" name="Google Shape;121;p5"/>
          <p:cNvSpPr/>
          <p:nvPr/>
        </p:nvSpPr>
        <p:spPr>
          <a:xfrm>
            <a:off x="1073150" y="3191421"/>
            <a:ext cx="2027555"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Qué pasó, qué riesgo hay y qué tiene que aprobar. Lee una página.</a:t>
            </a:r>
            <a:endParaRPr b="0" i="0" sz="1200" u="none" cap="none" strike="noStrike">
              <a:solidFill>
                <a:schemeClr val="lt1"/>
              </a:solidFill>
              <a:latin typeface="Montserrat"/>
              <a:ea typeface="Montserrat"/>
              <a:cs typeface="Montserrat"/>
              <a:sym typeface="Montserrat"/>
            </a:endParaRPr>
          </a:p>
        </p:txBody>
      </p:sp>
      <p:sp>
        <p:nvSpPr>
          <p:cNvPr id="122" name="Google Shape;122;p5"/>
          <p:cNvSpPr/>
          <p:nvPr/>
        </p:nvSpPr>
        <p:spPr>
          <a:xfrm>
            <a:off x="3508375" y="1882725"/>
            <a:ext cx="2482850" cy="2205831"/>
          </a:xfrm>
          <a:prstGeom prst="roundRect">
            <a:avLst>
              <a:gd fmla="val 4462"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arch" id="123" name="Google Shape;123;p5"/>
          <p:cNvPicPr preferRelativeResize="0"/>
          <p:nvPr/>
        </p:nvPicPr>
        <p:blipFill rotWithShape="1">
          <a:blip r:embed="rId4">
            <a:alphaModFix/>
          </a:blip>
          <a:srcRect b="0" l="0" r="0" t="0"/>
          <a:stretch/>
        </p:blipFill>
        <p:spPr>
          <a:xfrm>
            <a:off x="3765550" y="2139900"/>
            <a:ext cx="304800" cy="304800"/>
          </a:xfrm>
          <a:prstGeom prst="rect">
            <a:avLst/>
          </a:prstGeom>
          <a:noFill/>
          <a:ln>
            <a:noFill/>
          </a:ln>
        </p:spPr>
      </p:pic>
      <p:sp>
        <p:nvSpPr>
          <p:cNvPr id="124" name="Google Shape;124;p5"/>
          <p:cNvSpPr/>
          <p:nvPr/>
        </p:nvSpPr>
        <p:spPr>
          <a:xfrm>
            <a:off x="3765550" y="2546300"/>
            <a:ext cx="2027555"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El SOC</a:t>
            </a:r>
            <a:endParaRPr b="0" i="0" sz="1500" u="none" cap="none" strike="noStrike">
              <a:solidFill>
                <a:schemeClr val="lt1"/>
              </a:solidFill>
              <a:latin typeface="Montserrat"/>
              <a:ea typeface="Montserrat"/>
              <a:cs typeface="Montserrat"/>
              <a:sym typeface="Montserrat"/>
            </a:endParaRPr>
          </a:p>
        </p:txBody>
      </p:sp>
      <p:sp>
        <p:nvSpPr>
          <p:cNvPr id="125" name="Google Shape;125;p5"/>
          <p:cNvSpPr/>
          <p:nvPr/>
        </p:nvSpPr>
        <p:spPr>
          <a:xfrm>
            <a:off x="3765550" y="2876500"/>
            <a:ext cx="2027555"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Analistas e ingeniería de detección</a:t>
            </a:r>
            <a:endParaRPr b="0" i="0" sz="1200" u="none" cap="none" strike="noStrike">
              <a:solidFill>
                <a:schemeClr val="lt1"/>
              </a:solidFill>
              <a:latin typeface="Montserrat"/>
              <a:ea typeface="Montserrat"/>
              <a:cs typeface="Montserrat"/>
              <a:sym typeface="Montserrat"/>
            </a:endParaRPr>
          </a:p>
        </p:txBody>
      </p:sp>
      <p:sp>
        <p:nvSpPr>
          <p:cNvPr id="126" name="Google Shape;126;p5"/>
          <p:cNvSpPr/>
          <p:nvPr/>
        </p:nvSpPr>
        <p:spPr>
          <a:xfrm>
            <a:off x="3765550" y="3404741"/>
            <a:ext cx="2027555"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Las queries, los IOCs y las reglas que quedan.</a:t>
            </a:r>
            <a:endParaRPr b="0" i="0" sz="1200" u="none" cap="none" strike="noStrike">
              <a:solidFill>
                <a:schemeClr val="lt1"/>
              </a:solidFill>
              <a:latin typeface="Montserrat"/>
              <a:ea typeface="Montserrat"/>
              <a:cs typeface="Montserrat"/>
              <a:sym typeface="Montserrat"/>
            </a:endParaRPr>
          </a:p>
        </p:txBody>
      </p:sp>
      <p:sp>
        <p:nvSpPr>
          <p:cNvPr id="127" name="Google Shape;127;p5"/>
          <p:cNvSpPr/>
          <p:nvPr/>
        </p:nvSpPr>
        <p:spPr>
          <a:xfrm>
            <a:off x="6200775" y="1882725"/>
            <a:ext cx="2482850" cy="2205831"/>
          </a:xfrm>
          <a:prstGeom prst="roundRect">
            <a:avLst>
              <a:gd fmla="val 4462"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lock" id="128" name="Google Shape;128;p5"/>
          <p:cNvPicPr preferRelativeResize="0"/>
          <p:nvPr/>
        </p:nvPicPr>
        <p:blipFill rotWithShape="1">
          <a:blip r:embed="rId5">
            <a:alphaModFix/>
          </a:blip>
          <a:srcRect b="0" l="0" r="0" t="0"/>
          <a:stretch/>
        </p:blipFill>
        <p:spPr>
          <a:xfrm>
            <a:off x="6457950" y="2139900"/>
            <a:ext cx="304800" cy="304800"/>
          </a:xfrm>
          <a:prstGeom prst="rect">
            <a:avLst/>
          </a:prstGeom>
          <a:noFill/>
          <a:ln>
            <a:noFill/>
          </a:ln>
        </p:spPr>
      </p:pic>
      <p:sp>
        <p:nvSpPr>
          <p:cNvPr id="129" name="Google Shape;129;p5"/>
          <p:cNvSpPr/>
          <p:nvPr/>
        </p:nvSpPr>
        <p:spPr>
          <a:xfrm>
            <a:off x="6457950" y="2546300"/>
            <a:ext cx="2027555"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El próximo hunter</a:t>
            </a:r>
            <a:endParaRPr b="0" i="0" sz="1500" u="none" cap="none" strike="noStrike">
              <a:solidFill>
                <a:schemeClr val="lt1"/>
              </a:solidFill>
              <a:latin typeface="Montserrat"/>
              <a:ea typeface="Montserrat"/>
              <a:cs typeface="Montserrat"/>
              <a:sym typeface="Montserrat"/>
            </a:endParaRPr>
          </a:p>
        </p:txBody>
      </p:sp>
      <p:sp>
        <p:nvSpPr>
          <p:cNvPr id="130" name="Google Shape;130;p5"/>
          <p:cNvSpPr/>
          <p:nvPr/>
        </p:nvSpPr>
        <p:spPr>
          <a:xfrm>
            <a:off x="6457950" y="2876500"/>
            <a:ext cx="2027555"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Quien repita la caza en seis meses</a:t>
            </a:r>
            <a:endParaRPr b="0" i="0" sz="1200" u="none" cap="none" strike="noStrike">
              <a:solidFill>
                <a:schemeClr val="lt1"/>
              </a:solidFill>
              <a:latin typeface="Montserrat"/>
              <a:ea typeface="Montserrat"/>
              <a:cs typeface="Montserrat"/>
              <a:sym typeface="Montserrat"/>
            </a:endParaRPr>
          </a:p>
        </p:txBody>
      </p:sp>
      <p:sp>
        <p:nvSpPr>
          <p:cNvPr id="131" name="Google Shape;131;p5"/>
          <p:cNvSpPr/>
          <p:nvPr/>
        </p:nvSpPr>
        <p:spPr>
          <a:xfrm>
            <a:off x="6457950" y="3404741"/>
            <a:ext cx="2027555"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Qué se buscó, cómo y qué no se pudo ver.</a:t>
            </a:r>
            <a:endParaRPr b="0" i="0" sz="1200" u="none" cap="none" strike="noStrike">
              <a:solidFill>
                <a:schemeClr val="lt1"/>
              </a:solidFill>
              <a:latin typeface="Montserrat"/>
              <a:ea typeface="Montserrat"/>
              <a:cs typeface="Montserrat"/>
              <a:sym typeface="Montserrat"/>
            </a:endParaRPr>
          </a:p>
        </p:txBody>
      </p:sp>
      <p:sp>
        <p:nvSpPr>
          <p:cNvPr id="132" name="Google Shape;132;p5"/>
          <p:cNvSpPr/>
          <p:nvPr/>
        </p:nvSpPr>
        <p:spPr>
          <a:xfrm>
            <a:off x="8893175" y="1882725"/>
            <a:ext cx="2482850" cy="2205831"/>
          </a:xfrm>
          <a:prstGeom prst="roundRect">
            <a:avLst>
              <a:gd fmla="val 4462"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Verified" id="133" name="Google Shape;133;p5"/>
          <p:cNvPicPr preferRelativeResize="0"/>
          <p:nvPr/>
        </p:nvPicPr>
        <p:blipFill rotWithShape="1">
          <a:blip r:embed="rId6">
            <a:alphaModFix/>
          </a:blip>
          <a:srcRect b="0" l="0" r="0" t="0"/>
          <a:stretch/>
        </p:blipFill>
        <p:spPr>
          <a:xfrm>
            <a:off x="9150350" y="2139900"/>
            <a:ext cx="304800" cy="304800"/>
          </a:xfrm>
          <a:prstGeom prst="rect">
            <a:avLst/>
          </a:prstGeom>
          <a:noFill/>
          <a:ln>
            <a:noFill/>
          </a:ln>
        </p:spPr>
      </p:pic>
      <p:sp>
        <p:nvSpPr>
          <p:cNvPr id="134" name="Google Shape;134;p5"/>
          <p:cNvSpPr/>
          <p:nvPr/>
        </p:nvSpPr>
        <p:spPr>
          <a:xfrm>
            <a:off x="9150350" y="2546300"/>
            <a:ext cx="2027555"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El que audita</a:t>
            </a:r>
            <a:endParaRPr b="0" i="0" sz="1500" u="none" cap="none" strike="noStrike">
              <a:solidFill>
                <a:schemeClr val="lt1"/>
              </a:solidFill>
              <a:latin typeface="Montserrat"/>
              <a:ea typeface="Montserrat"/>
              <a:cs typeface="Montserrat"/>
              <a:sym typeface="Montserrat"/>
            </a:endParaRPr>
          </a:p>
        </p:txBody>
      </p:sp>
      <p:sp>
        <p:nvSpPr>
          <p:cNvPr id="135" name="Google Shape;135;p5"/>
          <p:cNvSpPr/>
          <p:nvPr/>
        </p:nvSpPr>
        <p:spPr>
          <a:xfrm>
            <a:off x="9150350" y="2876500"/>
            <a:ext cx="202755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Cliente o compliance</a:t>
            </a:r>
            <a:endParaRPr b="0" i="0" sz="1200" u="none" cap="none" strike="noStrike">
              <a:solidFill>
                <a:schemeClr val="lt1"/>
              </a:solidFill>
              <a:latin typeface="Montserrat"/>
              <a:ea typeface="Montserrat"/>
              <a:cs typeface="Montserrat"/>
              <a:sym typeface="Montserrat"/>
            </a:endParaRPr>
          </a:p>
        </p:txBody>
      </p:sp>
      <p:sp>
        <p:nvSpPr>
          <p:cNvPr id="136" name="Google Shape;136;p5"/>
          <p:cNvSpPr/>
          <p:nvPr/>
        </p:nvSpPr>
        <p:spPr>
          <a:xfrm>
            <a:off x="9150350" y="3191421"/>
            <a:ext cx="2027555"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La prueba de que se buscó, aunque no se haya encontrado nada.</a:t>
            </a:r>
            <a:endParaRPr b="0" i="0" sz="1200" u="none" cap="none" strike="noStrike">
              <a:solidFill>
                <a:schemeClr val="lt1"/>
              </a:solidFill>
              <a:latin typeface="Montserrat"/>
              <a:ea typeface="Montserrat"/>
              <a:cs typeface="Montserrat"/>
              <a:sym typeface="Montserrat"/>
            </a:endParaRPr>
          </a:p>
        </p:txBody>
      </p:sp>
      <p:sp>
        <p:nvSpPr>
          <p:cNvPr id="137" name="Google Shape;137;p5"/>
          <p:cNvSpPr/>
          <p:nvPr/>
        </p:nvSpPr>
        <p:spPr>
          <a:xfrm>
            <a:off x="812800" y="4396532"/>
            <a:ext cx="10883392"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Escribí para el que decide; documentá para los otros tres.</a:t>
            </a:r>
            <a:endParaRPr b="0" i="0" sz="1500" u="none" cap="none" strike="noStrike">
              <a:solidFill>
                <a:schemeClr val="lt1"/>
              </a:solidFill>
              <a:latin typeface="Montserrat"/>
              <a:ea typeface="Montserrat"/>
              <a:cs typeface="Montserrat"/>
              <a:sym typeface="Montserrat"/>
            </a:endParaRPr>
          </a:p>
        </p:txBody>
      </p:sp>
      <p:sp>
        <p:nvSpPr>
          <p:cNvPr id="138" name="Google Shape;138;p5"/>
          <p:cNvSpPr/>
          <p:nvPr/>
        </p:nvSpPr>
        <p:spPr>
          <a:xfrm>
            <a:off x="812800" y="6238280"/>
            <a:ext cx="523482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WRITING THE INCIDENT STORY · DEATHCON 2026</a:t>
            </a:r>
            <a:endParaRPr b="0" i="0" sz="1200" u="none" cap="none" strike="noStrike">
              <a:solidFill>
                <a:schemeClr val="lt1"/>
              </a:solidFill>
              <a:latin typeface="Montserrat"/>
              <a:ea typeface="Montserrat"/>
              <a:cs typeface="Montserrat"/>
              <a:sym typeface="Montserrat"/>
            </a:endParaRPr>
          </a:p>
        </p:txBody>
      </p:sp>
      <p:sp>
        <p:nvSpPr>
          <p:cNvPr id="139" name="Google Shape;139;p5"/>
          <p:cNvSpPr/>
          <p:nvPr/>
        </p:nvSpPr>
        <p:spPr>
          <a:xfrm>
            <a:off x="11242179" y="6238280"/>
            <a:ext cx="137021"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5</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144" name="Shape 144"/>
        <p:cNvGrpSpPr/>
        <p:nvPr/>
      </p:nvGrpSpPr>
      <p:grpSpPr>
        <a:xfrm>
          <a:off x="0" y="0"/>
          <a:ext cx="0" cy="0"/>
          <a:chOff x="0" y="0"/>
          <a:chExt cx="0" cy="0"/>
        </a:xfrm>
      </p:grpSpPr>
      <p:sp>
        <p:nvSpPr>
          <p:cNvPr id="145" name="Google Shape;145;p6"/>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POR QUÉ IMPORTA EL INFORME</a:t>
            </a:r>
            <a:endParaRPr b="0" i="0" sz="1200" u="none" cap="none" strike="noStrike">
              <a:solidFill>
                <a:schemeClr val="lt1"/>
              </a:solidFill>
              <a:latin typeface="Montserrat"/>
              <a:ea typeface="Montserrat"/>
              <a:cs typeface="Montserrat"/>
              <a:sym typeface="Montserrat"/>
            </a:endParaRPr>
          </a:p>
        </p:txBody>
      </p:sp>
      <p:sp>
        <p:nvSpPr>
          <p:cNvPr id="146" name="Google Shape;146;p6"/>
          <p:cNvSpPr txBox="1"/>
          <p:nvPr>
            <p:ph type="title"/>
          </p:nvPr>
        </p:nvSpPr>
        <p:spPr>
          <a:xfrm>
            <a:off x="812800" y="1127720"/>
            <a:ext cx="9810750" cy="91946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Un informe responde tres preguntas, encuentre algo o no</a:t>
            </a:r>
            <a:endParaRPr sz="3200"/>
          </a:p>
        </p:txBody>
      </p:sp>
      <p:cxnSp>
        <p:nvCxnSpPr>
          <p:cNvPr id="147" name="Google Shape;147;p6"/>
          <p:cNvCxnSpPr/>
          <p:nvPr/>
        </p:nvCxnSpPr>
        <p:spPr>
          <a:xfrm>
            <a:off x="812800" y="2440880"/>
            <a:ext cx="3386634" cy="0"/>
          </a:xfrm>
          <a:prstGeom prst="straightConnector1">
            <a:avLst/>
          </a:prstGeom>
          <a:noFill/>
          <a:ln cap="flat" cmpd="sng" w="25400">
            <a:solidFill>
              <a:srgbClr val="F59E42"/>
            </a:solidFill>
            <a:prstDash val="solid"/>
            <a:round/>
            <a:headEnd len="sm" w="sm" type="none"/>
            <a:tailEnd len="sm" w="sm" type="none"/>
          </a:ln>
        </p:spPr>
      </p:cxnSp>
      <p:sp>
        <p:nvSpPr>
          <p:cNvPr id="148" name="Google Shape;148;p6"/>
          <p:cNvSpPr/>
          <p:nvPr/>
        </p:nvSpPr>
        <p:spPr>
          <a:xfrm>
            <a:off x="812800" y="2656780"/>
            <a:ext cx="3488233" cy="3302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59E42"/>
              </a:buClr>
              <a:buSzPts val="2000"/>
              <a:buFont typeface="Montserrat"/>
              <a:buNone/>
            </a:pPr>
            <a:r>
              <a:rPr b="1" i="0" lang="en-US" sz="2000" u="none" cap="none" strike="noStrike">
                <a:solidFill>
                  <a:srgbClr val="F59E42"/>
                </a:solidFill>
                <a:latin typeface="Montserrat"/>
                <a:ea typeface="Montserrat"/>
                <a:cs typeface="Montserrat"/>
                <a:sym typeface="Montserrat"/>
              </a:rPr>
              <a:t>¿Qué pasó?</a:t>
            </a:r>
            <a:endParaRPr b="0" i="0" sz="2000" u="none" cap="none" strike="noStrike">
              <a:solidFill>
                <a:schemeClr val="lt1"/>
              </a:solidFill>
              <a:latin typeface="Montserrat"/>
              <a:ea typeface="Montserrat"/>
              <a:cs typeface="Montserrat"/>
              <a:sym typeface="Montserrat"/>
            </a:endParaRPr>
          </a:p>
        </p:txBody>
      </p:sp>
      <p:sp>
        <p:nvSpPr>
          <p:cNvPr id="149" name="Google Shape;149;p6"/>
          <p:cNvSpPr/>
          <p:nvPr/>
        </p:nvSpPr>
        <p:spPr>
          <a:xfrm>
            <a:off x="812800" y="3088580"/>
            <a:ext cx="3488233" cy="55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Hallazgos con veredicto y evidencia.</a:t>
            </a:r>
            <a:endParaRPr b="0" i="0" sz="1500" u="none" cap="none" strike="noStrike">
              <a:solidFill>
                <a:schemeClr val="lt1"/>
              </a:solidFill>
              <a:latin typeface="Montserrat"/>
              <a:ea typeface="Montserrat"/>
              <a:cs typeface="Montserrat"/>
              <a:sym typeface="Montserrat"/>
            </a:endParaRPr>
          </a:p>
        </p:txBody>
      </p:sp>
      <p:sp>
        <p:nvSpPr>
          <p:cNvPr id="150" name="Google Shape;150;p6"/>
          <p:cNvSpPr/>
          <p:nvPr/>
        </p:nvSpPr>
        <p:spPr>
          <a:xfrm>
            <a:off x="812800" y="3748980"/>
            <a:ext cx="3488233"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 Hallazgos y resumen ejecutivo</a:t>
            </a:r>
            <a:endParaRPr b="0" i="0" sz="1200" u="none" cap="none" strike="noStrike">
              <a:solidFill>
                <a:schemeClr val="lt1"/>
              </a:solidFill>
              <a:latin typeface="Montserrat"/>
              <a:ea typeface="Montserrat"/>
              <a:cs typeface="Montserrat"/>
              <a:sym typeface="Montserrat"/>
            </a:endParaRPr>
          </a:p>
        </p:txBody>
      </p:sp>
      <p:cxnSp>
        <p:nvCxnSpPr>
          <p:cNvPr id="151" name="Google Shape;151;p6"/>
          <p:cNvCxnSpPr/>
          <p:nvPr/>
        </p:nvCxnSpPr>
        <p:spPr>
          <a:xfrm>
            <a:off x="4402634" y="2440880"/>
            <a:ext cx="3386683" cy="0"/>
          </a:xfrm>
          <a:prstGeom prst="straightConnector1">
            <a:avLst/>
          </a:prstGeom>
          <a:noFill/>
          <a:ln cap="flat" cmpd="sng" w="25400">
            <a:solidFill>
              <a:srgbClr val="F59E42"/>
            </a:solidFill>
            <a:prstDash val="solid"/>
            <a:round/>
            <a:headEnd len="sm" w="sm" type="none"/>
            <a:tailEnd len="sm" w="sm" type="none"/>
          </a:ln>
        </p:spPr>
      </p:cxnSp>
      <p:sp>
        <p:nvSpPr>
          <p:cNvPr id="152" name="Google Shape;152;p6"/>
          <p:cNvSpPr/>
          <p:nvPr/>
        </p:nvSpPr>
        <p:spPr>
          <a:xfrm>
            <a:off x="4402634" y="2656780"/>
            <a:ext cx="3488284" cy="3302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59E42"/>
              </a:buClr>
              <a:buSzPts val="2000"/>
              <a:buFont typeface="Montserrat"/>
              <a:buNone/>
            </a:pPr>
            <a:r>
              <a:rPr b="1" i="0" lang="en-US" sz="2000" u="none" cap="none" strike="noStrike">
                <a:solidFill>
                  <a:srgbClr val="F59E42"/>
                </a:solidFill>
                <a:latin typeface="Montserrat"/>
                <a:ea typeface="Montserrat"/>
                <a:cs typeface="Montserrat"/>
                <a:sym typeface="Montserrat"/>
              </a:rPr>
              <a:t>¿Qué no vimos?</a:t>
            </a:r>
            <a:endParaRPr b="0" i="0" sz="2000" u="none" cap="none" strike="noStrike">
              <a:solidFill>
                <a:schemeClr val="lt1"/>
              </a:solidFill>
              <a:latin typeface="Montserrat"/>
              <a:ea typeface="Montserrat"/>
              <a:cs typeface="Montserrat"/>
              <a:sym typeface="Montserrat"/>
            </a:endParaRPr>
          </a:p>
        </p:txBody>
      </p:sp>
      <p:sp>
        <p:nvSpPr>
          <p:cNvPr id="153" name="Google Shape;153;p6"/>
          <p:cNvSpPr/>
          <p:nvPr/>
        </p:nvSpPr>
        <p:spPr>
          <a:xfrm>
            <a:off x="4402634" y="3088580"/>
            <a:ext cx="3488284" cy="55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Alcance, limitaciones y nivel de confianza.</a:t>
            </a:r>
            <a:endParaRPr b="0" i="0" sz="1500" u="none" cap="none" strike="noStrike">
              <a:solidFill>
                <a:schemeClr val="lt1"/>
              </a:solidFill>
              <a:latin typeface="Montserrat"/>
              <a:ea typeface="Montserrat"/>
              <a:cs typeface="Montserrat"/>
              <a:sym typeface="Montserrat"/>
            </a:endParaRPr>
          </a:p>
        </p:txBody>
      </p:sp>
      <p:sp>
        <p:nvSpPr>
          <p:cNvPr id="154" name="Google Shape;154;p6"/>
          <p:cNvSpPr/>
          <p:nvPr/>
        </p:nvSpPr>
        <p:spPr>
          <a:xfrm>
            <a:off x="4402634" y="3748980"/>
            <a:ext cx="348828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 Alcance y limitaciones</a:t>
            </a:r>
            <a:endParaRPr b="0" i="0" sz="1200" u="none" cap="none" strike="noStrike">
              <a:solidFill>
                <a:schemeClr val="lt1"/>
              </a:solidFill>
              <a:latin typeface="Montserrat"/>
              <a:ea typeface="Montserrat"/>
              <a:cs typeface="Montserrat"/>
              <a:sym typeface="Montserrat"/>
            </a:endParaRPr>
          </a:p>
        </p:txBody>
      </p:sp>
      <p:cxnSp>
        <p:nvCxnSpPr>
          <p:cNvPr id="155" name="Google Shape;155;p6"/>
          <p:cNvCxnSpPr/>
          <p:nvPr/>
        </p:nvCxnSpPr>
        <p:spPr>
          <a:xfrm>
            <a:off x="7992517" y="2440880"/>
            <a:ext cx="3386683" cy="0"/>
          </a:xfrm>
          <a:prstGeom prst="straightConnector1">
            <a:avLst/>
          </a:prstGeom>
          <a:noFill/>
          <a:ln cap="flat" cmpd="sng" w="25400">
            <a:solidFill>
              <a:srgbClr val="F59E42"/>
            </a:solidFill>
            <a:prstDash val="solid"/>
            <a:round/>
            <a:headEnd len="sm" w="sm" type="none"/>
            <a:tailEnd len="sm" w="sm" type="none"/>
          </a:ln>
        </p:spPr>
      </p:cxnSp>
      <p:sp>
        <p:nvSpPr>
          <p:cNvPr id="156" name="Google Shape;156;p6"/>
          <p:cNvSpPr/>
          <p:nvPr/>
        </p:nvSpPr>
        <p:spPr>
          <a:xfrm>
            <a:off x="7992517" y="2656780"/>
            <a:ext cx="3488284" cy="3302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59E42"/>
              </a:buClr>
              <a:buSzPts val="2000"/>
              <a:buFont typeface="Montserrat"/>
              <a:buNone/>
            </a:pPr>
            <a:r>
              <a:rPr b="1" i="0" lang="en-US" sz="2000" u="none" cap="none" strike="noStrike">
                <a:solidFill>
                  <a:srgbClr val="F59E42"/>
                </a:solidFill>
                <a:latin typeface="Montserrat"/>
                <a:ea typeface="Montserrat"/>
                <a:cs typeface="Montserrat"/>
                <a:sym typeface="Montserrat"/>
              </a:rPr>
              <a:t>¿Qué cambia mañana?</a:t>
            </a:r>
            <a:endParaRPr b="0" i="0" sz="2000" u="none" cap="none" strike="noStrike">
              <a:solidFill>
                <a:schemeClr val="lt1"/>
              </a:solidFill>
              <a:latin typeface="Montserrat"/>
              <a:ea typeface="Montserrat"/>
              <a:cs typeface="Montserrat"/>
              <a:sym typeface="Montserrat"/>
            </a:endParaRPr>
          </a:p>
        </p:txBody>
      </p:sp>
      <p:sp>
        <p:nvSpPr>
          <p:cNvPr id="157" name="Google Shape;157;p6"/>
          <p:cNvSpPr/>
          <p:nvPr/>
        </p:nvSpPr>
        <p:spPr>
          <a:xfrm>
            <a:off x="7992517" y="3088580"/>
            <a:ext cx="3488284" cy="55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Detecciones, acciones con dueño y la próxima hipótesis.</a:t>
            </a:r>
            <a:endParaRPr b="0" i="0" sz="1500" u="none" cap="none" strike="noStrike">
              <a:solidFill>
                <a:schemeClr val="lt1"/>
              </a:solidFill>
              <a:latin typeface="Montserrat"/>
              <a:ea typeface="Montserrat"/>
              <a:cs typeface="Montserrat"/>
              <a:sym typeface="Montserrat"/>
            </a:endParaRPr>
          </a:p>
        </p:txBody>
      </p:sp>
      <p:sp>
        <p:nvSpPr>
          <p:cNvPr id="158" name="Google Shape;158;p6"/>
          <p:cNvSpPr/>
          <p:nvPr/>
        </p:nvSpPr>
        <p:spPr>
          <a:xfrm>
            <a:off x="7992517" y="3748980"/>
            <a:ext cx="348828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 Recomendaciones y plan de acción</a:t>
            </a:r>
            <a:endParaRPr b="0" i="0" sz="1200" u="none" cap="none" strike="noStrike">
              <a:solidFill>
                <a:schemeClr val="lt1"/>
              </a:solidFill>
              <a:latin typeface="Montserrat"/>
              <a:ea typeface="Montserrat"/>
              <a:cs typeface="Montserrat"/>
              <a:sym typeface="Montserrat"/>
            </a:endParaRPr>
          </a:p>
        </p:txBody>
      </p:sp>
      <p:sp>
        <p:nvSpPr>
          <p:cNvPr id="159" name="Google Shape;159;p6"/>
          <p:cNvSpPr/>
          <p:nvPr/>
        </p:nvSpPr>
        <p:spPr>
          <a:xfrm>
            <a:off x="812800" y="6238280"/>
            <a:ext cx="523482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WRITING THE INCIDENT STORY · DEATHCON 2026</a:t>
            </a:r>
            <a:endParaRPr b="0" i="0" sz="1200" u="none" cap="none" strike="noStrike">
              <a:solidFill>
                <a:schemeClr val="lt1"/>
              </a:solidFill>
              <a:latin typeface="Montserrat"/>
              <a:ea typeface="Montserrat"/>
              <a:cs typeface="Montserrat"/>
              <a:sym typeface="Montserrat"/>
            </a:endParaRPr>
          </a:p>
        </p:txBody>
      </p:sp>
      <p:sp>
        <p:nvSpPr>
          <p:cNvPr id="160" name="Google Shape;160;p6"/>
          <p:cNvSpPr/>
          <p:nvPr/>
        </p:nvSpPr>
        <p:spPr>
          <a:xfrm>
            <a:off x="11235581" y="6238280"/>
            <a:ext cx="143619"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6</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165" name="Shape 165"/>
        <p:cNvGrpSpPr/>
        <p:nvPr/>
      </p:nvGrpSpPr>
      <p:grpSpPr>
        <a:xfrm>
          <a:off x="0" y="0"/>
          <a:ext cx="0" cy="0"/>
          <a:chOff x="0" y="0"/>
          <a:chExt cx="0" cy="0"/>
        </a:xfrm>
      </p:grpSpPr>
      <p:sp>
        <p:nvSpPr>
          <p:cNvPr id="166" name="Google Shape;166;p7"/>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THREAT HUNTING EN DIEZ MINUTOS</a:t>
            </a:r>
            <a:endParaRPr b="0" i="0" sz="1200" u="none" cap="none" strike="noStrike">
              <a:solidFill>
                <a:schemeClr val="lt1"/>
              </a:solidFill>
              <a:latin typeface="Montserrat"/>
              <a:ea typeface="Montserrat"/>
              <a:cs typeface="Montserrat"/>
              <a:sym typeface="Montserrat"/>
            </a:endParaRPr>
          </a:p>
        </p:txBody>
      </p:sp>
      <p:sp>
        <p:nvSpPr>
          <p:cNvPr id="167" name="Google Shape;167;p7"/>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Qué no es threat hunting</a:t>
            </a:r>
            <a:endParaRPr sz="3200"/>
          </a:p>
        </p:txBody>
      </p:sp>
      <p:sp>
        <p:nvSpPr>
          <p:cNvPr id="168" name="Google Shape;168;p7"/>
          <p:cNvSpPr/>
          <p:nvPr/>
        </p:nvSpPr>
        <p:spPr>
          <a:xfrm>
            <a:off x="815975" y="1831925"/>
            <a:ext cx="2520950" cy="1586111"/>
          </a:xfrm>
          <a:prstGeom prst="roundRect">
            <a:avLst>
              <a:gd fmla="val 6205"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7"/>
          <p:cNvSpPr/>
          <p:nvPr/>
        </p:nvSpPr>
        <p:spPr>
          <a:xfrm>
            <a:off x="1022350" y="2038300"/>
            <a:ext cx="2171446" cy="4826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No es esperar la alerta</a:t>
            </a:r>
            <a:endParaRPr b="0" i="0" sz="1500" u="none" cap="none" strike="noStrike">
              <a:solidFill>
                <a:schemeClr val="lt1"/>
              </a:solidFill>
              <a:latin typeface="Montserrat"/>
              <a:ea typeface="Montserrat"/>
              <a:cs typeface="Montserrat"/>
              <a:sym typeface="Montserrat"/>
            </a:endParaRPr>
          </a:p>
        </p:txBody>
      </p:sp>
      <p:sp>
        <p:nvSpPr>
          <p:cNvPr id="170" name="Google Shape;170;p7"/>
          <p:cNvSpPr/>
          <p:nvPr/>
        </p:nvSpPr>
        <p:spPr>
          <a:xfrm>
            <a:off x="1022350" y="2571700"/>
            <a:ext cx="2171446"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Si arrancás cuando suena la alarma, estás respondiendo, no cazando.</a:t>
            </a:r>
            <a:endParaRPr b="0" i="0" sz="1200" u="none" cap="none" strike="noStrike">
              <a:solidFill>
                <a:schemeClr val="lt1"/>
              </a:solidFill>
              <a:latin typeface="Montserrat"/>
              <a:ea typeface="Montserrat"/>
              <a:cs typeface="Montserrat"/>
              <a:sym typeface="Montserrat"/>
            </a:endParaRPr>
          </a:p>
        </p:txBody>
      </p:sp>
      <p:sp>
        <p:nvSpPr>
          <p:cNvPr id="171" name="Google Shape;171;p7"/>
          <p:cNvSpPr/>
          <p:nvPr/>
        </p:nvSpPr>
        <p:spPr>
          <a:xfrm>
            <a:off x="3495675" y="1831925"/>
            <a:ext cx="2520950" cy="1586111"/>
          </a:xfrm>
          <a:prstGeom prst="roundRect">
            <a:avLst>
              <a:gd fmla="val 6205"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7"/>
          <p:cNvSpPr/>
          <p:nvPr/>
        </p:nvSpPr>
        <p:spPr>
          <a:xfrm>
            <a:off x="3702050" y="2038300"/>
            <a:ext cx="2171446"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No es hacer triage</a:t>
            </a:r>
            <a:endParaRPr b="0" i="0" sz="1500" u="none" cap="none" strike="noStrike">
              <a:solidFill>
                <a:schemeClr val="lt1"/>
              </a:solidFill>
              <a:latin typeface="Montserrat"/>
              <a:ea typeface="Montserrat"/>
              <a:cs typeface="Montserrat"/>
              <a:sym typeface="Montserrat"/>
            </a:endParaRPr>
          </a:p>
        </p:txBody>
      </p:sp>
      <p:sp>
        <p:nvSpPr>
          <p:cNvPr id="173" name="Google Shape;173;p7"/>
          <p:cNvSpPr/>
          <p:nvPr/>
        </p:nvSpPr>
        <p:spPr>
          <a:xfrm>
            <a:off x="3702050" y="2343100"/>
            <a:ext cx="2171446"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Revisar la cola del SIEM es necesario, pero son alertas que alguien ya escribió.</a:t>
            </a:r>
            <a:endParaRPr b="0" i="0" sz="1200" u="none" cap="none" strike="noStrike">
              <a:solidFill>
                <a:schemeClr val="lt1"/>
              </a:solidFill>
              <a:latin typeface="Montserrat"/>
              <a:ea typeface="Montserrat"/>
              <a:cs typeface="Montserrat"/>
              <a:sym typeface="Montserrat"/>
            </a:endParaRPr>
          </a:p>
        </p:txBody>
      </p:sp>
      <p:sp>
        <p:nvSpPr>
          <p:cNvPr id="174" name="Google Shape;174;p7"/>
          <p:cNvSpPr/>
          <p:nvPr/>
        </p:nvSpPr>
        <p:spPr>
          <a:xfrm>
            <a:off x="6175375" y="1831925"/>
            <a:ext cx="2520950" cy="1586111"/>
          </a:xfrm>
          <a:prstGeom prst="roundRect">
            <a:avLst>
              <a:gd fmla="val 6205"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7"/>
          <p:cNvSpPr/>
          <p:nvPr/>
        </p:nvSpPr>
        <p:spPr>
          <a:xfrm>
            <a:off x="6381750" y="2038300"/>
            <a:ext cx="2171446"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No es barrer IOCs</a:t>
            </a:r>
            <a:endParaRPr b="0" i="0" sz="1500" u="none" cap="none" strike="noStrike">
              <a:solidFill>
                <a:schemeClr val="lt1"/>
              </a:solidFill>
              <a:latin typeface="Montserrat"/>
              <a:ea typeface="Montserrat"/>
              <a:cs typeface="Montserrat"/>
              <a:sym typeface="Montserrat"/>
            </a:endParaRPr>
          </a:p>
        </p:txBody>
      </p:sp>
      <p:sp>
        <p:nvSpPr>
          <p:cNvPr id="176" name="Google Shape;176;p7"/>
          <p:cNvSpPr/>
          <p:nvPr/>
        </p:nvSpPr>
        <p:spPr>
          <a:xfrm>
            <a:off x="6381750" y="2343100"/>
            <a:ext cx="2171446"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Buscar los hashes de un feed sirve, dura poco y no requiere hipótesis.</a:t>
            </a:r>
            <a:endParaRPr b="0" i="0" sz="1200" u="none" cap="none" strike="noStrike">
              <a:solidFill>
                <a:schemeClr val="lt1"/>
              </a:solidFill>
              <a:latin typeface="Montserrat"/>
              <a:ea typeface="Montserrat"/>
              <a:cs typeface="Montserrat"/>
              <a:sym typeface="Montserrat"/>
            </a:endParaRPr>
          </a:p>
        </p:txBody>
      </p:sp>
      <p:sp>
        <p:nvSpPr>
          <p:cNvPr id="177" name="Google Shape;177;p7"/>
          <p:cNvSpPr/>
          <p:nvPr/>
        </p:nvSpPr>
        <p:spPr>
          <a:xfrm>
            <a:off x="8855075" y="1831925"/>
            <a:ext cx="2520950" cy="1586111"/>
          </a:xfrm>
          <a:prstGeom prst="roundRect">
            <a:avLst>
              <a:gd fmla="val 6205"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7"/>
          <p:cNvSpPr/>
          <p:nvPr/>
        </p:nvSpPr>
        <p:spPr>
          <a:xfrm>
            <a:off x="9061450" y="2038300"/>
            <a:ext cx="2171446" cy="4826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No es respuesta a incidentes</a:t>
            </a:r>
            <a:endParaRPr b="0" i="0" sz="1500" u="none" cap="none" strike="noStrike">
              <a:solidFill>
                <a:schemeClr val="lt1"/>
              </a:solidFill>
              <a:latin typeface="Montserrat"/>
              <a:ea typeface="Montserrat"/>
              <a:cs typeface="Montserrat"/>
              <a:sym typeface="Montserrat"/>
            </a:endParaRPr>
          </a:p>
        </p:txBody>
      </p:sp>
      <p:sp>
        <p:nvSpPr>
          <p:cNvPr id="179" name="Google Shape;179;p7"/>
          <p:cNvSpPr/>
          <p:nvPr/>
        </p:nvSpPr>
        <p:spPr>
          <a:xfrm>
            <a:off x="9061450" y="2571700"/>
            <a:ext cx="2171446"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IR arranca con una certeza: pasó algo. El hunting arranca con una duda.</a:t>
            </a:r>
            <a:endParaRPr b="0" i="0" sz="1200" u="none" cap="none" strike="noStrike">
              <a:solidFill>
                <a:schemeClr val="lt1"/>
              </a:solidFill>
              <a:latin typeface="Montserrat"/>
              <a:ea typeface="Montserrat"/>
              <a:cs typeface="Montserrat"/>
              <a:sym typeface="Montserrat"/>
            </a:endParaRPr>
          </a:p>
        </p:txBody>
      </p:sp>
      <p:sp>
        <p:nvSpPr>
          <p:cNvPr id="180" name="Google Shape;180;p7"/>
          <p:cNvSpPr/>
          <p:nvPr/>
        </p:nvSpPr>
        <p:spPr>
          <a:xfrm>
            <a:off x="812800" y="3675211"/>
            <a:ext cx="10566400" cy="1254720"/>
          </a:xfrm>
          <a:prstGeom prst="roundRect">
            <a:avLst>
              <a:gd fmla="val 8097" name="adj"/>
            </a:avLst>
          </a:prstGeom>
          <a:solidFill>
            <a:srgbClr val="1B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7"/>
          <p:cNvSpPr/>
          <p:nvPr/>
        </p:nvSpPr>
        <p:spPr>
          <a:xfrm>
            <a:off x="812800" y="3675211"/>
            <a:ext cx="10566400" cy="1254720"/>
          </a:xfrm>
          <a:custGeom>
            <a:rect b="b" l="l" r="r" t="t"/>
            <a:pathLst>
              <a:path extrusionOk="0" h="1254720" w="10566400">
                <a:moveTo>
                  <a:pt x="101600" y="1254720"/>
                </a:moveTo>
                <a:lnTo>
                  <a:pt x="101600" y="1254720"/>
                </a:lnTo>
                <a:cubicBezTo>
                  <a:pt x="45488" y="1254720"/>
                  <a:pt x="0" y="1209232"/>
                  <a:pt x="0" y="1153120"/>
                </a:cubicBezTo>
                <a:lnTo>
                  <a:pt x="0" y="101600"/>
                </a:lnTo>
                <a:cubicBezTo>
                  <a:pt x="0" y="45488"/>
                  <a:pt x="45488" y="0"/>
                  <a:pt x="101600" y="0"/>
                </a:cubicBezTo>
                <a:lnTo>
                  <a:pt x="101600" y="0"/>
                </a:lnTo>
                <a:cubicBezTo>
                  <a:pt x="66530" y="0"/>
                  <a:pt x="38100" y="45488"/>
                  <a:pt x="38100" y="101600"/>
                </a:cubicBezTo>
                <a:lnTo>
                  <a:pt x="38100" y="1153120"/>
                </a:lnTo>
                <a:cubicBezTo>
                  <a:pt x="38100" y="1209232"/>
                  <a:pt x="66530" y="1254720"/>
                  <a:pt x="101600" y="1254720"/>
                </a:cubicBezTo>
                <a:close/>
              </a:path>
            </a:pathLst>
          </a:custGeom>
          <a:solidFill>
            <a:srgbClr val="F59E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7"/>
          <p:cNvSpPr/>
          <p:nvPr/>
        </p:nvSpPr>
        <p:spPr>
          <a:xfrm>
            <a:off x="1104900" y="3878411"/>
            <a:ext cx="10320909" cy="55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Threat hunting es el proceso </a:t>
            </a:r>
            <a:r>
              <a:rPr b="1" i="0" lang="en-US" sz="1500" u="none" cap="none" strike="noStrike">
                <a:solidFill>
                  <a:srgbClr val="F1EEF7"/>
                </a:solidFill>
                <a:latin typeface="Montserrat"/>
                <a:ea typeface="Montserrat"/>
                <a:cs typeface="Montserrat"/>
                <a:sym typeface="Montserrat"/>
              </a:rPr>
              <a:t>proactivo e iterativo</a:t>
            </a:r>
            <a:r>
              <a:rPr b="0" i="0" lang="en-US" sz="1500" u="none" cap="none" strike="noStrike">
                <a:solidFill>
                  <a:srgbClr val="F1EEF7"/>
                </a:solidFill>
                <a:latin typeface="Montserrat"/>
                <a:ea typeface="Montserrat"/>
                <a:cs typeface="Montserrat"/>
                <a:sym typeface="Montserrat"/>
              </a:rPr>
              <a:t> de buscar amenazas que </a:t>
            </a:r>
            <a:r>
              <a:rPr b="1" i="0" lang="en-US" sz="1500" u="none" cap="none" strike="noStrike">
                <a:solidFill>
                  <a:srgbClr val="F1EEF7"/>
                </a:solidFill>
                <a:latin typeface="Montserrat"/>
                <a:ea typeface="Montserrat"/>
                <a:cs typeface="Montserrat"/>
                <a:sym typeface="Montserrat"/>
              </a:rPr>
              <a:t>evadieron los controles existentes</a:t>
            </a:r>
            <a:r>
              <a:rPr b="0" i="0" lang="en-US" sz="1500" u="none" cap="none" strike="noStrike">
                <a:solidFill>
                  <a:srgbClr val="F1EEF7"/>
                </a:solidFill>
                <a:latin typeface="Montserrat"/>
                <a:ea typeface="Montserrat"/>
                <a:cs typeface="Montserrat"/>
                <a:sym typeface="Montserrat"/>
              </a:rPr>
              <a:t>.</a:t>
            </a:r>
            <a:endParaRPr b="0" i="0" sz="1500" u="none" cap="none" strike="noStrike">
              <a:solidFill>
                <a:schemeClr val="lt1"/>
              </a:solidFill>
              <a:latin typeface="Montserrat"/>
              <a:ea typeface="Montserrat"/>
              <a:cs typeface="Montserrat"/>
              <a:sym typeface="Montserrat"/>
            </a:endParaRPr>
          </a:p>
        </p:txBody>
      </p:sp>
      <p:sp>
        <p:nvSpPr>
          <p:cNvPr id="183" name="Google Shape;183;p7"/>
          <p:cNvSpPr/>
          <p:nvPr/>
        </p:nvSpPr>
        <p:spPr>
          <a:xfrm>
            <a:off x="1104900" y="4513411"/>
            <a:ext cx="1032090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Asume la brecha · Arranca de una hipótesis · Termina en algo nuevo</a:t>
            </a:r>
            <a:endParaRPr b="0" i="0" sz="1200" u="none" cap="none" strike="noStrike">
              <a:solidFill>
                <a:schemeClr val="lt1"/>
              </a:solidFill>
              <a:latin typeface="Montserrat"/>
              <a:ea typeface="Montserrat"/>
              <a:cs typeface="Montserrat"/>
              <a:sym typeface="Montserrat"/>
            </a:endParaRPr>
          </a:p>
        </p:txBody>
      </p:sp>
      <p:sp>
        <p:nvSpPr>
          <p:cNvPr id="184" name="Google Shape;184;p7"/>
          <p:cNvSpPr/>
          <p:nvPr/>
        </p:nvSpPr>
        <p:spPr>
          <a:xfrm>
            <a:off x="812800" y="6238280"/>
            <a:ext cx="881651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Fuente: Sqrrl, “A Framework for Cyber Threat Hunting” · Bianco et al., PEAK (Splunk SURGe, 2023)</a:t>
            </a:r>
            <a:endParaRPr b="0" i="0" sz="1200" u="none" cap="none" strike="noStrike">
              <a:solidFill>
                <a:schemeClr val="lt1"/>
              </a:solidFill>
              <a:latin typeface="Montserrat"/>
              <a:ea typeface="Montserrat"/>
              <a:cs typeface="Montserrat"/>
              <a:sym typeface="Montserrat"/>
            </a:endParaRPr>
          </a:p>
        </p:txBody>
      </p:sp>
      <p:sp>
        <p:nvSpPr>
          <p:cNvPr id="185" name="Google Shape;185;p7"/>
          <p:cNvSpPr/>
          <p:nvPr/>
        </p:nvSpPr>
        <p:spPr>
          <a:xfrm>
            <a:off x="11238657" y="6238280"/>
            <a:ext cx="140543"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7</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190" name="Shape 190"/>
        <p:cNvGrpSpPr/>
        <p:nvPr/>
      </p:nvGrpSpPr>
      <p:grpSpPr>
        <a:xfrm>
          <a:off x="0" y="0"/>
          <a:ext cx="0" cy="0"/>
          <a:chOff x="0" y="0"/>
          <a:chExt cx="0" cy="0"/>
        </a:xfrm>
      </p:grpSpPr>
      <p:sp>
        <p:nvSpPr>
          <p:cNvPr id="191" name="Google Shape;191;p8"/>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THREAT HUNTING EN DIEZ MINUTOS</a:t>
            </a:r>
            <a:endParaRPr b="0" i="0" sz="1200" u="none" cap="none" strike="noStrike">
              <a:solidFill>
                <a:schemeClr val="lt1"/>
              </a:solidFill>
              <a:latin typeface="Montserrat"/>
              <a:ea typeface="Montserrat"/>
              <a:cs typeface="Montserrat"/>
              <a:sym typeface="Montserrat"/>
            </a:endParaRPr>
          </a:p>
        </p:txBody>
      </p:sp>
      <p:sp>
        <p:nvSpPr>
          <p:cNvPr id="192" name="Google Shape;192;p8"/>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Tres formas de cazar</a:t>
            </a:r>
            <a:endParaRPr sz="3200"/>
          </a:p>
        </p:txBody>
      </p:sp>
      <p:sp>
        <p:nvSpPr>
          <p:cNvPr id="193" name="Google Shape;193;p8"/>
          <p:cNvSpPr/>
          <p:nvPr/>
        </p:nvSpPr>
        <p:spPr>
          <a:xfrm>
            <a:off x="819150" y="1835100"/>
            <a:ext cx="3382417" cy="2868613"/>
          </a:xfrm>
          <a:prstGeom prst="roundRect">
            <a:avLst>
              <a:gd fmla="val 3320" name="adj"/>
            </a:avLst>
          </a:prstGeom>
          <a:solidFill>
            <a:srgbClr val="1B1726"/>
          </a:solidFill>
          <a:ln cap="flat" cmpd="sng" w="12700">
            <a:solidFill>
              <a:srgbClr val="F59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8"/>
          <p:cNvSpPr/>
          <p:nvPr/>
        </p:nvSpPr>
        <p:spPr>
          <a:xfrm>
            <a:off x="1079500" y="2095450"/>
            <a:ext cx="294756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200"/>
              <a:buFont typeface="Montserrat"/>
              <a:buNone/>
            </a:pPr>
            <a:r>
              <a:rPr b="1" i="0" lang="en-US" sz="1200" u="none" cap="none" strike="noStrike">
                <a:solidFill>
                  <a:srgbClr val="F59E42"/>
                </a:solidFill>
                <a:latin typeface="Montserrat"/>
                <a:ea typeface="Montserrat"/>
                <a:cs typeface="Montserrat"/>
                <a:sym typeface="Montserrat"/>
              </a:rPr>
              <a:t>LA DE HOY</a:t>
            </a:r>
            <a:endParaRPr b="0" i="0" sz="1200" u="none" cap="none" strike="noStrike">
              <a:solidFill>
                <a:schemeClr val="lt1"/>
              </a:solidFill>
              <a:latin typeface="Montserrat"/>
              <a:ea typeface="Montserrat"/>
              <a:cs typeface="Montserrat"/>
              <a:sym typeface="Montserrat"/>
            </a:endParaRPr>
          </a:p>
        </p:txBody>
      </p:sp>
      <p:sp>
        <p:nvSpPr>
          <p:cNvPr id="195" name="Google Shape;195;p8"/>
          <p:cNvSpPr/>
          <p:nvPr/>
        </p:nvSpPr>
        <p:spPr>
          <a:xfrm>
            <a:off x="1079500" y="2410371"/>
            <a:ext cx="2947568"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Por inteligencia</a:t>
            </a:r>
            <a:endParaRPr b="0" i="0" sz="1500" u="none" cap="none" strike="noStrike">
              <a:solidFill>
                <a:schemeClr val="lt1"/>
              </a:solidFill>
              <a:latin typeface="Montserrat"/>
              <a:ea typeface="Montserrat"/>
              <a:cs typeface="Montserrat"/>
              <a:sym typeface="Montserrat"/>
            </a:endParaRPr>
          </a:p>
        </p:txBody>
      </p:sp>
      <p:sp>
        <p:nvSpPr>
          <p:cNvPr id="196" name="Google Shape;196;p8"/>
          <p:cNvSpPr/>
          <p:nvPr/>
        </p:nvSpPr>
        <p:spPr>
          <a:xfrm>
            <a:off x="1079500" y="2740571"/>
            <a:ext cx="2947568" cy="87868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Arranca de afuera. Un reporte, un feed o un PIR te dice qué está pasando, y traducís sus TTPs, no sus IOCs, en una pregunta para tu flota.</a:t>
            </a:r>
            <a:endParaRPr b="0" i="0" sz="1200" u="none" cap="none" strike="noStrike">
              <a:solidFill>
                <a:schemeClr val="lt1"/>
              </a:solidFill>
              <a:latin typeface="Montserrat"/>
              <a:ea typeface="Montserrat"/>
              <a:cs typeface="Montserrat"/>
              <a:sym typeface="Montserrat"/>
            </a:endParaRPr>
          </a:p>
        </p:txBody>
      </p:sp>
      <p:pic>
        <p:nvPicPr>
          <p:cNvPr descr="line" id="197" name="Google Shape;197;p8"/>
          <p:cNvPicPr preferRelativeResize="0"/>
          <p:nvPr/>
        </p:nvPicPr>
        <p:blipFill rotWithShape="1">
          <a:blip r:embed="rId3">
            <a:alphaModFix/>
          </a:blip>
          <a:srcRect b="-39" l="0" r="0" t="-39"/>
          <a:stretch/>
        </p:blipFill>
        <p:spPr>
          <a:xfrm>
            <a:off x="1079500" y="3695452"/>
            <a:ext cx="2861717" cy="6350"/>
          </a:xfrm>
          <a:prstGeom prst="rect">
            <a:avLst/>
          </a:prstGeom>
          <a:noFill/>
          <a:ln>
            <a:noFill/>
          </a:ln>
        </p:spPr>
      </p:pic>
      <p:sp>
        <p:nvSpPr>
          <p:cNvPr id="198" name="Google Shape;198;p8"/>
          <p:cNvSpPr/>
          <p:nvPr/>
        </p:nvSpPr>
        <p:spPr>
          <a:xfrm>
            <a:off x="1079500" y="3803402"/>
            <a:ext cx="2947568"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0" i="0" lang="en-US" sz="1200" u="none" cap="none" strike="noStrike">
                <a:solidFill>
                  <a:srgbClr val="C2C2F4"/>
                </a:solidFill>
                <a:latin typeface="Montserrat"/>
                <a:ea typeface="Montserrat"/>
                <a:cs typeface="Montserrat"/>
                <a:sym typeface="Montserrat"/>
              </a:rPr>
              <a:t>Ejemplo:</a:t>
            </a:r>
            <a:r>
              <a:rPr b="0" i="0" lang="en-US" sz="1200" u="none" cap="none" strike="noStrike">
                <a:solidFill>
                  <a:srgbClr val="F1EEF7"/>
                </a:solidFill>
                <a:latin typeface="Montserrat"/>
                <a:ea typeface="Montserrat"/>
                <a:cs typeface="Montserrat"/>
                <a:sym typeface="Montserrat"/>
              </a:rPr>
              <a:t> ClickFix fue el 47 % de los accesos iniciales. ¿Alguien de la flota pegó un comando?</a:t>
            </a:r>
            <a:endParaRPr b="0" i="0" sz="1200" u="none" cap="none" strike="noStrike">
              <a:solidFill>
                <a:schemeClr val="lt1"/>
              </a:solidFill>
              <a:latin typeface="Montserrat"/>
              <a:ea typeface="Montserrat"/>
              <a:cs typeface="Montserrat"/>
              <a:sym typeface="Montserrat"/>
            </a:endParaRPr>
          </a:p>
        </p:txBody>
      </p:sp>
      <p:sp>
        <p:nvSpPr>
          <p:cNvPr id="199" name="Google Shape;199;p8"/>
          <p:cNvSpPr/>
          <p:nvPr/>
        </p:nvSpPr>
        <p:spPr>
          <a:xfrm>
            <a:off x="4414292" y="1831925"/>
            <a:ext cx="3376116" cy="2874963"/>
          </a:xfrm>
          <a:prstGeom prst="roundRect">
            <a:avLst>
              <a:gd fmla="val 3424"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8"/>
          <p:cNvSpPr/>
          <p:nvPr/>
        </p:nvSpPr>
        <p:spPr>
          <a:xfrm>
            <a:off x="4671467" y="2089100"/>
            <a:ext cx="294761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1" i="0" lang="en-US" sz="1200" u="none" cap="none" strike="noStrike">
                <a:solidFill>
                  <a:srgbClr val="8F8AA6"/>
                </a:solidFill>
                <a:latin typeface="Montserrat"/>
                <a:ea typeface="Montserrat"/>
                <a:cs typeface="Montserrat"/>
                <a:sym typeface="Montserrat"/>
              </a:rPr>
              <a:t>ATT&amp;CK</a:t>
            </a:r>
            <a:endParaRPr b="0" i="0" sz="1200" u="none" cap="none" strike="noStrike">
              <a:solidFill>
                <a:schemeClr val="lt1"/>
              </a:solidFill>
              <a:latin typeface="Montserrat"/>
              <a:ea typeface="Montserrat"/>
              <a:cs typeface="Montserrat"/>
              <a:sym typeface="Montserrat"/>
            </a:endParaRPr>
          </a:p>
        </p:txBody>
      </p:sp>
      <p:sp>
        <p:nvSpPr>
          <p:cNvPr id="201" name="Google Shape;201;p8"/>
          <p:cNvSpPr/>
          <p:nvPr/>
        </p:nvSpPr>
        <p:spPr>
          <a:xfrm>
            <a:off x="4671467" y="2404021"/>
            <a:ext cx="2947619"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Por hipótesis</a:t>
            </a:r>
            <a:endParaRPr b="0" i="0" sz="1500" u="none" cap="none" strike="noStrike">
              <a:solidFill>
                <a:schemeClr val="lt1"/>
              </a:solidFill>
              <a:latin typeface="Montserrat"/>
              <a:ea typeface="Montserrat"/>
              <a:cs typeface="Montserrat"/>
              <a:sym typeface="Montserrat"/>
            </a:endParaRPr>
          </a:p>
        </p:txBody>
      </p:sp>
      <p:sp>
        <p:nvSpPr>
          <p:cNvPr id="202" name="Google Shape;202;p8"/>
          <p:cNvSpPr/>
          <p:nvPr/>
        </p:nvSpPr>
        <p:spPr>
          <a:xfrm>
            <a:off x="4671467" y="2734221"/>
            <a:ext cx="2947619" cy="87868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Arranca de una idea, sin un reporte que la dispare: partís de ATT&amp;CK o de tu experiencia. “Si el adversario hizo X, lo veo en Y.”</a:t>
            </a:r>
            <a:endParaRPr b="0" i="0" sz="1200" u="none" cap="none" strike="noStrike">
              <a:solidFill>
                <a:schemeClr val="lt1"/>
              </a:solidFill>
              <a:latin typeface="Montserrat"/>
              <a:ea typeface="Montserrat"/>
              <a:cs typeface="Montserrat"/>
              <a:sym typeface="Montserrat"/>
            </a:endParaRPr>
          </a:p>
        </p:txBody>
      </p:sp>
      <p:pic>
        <p:nvPicPr>
          <p:cNvPr descr="line" id="203" name="Google Shape;203;p8"/>
          <p:cNvPicPr preferRelativeResize="0"/>
          <p:nvPr/>
        </p:nvPicPr>
        <p:blipFill rotWithShape="1">
          <a:blip r:embed="rId3">
            <a:alphaModFix/>
          </a:blip>
          <a:srcRect b="-39" l="0" r="0" t="-39"/>
          <a:stretch/>
        </p:blipFill>
        <p:spPr>
          <a:xfrm>
            <a:off x="4671467" y="3689102"/>
            <a:ext cx="2861766" cy="6350"/>
          </a:xfrm>
          <a:prstGeom prst="rect">
            <a:avLst/>
          </a:prstGeom>
          <a:noFill/>
          <a:ln>
            <a:noFill/>
          </a:ln>
        </p:spPr>
      </p:pic>
      <p:sp>
        <p:nvSpPr>
          <p:cNvPr id="204" name="Google Shape;204;p8"/>
          <p:cNvSpPr/>
          <p:nvPr/>
        </p:nvSpPr>
        <p:spPr>
          <a:xfrm>
            <a:off x="4671467" y="3797052"/>
            <a:ext cx="2947619"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0" i="0" lang="en-US" sz="1200" u="none" cap="none" strike="noStrike">
                <a:solidFill>
                  <a:srgbClr val="C2C2F4"/>
                </a:solidFill>
                <a:latin typeface="Montserrat"/>
                <a:ea typeface="Montserrat"/>
                <a:cs typeface="Montserrat"/>
                <a:sym typeface="Montserrat"/>
              </a:rPr>
              <a:t>Ejemplo:</a:t>
            </a:r>
            <a:r>
              <a:rPr b="0" i="0" lang="en-US" sz="1200" u="none" cap="none" strike="noStrike">
                <a:solidFill>
                  <a:srgbClr val="F1EEF7"/>
                </a:solidFill>
                <a:latin typeface="Montserrat"/>
                <a:ea typeface="Montserrat"/>
                <a:cs typeface="Montserrat"/>
                <a:sym typeface="Montserrat"/>
              </a:rPr>
              <a:t> si alguien persiste en el navegador, un proceso que no es Chrome va a escribir su perfil.</a:t>
            </a:r>
            <a:endParaRPr b="0" i="0" sz="1200" u="none" cap="none" strike="noStrike">
              <a:solidFill>
                <a:schemeClr val="lt1"/>
              </a:solidFill>
              <a:latin typeface="Montserrat"/>
              <a:ea typeface="Montserrat"/>
              <a:cs typeface="Montserrat"/>
              <a:sym typeface="Montserrat"/>
            </a:endParaRPr>
          </a:p>
        </p:txBody>
      </p:sp>
      <p:sp>
        <p:nvSpPr>
          <p:cNvPr id="205" name="Google Shape;205;p8"/>
          <p:cNvSpPr/>
          <p:nvPr/>
        </p:nvSpPr>
        <p:spPr>
          <a:xfrm>
            <a:off x="7999958" y="1831925"/>
            <a:ext cx="3376067" cy="2874963"/>
          </a:xfrm>
          <a:prstGeom prst="roundRect">
            <a:avLst>
              <a:gd fmla="val 3424"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8"/>
          <p:cNvSpPr/>
          <p:nvPr/>
        </p:nvSpPr>
        <p:spPr>
          <a:xfrm>
            <a:off x="8257133" y="2089100"/>
            <a:ext cx="294756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1" i="0" lang="en-US" sz="1200" u="none" cap="none" strike="noStrike">
                <a:solidFill>
                  <a:srgbClr val="8F8AA6"/>
                </a:solidFill>
                <a:latin typeface="Montserrat"/>
                <a:ea typeface="Montserrat"/>
                <a:cs typeface="Montserrat"/>
                <a:sym typeface="Montserrat"/>
              </a:rPr>
              <a:t>EXPLORATORIA</a:t>
            </a:r>
            <a:endParaRPr b="0" i="0" sz="1200" u="none" cap="none" strike="noStrike">
              <a:solidFill>
                <a:schemeClr val="lt1"/>
              </a:solidFill>
              <a:latin typeface="Montserrat"/>
              <a:ea typeface="Montserrat"/>
              <a:cs typeface="Montserrat"/>
              <a:sym typeface="Montserrat"/>
            </a:endParaRPr>
          </a:p>
        </p:txBody>
      </p:sp>
      <p:sp>
        <p:nvSpPr>
          <p:cNvPr id="207" name="Google Shape;207;p8"/>
          <p:cNvSpPr/>
          <p:nvPr/>
        </p:nvSpPr>
        <p:spPr>
          <a:xfrm>
            <a:off x="8257133" y="2404021"/>
            <a:ext cx="2947568"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Por línea base</a:t>
            </a:r>
            <a:endParaRPr b="0" i="0" sz="1500" u="none" cap="none" strike="noStrike">
              <a:solidFill>
                <a:schemeClr val="lt1"/>
              </a:solidFill>
              <a:latin typeface="Montserrat"/>
              <a:ea typeface="Montserrat"/>
              <a:cs typeface="Montserrat"/>
              <a:sym typeface="Montserrat"/>
            </a:endParaRPr>
          </a:p>
        </p:txBody>
      </p:sp>
      <p:sp>
        <p:nvSpPr>
          <p:cNvPr id="208" name="Google Shape;208;p8"/>
          <p:cNvSpPr/>
          <p:nvPr/>
        </p:nvSpPr>
        <p:spPr>
          <a:xfrm>
            <a:off x="8257133" y="2734221"/>
            <a:ext cx="2947568" cy="87868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Arranca de los datos. Definís lo normal y cazás lo raro: stack counting, rareza en la flota, lo que aparece una sola vez.</a:t>
            </a:r>
            <a:endParaRPr b="0" i="0" sz="1200" u="none" cap="none" strike="noStrike">
              <a:solidFill>
                <a:schemeClr val="lt1"/>
              </a:solidFill>
              <a:latin typeface="Montserrat"/>
              <a:ea typeface="Montserrat"/>
              <a:cs typeface="Montserrat"/>
              <a:sym typeface="Montserrat"/>
            </a:endParaRPr>
          </a:p>
        </p:txBody>
      </p:sp>
      <p:pic>
        <p:nvPicPr>
          <p:cNvPr descr="line" id="209" name="Google Shape;209;p8"/>
          <p:cNvPicPr preferRelativeResize="0"/>
          <p:nvPr/>
        </p:nvPicPr>
        <p:blipFill rotWithShape="1">
          <a:blip r:embed="rId3">
            <a:alphaModFix/>
          </a:blip>
          <a:srcRect b="-39" l="0" r="0" t="-39"/>
          <a:stretch/>
        </p:blipFill>
        <p:spPr>
          <a:xfrm>
            <a:off x="8257133" y="3689102"/>
            <a:ext cx="2861717" cy="6350"/>
          </a:xfrm>
          <a:prstGeom prst="rect">
            <a:avLst/>
          </a:prstGeom>
          <a:noFill/>
          <a:ln>
            <a:noFill/>
          </a:ln>
        </p:spPr>
      </p:pic>
      <p:sp>
        <p:nvSpPr>
          <p:cNvPr id="210" name="Google Shape;210;p8"/>
          <p:cNvSpPr/>
          <p:nvPr/>
        </p:nvSpPr>
        <p:spPr>
          <a:xfrm>
            <a:off x="8257133" y="3797052"/>
            <a:ext cx="2947568"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0" i="0" lang="en-US" sz="1200" u="none" cap="none" strike="noStrike">
                <a:solidFill>
                  <a:srgbClr val="C2C2F4"/>
                </a:solidFill>
                <a:latin typeface="Montserrat"/>
                <a:ea typeface="Montserrat"/>
                <a:cs typeface="Montserrat"/>
                <a:sym typeface="Montserrat"/>
              </a:rPr>
              <a:t>Ejemplo:</a:t>
            </a:r>
            <a:r>
              <a:rPr b="0" i="0" lang="en-US" sz="1200" u="none" cap="none" strike="noStrike">
                <a:solidFill>
                  <a:srgbClr val="F1EEF7"/>
                </a:solidFill>
                <a:latin typeface="Montserrat"/>
                <a:ea typeface="Montserrat"/>
                <a:cs typeface="Montserrat"/>
                <a:sym typeface="Montserrat"/>
              </a:rPr>
              <a:t> ¿cuántas veces al mes corre csc.exe sin argumentos en 3.000 equipos?</a:t>
            </a:r>
            <a:endParaRPr b="0" i="0" sz="1200" u="none" cap="none" strike="noStrike">
              <a:solidFill>
                <a:schemeClr val="lt1"/>
              </a:solidFill>
              <a:latin typeface="Montserrat"/>
              <a:ea typeface="Montserrat"/>
              <a:cs typeface="Montserrat"/>
              <a:sym typeface="Montserrat"/>
            </a:endParaRPr>
          </a:p>
        </p:txBody>
      </p:sp>
      <p:sp>
        <p:nvSpPr>
          <p:cNvPr id="211" name="Google Shape;211;p8"/>
          <p:cNvSpPr/>
          <p:nvPr/>
        </p:nvSpPr>
        <p:spPr>
          <a:xfrm>
            <a:off x="812800" y="6238280"/>
            <a:ext cx="496270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Adaptado de PEAK (Bianco et al., Splunk SURGe, 2023)</a:t>
            </a:r>
            <a:endParaRPr b="0" i="0" sz="1200" u="none" cap="none" strike="noStrike">
              <a:solidFill>
                <a:schemeClr val="lt1"/>
              </a:solidFill>
              <a:latin typeface="Montserrat"/>
              <a:ea typeface="Montserrat"/>
              <a:cs typeface="Montserrat"/>
              <a:sym typeface="Montserrat"/>
            </a:endParaRPr>
          </a:p>
        </p:txBody>
      </p:sp>
      <p:sp>
        <p:nvSpPr>
          <p:cNvPr id="212" name="Google Shape;212;p8"/>
          <p:cNvSpPr/>
          <p:nvPr/>
        </p:nvSpPr>
        <p:spPr>
          <a:xfrm>
            <a:off x="11231215" y="6238280"/>
            <a:ext cx="147985"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8</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217" name="Shape 217"/>
        <p:cNvGrpSpPr/>
        <p:nvPr/>
      </p:nvGrpSpPr>
      <p:grpSpPr>
        <a:xfrm>
          <a:off x="0" y="0"/>
          <a:ext cx="0" cy="0"/>
          <a:chOff x="0" y="0"/>
          <a:chExt cx="0" cy="0"/>
        </a:xfrm>
      </p:grpSpPr>
      <p:sp>
        <p:nvSpPr>
          <p:cNvPr id="218" name="Google Shape;218;p9"/>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THREAT HUNTING EN DIEZ MINUTOS</a:t>
            </a:r>
            <a:endParaRPr b="0" i="0" sz="1200" u="none" cap="none" strike="noStrike">
              <a:solidFill>
                <a:schemeClr val="lt1"/>
              </a:solidFill>
              <a:latin typeface="Montserrat"/>
              <a:ea typeface="Montserrat"/>
              <a:cs typeface="Montserrat"/>
              <a:sym typeface="Montserrat"/>
            </a:endParaRPr>
          </a:p>
        </p:txBody>
      </p:sp>
      <p:sp>
        <p:nvSpPr>
          <p:cNvPr id="219" name="Google Shape;219;p9"/>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La pirámide del dolor</a:t>
            </a:r>
            <a:endParaRPr sz="3200"/>
          </a:p>
        </p:txBody>
      </p:sp>
      <p:sp>
        <p:nvSpPr>
          <p:cNvPr id="220" name="Google Shape;220;p9"/>
          <p:cNvSpPr/>
          <p:nvPr/>
        </p:nvSpPr>
        <p:spPr>
          <a:xfrm>
            <a:off x="2781300" y="1879550"/>
            <a:ext cx="1905000" cy="411460"/>
          </a:xfrm>
          <a:prstGeom prst="roundRect">
            <a:avLst>
              <a:gd fmla="val 12346" name="adj"/>
            </a:avLst>
          </a:prstGeom>
          <a:solidFill>
            <a:srgbClr val="F59E42"/>
          </a:solidFill>
          <a:ln>
            <a:noFill/>
          </a:ln>
        </p:spPr>
        <p:txBody>
          <a:bodyPr anchorCtr="0" anchor="t" bIns="74000" lIns="112100" spcFirstLastPara="1" rIns="112100" wrap="square" tIns="99400">
            <a:normAutofit/>
          </a:bodyPr>
          <a:lstStyle/>
          <a:p>
            <a:pPr indent="0" lvl="0" marL="0" marR="0" rtl="0" algn="ctr">
              <a:lnSpc>
                <a:spcPct val="120000"/>
              </a:lnSpc>
              <a:spcBef>
                <a:spcPts val="0"/>
              </a:spcBef>
              <a:spcAft>
                <a:spcPts val="0"/>
              </a:spcAft>
              <a:buClr>
                <a:srgbClr val="0C0B12"/>
              </a:buClr>
              <a:buSzPts val="1200"/>
              <a:buFont typeface="Montserrat"/>
              <a:buNone/>
            </a:pPr>
            <a:r>
              <a:rPr b="1" i="0" lang="en-US" sz="1200" u="none" cap="none" strike="noStrike">
                <a:solidFill>
                  <a:srgbClr val="0C0B12"/>
                </a:solidFill>
                <a:latin typeface="Montserrat"/>
                <a:ea typeface="Montserrat"/>
                <a:cs typeface="Montserrat"/>
                <a:sym typeface="Montserrat"/>
              </a:rPr>
              <a:t>TTPs</a:t>
            </a:r>
            <a:r>
              <a:rPr b="0" i="0" lang="en-US" sz="1200" u="none" cap="none" strike="noStrike">
                <a:solidFill>
                  <a:srgbClr val="0C0B12"/>
                </a:solidFill>
                <a:latin typeface="Montserrat"/>
                <a:ea typeface="Montserrat"/>
                <a:cs typeface="Montserrat"/>
                <a:sym typeface="Montserrat"/>
              </a:rPr>
              <a:t> · Difícil</a:t>
            </a:r>
            <a:endParaRPr b="0" i="0" sz="1200" u="none" cap="none" strike="noStrike">
              <a:solidFill>
                <a:schemeClr val="lt1"/>
              </a:solidFill>
              <a:latin typeface="Montserrat"/>
              <a:ea typeface="Montserrat"/>
              <a:cs typeface="Montserrat"/>
              <a:sym typeface="Montserrat"/>
            </a:endParaRPr>
          </a:p>
        </p:txBody>
      </p:sp>
      <p:sp>
        <p:nvSpPr>
          <p:cNvPr id="221" name="Google Shape;221;p9"/>
          <p:cNvSpPr/>
          <p:nvPr/>
        </p:nvSpPr>
        <p:spPr>
          <a:xfrm>
            <a:off x="2403475" y="2344986"/>
            <a:ext cx="2660650" cy="417810"/>
          </a:xfrm>
          <a:prstGeom prst="roundRect">
            <a:avLst>
              <a:gd fmla="val 11399" name="adj"/>
            </a:avLst>
          </a:prstGeom>
          <a:solidFill>
            <a:srgbClr val="1B1726"/>
          </a:solidFill>
          <a:ln cap="flat" cmpd="sng" w="9525">
            <a:solidFill>
              <a:srgbClr val="2D2740"/>
            </a:solidFill>
            <a:prstDash val="solid"/>
            <a:round/>
            <a:headEnd len="sm" w="sm" type="none"/>
            <a:tailEnd len="sm" w="sm" type="none"/>
          </a:ln>
        </p:spPr>
        <p:txBody>
          <a:bodyPr anchorCtr="0" anchor="t" bIns="78125" lIns="106375" spcFirstLastPara="1" rIns="106375" wrap="square" tIns="103525">
            <a:normAutofit/>
          </a:bodyPr>
          <a:lstStyle/>
          <a:p>
            <a:pPr indent="0" lvl="0" marL="0" marR="0" rtl="0" algn="ctr">
              <a:lnSpc>
                <a:spcPct val="12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Herramientas</a:t>
            </a:r>
            <a:r>
              <a:rPr b="0" i="0" lang="en-US" sz="1200" u="none" cap="none" strike="noStrike">
                <a:solidFill>
                  <a:srgbClr val="F1EEF7"/>
                </a:solidFill>
                <a:latin typeface="Montserrat"/>
                <a:ea typeface="Montserrat"/>
                <a:cs typeface="Montserrat"/>
                <a:sym typeface="Montserrat"/>
              </a:rPr>
              <a:t> · Desafiante</a:t>
            </a:r>
            <a:endParaRPr b="0" i="0" sz="1200" u="none" cap="none" strike="noStrike">
              <a:solidFill>
                <a:schemeClr val="lt1"/>
              </a:solidFill>
              <a:latin typeface="Montserrat"/>
              <a:ea typeface="Montserrat"/>
              <a:cs typeface="Montserrat"/>
              <a:sym typeface="Montserrat"/>
            </a:endParaRPr>
          </a:p>
        </p:txBody>
      </p:sp>
      <p:sp>
        <p:nvSpPr>
          <p:cNvPr id="222" name="Google Shape;222;p9"/>
          <p:cNvSpPr/>
          <p:nvPr/>
        </p:nvSpPr>
        <p:spPr>
          <a:xfrm>
            <a:off x="1958975" y="2819946"/>
            <a:ext cx="3549650" cy="417810"/>
          </a:xfrm>
          <a:prstGeom prst="roundRect">
            <a:avLst>
              <a:gd fmla="val 11399" name="adj"/>
            </a:avLst>
          </a:prstGeom>
          <a:solidFill>
            <a:srgbClr val="1B1726"/>
          </a:solidFill>
          <a:ln cap="flat" cmpd="sng" w="9525">
            <a:solidFill>
              <a:srgbClr val="2D2740"/>
            </a:solidFill>
            <a:prstDash val="solid"/>
            <a:round/>
            <a:headEnd len="sm" w="sm" type="none"/>
            <a:tailEnd len="sm" w="sm" type="none"/>
          </a:ln>
        </p:spPr>
        <p:txBody>
          <a:bodyPr anchorCtr="0" anchor="t" bIns="78125" lIns="93025" spcFirstLastPara="1" rIns="93025" wrap="square" tIns="103525">
            <a:normAutofit/>
          </a:bodyPr>
          <a:lstStyle/>
          <a:p>
            <a:pPr indent="0" lvl="0" marL="0" marR="0" rtl="0" algn="ctr">
              <a:lnSpc>
                <a:spcPct val="12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Artefactos de red y host</a:t>
            </a:r>
            <a:r>
              <a:rPr b="0" i="0" lang="en-US" sz="1200" u="none" cap="none" strike="noStrike">
                <a:solidFill>
                  <a:srgbClr val="F1EEF7"/>
                </a:solidFill>
                <a:latin typeface="Montserrat"/>
                <a:ea typeface="Montserrat"/>
                <a:cs typeface="Montserrat"/>
                <a:sym typeface="Montserrat"/>
              </a:rPr>
              <a:t> · Molesto</a:t>
            </a:r>
            <a:endParaRPr b="0" i="0" sz="1200" u="none" cap="none" strike="noStrike">
              <a:solidFill>
                <a:schemeClr val="lt1"/>
              </a:solidFill>
              <a:latin typeface="Montserrat"/>
              <a:ea typeface="Montserrat"/>
              <a:cs typeface="Montserrat"/>
              <a:sym typeface="Montserrat"/>
            </a:endParaRPr>
          </a:p>
        </p:txBody>
      </p:sp>
      <p:sp>
        <p:nvSpPr>
          <p:cNvPr id="223" name="Google Shape;223;p9"/>
          <p:cNvSpPr/>
          <p:nvPr/>
        </p:nvSpPr>
        <p:spPr>
          <a:xfrm>
            <a:off x="1577975" y="3294906"/>
            <a:ext cx="4311650" cy="417810"/>
          </a:xfrm>
          <a:prstGeom prst="roundRect">
            <a:avLst>
              <a:gd fmla="val 11399" name="adj"/>
            </a:avLst>
          </a:prstGeom>
          <a:solidFill>
            <a:srgbClr val="1B1726"/>
          </a:solidFill>
          <a:ln cap="flat" cmpd="sng" w="9525">
            <a:solidFill>
              <a:srgbClr val="2D2740"/>
            </a:solidFill>
            <a:prstDash val="solid"/>
            <a:round/>
            <a:headEnd len="sm" w="sm" type="none"/>
            <a:tailEnd len="sm" w="sm" type="none"/>
          </a:ln>
        </p:spPr>
        <p:txBody>
          <a:bodyPr anchorCtr="0" anchor="t" bIns="78125" lIns="81600" spcFirstLastPara="1" rIns="81600" wrap="square" tIns="103525">
            <a:normAutofit/>
          </a:bodyPr>
          <a:lstStyle/>
          <a:p>
            <a:pPr indent="0" lvl="0" marL="0" marR="0" rtl="0" algn="ctr">
              <a:lnSpc>
                <a:spcPct val="12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Dominios</a:t>
            </a:r>
            <a:r>
              <a:rPr b="0" i="0" lang="en-US" sz="1200" u="none" cap="none" strike="noStrike">
                <a:solidFill>
                  <a:srgbClr val="F1EEF7"/>
                </a:solidFill>
                <a:latin typeface="Montserrat"/>
                <a:ea typeface="Montserrat"/>
                <a:cs typeface="Montserrat"/>
                <a:sym typeface="Montserrat"/>
              </a:rPr>
              <a:t> · Simple</a:t>
            </a:r>
            <a:endParaRPr b="0" i="0" sz="1200" u="none" cap="none" strike="noStrike">
              <a:solidFill>
                <a:schemeClr val="lt1"/>
              </a:solidFill>
              <a:latin typeface="Montserrat"/>
              <a:ea typeface="Montserrat"/>
              <a:cs typeface="Montserrat"/>
              <a:sym typeface="Montserrat"/>
            </a:endParaRPr>
          </a:p>
        </p:txBody>
      </p:sp>
      <p:sp>
        <p:nvSpPr>
          <p:cNvPr id="224" name="Google Shape;224;p9"/>
          <p:cNvSpPr/>
          <p:nvPr/>
        </p:nvSpPr>
        <p:spPr>
          <a:xfrm>
            <a:off x="1196975" y="3769866"/>
            <a:ext cx="5073650" cy="417810"/>
          </a:xfrm>
          <a:prstGeom prst="roundRect">
            <a:avLst>
              <a:gd fmla="val 11399" name="adj"/>
            </a:avLst>
          </a:prstGeom>
          <a:solidFill>
            <a:srgbClr val="1B1726"/>
          </a:solidFill>
          <a:ln cap="flat" cmpd="sng" w="9525">
            <a:solidFill>
              <a:srgbClr val="2D2740"/>
            </a:solidFill>
            <a:prstDash val="solid"/>
            <a:round/>
            <a:headEnd len="sm" w="sm" type="none"/>
            <a:tailEnd len="sm" w="sm" type="none"/>
          </a:ln>
        </p:spPr>
        <p:txBody>
          <a:bodyPr anchorCtr="0" anchor="t" bIns="78125" lIns="70175" spcFirstLastPara="1" rIns="70175" wrap="square" tIns="103525">
            <a:normAutofit/>
          </a:bodyPr>
          <a:lstStyle/>
          <a:p>
            <a:pPr indent="0" lvl="0" marL="0" marR="0" rtl="0" algn="ctr">
              <a:lnSpc>
                <a:spcPct val="12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IPs</a:t>
            </a:r>
            <a:r>
              <a:rPr b="0" i="0" lang="en-US" sz="1200" u="none" cap="none" strike="noStrike">
                <a:solidFill>
                  <a:srgbClr val="F1EEF7"/>
                </a:solidFill>
                <a:latin typeface="Montserrat"/>
                <a:ea typeface="Montserrat"/>
                <a:cs typeface="Montserrat"/>
                <a:sym typeface="Montserrat"/>
              </a:rPr>
              <a:t> · Fácil</a:t>
            </a:r>
            <a:endParaRPr b="0" i="0" sz="1200" u="none" cap="none" strike="noStrike">
              <a:solidFill>
                <a:schemeClr val="lt1"/>
              </a:solidFill>
              <a:latin typeface="Montserrat"/>
              <a:ea typeface="Montserrat"/>
              <a:cs typeface="Montserrat"/>
              <a:sym typeface="Montserrat"/>
            </a:endParaRPr>
          </a:p>
        </p:txBody>
      </p:sp>
      <p:sp>
        <p:nvSpPr>
          <p:cNvPr id="225" name="Google Shape;225;p9"/>
          <p:cNvSpPr/>
          <p:nvPr/>
        </p:nvSpPr>
        <p:spPr>
          <a:xfrm>
            <a:off x="815975" y="4244826"/>
            <a:ext cx="5835650" cy="417810"/>
          </a:xfrm>
          <a:prstGeom prst="roundRect">
            <a:avLst>
              <a:gd fmla="val 11399" name="adj"/>
            </a:avLst>
          </a:prstGeom>
          <a:solidFill>
            <a:srgbClr val="1B1726"/>
          </a:solidFill>
          <a:ln cap="flat" cmpd="sng" w="9525">
            <a:solidFill>
              <a:srgbClr val="2D2740"/>
            </a:solidFill>
            <a:prstDash val="solid"/>
            <a:round/>
            <a:headEnd len="sm" w="sm" type="none"/>
            <a:tailEnd len="sm" w="sm" type="none"/>
          </a:ln>
        </p:spPr>
        <p:txBody>
          <a:bodyPr anchorCtr="0" anchor="t" bIns="78125" lIns="58750" spcFirstLastPara="1" rIns="58750" wrap="square" tIns="103525">
            <a:normAutofit/>
          </a:bodyPr>
          <a:lstStyle/>
          <a:p>
            <a:pPr indent="0" lvl="0" marL="0" marR="0" rtl="0" algn="ctr">
              <a:lnSpc>
                <a:spcPct val="12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Hashes</a:t>
            </a:r>
            <a:r>
              <a:rPr b="0" i="0" lang="en-US" sz="1200" u="none" cap="none" strike="noStrike">
                <a:solidFill>
                  <a:srgbClr val="F1EEF7"/>
                </a:solidFill>
                <a:latin typeface="Montserrat"/>
                <a:ea typeface="Montserrat"/>
                <a:cs typeface="Montserrat"/>
                <a:sym typeface="Montserrat"/>
              </a:rPr>
              <a:t> · Trivial</a:t>
            </a:r>
            <a:endParaRPr b="0" i="0" sz="1200" u="none" cap="none" strike="noStrike">
              <a:solidFill>
                <a:schemeClr val="lt1"/>
              </a:solidFill>
              <a:latin typeface="Montserrat"/>
              <a:ea typeface="Montserrat"/>
              <a:cs typeface="Montserrat"/>
              <a:sym typeface="Montserrat"/>
            </a:endParaRPr>
          </a:p>
        </p:txBody>
      </p:sp>
      <p:sp>
        <p:nvSpPr>
          <p:cNvPr id="226" name="Google Shape;226;p9"/>
          <p:cNvSpPr/>
          <p:nvPr/>
        </p:nvSpPr>
        <p:spPr>
          <a:xfrm>
            <a:off x="7061200" y="1981250"/>
            <a:ext cx="4447540"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C2C2F4"/>
              </a:buClr>
              <a:buSzPts val="1500"/>
              <a:buFont typeface="Montserrat"/>
              <a:buNone/>
            </a:pPr>
            <a:r>
              <a:rPr b="1" i="0" lang="en-US" sz="1500" u="none" cap="none" strike="noStrike">
                <a:solidFill>
                  <a:srgbClr val="C2C2F4"/>
                </a:solidFill>
                <a:latin typeface="Montserrat"/>
                <a:ea typeface="Montserrat"/>
                <a:cs typeface="Montserrat"/>
                <a:sym typeface="Montserrat"/>
              </a:rPr>
              <a:t>En este caso</a:t>
            </a:r>
            <a:endParaRPr b="0" i="0" sz="1500" u="none" cap="none" strike="noStrike">
              <a:solidFill>
                <a:schemeClr val="lt1"/>
              </a:solidFill>
              <a:latin typeface="Montserrat"/>
              <a:ea typeface="Montserrat"/>
              <a:cs typeface="Montserrat"/>
              <a:sym typeface="Montserrat"/>
            </a:endParaRPr>
          </a:p>
        </p:txBody>
      </p:sp>
      <p:sp>
        <p:nvSpPr>
          <p:cNvPr id="227" name="Google Shape;227;p9"/>
          <p:cNvSpPr/>
          <p:nvPr/>
        </p:nvSpPr>
        <p:spPr>
          <a:xfrm>
            <a:off x="7061200" y="2387650"/>
            <a:ext cx="444754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1" i="0" lang="en-US" sz="1200" u="none" cap="none" strike="noStrike">
                <a:solidFill>
                  <a:srgbClr val="8F8AA6"/>
                </a:solidFill>
                <a:latin typeface="Montserrat"/>
                <a:ea typeface="Montserrat"/>
                <a:cs typeface="Montserrat"/>
                <a:sym typeface="Montserrat"/>
              </a:rPr>
              <a:t>Hash · trivial</a:t>
            </a:r>
            <a:endParaRPr b="0" i="0" sz="1200" u="none" cap="none" strike="noStrike">
              <a:solidFill>
                <a:schemeClr val="lt1"/>
              </a:solidFill>
              <a:latin typeface="Montserrat"/>
              <a:ea typeface="Montserrat"/>
              <a:cs typeface="Montserrat"/>
              <a:sym typeface="Montserrat"/>
            </a:endParaRPr>
          </a:p>
        </p:txBody>
      </p:sp>
      <p:sp>
        <p:nvSpPr>
          <p:cNvPr id="228" name="Google Shape;228;p9"/>
          <p:cNvSpPr/>
          <p:nvPr/>
        </p:nvSpPr>
        <p:spPr>
          <a:xfrm>
            <a:off x="7061200" y="2639070"/>
            <a:ext cx="444754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El script cambió de hash en cada descarga.</a:t>
            </a:r>
            <a:endParaRPr b="0" i="0" sz="1200" u="none" cap="none" strike="noStrike">
              <a:solidFill>
                <a:schemeClr val="lt1"/>
              </a:solidFill>
              <a:latin typeface="Montserrat"/>
              <a:ea typeface="Montserrat"/>
              <a:cs typeface="Montserrat"/>
              <a:sym typeface="Montserrat"/>
            </a:endParaRPr>
          </a:p>
        </p:txBody>
      </p:sp>
      <p:sp>
        <p:nvSpPr>
          <p:cNvPr id="229" name="Google Shape;229;p9"/>
          <p:cNvSpPr/>
          <p:nvPr/>
        </p:nvSpPr>
        <p:spPr>
          <a:xfrm>
            <a:off x="7061200" y="3030190"/>
            <a:ext cx="444754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1" i="0" lang="en-US" sz="1200" u="none" cap="none" strike="noStrike">
                <a:solidFill>
                  <a:srgbClr val="8F8AA6"/>
                </a:solidFill>
                <a:latin typeface="Montserrat"/>
                <a:ea typeface="Montserrat"/>
                <a:cs typeface="Montserrat"/>
                <a:sym typeface="Montserrat"/>
              </a:rPr>
              <a:t>Dominio · simple</a:t>
            </a:r>
            <a:endParaRPr b="0" i="0" sz="1200" u="none" cap="none" strike="noStrike">
              <a:solidFill>
                <a:schemeClr val="lt1"/>
              </a:solidFill>
              <a:latin typeface="Montserrat"/>
              <a:ea typeface="Montserrat"/>
              <a:cs typeface="Montserrat"/>
              <a:sym typeface="Montserrat"/>
            </a:endParaRPr>
          </a:p>
        </p:txBody>
      </p:sp>
      <p:sp>
        <p:nvSpPr>
          <p:cNvPr id="230" name="Google Shape;230;p9"/>
          <p:cNvSpPr/>
          <p:nvPr/>
        </p:nvSpPr>
        <p:spPr>
          <a:xfrm>
            <a:off x="7061200" y="3281611"/>
            <a:ext cx="444754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El dominio del stage-1 no resolvía días después de capturarlo.</a:t>
            </a:r>
            <a:endParaRPr b="0" i="0" sz="1200" u="none" cap="none" strike="noStrike">
              <a:solidFill>
                <a:schemeClr val="lt1"/>
              </a:solidFill>
              <a:latin typeface="Montserrat"/>
              <a:ea typeface="Montserrat"/>
              <a:cs typeface="Montserrat"/>
              <a:sym typeface="Montserrat"/>
            </a:endParaRPr>
          </a:p>
        </p:txBody>
      </p:sp>
      <p:sp>
        <p:nvSpPr>
          <p:cNvPr id="231" name="Google Shape;231;p9"/>
          <p:cNvSpPr/>
          <p:nvPr/>
        </p:nvSpPr>
        <p:spPr>
          <a:xfrm>
            <a:off x="7061200" y="3886051"/>
            <a:ext cx="444754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200"/>
              <a:buFont typeface="Montserrat"/>
              <a:buNone/>
            </a:pPr>
            <a:r>
              <a:rPr b="1" i="0" lang="en-US" sz="1200" u="none" cap="none" strike="noStrike">
                <a:solidFill>
                  <a:srgbClr val="F59E42"/>
                </a:solidFill>
                <a:latin typeface="Montserrat"/>
                <a:ea typeface="Montserrat"/>
                <a:cs typeface="Montserrat"/>
                <a:sym typeface="Montserrat"/>
              </a:rPr>
              <a:t>TTP · difícil</a:t>
            </a:r>
            <a:endParaRPr b="0" i="0" sz="1200" u="none" cap="none" strike="noStrike">
              <a:solidFill>
                <a:schemeClr val="lt1"/>
              </a:solidFill>
              <a:latin typeface="Montserrat"/>
              <a:ea typeface="Montserrat"/>
              <a:cs typeface="Montserrat"/>
              <a:sym typeface="Montserrat"/>
            </a:endParaRPr>
          </a:p>
        </p:txBody>
      </p:sp>
      <p:sp>
        <p:nvSpPr>
          <p:cNvPr id="232" name="Google Shape;232;p9"/>
          <p:cNvSpPr/>
          <p:nvPr/>
        </p:nvSpPr>
        <p:spPr>
          <a:xfrm>
            <a:off x="7061200" y="4137471"/>
            <a:ext cx="444754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El comportamiento no cambió: pegar, ocultar la consola, inyectar en .NET y persistir en el navegador.</a:t>
            </a:r>
            <a:endParaRPr b="0" i="0" sz="1200" u="none" cap="none" strike="noStrike">
              <a:solidFill>
                <a:schemeClr val="lt1"/>
              </a:solidFill>
              <a:latin typeface="Montserrat"/>
              <a:ea typeface="Montserrat"/>
              <a:cs typeface="Montserrat"/>
              <a:sym typeface="Montserrat"/>
            </a:endParaRPr>
          </a:p>
        </p:txBody>
      </p:sp>
      <p:sp>
        <p:nvSpPr>
          <p:cNvPr id="233" name="Google Shape;233;p9"/>
          <p:cNvSpPr/>
          <p:nvPr/>
        </p:nvSpPr>
        <p:spPr>
          <a:xfrm>
            <a:off x="812800" y="6238280"/>
            <a:ext cx="441352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Fuente: D. J. Bianco, “The Pyramid of Pain” (2013)</a:t>
            </a:r>
            <a:endParaRPr b="0" i="0" sz="1200" u="none" cap="none" strike="noStrike">
              <a:solidFill>
                <a:schemeClr val="lt1"/>
              </a:solidFill>
              <a:latin typeface="Montserrat"/>
              <a:ea typeface="Montserrat"/>
              <a:cs typeface="Montserrat"/>
              <a:sym typeface="Montserrat"/>
            </a:endParaRPr>
          </a:p>
        </p:txBody>
      </p:sp>
      <p:sp>
        <p:nvSpPr>
          <p:cNvPr id="234" name="Google Shape;234;p9"/>
          <p:cNvSpPr/>
          <p:nvPr/>
        </p:nvSpPr>
        <p:spPr>
          <a:xfrm>
            <a:off x="11235581" y="6238280"/>
            <a:ext cx="143619"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9</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239" name="Shape 239"/>
        <p:cNvGrpSpPr/>
        <p:nvPr/>
      </p:nvGrpSpPr>
      <p:grpSpPr>
        <a:xfrm>
          <a:off x="0" y="0"/>
          <a:ext cx="0" cy="0"/>
          <a:chOff x="0" y="0"/>
          <a:chExt cx="0" cy="0"/>
        </a:xfrm>
      </p:grpSpPr>
      <p:sp>
        <p:nvSpPr>
          <p:cNvPr id="240" name="Google Shape;240;p10"/>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THREAT HUNTING EN DIEZ MINUTOS</a:t>
            </a:r>
            <a:endParaRPr b="0" i="0" sz="1200" u="none" cap="none" strike="noStrike">
              <a:solidFill>
                <a:schemeClr val="lt1"/>
              </a:solidFill>
              <a:latin typeface="Montserrat"/>
              <a:ea typeface="Montserrat"/>
              <a:cs typeface="Montserrat"/>
              <a:sym typeface="Montserrat"/>
            </a:endParaRPr>
          </a:p>
        </p:txBody>
      </p:sp>
      <p:sp>
        <p:nvSpPr>
          <p:cNvPr id="241" name="Google Shape;241;p10"/>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El ciclo de una hunt</a:t>
            </a:r>
            <a:endParaRPr sz="3200"/>
          </a:p>
        </p:txBody>
      </p:sp>
      <p:sp>
        <p:nvSpPr>
          <p:cNvPr id="242" name="Google Shape;242;p10"/>
          <p:cNvSpPr/>
          <p:nvPr/>
        </p:nvSpPr>
        <p:spPr>
          <a:xfrm>
            <a:off x="812800" y="1828750"/>
            <a:ext cx="4133850" cy="365720"/>
          </a:xfrm>
          <a:custGeom>
            <a:rect b="b" l="l" r="r" t="t"/>
            <a:pathLst>
              <a:path extrusionOk="0" h="365720" w="4133850">
                <a:moveTo>
                  <a:pt x="50800" y="0"/>
                </a:moveTo>
                <a:lnTo>
                  <a:pt x="4083050" y="0"/>
                </a:lnTo>
                <a:cubicBezTo>
                  <a:pt x="4096523" y="0"/>
                  <a:pt x="4109444" y="5352"/>
                  <a:pt x="4118971" y="14879"/>
                </a:cubicBezTo>
                <a:cubicBezTo>
                  <a:pt x="4128498" y="24406"/>
                  <a:pt x="4133850" y="37327"/>
                  <a:pt x="4133850" y="50800"/>
                </a:cubicBezTo>
                <a:lnTo>
                  <a:pt x="4133850" y="314920"/>
                </a:lnTo>
                <a:cubicBezTo>
                  <a:pt x="4133850" y="342976"/>
                  <a:pt x="4111106" y="365720"/>
                  <a:pt x="4083050" y="365720"/>
                </a:cubicBezTo>
                <a:lnTo>
                  <a:pt x="50800" y="365720"/>
                </a:lnTo>
                <a:cubicBezTo>
                  <a:pt x="22744" y="365720"/>
                  <a:pt x="0" y="342976"/>
                  <a:pt x="0" y="314920"/>
                </a:cubicBezTo>
                <a:lnTo>
                  <a:pt x="0" y="50800"/>
                </a:lnTo>
                <a:cubicBezTo>
                  <a:pt x="0" y="22744"/>
                  <a:pt x="22744" y="0"/>
                  <a:pt x="50800" y="0"/>
                </a:cubicBezTo>
                <a:close/>
              </a:path>
            </a:pathLst>
          </a:custGeom>
          <a:solidFill>
            <a:srgbClr val="2A1438"/>
          </a:solidFill>
          <a:ln>
            <a:noFill/>
          </a:ln>
        </p:spPr>
        <p:txBody>
          <a:bodyPr anchorCtr="0" anchor="t" bIns="50800" lIns="0" spcFirstLastPara="1" rIns="0" wrap="square" tIns="76200">
            <a:normAutofit/>
          </a:bodyPr>
          <a:lstStyle/>
          <a:p>
            <a:pPr indent="0" lvl="0" marL="0" marR="0" rtl="0" algn="ctr">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PREPARAR</a:t>
            </a:r>
            <a:endParaRPr b="0" i="0" sz="1200" u="none" cap="none" strike="noStrike">
              <a:solidFill>
                <a:schemeClr val="lt1"/>
              </a:solidFill>
              <a:latin typeface="Montserrat"/>
              <a:ea typeface="Montserrat"/>
              <a:cs typeface="Montserrat"/>
              <a:sym typeface="Montserrat"/>
            </a:endParaRPr>
          </a:p>
        </p:txBody>
      </p:sp>
      <p:sp>
        <p:nvSpPr>
          <p:cNvPr id="243" name="Google Shape;243;p10"/>
          <p:cNvSpPr/>
          <p:nvPr/>
        </p:nvSpPr>
        <p:spPr>
          <a:xfrm>
            <a:off x="5099050" y="1828750"/>
            <a:ext cx="4133850" cy="365720"/>
          </a:xfrm>
          <a:custGeom>
            <a:rect b="b" l="l" r="r" t="t"/>
            <a:pathLst>
              <a:path extrusionOk="0" h="365720" w="4133850">
                <a:moveTo>
                  <a:pt x="50800" y="0"/>
                </a:moveTo>
                <a:lnTo>
                  <a:pt x="4083050" y="0"/>
                </a:lnTo>
                <a:cubicBezTo>
                  <a:pt x="4096523" y="0"/>
                  <a:pt x="4109444" y="5352"/>
                  <a:pt x="4118971" y="14879"/>
                </a:cubicBezTo>
                <a:cubicBezTo>
                  <a:pt x="4128498" y="24406"/>
                  <a:pt x="4133850" y="37327"/>
                  <a:pt x="4133850" y="50800"/>
                </a:cubicBezTo>
                <a:lnTo>
                  <a:pt x="4133850" y="314920"/>
                </a:lnTo>
                <a:cubicBezTo>
                  <a:pt x="4133850" y="342976"/>
                  <a:pt x="4111106" y="365720"/>
                  <a:pt x="4083050" y="365720"/>
                </a:cubicBezTo>
                <a:lnTo>
                  <a:pt x="50800" y="365720"/>
                </a:lnTo>
                <a:cubicBezTo>
                  <a:pt x="22744" y="365720"/>
                  <a:pt x="0" y="342976"/>
                  <a:pt x="0" y="314920"/>
                </a:cubicBezTo>
                <a:lnTo>
                  <a:pt x="0" y="50800"/>
                </a:lnTo>
                <a:cubicBezTo>
                  <a:pt x="0" y="22744"/>
                  <a:pt x="22744" y="0"/>
                  <a:pt x="50800" y="0"/>
                </a:cubicBezTo>
                <a:close/>
              </a:path>
            </a:pathLst>
          </a:custGeom>
          <a:solidFill>
            <a:srgbClr val="2A1438"/>
          </a:solidFill>
          <a:ln>
            <a:noFill/>
          </a:ln>
        </p:spPr>
        <p:txBody>
          <a:bodyPr anchorCtr="0" anchor="t" bIns="50800" lIns="0" spcFirstLastPara="1" rIns="0" wrap="square" tIns="76200">
            <a:normAutofit/>
          </a:bodyPr>
          <a:lstStyle/>
          <a:p>
            <a:pPr indent="0" lvl="0" marL="0" marR="0" rtl="0" algn="ctr">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EJECUTAR</a:t>
            </a:r>
            <a:endParaRPr b="0" i="0" sz="1200" u="none" cap="none" strike="noStrike">
              <a:solidFill>
                <a:schemeClr val="lt1"/>
              </a:solidFill>
              <a:latin typeface="Montserrat"/>
              <a:ea typeface="Montserrat"/>
              <a:cs typeface="Montserrat"/>
              <a:sym typeface="Montserrat"/>
            </a:endParaRPr>
          </a:p>
        </p:txBody>
      </p:sp>
      <p:sp>
        <p:nvSpPr>
          <p:cNvPr id="244" name="Google Shape;244;p10"/>
          <p:cNvSpPr/>
          <p:nvPr/>
        </p:nvSpPr>
        <p:spPr>
          <a:xfrm>
            <a:off x="9385300" y="1828750"/>
            <a:ext cx="1993900" cy="365720"/>
          </a:xfrm>
          <a:custGeom>
            <a:rect b="b" l="l" r="r" t="t"/>
            <a:pathLst>
              <a:path extrusionOk="0" h="365720" w="1993900">
                <a:moveTo>
                  <a:pt x="50800" y="0"/>
                </a:moveTo>
                <a:lnTo>
                  <a:pt x="1943100" y="0"/>
                </a:lnTo>
                <a:cubicBezTo>
                  <a:pt x="1956573" y="0"/>
                  <a:pt x="1969494" y="5352"/>
                  <a:pt x="1979021" y="14879"/>
                </a:cubicBezTo>
                <a:cubicBezTo>
                  <a:pt x="1988548" y="24406"/>
                  <a:pt x="1993900" y="37327"/>
                  <a:pt x="1993900" y="50800"/>
                </a:cubicBezTo>
                <a:lnTo>
                  <a:pt x="1993900" y="314920"/>
                </a:lnTo>
                <a:cubicBezTo>
                  <a:pt x="1993900" y="342976"/>
                  <a:pt x="1971156" y="365720"/>
                  <a:pt x="1943100" y="365720"/>
                </a:cubicBezTo>
                <a:lnTo>
                  <a:pt x="50800" y="365720"/>
                </a:lnTo>
                <a:cubicBezTo>
                  <a:pt x="22744" y="365720"/>
                  <a:pt x="0" y="342976"/>
                  <a:pt x="0" y="314920"/>
                </a:cubicBezTo>
                <a:lnTo>
                  <a:pt x="0" y="50800"/>
                </a:lnTo>
                <a:cubicBezTo>
                  <a:pt x="0" y="22744"/>
                  <a:pt x="22744" y="0"/>
                  <a:pt x="50800" y="0"/>
                </a:cubicBezTo>
                <a:close/>
              </a:path>
            </a:pathLst>
          </a:custGeom>
          <a:solidFill>
            <a:srgbClr val="2A1438"/>
          </a:solidFill>
          <a:ln>
            <a:noFill/>
          </a:ln>
        </p:spPr>
        <p:txBody>
          <a:bodyPr anchorCtr="0" anchor="t" bIns="50800" lIns="0" spcFirstLastPara="1" rIns="0" wrap="square" tIns="76200">
            <a:normAutofit/>
          </a:bodyPr>
          <a:lstStyle/>
          <a:p>
            <a:pPr indent="0" lvl="0" marL="0" marR="0" rtl="0" algn="ctr">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ACTUAR</a:t>
            </a:r>
            <a:endParaRPr b="0" i="0" sz="1200" u="none" cap="none" strike="noStrike">
              <a:solidFill>
                <a:schemeClr val="lt1"/>
              </a:solidFill>
              <a:latin typeface="Montserrat"/>
              <a:ea typeface="Montserrat"/>
              <a:cs typeface="Montserrat"/>
              <a:sym typeface="Montserrat"/>
            </a:endParaRPr>
          </a:p>
        </p:txBody>
      </p:sp>
      <p:sp>
        <p:nvSpPr>
          <p:cNvPr id="245" name="Google Shape;245;p10"/>
          <p:cNvSpPr/>
          <p:nvPr/>
        </p:nvSpPr>
        <p:spPr>
          <a:xfrm>
            <a:off x="815975" y="2299246"/>
            <a:ext cx="1982440" cy="2693392"/>
          </a:xfrm>
          <a:prstGeom prst="roundRect">
            <a:avLst>
              <a:gd fmla="val 4965"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0"/>
          <p:cNvSpPr/>
          <p:nvPr/>
        </p:nvSpPr>
        <p:spPr>
          <a:xfrm>
            <a:off x="996950" y="2480221"/>
            <a:ext cx="1671290" cy="3810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2000"/>
              <a:buFont typeface="Montserrat"/>
              <a:buNone/>
            </a:pPr>
            <a:r>
              <a:rPr b="1" i="0" lang="en-US" sz="2000" u="none" cap="none" strike="noStrike">
                <a:solidFill>
                  <a:srgbClr val="F59E42"/>
                </a:solidFill>
                <a:latin typeface="Montserrat"/>
                <a:ea typeface="Montserrat"/>
                <a:cs typeface="Montserrat"/>
                <a:sym typeface="Montserrat"/>
              </a:rPr>
              <a:t>1</a:t>
            </a:r>
            <a:endParaRPr b="0" i="0" sz="2000" u="none" cap="none" strike="noStrike">
              <a:solidFill>
                <a:schemeClr val="lt1"/>
              </a:solidFill>
              <a:latin typeface="Montserrat"/>
              <a:ea typeface="Montserrat"/>
              <a:cs typeface="Montserrat"/>
              <a:sym typeface="Montserrat"/>
            </a:endParaRPr>
          </a:p>
        </p:txBody>
      </p:sp>
      <p:sp>
        <p:nvSpPr>
          <p:cNvPr id="247" name="Google Shape;247;p10"/>
          <p:cNvSpPr/>
          <p:nvPr/>
        </p:nvSpPr>
        <p:spPr>
          <a:xfrm>
            <a:off x="996950" y="2899321"/>
            <a:ext cx="1671290"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Hipótesis</a:t>
            </a:r>
            <a:endParaRPr b="0" i="0" sz="1500" u="none" cap="none" strike="noStrike">
              <a:solidFill>
                <a:schemeClr val="lt1"/>
              </a:solidFill>
              <a:latin typeface="Montserrat"/>
              <a:ea typeface="Montserrat"/>
              <a:cs typeface="Montserrat"/>
              <a:sym typeface="Montserrat"/>
            </a:endParaRPr>
          </a:p>
        </p:txBody>
      </p:sp>
      <p:sp>
        <p:nvSpPr>
          <p:cNvPr id="248" name="Google Shape;248;p10"/>
          <p:cNvSpPr/>
          <p:nvPr/>
        </p:nvSpPr>
        <p:spPr>
          <a:xfrm>
            <a:off x="996950" y="3191421"/>
            <a:ext cx="1671290"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¿Qué haría el adversario y dónde lo vería?</a:t>
            </a:r>
            <a:endParaRPr b="0" i="0" sz="1200" u="none" cap="none" strike="noStrike">
              <a:solidFill>
                <a:schemeClr val="lt1"/>
              </a:solidFill>
              <a:latin typeface="Montserrat"/>
              <a:ea typeface="Montserrat"/>
              <a:cs typeface="Montserrat"/>
              <a:sym typeface="Montserrat"/>
            </a:endParaRPr>
          </a:p>
        </p:txBody>
      </p:sp>
      <p:sp>
        <p:nvSpPr>
          <p:cNvPr id="249" name="Google Shape;249;p10"/>
          <p:cNvSpPr/>
          <p:nvPr/>
        </p:nvSpPr>
        <p:spPr>
          <a:xfrm>
            <a:off x="996950" y="3894882"/>
            <a:ext cx="167129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En el caso</a:t>
            </a:r>
            <a:endParaRPr b="0" i="0" sz="1200" u="none" cap="none" strike="noStrike">
              <a:solidFill>
                <a:schemeClr val="lt1"/>
              </a:solidFill>
              <a:latin typeface="Montserrat"/>
              <a:ea typeface="Montserrat"/>
              <a:cs typeface="Montserrat"/>
              <a:sym typeface="Montserrat"/>
            </a:endParaRPr>
          </a:p>
        </p:txBody>
      </p:sp>
      <p:sp>
        <p:nvSpPr>
          <p:cNvPr id="250" name="Google Shape;250;p10"/>
          <p:cNvSpPr/>
          <p:nvPr/>
        </p:nvSpPr>
        <p:spPr>
          <a:xfrm>
            <a:off x="996950" y="4171702"/>
            <a:ext cx="167129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1" lang="en-US" sz="1200" u="none" cap="none" strike="noStrike">
                <a:solidFill>
                  <a:srgbClr val="F1EEF7"/>
                </a:solidFill>
                <a:latin typeface="Montserrat"/>
                <a:ea typeface="Montserrat"/>
                <a:cs typeface="Montserrat"/>
                <a:sym typeface="Montserrat"/>
              </a:rPr>
              <a:t>Un usuario pegó un comando ClickFix.</a:t>
            </a:r>
            <a:endParaRPr b="0" i="0" sz="1200" u="none" cap="none" strike="noStrike">
              <a:solidFill>
                <a:schemeClr val="lt1"/>
              </a:solidFill>
              <a:latin typeface="Montserrat"/>
              <a:ea typeface="Montserrat"/>
              <a:cs typeface="Montserrat"/>
              <a:sym typeface="Montserrat"/>
            </a:endParaRPr>
          </a:p>
        </p:txBody>
      </p:sp>
      <p:sp>
        <p:nvSpPr>
          <p:cNvPr id="251" name="Google Shape;251;p10"/>
          <p:cNvSpPr/>
          <p:nvPr/>
        </p:nvSpPr>
        <p:spPr>
          <a:xfrm>
            <a:off x="2957165" y="2299246"/>
            <a:ext cx="1982490" cy="2693392"/>
          </a:xfrm>
          <a:prstGeom prst="roundRect">
            <a:avLst>
              <a:gd fmla="val 4965"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0"/>
          <p:cNvSpPr/>
          <p:nvPr/>
        </p:nvSpPr>
        <p:spPr>
          <a:xfrm>
            <a:off x="3138140" y="2480221"/>
            <a:ext cx="1671340" cy="3810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2000"/>
              <a:buFont typeface="Montserrat"/>
              <a:buNone/>
            </a:pPr>
            <a:r>
              <a:rPr b="1" i="0" lang="en-US" sz="2000" u="none" cap="none" strike="noStrike">
                <a:solidFill>
                  <a:srgbClr val="F59E42"/>
                </a:solidFill>
                <a:latin typeface="Montserrat"/>
                <a:ea typeface="Montserrat"/>
                <a:cs typeface="Montserrat"/>
                <a:sym typeface="Montserrat"/>
              </a:rPr>
              <a:t>2</a:t>
            </a:r>
            <a:endParaRPr b="0" i="0" sz="2000" u="none" cap="none" strike="noStrike">
              <a:solidFill>
                <a:schemeClr val="lt1"/>
              </a:solidFill>
              <a:latin typeface="Montserrat"/>
              <a:ea typeface="Montserrat"/>
              <a:cs typeface="Montserrat"/>
              <a:sym typeface="Montserrat"/>
            </a:endParaRPr>
          </a:p>
        </p:txBody>
      </p:sp>
      <p:sp>
        <p:nvSpPr>
          <p:cNvPr id="253" name="Google Shape;253;p10"/>
          <p:cNvSpPr/>
          <p:nvPr/>
        </p:nvSpPr>
        <p:spPr>
          <a:xfrm>
            <a:off x="3138140" y="2899321"/>
            <a:ext cx="1671340"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Datos</a:t>
            </a:r>
            <a:endParaRPr b="0" i="0" sz="1500" u="none" cap="none" strike="noStrike">
              <a:solidFill>
                <a:schemeClr val="lt1"/>
              </a:solidFill>
              <a:latin typeface="Montserrat"/>
              <a:ea typeface="Montserrat"/>
              <a:cs typeface="Montserrat"/>
              <a:sym typeface="Montserrat"/>
            </a:endParaRPr>
          </a:p>
        </p:txBody>
      </p:sp>
      <p:sp>
        <p:nvSpPr>
          <p:cNvPr id="254" name="Google Shape;254;p10"/>
          <p:cNvSpPr/>
          <p:nvPr/>
        </p:nvSpPr>
        <p:spPr>
          <a:xfrm>
            <a:off x="3138140" y="3191421"/>
            <a:ext cx="1671340"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¿Tengo la telemetría? ¿Qué no veo?</a:t>
            </a:r>
            <a:endParaRPr b="0" i="0" sz="1200" u="none" cap="none" strike="noStrike">
              <a:solidFill>
                <a:schemeClr val="lt1"/>
              </a:solidFill>
              <a:latin typeface="Montserrat"/>
              <a:ea typeface="Montserrat"/>
              <a:cs typeface="Montserrat"/>
              <a:sym typeface="Montserrat"/>
            </a:endParaRPr>
          </a:p>
        </p:txBody>
      </p:sp>
      <p:sp>
        <p:nvSpPr>
          <p:cNvPr id="255" name="Google Shape;255;p10"/>
          <p:cNvSpPr/>
          <p:nvPr/>
        </p:nvSpPr>
        <p:spPr>
          <a:xfrm>
            <a:off x="3138140" y="3894882"/>
            <a:ext cx="167134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En el caso</a:t>
            </a:r>
            <a:endParaRPr b="0" i="0" sz="1200" u="none" cap="none" strike="noStrike">
              <a:solidFill>
                <a:schemeClr val="lt1"/>
              </a:solidFill>
              <a:latin typeface="Montserrat"/>
              <a:ea typeface="Montserrat"/>
              <a:cs typeface="Montserrat"/>
              <a:sym typeface="Montserrat"/>
            </a:endParaRPr>
          </a:p>
        </p:txBody>
      </p:sp>
      <p:sp>
        <p:nvSpPr>
          <p:cNvPr id="256" name="Google Shape;256;p10"/>
          <p:cNvSpPr/>
          <p:nvPr/>
        </p:nvSpPr>
        <p:spPr>
          <a:xfrm>
            <a:off x="3138140" y="4171702"/>
            <a:ext cx="1671340"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1" lang="en-US" sz="1200" u="none" cap="none" strike="noStrike">
                <a:solidFill>
                  <a:srgbClr val="F1EEF7"/>
                </a:solidFill>
                <a:latin typeface="Montserrat"/>
                <a:ea typeface="Montserrat"/>
                <a:cs typeface="Montserrat"/>
                <a:sym typeface="Montserrat"/>
              </a:rPr>
              <a:t>Procesos, red, archivos y registro. El portapapeles, no.</a:t>
            </a:r>
            <a:endParaRPr b="0" i="0" sz="1200" u="none" cap="none" strike="noStrike">
              <a:solidFill>
                <a:schemeClr val="lt1"/>
              </a:solidFill>
              <a:latin typeface="Montserrat"/>
              <a:ea typeface="Montserrat"/>
              <a:cs typeface="Montserrat"/>
              <a:sym typeface="Montserrat"/>
            </a:endParaRPr>
          </a:p>
        </p:txBody>
      </p:sp>
      <p:sp>
        <p:nvSpPr>
          <p:cNvPr id="257" name="Google Shape;257;p10"/>
          <p:cNvSpPr/>
          <p:nvPr/>
        </p:nvSpPr>
        <p:spPr>
          <a:xfrm>
            <a:off x="5098405" y="2299246"/>
            <a:ext cx="1982440" cy="2693392"/>
          </a:xfrm>
          <a:prstGeom prst="roundRect">
            <a:avLst>
              <a:gd fmla="val 4965"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0"/>
          <p:cNvSpPr/>
          <p:nvPr/>
        </p:nvSpPr>
        <p:spPr>
          <a:xfrm>
            <a:off x="5279380" y="2480221"/>
            <a:ext cx="1671290" cy="3810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2000"/>
              <a:buFont typeface="Montserrat"/>
              <a:buNone/>
            </a:pPr>
            <a:r>
              <a:rPr b="1" i="0" lang="en-US" sz="2000" u="none" cap="none" strike="noStrike">
                <a:solidFill>
                  <a:srgbClr val="F59E42"/>
                </a:solidFill>
                <a:latin typeface="Montserrat"/>
                <a:ea typeface="Montserrat"/>
                <a:cs typeface="Montserrat"/>
                <a:sym typeface="Montserrat"/>
              </a:rPr>
              <a:t>3</a:t>
            </a:r>
            <a:endParaRPr b="0" i="0" sz="2000" u="none" cap="none" strike="noStrike">
              <a:solidFill>
                <a:schemeClr val="lt1"/>
              </a:solidFill>
              <a:latin typeface="Montserrat"/>
              <a:ea typeface="Montserrat"/>
              <a:cs typeface="Montserrat"/>
              <a:sym typeface="Montserrat"/>
            </a:endParaRPr>
          </a:p>
        </p:txBody>
      </p:sp>
      <p:sp>
        <p:nvSpPr>
          <p:cNvPr id="259" name="Google Shape;259;p10"/>
          <p:cNvSpPr/>
          <p:nvPr/>
        </p:nvSpPr>
        <p:spPr>
          <a:xfrm>
            <a:off x="5279380" y="2899321"/>
            <a:ext cx="1671290"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Query</a:t>
            </a:r>
            <a:endParaRPr b="0" i="0" sz="1500" u="none" cap="none" strike="noStrike">
              <a:solidFill>
                <a:schemeClr val="lt1"/>
              </a:solidFill>
              <a:latin typeface="Montserrat"/>
              <a:ea typeface="Montserrat"/>
              <a:cs typeface="Montserrat"/>
              <a:sym typeface="Montserrat"/>
            </a:endParaRPr>
          </a:p>
        </p:txBody>
      </p:sp>
      <p:sp>
        <p:nvSpPr>
          <p:cNvPr id="260" name="Google Shape;260;p10"/>
          <p:cNvSpPr/>
          <p:nvPr/>
        </p:nvSpPr>
        <p:spPr>
          <a:xfrm>
            <a:off x="5279380" y="3191421"/>
            <a:ext cx="167129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¿Encuentra lo que sé que existe?</a:t>
            </a:r>
            <a:endParaRPr b="0" i="0" sz="1200" u="none" cap="none" strike="noStrike">
              <a:solidFill>
                <a:schemeClr val="lt1"/>
              </a:solidFill>
              <a:latin typeface="Montserrat"/>
              <a:ea typeface="Montserrat"/>
              <a:cs typeface="Montserrat"/>
              <a:sym typeface="Montserrat"/>
            </a:endParaRPr>
          </a:p>
        </p:txBody>
      </p:sp>
      <p:sp>
        <p:nvSpPr>
          <p:cNvPr id="261" name="Google Shape;261;p10"/>
          <p:cNvSpPr/>
          <p:nvPr/>
        </p:nvSpPr>
        <p:spPr>
          <a:xfrm>
            <a:off x="5279380" y="3681561"/>
            <a:ext cx="167129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En el caso</a:t>
            </a:r>
            <a:endParaRPr b="0" i="0" sz="1200" u="none" cap="none" strike="noStrike">
              <a:solidFill>
                <a:schemeClr val="lt1"/>
              </a:solidFill>
              <a:latin typeface="Montserrat"/>
              <a:ea typeface="Montserrat"/>
              <a:cs typeface="Montserrat"/>
              <a:sym typeface="Montserrat"/>
            </a:endParaRPr>
          </a:p>
        </p:txBody>
      </p:sp>
      <p:sp>
        <p:nvSpPr>
          <p:cNvPr id="262" name="Google Shape;262;p10"/>
          <p:cNvSpPr/>
          <p:nvPr/>
        </p:nvSpPr>
        <p:spPr>
          <a:xfrm>
            <a:off x="5279380" y="3958382"/>
            <a:ext cx="167129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1" lang="en-US" sz="1200" u="none" cap="none" strike="noStrike">
                <a:solidFill>
                  <a:srgbClr val="F1EEF7"/>
                </a:solidFill>
                <a:latin typeface="Montserrat"/>
                <a:ea typeface="Montserrat"/>
                <a:cs typeface="Montserrat"/>
                <a:sym typeface="Montserrat"/>
              </a:rPr>
              <a:t>Probada contra un control positivo.</a:t>
            </a:r>
            <a:endParaRPr b="0" i="0" sz="1200" u="none" cap="none" strike="noStrike">
              <a:solidFill>
                <a:schemeClr val="lt1"/>
              </a:solidFill>
              <a:latin typeface="Montserrat"/>
              <a:ea typeface="Montserrat"/>
              <a:cs typeface="Montserrat"/>
              <a:sym typeface="Montserrat"/>
            </a:endParaRPr>
          </a:p>
        </p:txBody>
      </p:sp>
      <p:sp>
        <p:nvSpPr>
          <p:cNvPr id="263" name="Google Shape;263;p10"/>
          <p:cNvSpPr/>
          <p:nvPr/>
        </p:nvSpPr>
        <p:spPr>
          <a:xfrm>
            <a:off x="7239595" y="2299246"/>
            <a:ext cx="1982490" cy="2693392"/>
          </a:xfrm>
          <a:prstGeom prst="roundRect">
            <a:avLst>
              <a:gd fmla="val 4965"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0"/>
          <p:cNvSpPr/>
          <p:nvPr/>
        </p:nvSpPr>
        <p:spPr>
          <a:xfrm>
            <a:off x="7420570" y="2480221"/>
            <a:ext cx="1671340" cy="3810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2000"/>
              <a:buFont typeface="Montserrat"/>
              <a:buNone/>
            </a:pPr>
            <a:r>
              <a:rPr b="1" i="0" lang="en-US" sz="2000" u="none" cap="none" strike="noStrike">
                <a:solidFill>
                  <a:srgbClr val="F59E42"/>
                </a:solidFill>
                <a:latin typeface="Montserrat"/>
                <a:ea typeface="Montserrat"/>
                <a:cs typeface="Montserrat"/>
                <a:sym typeface="Montserrat"/>
              </a:rPr>
              <a:t>4</a:t>
            </a:r>
            <a:endParaRPr b="0" i="0" sz="2000" u="none" cap="none" strike="noStrike">
              <a:solidFill>
                <a:schemeClr val="lt1"/>
              </a:solidFill>
              <a:latin typeface="Montserrat"/>
              <a:ea typeface="Montserrat"/>
              <a:cs typeface="Montserrat"/>
              <a:sym typeface="Montserrat"/>
            </a:endParaRPr>
          </a:p>
        </p:txBody>
      </p:sp>
      <p:sp>
        <p:nvSpPr>
          <p:cNvPr id="265" name="Google Shape;265;p10"/>
          <p:cNvSpPr/>
          <p:nvPr/>
        </p:nvSpPr>
        <p:spPr>
          <a:xfrm>
            <a:off x="7420570" y="2899321"/>
            <a:ext cx="1671340"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Análisis</a:t>
            </a:r>
            <a:endParaRPr b="0" i="0" sz="1500" u="none" cap="none" strike="noStrike">
              <a:solidFill>
                <a:schemeClr val="lt1"/>
              </a:solidFill>
              <a:latin typeface="Montserrat"/>
              <a:ea typeface="Montserrat"/>
              <a:cs typeface="Montserrat"/>
              <a:sym typeface="Montserrat"/>
            </a:endParaRPr>
          </a:p>
        </p:txBody>
      </p:sp>
      <p:sp>
        <p:nvSpPr>
          <p:cNvPr id="266" name="Google Shape;266;p10"/>
          <p:cNvSpPr/>
          <p:nvPr/>
        </p:nvSpPr>
        <p:spPr>
          <a:xfrm>
            <a:off x="7420570" y="3191421"/>
            <a:ext cx="167134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¿Malicioso, benigno o no concluyente?</a:t>
            </a:r>
            <a:endParaRPr b="0" i="0" sz="1200" u="none" cap="none" strike="noStrike">
              <a:solidFill>
                <a:schemeClr val="lt1"/>
              </a:solidFill>
              <a:latin typeface="Montserrat"/>
              <a:ea typeface="Montserrat"/>
              <a:cs typeface="Montserrat"/>
              <a:sym typeface="Montserrat"/>
            </a:endParaRPr>
          </a:p>
        </p:txBody>
      </p:sp>
      <p:sp>
        <p:nvSpPr>
          <p:cNvPr id="267" name="Google Shape;267;p10"/>
          <p:cNvSpPr/>
          <p:nvPr/>
        </p:nvSpPr>
        <p:spPr>
          <a:xfrm>
            <a:off x="7420570" y="3681561"/>
            <a:ext cx="167134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En el caso</a:t>
            </a:r>
            <a:endParaRPr b="0" i="0" sz="1200" u="none" cap="none" strike="noStrike">
              <a:solidFill>
                <a:schemeClr val="lt1"/>
              </a:solidFill>
              <a:latin typeface="Montserrat"/>
              <a:ea typeface="Montserrat"/>
              <a:cs typeface="Montserrat"/>
              <a:sym typeface="Montserrat"/>
            </a:endParaRPr>
          </a:p>
        </p:txBody>
      </p:sp>
      <p:sp>
        <p:nvSpPr>
          <p:cNvPr id="268" name="Google Shape;268;p10"/>
          <p:cNvSpPr/>
          <p:nvPr/>
        </p:nvSpPr>
        <p:spPr>
          <a:xfrm>
            <a:off x="7420570" y="3958382"/>
            <a:ext cx="167134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1" lang="en-US" sz="1200" u="none" cap="none" strike="noStrike">
                <a:solidFill>
                  <a:srgbClr val="F1EEF7"/>
                </a:solidFill>
                <a:latin typeface="Montserrat"/>
                <a:ea typeface="Montserrat"/>
                <a:cs typeface="Montserrat"/>
                <a:sym typeface="Montserrat"/>
              </a:rPr>
              <a:t>Cada resultado, con su veredicto.</a:t>
            </a:r>
            <a:endParaRPr b="0" i="0" sz="1200" u="none" cap="none" strike="noStrike">
              <a:solidFill>
                <a:schemeClr val="lt1"/>
              </a:solidFill>
              <a:latin typeface="Montserrat"/>
              <a:ea typeface="Montserrat"/>
              <a:cs typeface="Montserrat"/>
              <a:sym typeface="Montserrat"/>
            </a:endParaRPr>
          </a:p>
        </p:txBody>
      </p:sp>
      <p:sp>
        <p:nvSpPr>
          <p:cNvPr id="269" name="Google Shape;269;p10"/>
          <p:cNvSpPr/>
          <p:nvPr/>
        </p:nvSpPr>
        <p:spPr>
          <a:xfrm>
            <a:off x="9384010" y="2302421"/>
            <a:ext cx="1988840" cy="2687042"/>
          </a:xfrm>
          <a:prstGeom prst="roundRect">
            <a:avLst>
              <a:gd fmla="val 4789" name="adj"/>
            </a:avLst>
          </a:prstGeom>
          <a:solidFill>
            <a:srgbClr val="1B1726"/>
          </a:solidFill>
          <a:ln cap="flat" cmpd="sng" w="12700">
            <a:solidFill>
              <a:srgbClr val="F59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0"/>
          <p:cNvSpPr/>
          <p:nvPr/>
        </p:nvSpPr>
        <p:spPr>
          <a:xfrm>
            <a:off x="9568160" y="2486571"/>
            <a:ext cx="1671340" cy="3810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2000"/>
              <a:buFont typeface="Montserrat"/>
              <a:buNone/>
            </a:pPr>
            <a:r>
              <a:rPr b="1" i="0" lang="en-US" sz="2000" u="none" cap="none" strike="noStrike">
                <a:solidFill>
                  <a:srgbClr val="F59E42"/>
                </a:solidFill>
                <a:latin typeface="Montserrat"/>
                <a:ea typeface="Montserrat"/>
                <a:cs typeface="Montserrat"/>
                <a:sym typeface="Montserrat"/>
              </a:rPr>
              <a:t>5</a:t>
            </a:r>
            <a:endParaRPr b="0" i="0" sz="2000" u="none" cap="none" strike="noStrike">
              <a:solidFill>
                <a:schemeClr val="lt1"/>
              </a:solidFill>
              <a:latin typeface="Montserrat"/>
              <a:ea typeface="Montserrat"/>
              <a:cs typeface="Montserrat"/>
              <a:sym typeface="Montserrat"/>
            </a:endParaRPr>
          </a:p>
        </p:txBody>
      </p:sp>
      <p:sp>
        <p:nvSpPr>
          <p:cNvPr id="271" name="Google Shape;271;p10"/>
          <p:cNvSpPr/>
          <p:nvPr/>
        </p:nvSpPr>
        <p:spPr>
          <a:xfrm>
            <a:off x="9568160" y="2905671"/>
            <a:ext cx="1671340"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Informe</a:t>
            </a:r>
            <a:endParaRPr b="0" i="0" sz="1500" u="none" cap="none" strike="noStrike">
              <a:solidFill>
                <a:schemeClr val="lt1"/>
              </a:solidFill>
              <a:latin typeface="Montserrat"/>
              <a:ea typeface="Montserrat"/>
              <a:cs typeface="Montserrat"/>
              <a:sym typeface="Montserrat"/>
            </a:endParaRPr>
          </a:p>
        </p:txBody>
      </p:sp>
      <p:sp>
        <p:nvSpPr>
          <p:cNvPr id="272" name="Google Shape;272;p10"/>
          <p:cNvSpPr/>
          <p:nvPr/>
        </p:nvSpPr>
        <p:spPr>
          <a:xfrm>
            <a:off x="9568160" y="3197771"/>
            <a:ext cx="167134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¿Qué cambia mañana?</a:t>
            </a:r>
            <a:endParaRPr b="0" i="0" sz="1200" u="none" cap="none" strike="noStrike">
              <a:solidFill>
                <a:schemeClr val="lt1"/>
              </a:solidFill>
              <a:latin typeface="Montserrat"/>
              <a:ea typeface="Montserrat"/>
              <a:cs typeface="Montserrat"/>
              <a:sym typeface="Montserrat"/>
            </a:endParaRPr>
          </a:p>
        </p:txBody>
      </p:sp>
      <p:sp>
        <p:nvSpPr>
          <p:cNvPr id="273" name="Google Shape;273;p10"/>
          <p:cNvSpPr/>
          <p:nvPr/>
        </p:nvSpPr>
        <p:spPr>
          <a:xfrm>
            <a:off x="9568160" y="3687911"/>
            <a:ext cx="167134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En el caso</a:t>
            </a:r>
            <a:endParaRPr b="0" i="0" sz="1200" u="none" cap="none" strike="noStrike">
              <a:solidFill>
                <a:schemeClr val="lt1"/>
              </a:solidFill>
              <a:latin typeface="Montserrat"/>
              <a:ea typeface="Montserrat"/>
              <a:cs typeface="Montserrat"/>
              <a:sym typeface="Montserrat"/>
            </a:endParaRPr>
          </a:p>
        </p:txBody>
      </p:sp>
      <p:sp>
        <p:nvSpPr>
          <p:cNvPr id="274" name="Google Shape;274;p10"/>
          <p:cNvSpPr/>
          <p:nvPr/>
        </p:nvSpPr>
        <p:spPr>
          <a:xfrm>
            <a:off x="9568160" y="3964732"/>
            <a:ext cx="1671340"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1" lang="en-US" sz="1200" u="none" cap="none" strike="noStrike">
                <a:solidFill>
                  <a:srgbClr val="F1EEF7"/>
                </a:solidFill>
                <a:latin typeface="Montserrat"/>
                <a:ea typeface="Montserrat"/>
                <a:cs typeface="Montserrat"/>
                <a:sym typeface="Montserrat"/>
              </a:rPr>
              <a:t>Detecciones, brechas y la próxima hipótesis.</a:t>
            </a:r>
            <a:endParaRPr b="0" i="0" sz="1200" u="none" cap="none" strike="noStrike">
              <a:solidFill>
                <a:schemeClr val="lt1"/>
              </a:solidFill>
              <a:latin typeface="Montserrat"/>
              <a:ea typeface="Montserrat"/>
              <a:cs typeface="Montserrat"/>
              <a:sym typeface="Montserrat"/>
            </a:endParaRPr>
          </a:p>
        </p:txBody>
      </p:sp>
      <p:sp>
        <p:nvSpPr>
          <p:cNvPr id="275" name="Google Shape;275;p10"/>
          <p:cNvSpPr/>
          <p:nvPr/>
        </p:nvSpPr>
        <p:spPr>
          <a:xfrm>
            <a:off x="812800" y="5249813"/>
            <a:ext cx="10566400" cy="467320"/>
          </a:xfrm>
          <a:prstGeom prst="roundRect">
            <a:avLst>
              <a:gd fmla="val 21741" name="adj"/>
            </a:avLst>
          </a:prstGeom>
          <a:solidFill>
            <a:srgbClr val="1B1726"/>
          </a:solidFill>
          <a:ln>
            <a:noFill/>
          </a:ln>
        </p:spPr>
        <p:txBody>
          <a:bodyPr anchorCtr="0" anchor="t" bIns="71825" lIns="211525" spcFirstLastPara="1" rIns="0" wrap="square" tIns="97225">
            <a:normAutofit/>
          </a:bodyPr>
          <a:lstStyle/>
          <a:p>
            <a:pPr indent="0" lvl="0" marL="0" marR="0" rtl="0" algn="l">
              <a:lnSpc>
                <a:spcPct val="14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 El informe vuelve al paso 1:</a:t>
            </a:r>
            <a:r>
              <a:rPr b="0" i="0" lang="en-US" sz="1200" u="none" cap="none" strike="noStrike">
                <a:solidFill>
                  <a:srgbClr val="F1EEF7"/>
                </a:solidFill>
                <a:latin typeface="Montserrat"/>
                <a:ea typeface="Montserrat"/>
                <a:cs typeface="Montserrat"/>
                <a:sym typeface="Montserrat"/>
              </a:rPr>
              <a:t> cada hunt deja la próxima hipótesis.</a:t>
            </a:r>
            <a:endParaRPr b="0" i="0" sz="1200" u="none" cap="none" strike="noStrike">
              <a:solidFill>
                <a:schemeClr val="lt1"/>
              </a:solidFill>
              <a:latin typeface="Montserrat"/>
              <a:ea typeface="Montserrat"/>
              <a:cs typeface="Montserrat"/>
              <a:sym typeface="Montserrat"/>
            </a:endParaRPr>
          </a:p>
        </p:txBody>
      </p:sp>
      <p:sp>
        <p:nvSpPr>
          <p:cNvPr id="276" name="Google Shape;276;p10"/>
          <p:cNvSpPr/>
          <p:nvPr/>
        </p:nvSpPr>
        <p:spPr>
          <a:xfrm>
            <a:off x="812800" y="5249813"/>
            <a:ext cx="10566400" cy="467320"/>
          </a:xfrm>
          <a:custGeom>
            <a:rect b="b" l="l" r="r" t="t"/>
            <a:pathLst>
              <a:path extrusionOk="0" h="467320" w="10566400">
                <a:moveTo>
                  <a:pt x="101600" y="467320"/>
                </a:moveTo>
                <a:lnTo>
                  <a:pt x="101600" y="467320"/>
                </a:lnTo>
                <a:cubicBezTo>
                  <a:pt x="45488" y="467320"/>
                  <a:pt x="0" y="421832"/>
                  <a:pt x="0" y="365720"/>
                </a:cubicBezTo>
                <a:lnTo>
                  <a:pt x="0" y="101600"/>
                </a:lnTo>
                <a:cubicBezTo>
                  <a:pt x="0" y="45488"/>
                  <a:pt x="45488" y="0"/>
                  <a:pt x="101600" y="0"/>
                </a:cubicBezTo>
                <a:lnTo>
                  <a:pt x="101600" y="0"/>
                </a:lnTo>
                <a:cubicBezTo>
                  <a:pt x="66530" y="0"/>
                  <a:pt x="38100" y="45488"/>
                  <a:pt x="38100" y="101600"/>
                </a:cubicBezTo>
                <a:lnTo>
                  <a:pt x="38100" y="365720"/>
                </a:lnTo>
                <a:cubicBezTo>
                  <a:pt x="38100" y="421832"/>
                  <a:pt x="66530" y="467320"/>
                  <a:pt x="101600" y="467320"/>
                </a:cubicBezTo>
                <a:close/>
              </a:path>
            </a:pathLst>
          </a:custGeom>
          <a:solidFill>
            <a:srgbClr val="F59E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0"/>
          <p:cNvSpPr/>
          <p:nvPr/>
        </p:nvSpPr>
        <p:spPr>
          <a:xfrm>
            <a:off x="812800" y="6238280"/>
            <a:ext cx="698253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Fases Preparar / Ejecutar / Actuar del framework PEAK (Splunk SURGe, 2023)</a:t>
            </a:r>
            <a:endParaRPr b="0" i="0" sz="1200" u="none" cap="none" strike="noStrike">
              <a:solidFill>
                <a:schemeClr val="lt1"/>
              </a:solidFill>
              <a:latin typeface="Montserrat"/>
              <a:ea typeface="Montserrat"/>
              <a:cs typeface="Montserrat"/>
              <a:sym typeface="Montserrat"/>
            </a:endParaRPr>
          </a:p>
        </p:txBody>
      </p:sp>
      <p:sp>
        <p:nvSpPr>
          <p:cNvPr id="278" name="Google Shape;278;p10"/>
          <p:cNvSpPr/>
          <p:nvPr/>
        </p:nvSpPr>
        <p:spPr>
          <a:xfrm>
            <a:off x="11172478" y="6238280"/>
            <a:ext cx="206722"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10</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283" name="Shape 283"/>
        <p:cNvGrpSpPr/>
        <p:nvPr/>
      </p:nvGrpSpPr>
      <p:grpSpPr>
        <a:xfrm>
          <a:off x="0" y="0"/>
          <a:ext cx="0" cy="0"/>
          <a:chOff x="0" y="0"/>
          <a:chExt cx="0" cy="0"/>
        </a:xfrm>
      </p:grpSpPr>
      <p:sp>
        <p:nvSpPr>
          <p:cNvPr id="284" name="Google Shape;284;p11"/>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EL CASO CLICKFIX</a:t>
            </a:r>
            <a:endParaRPr b="0" i="0" sz="1200" u="none" cap="none" strike="noStrike">
              <a:solidFill>
                <a:schemeClr val="lt1"/>
              </a:solidFill>
              <a:latin typeface="Montserrat"/>
              <a:ea typeface="Montserrat"/>
              <a:cs typeface="Montserrat"/>
              <a:sym typeface="Montserrat"/>
            </a:endParaRPr>
          </a:p>
        </p:txBody>
      </p:sp>
      <p:sp>
        <p:nvSpPr>
          <p:cNvPr id="285" name="Google Shape;285;p11"/>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ClickFix: por qué es la hipótesis</a:t>
            </a:r>
            <a:endParaRPr sz="3200"/>
          </a:p>
        </p:txBody>
      </p:sp>
      <p:sp>
        <p:nvSpPr>
          <p:cNvPr id="286" name="Google Shape;286;p11"/>
          <p:cNvSpPr/>
          <p:nvPr/>
        </p:nvSpPr>
        <p:spPr>
          <a:xfrm>
            <a:off x="812800" y="1828750"/>
            <a:ext cx="2563876" cy="47243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59E42"/>
              </a:buClr>
              <a:buSzPts val="3200"/>
              <a:buFont typeface="Montserrat"/>
              <a:buNone/>
            </a:pPr>
            <a:r>
              <a:rPr b="1" i="0" lang="en-US" sz="3200" u="none" cap="none" strike="noStrike">
                <a:solidFill>
                  <a:srgbClr val="F59E42"/>
                </a:solidFill>
                <a:latin typeface="Montserrat"/>
                <a:ea typeface="Montserrat"/>
                <a:cs typeface="Montserrat"/>
                <a:sym typeface="Montserrat"/>
              </a:rPr>
              <a:t>47 %</a:t>
            </a:r>
            <a:endParaRPr b="0" i="0" sz="3200" u="none" cap="none" strike="noStrike">
              <a:solidFill>
                <a:schemeClr val="lt1"/>
              </a:solidFill>
              <a:latin typeface="Montserrat"/>
              <a:ea typeface="Montserrat"/>
              <a:cs typeface="Montserrat"/>
              <a:sym typeface="Montserrat"/>
            </a:endParaRPr>
          </a:p>
        </p:txBody>
      </p:sp>
      <p:sp>
        <p:nvSpPr>
          <p:cNvPr id="287" name="Google Shape;287;p11"/>
          <p:cNvSpPr/>
          <p:nvPr/>
        </p:nvSpPr>
        <p:spPr>
          <a:xfrm>
            <a:off x="812800" y="2326580"/>
            <a:ext cx="2563876"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de los accesos iniciales que vio Microsoft Defender Experts fueron ClickFix. Phishing: 35 %.</a:t>
            </a:r>
            <a:endParaRPr b="0" i="0" sz="1200" u="none" cap="none" strike="noStrike">
              <a:solidFill>
                <a:schemeClr val="lt1"/>
              </a:solidFill>
              <a:latin typeface="Montserrat"/>
              <a:ea typeface="Montserrat"/>
              <a:cs typeface="Montserrat"/>
              <a:sym typeface="Montserrat"/>
            </a:endParaRPr>
          </a:p>
        </p:txBody>
      </p:sp>
      <p:sp>
        <p:nvSpPr>
          <p:cNvPr id="288" name="Google Shape;288;p11"/>
          <p:cNvSpPr/>
          <p:nvPr/>
        </p:nvSpPr>
        <p:spPr>
          <a:xfrm>
            <a:off x="812800" y="3017341"/>
            <a:ext cx="256387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Microsoft, DDR 2025</a:t>
            </a:r>
            <a:endParaRPr b="0" i="0" sz="1200" u="none" cap="none" strike="noStrike">
              <a:solidFill>
                <a:schemeClr val="lt1"/>
              </a:solidFill>
              <a:latin typeface="Montserrat"/>
              <a:ea typeface="Montserrat"/>
              <a:cs typeface="Montserrat"/>
              <a:sym typeface="Montserrat"/>
            </a:endParaRPr>
          </a:p>
        </p:txBody>
      </p:sp>
      <p:sp>
        <p:nvSpPr>
          <p:cNvPr id="289" name="Google Shape;289;p11"/>
          <p:cNvSpPr/>
          <p:nvPr/>
        </p:nvSpPr>
        <p:spPr>
          <a:xfrm>
            <a:off x="3505200" y="1828750"/>
            <a:ext cx="2563876" cy="47243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59E42"/>
              </a:buClr>
              <a:buSzPts val="3200"/>
              <a:buFont typeface="Montserrat"/>
              <a:buNone/>
            </a:pPr>
            <a:r>
              <a:rPr b="1" i="0" lang="en-US" sz="3200" u="none" cap="none" strike="noStrike">
                <a:solidFill>
                  <a:srgbClr val="F59E42"/>
                </a:solidFill>
                <a:latin typeface="Montserrat"/>
                <a:ea typeface="Montserrat"/>
                <a:cs typeface="Montserrat"/>
                <a:sym typeface="Montserrat"/>
              </a:rPr>
              <a:t>+517 %</a:t>
            </a:r>
            <a:endParaRPr b="0" i="0" sz="3200" u="none" cap="none" strike="noStrike">
              <a:solidFill>
                <a:schemeClr val="lt1"/>
              </a:solidFill>
              <a:latin typeface="Montserrat"/>
              <a:ea typeface="Montserrat"/>
              <a:cs typeface="Montserrat"/>
              <a:sym typeface="Montserrat"/>
            </a:endParaRPr>
          </a:p>
        </p:txBody>
      </p:sp>
      <p:sp>
        <p:nvSpPr>
          <p:cNvPr id="290" name="Google Shape;290;p11"/>
          <p:cNvSpPr/>
          <p:nvPr/>
        </p:nvSpPr>
        <p:spPr>
          <a:xfrm>
            <a:off x="3505200" y="2326580"/>
            <a:ext cx="2563876"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entre el 2.º semestre de 2024 y el 1.º de 2025: segundo vector, detrás del phishing.</a:t>
            </a:r>
            <a:endParaRPr b="0" i="0" sz="1200" u="none" cap="none" strike="noStrike">
              <a:solidFill>
                <a:schemeClr val="lt1"/>
              </a:solidFill>
              <a:latin typeface="Montserrat"/>
              <a:ea typeface="Montserrat"/>
              <a:cs typeface="Montserrat"/>
              <a:sym typeface="Montserrat"/>
            </a:endParaRPr>
          </a:p>
        </p:txBody>
      </p:sp>
      <p:sp>
        <p:nvSpPr>
          <p:cNvPr id="291" name="Google Shape;291;p11"/>
          <p:cNvSpPr/>
          <p:nvPr/>
        </p:nvSpPr>
        <p:spPr>
          <a:xfrm>
            <a:off x="3505200" y="3017341"/>
            <a:ext cx="256387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ESET, H1 2025</a:t>
            </a:r>
            <a:endParaRPr b="0" i="0" sz="1200" u="none" cap="none" strike="noStrike">
              <a:solidFill>
                <a:schemeClr val="lt1"/>
              </a:solidFill>
              <a:latin typeface="Montserrat"/>
              <a:ea typeface="Montserrat"/>
              <a:cs typeface="Montserrat"/>
              <a:sym typeface="Montserrat"/>
            </a:endParaRPr>
          </a:p>
        </p:txBody>
      </p:sp>
      <p:sp>
        <p:nvSpPr>
          <p:cNvPr id="292" name="Google Shape;292;p11"/>
          <p:cNvSpPr/>
          <p:nvPr/>
        </p:nvSpPr>
        <p:spPr>
          <a:xfrm>
            <a:off x="6197600" y="1828750"/>
            <a:ext cx="2563876" cy="47243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59E42"/>
              </a:buClr>
              <a:buSzPts val="3200"/>
              <a:buFont typeface="Montserrat"/>
              <a:buNone/>
            </a:pPr>
            <a:r>
              <a:rPr b="1" i="0" lang="en-US" sz="3200" u="none" cap="none" strike="noStrike">
                <a:solidFill>
                  <a:srgbClr val="F59E42"/>
                </a:solidFill>
                <a:latin typeface="Montserrat"/>
                <a:ea typeface="Montserrat"/>
                <a:cs typeface="Montserrat"/>
                <a:sym typeface="Montserrat"/>
              </a:rPr>
              <a:t>4 de 5</a:t>
            </a:r>
            <a:endParaRPr b="0" i="0" sz="3200" u="none" cap="none" strike="noStrike">
              <a:solidFill>
                <a:schemeClr val="lt1"/>
              </a:solidFill>
              <a:latin typeface="Montserrat"/>
              <a:ea typeface="Montserrat"/>
              <a:cs typeface="Montserrat"/>
              <a:sym typeface="Montserrat"/>
            </a:endParaRPr>
          </a:p>
        </p:txBody>
      </p:sp>
      <p:sp>
        <p:nvSpPr>
          <p:cNvPr id="293" name="Google Shape;293;p11"/>
          <p:cNvSpPr/>
          <p:nvPr/>
        </p:nvSpPr>
        <p:spPr>
          <a:xfrm>
            <a:off x="6197600" y="2326580"/>
            <a:ext cx="2563876"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payloads interceptados en 2026 llegaron desde un buscador, no desde el correo.</a:t>
            </a:r>
            <a:endParaRPr b="0" i="0" sz="1200" u="none" cap="none" strike="noStrike">
              <a:solidFill>
                <a:schemeClr val="lt1"/>
              </a:solidFill>
              <a:latin typeface="Montserrat"/>
              <a:ea typeface="Montserrat"/>
              <a:cs typeface="Montserrat"/>
              <a:sym typeface="Montserrat"/>
            </a:endParaRPr>
          </a:p>
        </p:txBody>
      </p:sp>
      <p:sp>
        <p:nvSpPr>
          <p:cNvPr id="294" name="Google Shape;294;p11"/>
          <p:cNvSpPr/>
          <p:nvPr/>
        </p:nvSpPr>
        <p:spPr>
          <a:xfrm>
            <a:off x="6197600" y="3017341"/>
            <a:ext cx="256387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Push Security, 2026</a:t>
            </a:r>
            <a:endParaRPr b="0" i="0" sz="1200" u="none" cap="none" strike="noStrike">
              <a:solidFill>
                <a:schemeClr val="lt1"/>
              </a:solidFill>
              <a:latin typeface="Montserrat"/>
              <a:ea typeface="Montserrat"/>
              <a:cs typeface="Montserrat"/>
              <a:sym typeface="Montserrat"/>
            </a:endParaRPr>
          </a:p>
        </p:txBody>
      </p:sp>
      <p:sp>
        <p:nvSpPr>
          <p:cNvPr id="295" name="Google Shape;295;p11"/>
          <p:cNvSpPr/>
          <p:nvPr/>
        </p:nvSpPr>
        <p:spPr>
          <a:xfrm>
            <a:off x="8890000" y="1828750"/>
            <a:ext cx="2563876" cy="47243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59E42"/>
              </a:buClr>
              <a:buSzPts val="3200"/>
              <a:buFont typeface="Montserrat"/>
              <a:buNone/>
            </a:pPr>
            <a:r>
              <a:rPr b="1" i="0" lang="en-US" sz="3200" u="none" cap="none" strike="noStrike">
                <a:solidFill>
                  <a:srgbClr val="F59E42"/>
                </a:solidFill>
                <a:latin typeface="Montserrat"/>
                <a:ea typeface="Montserrat"/>
                <a:cs typeface="Montserrat"/>
                <a:sym typeface="Montserrat"/>
              </a:rPr>
              <a:t>17.000+</a:t>
            </a:r>
            <a:endParaRPr b="0" i="0" sz="3200" u="none" cap="none" strike="noStrike">
              <a:solidFill>
                <a:schemeClr val="lt1"/>
              </a:solidFill>
              <a:latin typeface="Montserrat"/>
              <a:ea typeface="Montserrat"/>
              <a:cs typeface="Montserrat"/>
              <a:sym typeface="Montserrat"/>
            </a:endParaRPr>
          </a:p>
        </p:txBody>
      </p:sp>
      <p:sp>
        <p:nvSpPr>
          <p:cNvPr id="296" name="Google Shape;296;p11"/>
          <p:cNvSpPr/>
          <p:nvPr/>
        </p:nvSpPr>
        <p:spPr>
          <a:xfrm>
            <a:off x="8890000" y="2326580"/>
            <a:ext cx="2563876"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URLs con páginas falsas de verificación analizadas; unas 3.000 activas.</a:t>
            </a:r>
            <a:endParaRPr b="0" i="0" sz="1200" u="none" cap="none" strike="noStrike">
              <a:solidFill>
                <a:schemeClr val="lt1"/>
              </a:solidFill>
              <a:latin typeface="Montserrat"/>
              <a:ea typeface="Montserrat"/>
              <a:cs typeface="Montserrat"/>
              <a:sym typeface="Montserrat"/>
            </a:endParaRPr>
          </a:p>
        </p:txBody>
      </p:sp>
      <p:sp>
        <p:nvSpPr>
          <p:cNvPr id="297" name="Google Shape;297;p11"/>
          <p:cNvSpPr/>
          <p:nvPr/>
        </p:nvSpPr>
        <p:spPr>
          <a:xfrm>
            <a:off x="8890000" y="3017341"/>
            <a:ext cx="256387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CTM360, sep. 2026</a:t>
            </a:r>
            <a:endParaRPr b="0" i="0" sz="1200" u="none" cap="none" strike="noStrike">
              <a:solidFill>
                <a:schemeClr val="lt1"/>
              </a:solidFill>
              <a:latin typeface="Montserrat"/>
              <a:ea typeface="Montserrat"/>
              <a:cs typeface="Montserrat"/>
              <a:sym typeface="Montserrat"/>
            </a:endParaRPr>
          </a:p>
        </p:txBody>
      </p:sp>
      <p:sp>
        <p:nvSpPr>
          <p:cNvPr id="298" name="Google Shape;298;p11"/>
          <p:cNvSpPr/>
          <p:nvPr/>
        </p:nvSpPr>
        <p:spPr>
          <a:xfrm>
            <a:off x="812800" y="3484662"/>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CÓMO FUNCIONA</a:t>
            </a:r>
            <a:endParaRPr b="0" i="0" sz="1200" u="none" cap="none" strike="noStrike">
              <a:solidFill>
                <a:schemeClr val="lt1"/>
              </a:solidFill>
              <a:latin typeface="Montserrat"/>
              <a:ea typeface="Montserrat"/>
              <a:cs typeface="Montserrat"/>
              <a:sym typeface="Montserrat"/>
            </a:endParaRPr>
          </a:p>
        </p:txBody>
      </p:sp>
      <p:sp>
        <p:nvSpPr>
          <p:cNvPr id="299" name="Google Shape;299;p11"/>
          <p:cNvSpPr/>
          <p:nvPr/>
        </p:nvSpPr>
        <p:spPr>
          <a:xfrm>
            <a:off x="815975" y="3802757"/>
            <a:ext cx="2517775" cy="1245791"/>
          </a:xfrm>
          <a:prstGeom prst="roundRect">
            <a:avLst>
              <a:gd fmla="val 7901"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1"/>
          <p:cNvSpPr/>
          <p:nvPr/>
        </p:nvSpPr>
        <p:spPr>
          <a:xfrm>
            <a:off x="996950" y="3958332"/>
            <a:ext cx="2220500"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1 · Buscás algo</a:t>
            </a:r>
            <a:endParaRPr b="0" i="0" sz="1500" u="none" cap="none" strike="noStrike">
              <a:solidFill>
                <a:schemeClr val="lt1"/>
              </a:solidFill>
              <a:latin typeface="Montserrat"/>
              <a:ea typeface="Montserrat"/>
              <a:cs typeface="Montserrat"/>
              <a:sym typeface="Montserrat"/>
            </a:endParaRPr>
          </a:p>
        </p:txBody>
      </p:sp>
      <p:sp>
        <p:nvSpPr>
          <p:cNvPr id="301" name="Google Shape;301;p11"/>
          <p:cNvSpPr/>
          <p:nvPr/>
        </p:nvSpPr>
        <p:spPr>
          <a:xfrm>
            <a:off x="996950" y="4237732"/>
            <a:ext cx="233362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Música, un software, un “fix”.</a:t>
            </a:r>
            <a:endParaRPr b="0" i="0" sz="1200" u="none" cap="none" strike="noStrike">
              <a:solidFill>
                <a:schemeClr val="lt1"/>
              </a:solidFill>
              <a:latin typeface="Montserrat"/>
              <a:ea typeface="Montserrat"/>
              <a:cs typeface="Montserrat"/>
              <a:sym typeface="Montserrat"/>
            </a:endParaRPr>
          </a:p>
        </p:txBody>
      </p:sp>
      <p:sp>
        <p:nvSpPr>
          <p:cNvPr id="302" name="Google Shape;302;p11"/>
          <p:cNvSpPr/>
          <p:nvPr/>
        </p:nvSpPr>
        <p:spPr>
          <a:xfrm>
            <a:off x="3492500" y="3802757"/>
            <a:ext cx="2517775" cy="1245791"/>
          </a:xfrm>
          <a:prstGeom prst="roundRect">
            <a:avLst>
              <a:gd fmla="val 7901"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1"/>
          <p:cNvSpPr/>
          <p:nvPr/>
        </p:nvSpPr>
        <p:spPr>
          <a:xfrm>
            <a:off x="3673475" y="3958332"/>
            <a:ext cx="2220500"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2 · Un error falso</a:t>
            </a:r>
            <a:endParaRPr b="0" i="0" sz="1500" u="none" cap="none" strike="noStrike">
              <a:solidFill>
                <a:schemeClr val="lt1"/>
              </a:solidFill>
              <a:latin typeface="Montserrat"/>
              <a:ea typeface="Montserrat"/>
              <a:cs typeface="Montserrat"/>
              <a:sym typeface="Montserrat"/>
            </a:endParaRPr>
          </a:p>
        </p:txBody>
      </p:sp>
      <p:sp>
        <p:nvSpPr>
          <p:cNvPr id="304" name="Google Shape;304;p11"/>
          <p:cNvSpPr/>
          <p:nvPr/>
        </p:nvSpPr>
        <p:spPr>
          <a:xfrm>
            <a:off x="3673475" y="4237732"/>
            <a:ext cx="222050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Un CAPTCHA, “verificá que sos humano”.</a:t>
            </a:r>
            <a:endParaRPr b="0" i="0" sz="1200" u="none" cap="none" strike="noStrike">
              <a:solidFill>
                <a:schemeClr val="lt1"/>
              </a:solidFill>
              <a:latin typeface="Montserrat"/>
              <a:ea typeface="Montserrat"/>
              <a:cs typeface="Montserrat"/>
              <a:sym typeface="Montserrat"/>
            </a:endParaRPr>
          </a:p>
        </p:txBody>
      </p:sp>
      <p:sp>
        <p:nvSpPr>
          <p:cNvPr id="305" name="Google Shape;305;p11"/>
          <p:cNvSpPr/>
          <p:nvPr/>
        </p:nvSpPr>
        <p:spPr>
          <a:xfrm>
            <a:off x="6169025" y="3802757"/>
            <a:ext cx="2517775" cy="1245791"/>
          </a:xfrm>
          <a:prstGeom prst="roundRect">
            <a:avLst>
              <a:gd fmla="val 7901"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1"/>
          <p:cNvSpPr/>
          <p:nvPr/>
        </p:nvSpPr>
        <p:spPr>
          <a:xfrm>
            <a:off x="6350000" y="3958332"/>
            <a:ext cx="2220500" cy="4826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3 · Copia un comando</a:t>
            </a:r>
            <a:endParaRPr b="0" i="0" sz="1500" u="none" cap="none" strike="noStrike">
              <a:solidFill>
                <a:schemeClr val="lt1"/>
              </a:solidFill>
              <a:latin typeface="Montserrat"/>
              <a:ea typeface="Montserrat"/>
              <a:cs typeface="Montserrat"/>
              <a:sym typeface="Montserrat"/>
            </a:endParaRPr>
          </a:p>
        </p:txBody>
      </p:sp>
      <p:sp>
        <p:nvSpPr>
          <p:cNvPr id="307" name="Google Shape;307;p11"/>
          <p:cNvSpPr/>
          <p:nvPr/>
        </p:nvSpPr>
        <p:spPr>
          <a:xfrm>
            <a:off x="6350000" y="4466332"/>
            <a:ext cx="222050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La página lo deja en el portapapeles.</a:t>
            </a:r>
            <a:endParaRPr b="0" i="0" sz="1200" u="none" cap="none" strike="noStrike">
              <a:solidFill>
                <a:schemeClr val="lt1"/>
              </a:solidFill>
              <a:latin typeface="Montserrat"/>
              <a:ea typeface="Montserrat"/>
              <a:cs typeface="Montserrat"/>
              <a:sym typeface="Montserrat"/>
            </a:endParaRPr>
          </a:p>
        </p:txBody>
      </p:sp>
      <p:sp>
        <p:nvSpPr>
          <p:cNvPr id="308" name="Google Shape;308;p11"/>
          <p:cNvSpPr/>
          <p:nvPr/>
        </p:nvSpPr>
        <p:spPr>
          <a:xfrm>
            <a:off x="8848725" y="3805932"/>
            <a:ext cx="2524125" cy="1239441"/>
          </a:xfrm>
          <a:prstGeom prst="roundRect">
            <a:avLst>
              <a:gd fmla="val 7685" name="adj"/>
            </a:avLst>
          </a:prstGeom>
          <a:solidFill>
            <a:srgbClr val="1B1726"/>
          </a:solidFill>
          <a:ln cap="flat" cmpd="sng" w="12700">
            <a:solidFill>
              <a:srgbClr val="F59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1"/>
          <p:cNvSpPr/>
          <p:nvPr/>
        </p:nvSpPr>
        <p:spPr>
          <a:xfrm>
            <a:off x="9032875" y="3964682"/>
            <a:ext cx="2220500"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4 · Pegar y Enter</a:t>
            </a:r>
            <a:endParaRPr b="0" i="0" sz="1500" u="none" cap="none" strike="noStrike">
              <a:solidFill>
                <a:schemeClr val="lt1"/>
              </a:solidFill>
              <a:latin typeface="Montserrat"/>
              <a:ea typeface="Montserrat"/>
              <a:cs typeface="Montserrat"/>
              <a:sym typeface="Montserrat"/>
            </a:endParaRPr>
          </a:p>
        </p:txBody>
      </p:sp>
      <p:sp>
        <p:nvSpPr>
          <p:cNvPr id="310" name="Google Shape;310;p11"/>
          <p:cNvSpPr/>
          <p:nvPr/>
        </p:nvSpPr>
        <p:spPr>
          <a:xfrm>
            <a:off x="9032875" y="4244082"/>
            <a:ext cx="222050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La víctima ejecuta. No hay adjunto ni exploit.</a:t>
            </a:r>
            <a:endParaRPr b="0" i="0" sz="1200" u="none" cap="none" strike="noStrike">
              <a:solidFill>
                <a:schemeClr val="lt1"/>
              </a:solidFill>
              <a:latin typeface="Montserrat"/>
              <a:ea typeface="Montserrat"/>
              <a:cs typeface="Montserrat"/>
              <a:sym typeface="Montserrat"/>
            </a:endParaRPr>
          </a:p>
        </p:txBody>
      </p:sp>
      <p:sp>
        <p:nvSpPr>
          <p:cNvPr id="311" name="Google Shape;311;p11"/>
          <p:cNvSpPr/>
          <p:nvPr/>
        </p:nvSpPr>
        <p:spPr>
          <a:xfrm>
            <a:off x="812800" y="6238280"/>
            <a:ext cx="9064253"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Fuentes: Microsoft DDR 2025 · ESET Threat Report H1 2025 · Push Security (2026) · CTM360 (sep. 2026)</a:t>
            </a:r>
            <a:endParaRPr b="0" i="0" sz="1200" u="none" cap="none" strike="noStrike">
              <a:solidFill>
                <a:schemeClr val="lt1"/>
              </a:solidFill>
              <a:latin typeface="Montserrat"/>
              <a:ea typeface="Montserrat"/>
              <a:cs typeface="Montserrat"/>
              <a:sym typeface="Montserrat"/>
            </a:endParaRPr>
          </a:p>
        </p:txBody>
      </p:sp>
      <p:sp>
        <p:nvSpPr>
          <p:cNvPr id="312" name="Google Shape;312;p11"/>
          <p:cNvSpPr/>
          <p:nvPr/>
        </p:nvSpPr>
        <p:spPr>
          <a:xfrm>
            <a:off x="11218416" y="6238280"/>
            <a:ext cx="160784"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11</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317" name="Shape 317"/>
        <p:cNvGrpSpPr/>
        <p:nvPr/>
      </p:nvGrpSpPr>
      <p:grpSpPr>
        <a:xfrm>
          <a:off x="0" y="0"/>
          <a:ext cx="0" cy="0"/>
          <a:chOff x="0" y="0"/>
          <a:chExt cx="0" cy="0"/>
        </a:xfrm>
      </p:grpSpPr>
      <p:sp>
        <p:nvSpPr>
          <p:cNvPr id="318" name="Google Shape;318;p12"/>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EL CASO CLICKFIX</a:t>
            </a:r>
            <a:endParaRPr b="0" i="0" sz="1200" u="none" cap="none" strike="noStrike">
              <a:solidFill>
                <a:schemeClr val="lt1"/>
              </a:solidFill>
              <a:latin typeface="Montserrat"/>
              <a:ea typeface="Montserrat"/>
              <a:cs typeface="Montserrat"/>
              <a:sym typeface="Montserrat"/>
            </a:endParaRPr>
          </a:p>
        </p:txBody>
      </p:sp>
      <p:sp>
        <p:nvSpPr>
          <p:cNvPr id="319" name="Google Shape;319;p12"/>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El señuelo: Win+R, Ctrl+V, Enter</a:t>
            </a:r>
            <a:endParaRPr sz="3200"/>
          </a:p>
        </p:txBody>
      </p:sp>
      <p:pic>
        <p:nvPicPr>
          <p:cNvPr descr="Página falsa de verificación en third-party[.]com con las instrucciones: Win+R, Ctrl+V y Enter, y un falso Verification ID de reCAPTCHA" id="320" name="Google Shape;320;p12"/>
          <p:cNvPicPr preferRelativeResize="0"/>
          <p:nvPr/>
        </p:nvPicPr>
        <p:blipFill rotWithShape="1">
          <a:blip r:embed="rId3">
            <a:alphaModFix/>
          </a:blip>
          <a:srcRect b="0" l="-53" r="-53" t="0"/>
          <a:stretch/>
        </p:blipFill>
        <p:spPr>
          <a:xfrm>
            <a:off x="819150" y="1784300"/>
            <a:ext cx="3467100" cy="2781300"/>
          </a:xfrm>
          <a:prstGeom prst="roundRect">
            <a:avLst>
              <a:gd fmla="val 2511" name="adj"/>
            </a:avLst>
          </a:prstGeom>
          <a:noFill/>
          <a:ln>
            <a:noFill/>
          </a:ln>
        </p:spPr>
      </p:pic>
      <p:sp>
        <p:nvSpPr>
          <p:cNvPr id="321" name="Google Shape;321;p12"/>
          <p:cNvSpPr/>
          <p:nvPr/>
        </p:nvSpPr>
        <p:spPr>
          <a:xfrm>
            <a:off x="815975" y="1781125"/>
            <a:ext cx="3473450" cy="2787650"/>
          </a:xfrm>
          <a:prstGeom prst="roundRect">
            <a:avLst>
              <a:gd fmla="val 2620" name="adj"/>
            </a:avLst>
          </a:prstGeom>
          <a:no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El cuadro Ejecutar de Windows con el comando pegado, disfrazado de Security check y Verification ID" id="322" name="Google Shape;322;p12"/>
          <p:cNvPicPr preferRelativeResize="0"/>
          <p:nvPr/>
        </p:nvPicPr>
        <p:blipFill rotWithShape="1">
          <a:blip r:embed="rId4">
            <a:alphaModFix/>
          </a:blip>
          <a:srcRect b="0" l="-129" r="-129" t="0"/>
          <a:stretch/>
        </p:blipFill>
        <p:spPr>
          <a:xfrm>
            <a:off x="4502150" y="1784300"/>
            <a:ext cx="5168900" cy="2781300"/>
          </a:xfrm>
          <a:prstGeom prst="roundRect">
            <a:avLst>
              <a:gd fmla="val 2511" name="adj"/>
            </a:avLst>
          </a:prstGeom>
          <a:noFill/>
          <a:ln>
            <a:noFill/>
          </a:ln>
        </p:spPr>
      </p:pic>
      <p:sp>
        <p:nvSpPr>
          <p:cNvPr id="323" name="Google Shape;323;p12"/>
          <p:cNvSpPr/>
          <p:nvPr/>
        </p:nvSpPr>
        <p:spPr>
          <a:xfrm>
            <a:off x="4498975" y="1781125"/>
            <a:ext cx="5175250" cy="2787650"/>
          </a:xfrm>
          <a:prstGeom prst="roundRect">
            <a:avLst>
              <a:gd fmla="val 2620" name="adj"/>
            </a:avLst>
          </a:prstGeom>
          <a:no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2"/>
          <p:cNvSpPr/>
          <p:nvPr/>
        </p:nvSpPr>
        <p:spPr>
          <a:xfrm>
            <a:off x="812800" y="4775150"/>
            <a:ext cx="10883392"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El “Verification ID” es el disfraz: lo que la víctima pega es un comando.</a:t>
            </a:r>
            <a:endParaRPr b="0" i="0" sz="1500" u="none" cap="none" strike="noStrike">
              <a:solidFill>
                <a:schemeClr val="lt1"/>
              </a:solidFill>
              <a:latin typeface="Montserrat"/>
              <a:ea typeface="Montserrat"/>
              <a:cs typeface="Montserrat"/>
              <a:sym typeface="Montserrat"/>
            </a:endParaRPr>
          </a:p>
        </p:txBody>
      </p:sp>
      <p:sp>
        <p:nvSpPr>
          <p:cNvPr id="325" name="Google Shape;325;p12"/>
          <p:cNvSpPr/>
          <p:nvPr/>
        </p:nvSpPr>
        <p:spPr>
          <a:xfrm>
            <a:off x="812800" y="5092650"/>
            <a:ext cx="113792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third-party[.]com, capturado el 12/10/2026 en un sandbox propio. El portapapeles no se registra: la telemetría ve el pegado, nunca la página.</a:t>
            </a:r>
            <a:endParaRPr b="0" i="0" sz="1200" u="none" cap="none" strike="noStrike">
              <a:solidFill>
                <a:schemeClr val="lt1"/>
              </a:solidFill>
              <a:latin typeface="Montserrat"/>
              <a:ea typeface="Montserrat"/>
              <a:cs typeface="Montserrat"/>
              <a:sym typeface="Montserrat"/>
            </a:endParaRPr>
          </a:p>
        </p:txBody>
      </p:sp>
      <p:sp>
        <p:nvSpPr>
          <p:cNvPr id="326" name="Google Shape;326;p12"/>
          <p:cNvSpPr/>
          <p:nvPr/>
        </p:nvSpPr>
        <p:spPr>
          <a:xfrm>
            <a:off x="812800" y="6238280"/>
            <a:ext cx="523482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WRITING THE INCIDENT STORY · DEATHCON 2026</a:t>
            </a:r>
            <a:endParaRPr b="0" i="0" sz="1200" u="none" cap="none" strike="noStrike">
              <a:solidFill>
                <a:schemeClr val="lt1"/>
              </a:solidFill>
              <a:latin typeface="Montserrat"/>
              <a:ea typeface="Montserrat"/>
              <a:cs typeface="Montserrat"/>
              <a:sym typeface="Montserrat"/>
            </a:endParaRPr>
          </a:p>
        </p:txBody>
      </p:sp>
      <p:sp>
        <p:nvSpPr>
          <p:cNvPr id="327" name="Google Shape;327;p12"/>
          <p:cNvSpPr/>
          <p:nvPr/>
        </p:nvSpPr>
        <p:spPr>
          <a:xfrm>
            <a:off x="11186815" y="6238280"/>
            <a:ext cx="192385"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12</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332" name="Shape 332"/>
        <p:cNvGrpSpPr/>
        <p:nvPr/>
      </p:nvGrpSpPr>
      <p:grpSpPr>
        <a:xfrm>
          <a:off x="0" y="0"/>
          <a:ext cx="0" cy="0"/>
          <a:chOff x="0" y="0"/>
          <a:chExt cx="0" cy="0"/>
        </a:xfrm>
      </p:grpSpPr>
      <p:sp>
        <p:nvSpPr>
          <p:cNvPr id="333" name="Google Shape;333;p13"/>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EL CASO CLICKFIX</a:t>
            </a:r>
            <a:endParaRPr b="0" i="0" sz="1200" u="none" cap="none" strike="noStrike">
              <a:solidFill>
                <a:schemeClr val="lt1"/>
              </a:solidFill>
              <a:latin typeface="Montserrat"/>
              <a:ea typeface="Montserrat"/>
              <a:cs typeface="Montserrat"/>
              <a:sym typeface="Montserrat"/>
            </a:endParaRPr>
          </a:p>
        </p:txBody>
      </p:sp>
      <p:sp>
        <p:nvSpPr>
          <p:cNvPr id="334" name="Google Shape;334;p13"/>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La variante: Win+X → Terminal</a:t>
            </a:r>
            <a:endParaRPr sz="3200"/>
          </a:p>
        </p:txBody>
      </p:sp>
      <p:pic>
        <p:nvPicPr>
          <p:cNvPr descr="Falsa verificación de Cloudflare en cloudflare[.]vc que indica Win+X, elegir Terminal, Ctrl+V y Enter, con cuenta regresiva" id="335" name="Google Shape;335;p13"/>
          <p:cNvPicPr preferRelativeResize="0"/>
          <p:nvPr/>
        </p:nvPicPr>
        <p:blipFill rotWithShape="1">
          <a:blip r:embed="rId3">
            <a:alphaModFix/>
          </a:blip>
          <a:srcRect b="0" l="-23" r="-23" t="0"/>
          <a:stretch/>
        </p:blipFill>
        <p:spPr>
          <a:xfrm>
            <a:off x="819150" y="1784300"/>
            <a:ext cx="2336800" cy="2654300"/>
          </a:xfrm>
          <a:prstGeom prst="roundRect">
            <a:avLst>
              <a:gd fmla="val 2989" name="adj"/>
            </a:avLst>
          </a:prstGeom>
          <a:noFill/>
          <a:ln>
            <a:noFill/>
          </a:ln>
        </p:spPr>
      </p:pic>
      <p:sp>
        <p:nvSpPr>
          <p:cNvPr id="336" name="Google Shape;336;p13"/>
          <p:cNvSpPr/>
          <p:nvPr/>
        </p:nvSpPr>
        <p:spPr>
          <a:xfrm>
            <a:off x="815975" y="1781125"/>
            <a:ext cx="2343150" cy="2660650"/>
          </a:xfrm>
          <a:prstGeom prst="roundRect">
            <a:avLst>
              <a:gd fmla="val 3117" name="adj"/>
            </a:avLst>
          </a:prstGeom>
          <a:no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Windows PowerShell como administrador con el comando pegado: irm a cosmical2049[.]com con User-Agent y header X-WUA, enviado a iex" id="337" name="Google Shape;337;p13"/>
          <p:cNvPicPr preferRelativeResize="0"/>
          <p:nvPr/>
        </p:nvPicPr>
        <p:blipFill rotWithShape="1">
          <a:blip r:embed="rId4">
            <a:alphaModFix/>
          </a:blip>
          <a:srcRect b="0" l="-109" r="-109" t="0"/>
          <a:stretch/>
        </p:blipFill>
        <p:spPr>
          <a:xfrm>
            <a:off x="3371850" y="1784300"/>
            <a:ext cx="5340350" cy="2654300"/>
          </a:xfrm>
          <a:prstGeom prst="roundRect">
            <a:avLst>
              <a:gd fmla="val 2632" name="adj"/>
            </a:avLst>
          </a:prstGeom>
          <a:noFill/>
          <a:ln>
            <a:noFill/>
          </a:ln>
        </p:spPr>
      </p:pic>
      <p:sp>
        <p:nvSpPr>
          <p:cNvPr id="338" name="Google Shape;338;p13"/>
          <p:cNvSpPr/>
          <p:nvPr/>
        </p:nvSpPr>
        <p:spPr>
          <a:xfrm>
            <a:off x="3368675" y="1781125"/>
            <a:ext cx="5346700" cy="2660650"/>
          </a:xfrm>
          <a:prstGeom prst="roundRect">
            <a:avLst>
              <a:gd fmla="val 2745" name="adj"/>
            </a:avLst>
          </a:prstGeom>
          <a:no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3"/>
          <p:cNvSpPr/>
          <p:nvPr/>
        </p:nvSpPr>
        <p:spPr>
          <a:xfrm>
            <a:off x="812800" y="4648150"/>
            <a:ext cx="10883392" cy="55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Win+X → Terminal no pasa por el cuadro Ejecutar: no queda en RunMRU y, si el comando corre dentro de PowerShell, tampoco como línea de comandos.</a:t>
            </a:r>
            <a:endParaRPr b="0" i="0" sz="1500" u="none" cap="none" strike="noStrike">
              <a:solidFill>
                <a:schemeClr val="lt1"/>
              </a:solidFill>
              <a:latin typeface="Montserrat"/>
              <a:ea typeface="Montserrat"/>
              <a:cs typeface="Montserrat"/>
              <a:sym typeface="Montserrat"/>
            </a:endParaRPr>
          </a:p>
        </p:txBody>
      </p:sp>
      <p:sp>
        <p:nvSpPr>
          <p:cNvPr id="340" name="Google Shape;340;p13"/>
          <p:cNvSpPr/>
          <p:nvPr/>
        </p:nvSpPr>
        <p:spPr>
          <a:xfrm>
            <a:off x="812800" y="5232350"/>
            <a:ext cx="10883392"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cloudflare[.]vc, 12/10/2026. El comando baja el stage-1 de cosmical2049[.]com y solo funciona con el User-Agent y el header X-WUA correctos.</a:t>
            </a:r>
            <a:endParaRPr b="0" i="0" sz="1200" u="none" cap="none" strike="noStrike">
              <a:solidFill>
                <a:schemeClr val="lt1"/>
              </a:solidFill>
              <a:latin typeface="Montserrat"/>
              <a:ea typeface="Montserrat"/>
              <a:cs typeface="Montserrat"/>
              <a:sym typeface="Montserrat"/>
            </a:endParaRPr>
          </a:p>
        </p:txBody>
      </p:sp>
      <p:sp>
        <p:nvSpPr>
          <p:cNvPr id="341" name="Google Shape;341;p13"/>
          <p:cNvSpPr/>
          <p:nvPr/>
        </p:nvSpPr>
        <p:spPr>
          <a:xfrm>
            <a:off x="812800" y="6238280"/>
            <a:ext cx="523482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WRITING THE INCIDENT STORY · DEATHCON 2026</a:t>
            </a:r>
            <a:endParaRPr b="0" i="0" sz="1200" u="none" cap="none" strike="noStrike">
              <a:solidFill>
                <a:schemeClr val="lt1"/>
              </a:solidFill>
              <a:latin typeface="Montserrat"/>
              <a:ea typeface="Montserrat"/>
              <a:cs typeface="Montserrat"/>
              <a:sym typeface="Montserrat"/>
            </a:endParaRPr>
          </a:p>
        </p:txBody>
      </p:sp>
      <p:sp>
        <p:nvSpPr>
          <p:cNvPr id="342" name="Google Shape;342;p13"/>
          <p:cNvSpPr/>
          <p:nvPr/>
        </p:nvSpPr>
        <p:spPr>
          <a:xfrm>
            <a:off x="11187361" y="6238280"/>
            <a:ext cx="191839"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13</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347" name="Shape 347"/>
        <p:cNvGrpSpPr/>
        <p:nvPr/>
      </p:nvGrpSpPr>
      <p:grpSpPr>
        <a:xfrm>
          <a:off x="0" y="0"/>
          <a:ext cx="0" cy="0"/>
          <a:chOff x="0" y="0"/>
          <a:chExt cx="0" cy="0"/>
        </a:xfrm>
      </p:grpSpPr>
      <p:sp>
        <p:nvSpPr>
          <p:cNvPr id="348" name="Google Shape;348;p14"/>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EL CASO CLICKFIX</a:t>
            </a:r>
            <a:endParaRPr b="0" i="0" sz="1200" u="none" cap="none" strike="noStrike">
              <a:solidFill>
                <a:schemeClr val="lt1"/>
              </a:solidFill>
              <a:latin typeface="Montserrat"/>
              <a:ea typeface="Montserrat"/>
              <a:cs typeface="Montserrat"/>
              <a:sym typeface="Montserrat"/>
            </a:endParaRPr>
          </a:p>
        </p:txBody>
      </p:sp>
      <p:sp>
        <p:nvSpPr>
          <p:cNvPr id="349" name="Google Shape;349;p14"/>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La realidad: la alerta llegó en el paso 7</a:t>
            </a:r>
            <a:endParaRPr sz="3200"/>
          </a:p>
        </p:txBody>
      </p:sp>
      <p:cxnSp>
        <p:nvCxnSpPr>
          <p:cNvPr id="350" name="Google Shape;350;p14"/>
          <p:cNvCxnSpPr/>
          <p:nvPr/>
        </p:nvCxnSpPr>
        <p:spPr>
          <a:xfrm>
            <a:off x="812800" y="1781125"/>
            <a:ext cx="10566400" cy="0"/>
          </a:xfrm>
          <a:prstGeom prst="straightConnector1">
            <a:avLst/>
          </a:prstGeom>
          <a:noFill/>
          <a:ln cap="flat" cmpd="sng" w="9525">
            <a:solidFill>
              <a:srgbClr val="2D2740"/>
            </a:solidFill>
            <a:prstDash val="solid"/>
            <a:round/>
            <a:headEnd len="sm" w="sm" type="none"/>
            <a:tailEnd len="sm" w="sm" type="none"/>
          </a:ln>
        </p:spPr>
      </p:cxnSp>
      <p:sp>
        <p:nvSpPr>
          <p:cNvPr id="351" name="Google Shape;351;p14"/>
          <p:cNvSpPr/>
          <p:nvPr/>
        </p:nvSpPr>
        <p:spPr>
          <a:xfrm>
            <a:off x="812800" y="1873200"/>
            <a:ext cx="8763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200"/>
              <a:buFont typeface="JetBrains Mono"/>
              <a:buNone/>
            </a:pPr>
            <a:r>
              <a:rPr b="1" i="0" lang="en-US" sz="1200" u="none" cap="none" strike="noStrike">
                <a:solidFill>
                  <a:srgbClr val="F59E42"/>
                </a:solidFill>
                <a:latin typeface="JetBrains Mono"/>
                <a:ea typeface="JetBrains Mono"/>
                <a:cs typeface="JetBrains Mono"/>
                <a:sym typeface="JetBrains Mono"/>
              </a:rPr>
              <a:t>T+0:00</a:t>
            </a:r>
            <a:endParaRPr b="0" i="0" sz="1200" u="none" cap="none" strike="noStrike">
              <a:solidFill>
                <a:schemeClr val="lt1"/>
              </a:solidFill>
              <a:latin typeface="Montserrat"/>
              <a:ea typeface="Montserrat"/>
              <a:cs typeface="Montserrat"/>
              <a:sym typeface="Montserrat"/>
            </a:endParaRPr>
          </a:p>
        </p:txBody>
      </p:sp>
      <p:sp>
        <p:nvSpPr>
          <p:cNvPr id="352" name="Google Shape;352;p14"/>
          <p:cNvSpPr/>
          <p:nvPr/>
        </p:nvSpPr>
        <p:spPr>
          <a:xfrm>
            <a:off x="1790700" y="1873200"/>
            <a:ext cx="215836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Pega el comando</a:t>
            </a:r>
            <a:endParaRPr b="0" i="0" sz="1200" u="none" cap="none" strike="noStrike">
              <a:solidFill>
                <a:schemeClr val="lt1"/>
              </a:solidFill>
              <a:latin typeface="Montserrat"/>
              <a:ea typeface="Montserrat"/>
              <a:cs typeface="Montserrat"/>
              <a:sym typeface="Montserrat"/>
            </a:endParaRPr>
          </a:p>
        </p:txBody>
      </p:sp>
      <p:sp>
        <p:nvSpPr>
          <p:cNvPr id="353" name="Google Shape;353;p14"/>
          <p:cNvSpPr/>
          <p:nvPr/>
        </p:nvSpPr>
        <p:spPr>
          <a:xfrm>
            <a:off x="4038600" y="1880791"/>
            <a:ext cx="6732065" cy="22349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PowerShell descarga un script desde una IP escrita en notación decimal.</a:t>
            </a:r>
            <a:endParaRPr b="0" i="0" sz="1200" u="none" cap="none" strike="noStrike">
              <a:solidFill>
                <a:schemeClr val="lt1"/>
              </a:solidFill>
              <a:latin typeface="Montserrat"/>
              <a:ea typeface="Montserrat"/>
              <a:cs typeface="Montserrat"/>
              <a:sym typeface="Montserrat"/>
            </a:endParaRPr>
          </a:p>
        </p:txBody>
      </p:sp>
      <p:sp>
        <p:nvSpPr>
          <p:cNvPr id="354" name="Google Shape;354;p14"/>
          <p:cNvSpPr/>
          <p:nvPr/>
        </p:nvSpPr>
        <p:spPr>
          <a:xfrm>
            <a:off x="10726986" y="1847800"/>
            <a:ext cx="652214" cy="264120"/>
          </a:xfrm>
          <a:custGeom>
            <a:rect b="b" l="l" r="r" t="t"/>
            <a:pathLst>
              <a:path extrusionOk="0" h="264120" w="652214">
                <a:moveTo>
                  <a:pt x="132060" y="0"/>
                </a:moveTo>
                <a:lnTo>
                  <a:pt x="520154" y="0"/>
                </a:lnTo>
                <a:cubicBezTo>
                  <a:pt x="555178" y="0"/>
                  <a:pt x="588768" y="13913"/>
                  <a:pt x="613535" y="38679"/>
                </a:cubicBezTo>
                <a:cubicBezTo>
                  <a:pt x="638301" y="63446"/>
                  <a:pt x="652214" y="97036"/>
                  <a:pt x="652214" y="132060"/>
                </a:cubicBezTo>
                <a:lnTo>
                  <a:pt x="652214" y="132060"/>
                </a:lnTo>
                <a:cubicBezTo>
                  <a:pt x="652214" y="204995"/>
                  <a:pt x="593089" y="264120"/>
                  <a:pt x="520154" y="264120"/>
                </a:cubicBezTo>
                <a:lnTo>
                  <a:pt x="132060" y="264120"/>
                </a:lnTo>
                <a:cubicBezTo>
                  <a:pt x="59125" y="264120"/>
                  <a:pt x="0" y="204995"/>
                  <a:pt x="0" y="132060"/>
                </a:cubicBezTo>
                <a:lnTo>
                  <a:pt x="0" y="132060"/>
                </a:lnTo>
                <a:cubicBezTo>
                  <a:pt x="0" y="59125"/>
                  <a:pt x="59125" y="0"/>
                  <a:pt x="132060" y="0"/>
                </a:cubicBezTo>
                <a:close/>
              </a:path>
            </a:pathLst>
          </a:custGeom>
          <a:solidFill>
            <a:srgbClr val="2D2740"/>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INFO</a:t>
            </a:r>
            <a:endParaRPr b="0" i="0" sz="1200" u="none" cap="none" strike="noStrike">
              <a:solidFill>
                <a:schemeClr val="lt1"/>
              </a:solidFill>
              <a:latin typeface="Montserrat"/>
              <a:ea typeface="Montserrat"/>
              <a:cs typeface="Montserrat"/>
              <a:sym typeface="Montserrat"/>
            </a:endParaRPr>
          </a:p>
        </p:txBody>
      </p:sp>
      <p:cxnSp>
        <p:nvCxnSpPr>
          <p:cNvPr id="355" name="Google Shape;355;p14"/>
          <p:cNvCxnSpPr/>
          <p:nvPr/>
        </p:nvCxnSpPr>
        <p:spPr>
          <a:xfrm>
            <a:off x="812800" y="2178596"/>
            <a:ext cx="10566400" cy="0"/>
          </a:xfrm>
          <a:prstGeom prst="straightConnector1">
            <a:avLst/>
          </a:prstGeom>
          <a:noFill/>
          <a:ln cap="flat" cmpd="sng" w="9525">
            <a:solidFill>
              <a:srgbClr val="2D2740"/>
            </a:solidFill>
            <a:prstDash val="solid"/>
            <a:round/>
            <a:headEnd len="sm" w="sm" type="none"/>
            <a:tailEnd len="sm" w="sm" type="none"/>
          </a:ln>
        </p:spPr>
      </p:cxnSp>
      <p:sp>
        <p:nvSpPr>
          <p:cNvPr id="356" name="Google Shape;356;p14"/>
          <p:cNvSpPr/>
          <p:nvPr/>
        </p:nvSpPr>
        <p:spPr>
          <a:xfrm>
            <a:off x="812800" y="2270671"/>
            <a:ext cx="8763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200"/>
              <a:buFont typeface="JetBrains Mono"/>
              <a:buNone/>
            </a:pPr>
            <a:r>
              <a:rPr b="1" i="0" lang="en-US" sz="1200" u="none" cap="none" strike="noStrike">
                <a:solidFill>
                  <a:srgbClr val="F59E42"/>
                </a:solidFill>
                <a:latin typeface="JetBrains Mono"/>
                <a:ea typeface="JetBrains Mono"/>
                <a:cs typeface="JetBrains Mono"/>
                <a:sym typeface="JetBrains Mono"/>
              </a:rPr>
              <a:t>T+0:03</a:t>
            </a:r>
            <a:endParaRPr b="0" i="0" sz="1200" u="none" cap="none" strike="noStrike">
              <a:solidFill>
                <a:schemeClr val="lt1"/>
              </a:solidFill>
              <a:latin typeface="Montserrat"/>
              <a:ea typeface="Montserrat"/>
              <a:cs typeface="Montserrat"/>
              <a:sym typeface="Montserrat"/>
            </a:endParaRPr>
          </a:p>
        </p:txBody>
      </p:sp>
      <p:sp>
        <p:nvSpPr>
          <p:cNvPr id="357" name="Google Shape;357;p14"/>
          <p:cNvSpPr/>
          <p:nvPr/>
        </p:nvSpPr>
        <p:spPr>
          <a:xfrm>
            <a:off x="1790700" y="2270671"/>
            <a:ext cx="215836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Consola oculta</a:t>
            </a:r>
            <a:endParaRPr b="0" i="0" sz="1200" u="none" cap="none" strike="noStrike">
              <a:solidFill>
                <a:schemeClr val="lt1"/>
              </a:solidFill>
              <a:latin typeface="Montserrat"/>
              <a:ea typeface="Montserrat"/>
              <a:cs typeface="Montserrat"/>
              <a:sym typeface="Montserrat"/>
            </a:endParaRPr>
          </a:p>
        </p:txBody>
      </p:sp>
      <p:sp>
        <p:nvSpPr>
          <p:cNvPr id="358" name="Google Shape;358;p14"/>
          <p:cNvSpPr/>
          <p:nvPr/>
        </p:nvSpPr>
        <p:spPr>
          <a:xfrm>
            <a:off x="4038600" y="2278261"/>
            <a:ext cx="6732065" cy="22349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La ventana desaparece: la usuaria cree que falló y reintenta.</a:t>
            </a:r>
            <a:endParaRPr b="0" i="0" sz="1200" u="none" cap="none" strike="noStrike">
              <a:solidFill>
                <a:schemeClr val="lt1"/>
              </a:solidFill>
              <a:latin typeface="Montserrat"/>
              <a:ea typeface="Montserrat"/>
              <a:cs typeface="Montserrat"/>
              <a:sym typeface="Montserrat"/>
            </a:endParaRPr>
          </a:p>
        </p:txBody>
      </p:sp>
      <p:sp>
        <p:nvSpPr>
          <p:cNvPr id="359" name="Google Shape;359;p14"/>
          <p:cNvSpPr/>
          <p:nvPr/>
        </p:nvSpPr>
        <p:spPr>
          <a:xfrm>
            <a:off x="10726986" y="2245271"/>
            <a:ext cx="652214" cy="264120"/>
          </a:xfrm>
          <a:custGeom>
            <a:rect b="b" l="l" r="r" t="t"/>
            <a:pathLst>
              <a:path extrusionOk="0" h="264120" w="652214">
                <a:moveTo>
                  <a:pt x="132060" y="0"/>
                </a:moveTo>
                <a:lnTo>
                  <a:pt x="520154" y="0"/>
                </a:lnTo>
                <a:cubicBezTo>
                  <a:pt x="555178" y="0"/>
                  <a:pt x="588768" y="13913"/>
                  <a:pt x="613535" y="38679"/>
                </a:cubicBezTo>
                <a:cubicBezTo>
                  <a:pt x="638301" y="63446"/>
                  <a:pt x="652214" y="97036"/>
                  <a:pt x="652214" y="132060"/>
                </a:cubicBezTo>
                <a:lnTo>
                  <a:pt x="652214" y="132060"/>
                </a:lnTo>
                <a:cubicBezTo>
                  <a:pt x="652214" y="204995"/>
                  <a:pt x="593089" y="264120"/>
                  <a:pt x="520154" y="264120"/>
                </a:cubicBezTo>
                <a:lnTo>
                  <a:pt x="132060" y="264120"/>
                </a:lnTo>
                <a:cubicBezTo>
                  <a:pt x="59125" y="264120"/>
                  <a:pt x="0" y="204995"/>
                  <a:pt x="0" y="132060"/>
                </a:cubicBezTo>
                <a:lnTo>
                  <a:pt x="0" y="132060"/>
                </a:lnTo>
                <a:cubicBezTo>
                  <a:pt x="0" y="59125"/>
                  <a:pt x="59125" y="0"/>
                  <a:pt x="132060" y="0"/>
                </a:cubicBezTo>
                <a:close/>
              </a:path>
            </a:pathLst>
          </a:custGeom>
          <a:solidFill>
            <a:srgbClr val="2D2740"/>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INFO</a:t>
            </a:r>
            <a:endParaRPr b="0" i="0" sz="1200" u="none" cap="none" strike="noStrike">
              <a:solidFill>
                <a:schemeClr val="lt1"/>
              </a:solidFill>
              <a:latin typeface="Montserrat"/>
              <a:ea typeface="Montserrat"/>
              <a:cs typeface="Montserrat"/>
              <a:sym typeface="Montserrat"/>
            </a:endParaRPr>
          </a:p>
        </p:txBody>
      </p:sp>
      <p:cxnSp>
        <p:nvCxnSpPr>
          <p:cNvPr id="360" name="Google Shape;360;p14"/>
          <p:cNvCxnSpPr/>
          <p:nvPr/>
        </p:nvCxnSpPr>
        <p:spPr>
          <a:xfrm>
            <a:off x="812800" y="2576066"/>
            <a:ext cx="10566400" cy="0"/>
          </a:xfrm>
          <a:prstGeom prst="straightConnector1">
            <a:avLst/>
          </a:prstGeom>
          <a:noFill/>
          <a:ln cap="flat" cmpd="sng" w="9525">
            <a:solidFill>
              <a:srgbClr val="2D2740"/>
            </a:solidFill>
            <a:prstDash val="solid"/>
            <a:round/>
            <a:headEnd len="sm" w="sm" type="none"/>
            <a:tailEnd len="sm" w="sm" type="none"/>
          </a:ln>
        </p:spPr>
      </p:cxnSp>
      <p:sp>
        <p:nvSpPr>
          <p:cNvPr id="361" name="Google Shape;361;p14"/>
          <p:cNvSpPr/>
          <p:nvPr/>
        </p:nvSpPr>
        <p:spPr>
          <a:xfrm>
            <a:off x="812800" y="2668141"/>
            <a:ext cx="8763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200"/>
              <a:buFont typeface="JetBrains Mono"/>
              <a:buNone/>
            </a:pPr>
            <a:r>
              <a:rPr b="1" i="0" lang="en-US" sz="1200" u="none" cap="none" strike="noStrike">
                <a:solidFill>
                  <a:srgbClr val="F59E42"/>
                </a:solidFill>
                <a:latin typeface="JetBrains Mono"/>
                <a:ea typeface="JetBrains Mono"/>
                <a:cs typeface="JetBrains Mono"/>
                <a:sym typeface="JetBrains Mono"/>
              </a:rPr>
              <a:t>T+0:05</a:t>
            </a:r>
            <a:endParaRPr b="0" i="0" sz="1200" u="none" cap="none" strike="noStrike">
              <a:solidFill>
                <a:schemeClr val="lt1"/>
              </a:solidFill>
              <a:latin typeface="Montserrat"/>
              <a:ea typeface="Montserrat"/>
              <a:cs typeface="Montserrat"/>
              <a:sym typeface="Montserrat"/>
            </a:endParaRPr>
          </a:p>
        </p:txBody>
      </p:sp>
      <p:sp>
        <p:nvSpPr>
          <p:cNvPr id="362" name="Google Shape;362;p14"/>
          <p:cNvSpPr/>
          <p:nvPr/>
        </p:nvSpPr>
        <p:spPr>
          <a:xfrm>
            <a:off x="1790700" y="2668141"/>
            <a:ext cx="215836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MSI silencioso</a:t>
            </a:r>
            <a:endParaRPr b="0" i="0" sz="1200" u="none" cap="none" strike="noStrike">
              <a:solidFill>
                <a:schemeClr val="lt1"/>
              </a:solidFill>
              <a:latin typeface="Montserrat"/>
              <a:ea typeface="Montserrat"/>
              <a:cs typeface="Montserrat"/>
              <a:sym typeface="Montserrat"/>
            </a:endParaRPr>
          </a:p>
        </p:txBody>
      </p:sp>
      <p:sp>
        <p:nvSpPr>
          <p:cNvPr id="363" name="Google Shape;363;p14"/>
          <p:cNvSpPr/>
          <p:nvPr/>
        </p:nvSpPr>
        <p:spPr>
          <a:xfrm>
            <a:off x="4038600" y="2675731"/>
            <a:ext cx="6732065" cy="22349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Un instalador desde %TEMP%, sin ventanas.</a:t>
            </a:r>
            <a:endParaRPr b="0" i="0" sz="1200" u="none" cap="none" strike="noStrike">
              <a:solidFill>
                <a:schemeClr val="lt1"/>
              </a:solidFill>
              <a:latin typeface="Montserrat"/>
              <a:ea typeface="Montserrat"/>
              <a:cs typeface="Montserrat"/>
              <a:sym typeface="Montserrat"/>
            </a:endParaRPr>
          </a:p>
        </p:txBody>
      </p:sp>
      <p:sp>
        <p:nvSpPr>
          <p:cNvPr id="364" name="Google Shape;364;p14"/>
          <p:cNvSpPr/>
          <p:nvPr/>
        </p:nvSpPr>
        <p:spPr>
          <a:xfrm>
            <a:off x="10726986" y="2642741"/>
            <a:ext cx="652214" cy="264120"/>
          </a:xfrm>
          <a:custGeom>
            <a:rect b="b" l="l" r="r" t="t"/>
            <a:pathLst>
              <a:path extrusionOk="0" h="264120" w="652214">
                <a:moveTo>
                  <a:pt x="132060" y="0"/>
                </a:moveTo>
                <a:lnTo>
                  <a:pt x="520154" y="0"/>
                </a:lnTo>
                <a:cubicBezTo>
                  <a:pt x="555178" y="0"/>
                  <a:pt x="588768" y="13913"/>
                  <a:pt x="613535" y="38679"/>
                </a:cubicBezTo>
                <a:cubicBezTo>
                  <a:pt x="638301" y="63446"/>
                  <a:pt x="652214" y="97036"/>
                  <a:pt x="652214" y="132060"/>
                </a:cubicBezTo>
                <a:lnTo>
                  <a:pt x="652214" y="132060"/>
                </a:lnTo>
                <a:cubicBezTo>
                  <a:pt x="652214" y="204995"/>
                  <a:pt x="593089" y="264120"/>
                  <a:pt x="520154" y="264120"/>
                </a:cubicBezTo>
                <a:lnTo>
                  <a:pt x="132060" y="264120"/>
                </a:lnTo>
                <a:cubicBezTo>
                  <a:pt x="59125" y="264120"/>
                  <a:pt x="0" y="204995"/>
                  <a:pt x="0" y="132060"/>
                </a:cubicBezTo>
                <a:lnTo>
                  <a:pt x="0" y="132060"/>
                </a:lnTo>
                <a:cubicBezTo>
                  <a:pt x="0" y="59125"/>
                  <a:pt x="59125" y="0"/>
                  <a:pt x="132060" y="0"/>
                </a:cubicBezTo>
                <a:close/>
              </a:path>
            </a:pathLst>
          </a:custGeom>
          <a:solidFill>
            <a:srgbClr val="2D2740"/>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INFO</a:t>
            </a:r>
            <a:endParaRPr b="0" i="0" sz="1200" u="none" cap="none" strike="noStrike">
              <a:solidFill>
                <a:schemeClr val="lt1"/>
              </a:solidFill>
              <a:latin typeface="Montserrat"/>
              <a:ea typeface="Montserrat"/>
              <a:cs typeface="Montserrat"/>
              <a:sym typeface="Montserrat"/>
            </a:endParaRPr>
          </a:p>
        </p:txBody>
      </p:sp>
      <p:cxnSp>
        <p:nvCxnSpPr>
          <p:cNvPr id="365" name="Google Shape;365;p14"/>
          <p:cNvCxnSpPr/>
          <p:nvPr/>
        </p:nvCxnSpPr>
        <p:spPr>
          <a:xfrm>
            <a:off x="812800" y="2973536"/>
            <a:ext cx="10566400" cy="0"/>
          </a:xfrm>
          <a:prstGeom prst="straightConnector1">
            <a:avLst/>
          </a:prstGeom>
          <a:noFill/>
          <a:ln cap="flat" cmpd="sng" w="9525">
            <a:solidFill>
              <a:srgbClr val="2D2740"/>
            </a:solidFill>
            <a:prstDash val="solid"/>
            <a:round/>
            <a:headEnd len="sm" w="sm" type="none"/>
            <a:tailEnd len="sm" w="sm" type="none"/>
          </a:ln>
        </p:spPr>
      </p:cxnSp>
      <p:sp>
        <p:nvSpPr>
          <p:cNvPr id="366" name="Google Shape;366;p14"/>
          <p:cNvSpPr/>
          <p:nvPr/>
        </p:nvSpPr>
        <p:spPr>
          <a:xfrm>
            <a:off x="812800" y="3065611"/>
            <a:ext cx="8763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200"/>
              <a:buFont typeface="JetBrains Mono"/>
              <a:buNone/>
            </a:pPr>
            <a:r>
              <a:rPr b="1" i="0" lang="en-US" sz="1200" u="none" cap="none" strike="noStrike">
                <a:solidFill>
                  <a:srgbClr val="F59E42"/>
                </a:solidFill>
                <a:latin typeface="JetBrains Mono"/>
                <a:ea typeface="JetBrains Mono"/>
                <a:cs typeface="JetBrains Mono"/>
                <a:sym typeface="JetBrains Mono"/>
              </a:rPr>
              <a:t>T+0:07</a:t>
            </a:r>
            <a:endParaRPr b="0" i="0" sz="1200" u="none" cap="none" strike="noStrike">
              <a:solidFill>
                <a:schemeClr val="lt1"/>
              </a:solidFill>
              <a:latin typeface="Montserrat"/>
              <a:ea typeface="Montserrat"/>
              <a:cs typeface="Montserrat"/>
              <a:sym typeface="Montserrat"/>
            </a:endParaRPr>
          </a:p>
        </p:txBody>
      </p:sp>
      <p:sp>
        <p:nvSpPr>
          <p:cNvPr id="367" name="Google Shape;367;p14"/>
          <p:cNvSpPr/>
          <p:nvPr/>
        </p:nvSpPr>
        <p:spPr>
          <a:xfrm>
            <a:off x="1790700" y="3065611"/>
            <a:ext cx="215836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PowerShell oculto</a:t>
            </a:r>
            <a:endParaRPr b="0" i="0" sz="1200" u="none" cap="none" strike="noStrike">
              <a:solidFill>
                <a:schemeClr val="lt1"/>
              </a:solidFill>
              <a:latin typeface="Montserrat"/>
              <a:ea typeface="Montserrat"/>
              <a:cs typeface="Montserrat"/>
              <a:sym typeface="Montserrat"/>
            </a:endParaRPr>
          </a:p>
        </p:txBody>
      </p:sp>
      <p:sp>
        <p:nvSpPr>
          <p:cNvPr id="368" name="Google Shape;368;p14"/>
          <p:cNvSpPr/>
          <p:nvPr/>
        </p:nvSpPr>
        <p:spPr>
          <a:xfrm>
            <a:off x="4038600" y="3073202"/>
            <a:ext cx="6732065" cy="22349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Lo lanza el propio instalador (msiexec).</a:t>
            </a:r>
            <a:endParaRPr b="0" i="0" sz="1200" u="none" cap="none" strike="noStrike">
              <a:solidFill>
                <a:schemeClr val="lt1"/>
              </a:solidFill>
              <a:latin typeface="Montserrat"/>
              <a:ea typeface="Montserrat"/>
              <a:cs typeface="Montserrat"/>
              <a:sym typeface="Montserrat"/>
            </a:endParaRPr>
          </a:p>
        </p:txBody>
      </p:sp>
      <p:sp>
        <p:nvSpPr>
          <p:cNvPr id="369" name="Google Shape;369;p14"/>
          <p:cNvSpPr/>
          <p:nvPr/>
        </p:nvSpPr>
        <p:spPr>
          <a:xfrm>
            <a:off x="10726986" y="3040211"/>
            <a:ext cx="652214" cy="264120"/>
          </a:xfrm>
          <a:custGeom>
            <a:rect b="b" l="l" r="r" t="t"/>
            <a:pathLst>
              <a:path extrusionOk="0" h="264120" w="652214">
                <a:moveTo>
                  <a:pt x="132060" y="0"/>
                </a:moveTo>
                <a:lnTo>
                  <a:pt x="520154" y="0"/>
                </a:lnTo>
                <a:cubicBezTo>
                  <a:pt x="555178" y="0"/>
                  <a:pt x="588768" y="13913"/>
                  <a:pt x="613535" y="38679"/>
                </a:cubicBezTo>
                <a:cubicBezTo>
                  <a:pt x="638301" y="63446"/>
                  <a:pt x="652214" y="97036"/>
                  <a:pt x="652214" y="132060"/>
                </a:cubicBezTo>
                <a:lnTo>
                  <a:pt x="652214" y="132060"/>
                </a:lnTo>
                <a:cubicBezTo>
                  <a:pt x="652214" y="204995"/>
                  <a:pt x="593089" y="264120"/>
                  <a:pt x="520154" y="264120"/>
                </a:cubicBezTo>
                <a:lnTo>
                  <a:pt x="132060" y="264120"/>
                </a:lnTo>
                <a:cubicBezTo>
                  <a:pt x="59125" y="264120"/>
                  <a:pt x="0" y="204995"/>
                  <a:pt x="0" y="132060"/>
                </a:cubicBezTo>
                <a:lnTo>
                  <a:pt x="0" y="132060"/>
                </a:lnTo>
                <a:cubicBezTo>
                  <a:pt x="0" y="59125"/>
                  <a:pt x="59125" y="0"/>
                  <a:pt x="132060" y="0"/>
                </a:cubicBezTo>
                <a:close/>
              </a:path>
            </a:pathLst>
          </a:custGeom>
          <a:solidFill>
            <a:srgbClr val="2D2740"/>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INFO</a:t>
            </a:r>
            <a:endParaRPr b="0" i="0" sz="1200" u="none" cap="none" strike="noStrike">
              <a:solidFill>
                <a:schemeClr val="lt1"/>
              </a:solidFill>
              <a:latin typeface="Montserrat"/>
              <a:ea typeface="Montserrat"/>
              <a:cs typeface="Montserrat"/>
              <a:sym typeface="Montserrat"/>
            </a:endParaRPr>
          </a:p>
        </p:txBody>
      </p:sp>
      <p:cxnSp>
        <p:nvCxnSpPr>
          <p:cNvPr id="370" name="Google Shape;370;p14"/>
          <p:cNvCxnSpPr/>
          <p:nvPr/>
        </p:nvCxnSpPr>
        <p:spPr>
          <a:xfrm>
            <a:off x="812800" y="3371007"/>
            <a:ext cx="10566400" cy="0"/>
          </a:xfrm>
          <a:prstGeom prst="straightConnector1">
            <a:avLst/>
          </a:prstGeom>
          <a:noFill/>
          <a:ln cap="flat" cmpd="sng" w="9525">
            <a:solidFill>
              <a:srgbClr val="2D2740"/>
            </a:solidFill>
            <a:prstDash val="solid"/>
            <a:round/>
            <a:headEnd len="sm" w="sm" type="none"/>
            <a:tailEnd len="sm" w="sm" type="none"/>
          </a:ln>
        </p:spPr>
      </p:cxnSp>
      <p:sp>
        <p:nvSpPr>
          <p:cNvPr id="371" name="Google Shape;371;p14"/>
          <p:cNvSpPr/>
          <p:nvPr/>
        </p:nvSpPr>
        <p:spPr>
          <a:xfrm>
            <a:off x="812800" y="3463082"/>
            <a:ext cx="8763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200"/>
              <a:buFont typeface="JetBrains Mono"/>
              <a:buNone/>
            </a:pPr>
            <a:r>
              <a:rPr b="1" i="0" lang="en-US" sz="1200" u="none" cap="none" strike="noStrike">
                <a:solidFill>
                  <a:srgbClr val="F59E42"/>
                </a:solidFill>
                <a:latin typeface="JetBrains Mono"/>
                <a:ea typeface="JetBrains Mono"/>
                <a:cs typeface="JetBrains Mono"/>
                <a:sym typeface="JetBrains Mono"/>
              </a:rPr>
              <a:t>T+0:22</a:t>
            </a:r>
            <a:endParaRPr b="0" i="0" sz="1200" u="none" cap="none" strike="noStrike">
              <a:solidFill>
                <a:schemeClr val="lt1"/>
              </a:solidFill>
              <a:latin typeface="Montserrat"/>
              <a:ea typeface="Montserrat"/>
              <a:cs typeface="Montserrat"/>
              <a:sym typeface="Montserrat"/>
            </a:endParaRPr>
          </a:p>
        </p:txBody>
      </p:sp>
      <p:sp>
        <p:nvSpPr>
          <p:cNvPr id="372" name="Google Shape;372;p14"/>
          <p:cNvSpPr/>
          <p:nvPr/>
        </p:nvSpPr>
        <p:spPr>
          <a:xfrm>
            <a:off x="1790700" y="3463082"/>
            <a:ext cx="215836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Persistencia</a:t>
            </a:r>
            <a:endParaRPr b="0" i="0" sz="1200" u="none" cap="none" strike="noStrike">
              <a:solidFill>
                <a:schemeClr val="lt1"/>
              </a:solidFill>
              <a:latin typeface="Montserrat"/>
              <a:ea typeface="Montserrat"/>
              <a:cs typeface="Montserrat"/>
              <a:sym typeface="Montserrat"/>
            </a:endParaRPr>
          </a:p>
        </p:txBody>
      </p:sp>
      <p:sp>
        <p:nvSpPr>
          <p:cNvPr id="373" name="Google Shape;373;p14"/>
          <p:cNvSpPr/>
          <p:nvPr/>
        </p:nvSpPr>
        <p:spPr>
          <a:xfrm>
            <a:off x="4038600" y="3470672"/>
            <a:ext cx="6732065" cy="22349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Un binario .NET inyectado registra una extensión falsa en Chrome.</a:t>
            </a:r>
            <a:endParaRPr b="0" i="0" sz="1200" u="none" cap="none" strike="noStrike">
              <a:solidFill>
                <a:schemeClr val="lt1"/>
              </a:solidFill>
              <a:latin typeface="Montserrat"/>
              <a:ea typeface="Montserrat"/>
              <a:cs typeface="Montserrat"/>
              <a:sym typeface="Montserrat"/>
            </a:endParaRPr>
          </a:p>
        </p:txBody>
      </p:sp>
      <p:sp>
        <p:nvSpPr>
          <p:cNvPr id="374" name="Google Shape;374;p14"/>
          <p:cNvSpPr/>
          <p:nvPr/>
        </p:nvSpPr>
        <p:spPr>
          <a:xfrm>
            <a:off x="10726986" y="3437682"/>
            <a:ext cx="652214" cy="264120"/>
          </a:xfrm>
          <a:custGeom>
            <a:rect b="b" l="l" r="r" t="t"/>
            <a:pathLst>
              <a:path extrusionOk="0" h="264120" w="652214">
                <a:moveTo>
                  <a:pt x="132060" y="0"/>
                </a:moveTo>
                <a:lnTo>
                  <a:pt x="520154" y="0"/>
                </a:lnTo>
                <a:cubicBezTo>
                  <a:pt x="555178" y="0"/>
                  <a:pt x="588768" y="13913"/>
                  <a:pt x="613535" y="38679"/>
                </a:cubicBezTo>
                <a:cubicBezTo>
                  <a:pt x="638301" y="63446"/>
                  <a:pt x="652214" y="97036"/>
                  <a:pt x="652214" y="132060"/>
                </a:cubicBezTo>
                <a:lnTo>
                  <a:pt x="652214" y="132060"/>
                </a:lnTo>
                <a:cubicBezTo>
                  <a:pt x="652214" y="204995"/>
                  <a:pt x="593089" y="264120"/>
                  <a:pt x="520154" y="264120"/>
                </a:cubicBezTo>
                <a:lnTo>
                  <a:pt x="132060" y="264120"/>
                </a:lnTo>
                <a:cubicBezTo>
                  <a:pt x="59125" y="264120"/>
                  <a:pt x="0" y="204995"/>
                  <a:pt x="0" y="132060"/>
                </a:cubicBezTo>
                <a:lnTo>
                  <a:pt x="0" y="132060"/>
                </a:lnTo>
                <a:cubicBezTo>
                  <a:pt x="0" y="59125"/>
                  <a:pt x="59125" y="0"/>
                  <a:pt x="132060" y="0"/>
                </a:cubicBezTo>
                <a:close/>
              </a:path>
            </a:pathLst>
          </a:custGeom>
          <a:solidFill>
            <a:srgbClr val="2D2740"/>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INFO</a:t>
            </a:r>
            <a:endParaRPr b="0" i="0" sz="1200" u="none" cap="none" strike="noStrike">
              <a:solidFill>
                <a:schemeClr val="lt1"/>
              </a:solidFill>
              <a:latin typeface="Montserrat"/>
              <a:ea typeface="Montserrat"/>
              <a:cs typeface="Montserrat"/>
              <a:sym typeface="Montserrat"/>
            </a:endParaRPr>
          </a:p>
        </p:txBody>
      </p:sp>
      <p:cxnSp>
        <p:nvCxnSpPr>
          <p:cNvPr id="375" name="Google Shape;375;p14"/>
          <p:cNvCxnSpPr/>
          <p:nvPr/>
        </p:nvCxnSpPr>
        <p:spPr>
          <a:xfrm>
            <a:off x="812800" y="3768477"/>
            <a:ext cx="10566400" cy="0"/>
          </a:xfrm>
          <a:prstGeom prst="straightConnector1">
            <a:avLst/>
          </a:prstGeom>
          <a:noFill/>
          <a:ln cap="flat" cmpd="sng" w="9525">
            <a:solidFill>
              <a:srgbClr val="2D2740"/>
            </a:solidFill>
            <a:prstDash val="solid"/>
            <a:round/>
            <a:headEnd len="sm" w="sm" type="none"/>
            <a:tailEnd len="sm" w="sm" type="none"/>
          </a:ln>
        </p:spPr>
      </p:cxnSp>
      <p:sp>
        <p:nvSpPr>
          <p:cNvPr id="376" name="Google Shape;376;p14"/>
          <p:cNvSpPr/>
          <p:nvPr/>
        </p:nvSpPr>
        <p:spPr>
          <a:xfrm>
            <a:off x="812800" y="3860552"/>
            <a:ext cx="8763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200"/>
              <a:buFont typeface="JetBrains Mono"/>
              <a:buNone/>
            </a:pPr>
            <a:r>
              <a:rPr b="1" i="0" lang="en-US" sz="1200" u="none" cap="none" strike="noStrike">
                <a:solidFill>
                  <a:srgbClr val="F59E42"/>
                </a:solidFill>
                <a:latin typeface="JetBrains Mono"/>
                <a:ea typeface="JetBrains Mono"/>
                <a:cs typeface="JetBrains Mono"/>
                <a:sym typeface="JetBrains Mono"/>
              </a:rPr>
              <a:t>T+0:26</a:t>
            </a:r>
            <a:endParaRPr b="0" i="0" sz="1200" u="none" cap="none" strike="noStrike">
              <a:solidFill>
                <a:schemeClr val="lt1"/>
              </a:solidFill>
              <a:latin typeface="Montserrat"/>
              <a:ea typeface="Montserrat"/>
              <a:cs typeface="Montserrat"/>
              <a:sym typeface="Montserrat"/>
            </a:endParaRPr>
          </a:p>
        </p:txBody>
      </p:sp>
      <p:sp>
        <p:nvSpPr>
          <p:cNvPr id="377" name="Google Shape;377;p14"/>
          <p:cNvSpPr/>
          <p:nvPr/>
        </p:nvSpPr>
        <p:spPr>
          <a:xfrm>
            <a:off x="1790700" y="3860552"/>
            <a:ext cx="215836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Conexión al C2</a:t>
            </a:r>
            <a:endParaRPr b="0" i="0" sz="1200" u="none" cap="none" strike="noStrike">
              <a:solidFill>
                <a:schemeClr val="lt1"/>
              </a:solidFill>
              <a:latin typeface="Montserrat"/>
              <a:ea typeface="Montserrat"/>
              <a:cs typeface="Montserrat"/>
              <a:sym typeface="Montserrat"/>
            </a:endParaRPr>
          </a:p>
        </p:txBody>
      </p:sp>
      <p:sp>
        <p:nvSpPr>
          <p:cNvPr id="378" name="Google Shape;378;p14"/>
          <p:cNvSpPr/>
          <p:nvPr/>
        </p:nvSpPr>
        <p:spPr>
          <a:xfrm>
            <a:off x="4038600" y="3868142"/>
            <a:ext cx="6302845" cy="22349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Otro binario .NET sale por HTTP. La IP estaba en una lista de reputación.</a:t>
            </a:r>
            <a:endParaRPr b="0" i="0" sz="1200" u="none" cap="none" strike="noStrike">
              <a:solidFill>
                <a:schemeClr val="lt1"/>
              </a:solidFill>
              <a:latin typeface="Montserrat"/>
              <a:ea typeface="Montserrat"/>
              <a:cs typeface="Montserrat"/>
              <a:sym typeface="Montserrat"/>
            </a:endParaRPr>
          </a:p>
        </p:txBody>
      </p:sp>
      <p:sp>
        <p:nvSpPr>
          <p:cNvPr id="379" name="Google Shape;379;p14"/>
          <p:cNvSpPr/>
          <p:nvPr/>
        </p:nvSpPr>
        <p:spPr>
          <a:xfrm>
            <a:off x="10316617" y="3841502"/>
            <a:ext cx="1056233" cy="251420"/>
          </a:xfrm>
          <a:custGeom>
            <a:rect b="b" l="l" r="r" t="t"/>
            <a:pathLst>
              <a:path extrusionOk="0" h="251420" w="1056233">
                <a:moveTo>
                  <a:pt x="125710" y="0"/>
                </a:moveTo>
                <a:lnTo>
                  <a:pt x="930523" y="0"/>
                </a:lnTo>
                <a:cubicBezTo>
                  <a:pt x="963863" y="0"/>
                  <a:pt x="995838" y="13244"/>
                  <a:pt x="1019413" y="36820"/>
                </a:cubicBezTo>
                <a:cubicBezTo>
                  <a:pt x="1042989" y="60395"/>
                  <a:pt x="1056233" y="92370"/>
                  <a:pt x="1056233" y="125710"/>
                </a:cubicBezTo>
                <a:lnTo>
                  <a:pt x="1056233" y="125710"/>
                </a:lnTo>
                <a:cubicBezTo>
                  <a:pt x="1056233" y="195138"/>
                  <a:pt x="999951" y="251420"/>
                  <a:pt x="930523" y="251420"/>
                </a:cubicBezTo>
                <a:lnTo>
                  <a:pt x="125710" y="251420"/>
                </a:lnTo>
                <a:cubicBezTo>
                  <a:pt x="56282" y="251420"/>
                  <a:pt x="0" y="195138"/>
                  <a:pt x="0" y="125710"/>
                </a:cubicBezTo>
                <a:lnTo>
                  <a:pt x="0" y="125710"/>
                </a:lnTo>
                <a:cubicBezTo>
                  <a:pt x="0" y="56282"/>
                  <a:pt x="56282" y="0"/>
                  <a:pt x="125710" y="0"/>
                </a:cubicBezTo>
                <a:close/>
              </a:path>
            </a:pathLst>
          </a:custGeom>
          <a:noFill/>
          <a:ln cap="flat" cmpd="sng" w="12700">
            <a:solidFill>
              <a:srgbClr val="F59E42"/>
            </a:solidFill>
            <a:prstDash val="solid"/>
            <a:round/>
            <a:headEnd len="sm" w="sm" type="none"/>
            <a:tailEnd len="sm" w="sm" type="none"/>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59E42"/>
              </a:buClr>
              <a:buSzPts val="1200"/>
              <a:buFont typeface="Montserrat"/>
              <a:buNone/>
            </a:pPr>
            <a:r>
              <a:rPr b="1" i="0" lang="en-US" sz="1200" u="none" cap="none" strike="noStrike">
                <a:solidFill>
                  <a:srgbClr val="F59E42"/>
                </a:solidFill>
                <a:latin typeface="Montserrat"/>
                <a:ea typeface="Montserrat"/>
                <a:cs typeface="Montserrat"/>
                <a:sym typeface="Montserrat"/>
              </a:rPr>
              <a:t>BLOQUEO</a:t>
            </a:r>
            <a:endParaRPr b="0" i="0" sz="1200" u="none" cap="none" strike="noStrike">
              <a:solidFill>
                <a:schemeClr val="lt1"/>
              </a:solidFill>
              <a:latin typeface="Montserrat"/>
              <a:ea typeface="Montserrat"/>
              <a:cs typeface="Montserrat"/>
              <a:sym typeface="Montserrat"/>
            </a:endParaRPr>
          </a:p>
        </p:txBody>
      </p:sp>
      <p:cxnSp>
        <p:nvCxnSpPr>
          <p:cNvPr id="380" name="Google Shape;380;p14"/>
          <p:cNvCxnSpPr/>
          <p:nvPr/>
        </p:nvCxnSpPr>
        <p:spPr>
          <a:xfrm>
            <a:off x="812800" y="4165947"/>
            <a:ext cx="10566400" cy="0"/>
          </a:xfrm>
          <a:prstGeom prst="straightConnector1">
            <a:avLst/>
          </a:prstGeom>
          <a:noFill/>
          <a:ln cap="flat" cmpd="sng" w="9525">
            <a:solidFill>
              <a:srgbClr val="2D2740"/>
            </a:solidFill>
            <a:prstDash val="solid"/>
            <a:round/>
            <a:headEnd len="sm" w="sm" type="none"/>
            <a:tailEnd len="sm" w="sm" type="none"/>
          </a:ln>
        </p:spPr>
      </p:cxnSp>
      <p:cxnSp>
        <p:nvCxnSpPr>
          <p:cNvPr id="381" name="Google Shape;381;p14"/>
          <p:cNvCxnSpPr/>
          <p:nvPr/>
        </p:nvCxnSpPr>
        <p:spPr>
          <a:xfrm>
            <a:off x="812800" y="4563418"/>
            <a:ext cx="10566400" cy="0"/>
          </a:xfrm>
          <a:prstGeom prst="straightConnector1">
            <a:avLst/>
          </a:prstGeom>
          <a:noFill/>
          <a:ln cap="flat" cmpd="sng" w="9525">
            <a:solidFill>
              <a:srgbClr val="2D2740"/>
            </a:solidFill>
            <a:prstDash val="solid"/>
            <a:round/>
            <a:headEnd len="sm" w="sm" type="none"/>
            <a:tailEnd len="sm" w="sm" type="none"/>
          </a:ln>
        </p:spPr>
      </p:cxnSp>
      <p:sp>
        <p:nvSpPr>
          <p:cNvPr id="382" name="Google Shape;382;p14"/>
          <p:cNvSpPr/>
          <p:nvPr/>
        </p:nvSpPr>
        <p:spPr>
          <a:xfrm>
            <a:off x="812800" y="4258022"/>
            <a:ext cx="8763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200"/>
              <a:buFont typeface="JetBrains Mono"/>
              <a:buNone/>
            </a:pPr>
            <a:r>
              <a:rPr b="1" i="0" lang="en-US" sz="1200" u="none" cap="none" strike="noStrike">
                <a:solidFill>
                  <a:srgbClr val="F59E42"/>
                </a:solidFill>
                <a:latin typeface="JetBrains Mono"/>
                <a:ea typeface="JetBrains Mono"/>
                <a:cs typeface="JetBrains Mono"/>
                <a:sym typeface="JetBrains Mono"/>
              </a:rPr>
              <a:t>T+4:51</a:t>
            </a:r>
            <a:endParaRPr b="0" i="0" sz="1200" u="none" cap="none" strike="noStrike">
              <a:solidFill>
                <a:schemeClr val="lt1"/>
              </a:solidFill>
              <a:latin typeface="Montserrat"/>
              <a:ea typeface="Montserrat"/>
              <a:cs typeface="Montserrat"/>
              <a:sym typeface="Montserrat"/>
            </a:endParaRPr>
          </a:p>
        </p:txBody>
      </p:sp>
      <p:sp>
        <p:nvSpPr>
          <p:cNvPr id="383" name="Google Shape;383;p14"/>
          <p:cNvSpPr/>
          <p:nvPr/>
        </p:nvSpPr>
        <p:spPr>
          <a:xfrm>
            <a:off x="1790700" y="4258022"/>
            <a:ext cx="215836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La alerta</a:t>
            </a:r>
            <a:endParaRPr b="0" i="0" sz="1200" u="none" cap="none" strike="noStrike">
              <a:solidFill>
                <a:schemeClr val="lt1"/>
              </a:solidFill>
              <a:latin typeface="Montserrat"/>
              <a:ea typeface="Montserrat"/>
              <a:cs typeface="Montserrat"/>
              <a:sym typeface="Montserrat"/>
            </a:endParaRPr>
          </a:p>
        </p:txBody>
      </p:sp>
      <p:sp>
        <p:nvSpPr>
          <p:cNvPr id="384" name="Google Shape;384;p14"/>
          <p:cNvSpPr/>
          <p:nvPr/>
        </p:nvSpPr>
        <p:spPr>
          <a:xfrm>
            <a:off x="4038600" y="4265613"/>
            <a:ext cx="6496096" cy="22349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Llega a la consola del SOC.</a:t>
            </a:r>
            <a:endParaRPr b="0" i="0" sz="1200" u="none" cap="none" strike="noStrike">
              <a:solidFill>
                <a:schemeClr val="lt1"/>
              </a:solidFill>
              <a:latin typeface="Montserrat"/>
              <a:ea typeface="Montserrat"/>
              <a:cs typeface="Montserrat"/>
              <a:sym typeface="Montserrat"/>
            </a:endParaRPr>
          </a:p>
        </p:txBody>
      </p:sp>
      <p:sp>
        <p:nvSpPr>
          <p:cNvPr id="385" name="Google Shape;385;p14"/>
          <p:cNvSpPr/>
          <p:nvPr/>
        </p:nvSpPr>
        <p:spPr>
          <a:xfrm>
            <a:off x="10497889" y="4232622"/>
            <a:ext cx="881311" cy="264120"/>
          </a:xfrm>
          <a:custGeom>
            <a:rect b="b" l="l" r="r" t="t"/>
            <a:pathLst>
              <a:path extrusionOk="0" h="264120" w="881311">
                <a:moveTo>
                  <a:pt x="132060" y="0"/>
                </a:moveTo>
                <a:lnTo>
                  <a:pt x="749250" y="0"/>
                </a:lnTo>
                <a:cubicBezTo>
                  <a:pt x="784274" y="0"/>
                  <a:pt x="817864" y="13913"/>
                  <a:pt x="842631" y="38679"/>
                </a:cubicBezTo>
                <a:cubicBezTo>
                  <a:pt x="867397" y="63446"/>
                  <a:pt x="881310" y="97036"/>
                  <a:pt x="881310" y="132060"/>
                </a:cubicBezTo>
                <a:lnTo>
                  <a:pt x="881311" y="132060"/>
                </a:lnTo>
                <a:cubicBezTo>
                  <a:pt x="881311" y="204995"/>
                  <a:pt x="822186" y="264120"/>
                  <a:pt x="749251" y="264120"/>
                </a:cubicBezTo>
                <a:lnTo>
                  <a:pt x="132060" y="264120"/>
                </a:lnTo>
                <a:cubicBezTo>
                  <a:pt x="59125" y="264120"/>
                  <a:pt x="0" y="204995"/>
                  <a:pt x="0" y="132060"/>
                </a:cubicBezTo>
                <a:lnTo>
                  <a:pt x="0" y="132060"/>
                </a:lnTo>
                <a:cubicBezTo>
                  <a:pt x="0" y="59125"/>
                  <a:pt x="59125" y="0"/>
                  <a:pt x="132060" y="0"/>
                </a:cubicBezTo>
                <a:close/>
              </a:path>
            </a:pathLst>
          </a:custGeom>
          <a:solidFill>
            <a:srgbClr val="F59E42"/>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0C0B12"/>
              </a:buClr>
              <a:buSzPts val="1200"/>
              <a:buFont typeface="Montserrat"/>
              <a:buNone/>
            </a:pPr>
            <a:r>
              <a:rPr b="1" i="0" lang="en-US" sz="1200" u="none" cap="none" strike="noStrike">
                <a:solidFill>
                  <a:srgbClr val="0C0B12"/>
                </a:solidFill>
                <a:latin typeface="Montserrat"/>
                <a:ea typeface="Montserrat"/>
                <a:cs typeface="Montserrat"/>
                <a:sym typeface="Montserrat"/>
              </a:rPr>
              <a:t>ALERTA</a:t>
            </a:r>
            <a:endParaRPr b="0" i="0" sz="1200" u="none" cap="none" strike="noStrike">
              <a:solidFill>
                <a:schemeClr val="lt1"/>
              </a:solidFill>
              <a:latin typeface="Montserrat"/>
              <a:ea typeface="Montserrat"/>
              <a:cs typeface="Montserrat"/>
              <a:sym typeface="Montserrat"/>
            </a:endParaRPr>
          </a:p>
        </p:txBody>
      </p:sp>
      <p:sp>
        <p:nvSpPr>
          <p:cNvPr id="386" name="Google Shape;386;p14"/>
          <p:cNvSpPr/>
          <p:nvPr/>
        </p:nvSpPr>
        <p:spPr>
          <a:xfrm>
            <a:off x="812800" y="4769793"/>
            <a:ext cx="10883392"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Lo único que alertó fue un IOC conocido. Todo lo demás estaba en la telemetría como “info”.</a:t>
            </a:r>
            <a:endParaRPr b="0" i="0" sz="1500" u="none" cap="none" strike="noStrike">
              <a:solidFill>
                <a:schemeClr val="lt1"/>
              </a:solidFill>
              <a:latin typeface="Montserrat"/>
              <a:ea typeface="Montserrat"/>
              <a:cs typeface="Montserrat"/>
              <a:sym typeface="Montserrat"/>
            </a:endParaRPr>
          </a:p>
        </p:txBody>
      </p:sp>
      <p:sp>
        <p:nvSpPr>
          <p:cNvPr id="387" name="Google Shape;387;p14"/>
          <p:cNvSpPr/>
          <p:nvPr/>
        </p:nvSpPr>
        <p:spPr>
          <a:xfrm>
            <a:off x="812800" y="6238280"/>
            <a:ext cx="8989963"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Tiempos relativos al primer pegado, según la telemetría del EDR. Datos de la víctima anonimizados.</a:t>
            </a:r>
            <a:endParaRPr b="0" i="0" sz="1200" u="none" cap="none" strike="noStrike">
              <a:solidFill>
                <a:schemeClr val="lt1"/>
              </a:solidFill>
              <a:latin typeface="Montserrat"/>
              <a:ea typeface="Montserrat"/>
              <a:cs typeface="Montserrat"/>
              <a:sym typeface="Montserrat"/>
            </a:endParaRPr>
          </a:p>
        </p:txBody>
      </p:sp>
      <p:sp>
        <p:nvSpPr>
          <p:cNvPr id="388" name="Google Shape;388;p14"/>
          <p:cNvSpPr/>
          <p:nvPr/>
        </p:nvSpPr>
        <p:spPr>
          <a:xfrm>
            <a:off x="11172676" y="6238280"/>
            <a:ext cx="206524"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14</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393" name="Shape 393"/>
        <p:cNvGrpSpPr/>
        <p:nvPr/>
      </p:nvGrpSpPr>
      <p:grpSpPr>
        <a:xfrm>
          <a:off x="0" y="0"/>
          <a:ext cx="0" cy="0"/>
          <a:chOff x="0" y="0"/>
          <a:chExt cx="0" cy="0"/>
        </a:xfrm>
      </p:grpSpPr>
      <p:sp>
        <p:nvSpPr>
          <p:cNvPr id="394" name="Google Shape;394;p15"/>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EL CASO CLICKFIX</a:t>
            </a:r>
            <a:endParaRPr b="0" i="0" sz="1200" u="none" cap="none" strike="noStrike">
              <a:solidFill>
                <a:schemeClr val="lt1"/>
              </a:solidFill>
              <a:latin typeface="Montserrat"/>
              <a:ea typeface="Montserrat"/>
              <a:cs typeface="Montserrat"/>
              <a:sym typeface="Montserrat"/>
            </a:endParaRPr>
          </a:p>
        </p:txBody>
      </p:sp>
      <p:sp>
        <p:nvSpPr>
          <p:cNvPr id="395" name="Google Shape;395;p15"/>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El sandbox dijo: “No threats detected”</a:t>
            </a:r>
            <a:endParaRPr sz="3200"/>
          </a:p>
        </p:txBody>
      </p:sp>
      <p:sp>
        <p:nvSpPr>
          <p:cNvPr id="396" name="Google Shape;396;p15"/>
          <p:cNvSpPr/>
          <p:nvPr/>
        </p:nvSpPr>
        <p:spPr>
          <a:xfrm>
            <a:off x="815975" y="1831925"/>
            <a:ext cx="5556250" cy="930870"/>
          </a:xfrm>
          <a:prstGeom prst="roundRect">
            <a:avLst>
              <a:gd fmla="val 10573"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5"/>
          <p:cNvSpPr/>
          <p:nvPr/>
        </p:nvSpPr>
        <p:spPr>
          <a:xfrm>
            <a:off x="1022350" y="1987500"/>
            <a:ext cx="529780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1" i="0" lang="en-US" sz="1200" u="none" cap="none" strike="noStrike">
                <a:solidFill>
                  <a:srgbClr val="8F8AA6"/>
                </a:solidFill>
                <a:latin typeface="Montserrat"/>
                <a:ea typeface="Montserrat"/>
                <a:cs typeface="Montserrat"/>
                <a:sym typeface="Montserrat"/>
              </a:rPr>
              <a:t>Veredicto de ANY.RUN sobre el stage-1</a:t>
            </a:r>
            <a:endParaRPr b="0" i="0" sz="1200" u="none" cap="none" strike="noStrike">
              <a:solidFill>
                <a:schemeClr val="lt1"/>
              </a:solidFill>
              <a:latin typeface="Montserrat"/>
              <a:ea typeface="Montserrat"/>
              <a:cs typeface="Montserrat"/>
              <a:sym typeface="Montserrat"/>
            </a:endParaRPr>
          </a:p>
        </p:txBody>
      </p:sp>
      <p:sp>
        <p:nvSpPr>
          <p:cNvPr id="398" name="Google Shape;398;p15"/>
          <p:cNvSpPr/>
          <p:nvPr/>
        </p:nvSpPr>
        <p:spPr>
          <a:xfrm>
            <a:off x="1022350" y="2251621"/>
            <a:ext cx="5297805" cy="3810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2000"/>
              <a:buFont typeface="Montserrat"/>
              <a:buNone/>
            </a:pPr>
            <a:r>
              <a:rPr b="1" i="0" lang="en-US" sz="2000" u="none" cap="none" strike="noStrike">
                <a:solidFill>
                  <a:srgbClr val="F1EEF7"/>
                </a:solidFill>
                <a:latin typeface="Montserrat"/>
                <a:ea typeface="Montserrat"/>
                <a:cs typeface="Montserrat"/>
                <a:sym typeface="Montserrat"/>
              </a:rPr>
              <a:t>No threats detected</a:t>
            </a:r>
            <a:endParaRPr b="0" i="0" sz="2000" u="none" cap="none" strike="noStrike">
              <a:solidFill>
                <a:schemeClr val="lt1"/>
              </a:solidFill>
              <a:latin typeface="Montserrat"/>
              <a:ea typeface="Montserrat"/>
              <a:cs typeface="Montserrat"/>
              <a:sym typeface="Montserrat"/>
            </a:endParaRPr>
          </a:p>
        </p:txBody>
      </p:sp>
      <p:sp>
        <p:nvSpPr>
          <p:cNvPr id="399" name="Google Shape;399;p15"/>
          <p:cNvSpPr/>
          <p:nvPr/>
        </p:nvSpPr>
        <p:spPr>
          <a:xfrm>
            <a:off x="812800" y="2918371"/>
            <a:ext cx="572947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PERO EL COMPORTAMIENTO DECÍA OTRA COSA</a:t>
            </a:r>
            <a:endParaRPr b="0" i="0" sz="1200" u="none" cap="none" strike="noStrike">
              <a:solidFill>
                <a:schemeClr val="lt1"/>
              </a:solidFill>
              <a:latin typeface="Montserrat"/>
              <a:ea typeface="Montserrat"/>
              <a:cs typeface="Montserrat"/>
              <a:sym typeface="Montserrat"/>
            </a:endParaRPr>
          </a:p>
        </p:txBody>
      </p:sp>
      <p:pic>
        <p:nvPicPr>
          <p:cNvPr descr="Warning" id="400" name="Google Shape;400;p15"/>
          <p:cNvPicPr preferRelativeResize="0"/>
          <p:nvPr/>
        </p:nvPicPr>
        <p:blipFill rotWithShape="1">
          <a:blip r:embed="rId3">
            <a:alphaModFix/>
          </a:blip>
          <a:srcRect b="0" l="0" r="0" t="0"/>
          <a:stretch/>
        </p:blipFill>
        <p:spPr>
          <a:xfrm>
            <a:off x="812800" y="3289151"/>
            <a:ext cx="203200" cy="203200"/>
          </a:xfrm>
          <a:prstGeom prst="rect">
            <a:avLst/>
          </a:prstGeom>
          <a:noFill/>
          <a:ln>
            <a:noFill/>
          </a:ln>
        </p:spPr>
      </p:pic>
      <p:sp>
        <p:nvSpPr>
          <p:cNvPr id="401" name="Google Shape;401;p15"/>
          <p:cNvSpPr/>
          <p:nvPr/>
        </p:nvSpPr>
        <p:spPr>
          <a:xfrm>
            <a:off x="1117600" y="3284091"/>
            <a:ext cx="4873943"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Cambia el estado de inicialización de AMSI · T1562.001</a:t>
            </a:r>
            <a:endParaRPr b="0" i="0" sz="1200" u="none" cap="none" strike="noStrike">
              <a:solidFill>
                <a:schemeClr val="lt1"/>
              </a:solidFill>
              <a:latin typeface="Montserrat"/>
              <a:ea typeface="Montserrat"/>
              <a:cs typeface="Montserrat"/>
              <a:sym typeface="Montserrat"/>
            </a:endParaRPr>
          </a:p>
        </p:txBody>
      </p:sp>
      <p:pic>
        <p:nvPicPr>
          <p:cNvPr descr="Warning" id="402" name="Google Shape;402;p15"/>
          <p:cNvPicPr preferRelativeResize="0"/>
          <p:nvPr/>
        </p:nvPicPr>
        <p:blipFill rotWithShape="1">
          <a:blip r:embed="rId3">
            <a:alphaModFix/>
          </a:blip>
          <a:srcRect b="0" l="0" r="0" t="0"/>
          <a:stretch/>
        </p:blipFill>
        <p:spPr>
          <a:xfrm>
            <a:off x="812800" y="3578671"/>
            <a:ext cx="203200" cy="203200"/>
          </a:xfrm>
          <a:prstGeom prst="rect">
            <a:avLst/>
          </a:prstGeom>
          <a:noFill/>
          <a:ln>
            <a:noFill/>
          </a:ln>
        </p:spPr>
      </p:pic>
      <p:sp>
        <p:nvSpPr>
          <p:cNvPr id="403" name="Google Shape;403;p15"/>
          <p:cNvSpPr/>
          <p:nvPr/>
        </p:nvSpPr>
        <p:spPr>
          <a:xfrm>
            <a:off x="1117600" y="3573611"/>
            <a:ext cx="449699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Fija ServicePointManager.SecurityProtocol · T1071</a:t>
            </a:r>
            <a:endParaRPr b="0" i="0" sz="1200" u="none" cap="none" strike="noStrike">
              <a:solidFill>
                <a:schemeClr val="lt1"/>
              </a:solidFill>
              <a:latin typeface="Montserrat"/>
              <a:ea typeface="Montserrat"/>
              <a:cs typeface="Montserrat"/>
              <a:sym typeface="Montserrat"/>
            </a:endParaRPr>
          </a:p>
        </p:txBody>
      </p:sp>
      <p:pic>
        <p:nvPicPr>
          <p:cNvPr descr="Warning" id="404" name="Google Shape;404;p15"/>
          <p:cNvPicPr preferRelativeResize="0"/>
          <p:nvPr/>
        </p:nvPicPr>
        <p:blipFill rotWithShape="1">
          <a:blip r:embed="rId3">
            <a:alphaModFix/>
          </a:blip>
          <a:srcRect b="0" l="0" r="0" t="0"/>
          <a:stretch/>
        </p:blipFill>
        <p:spPr>
          <a:xfrm>
            <a:off x="812800" y="3868192"/>
            <a:ext cx="203200" cy="203200"/>
          </a:xfrm>
          <a:prstGeom prst="rect">
            <a:avLst/>
          </a:prstGeom>
          <a:noFill/>
          <a:ln>
            <a:noFill/>
          </a:ln>
        </p:spPr>
      </p:pic>
      <p:sp>
        <p:nvSpPr>
          <p:cNvPr id="405" name="Google Shape;405;p15"/>
          <p:cNvSpPr/>
          <p:nvPr/>
        </p:nvSpPr>
        <p:spPr>
          <a:xfrm>
            <a:off x="1117600" y="3863132"/>
            <a:ext cx="443174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Convierte valores a bytes para decodificar · T1027</a:t>
            </a:r>
            <a:endParaRPr b="0" i="0" sz="1200" u="none" cap="none" strike="noStrike">
              <a:solidFill>
                <a:schemeClr val="lt1"/>
              </a:solidFill>
              <a:latin typeface="Montserrat"/>
              <a:ea typeface="Montserrat"/>
              <a:cs typeface="Montserrat"/>
              <a:sym typeface="Montserrat"/>
            </a:endParaRPr>
          </a:p>
        </p:txBody>
      </p:sp>
      <p:sp>
        <p:nvSpPr>
          <p:cNvPr id="406" name="Google Shape;406;p15"/>
          <p:cNvSpPr/>
          <p:nvPr/>
        </p:nvSpPr>
        <p:spPr>
          <a:xfrm>
            <a:off x="812800" y="4228852"/>
            <a:ext cx="5729478"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1" i="0" lang="en-US" sz="1200" u="none" cap="none" strike="noStrike">
                <a:solidFill>
                  <a:srgbClr val="C9C5D8"/>
                </a:solidFill>
                <a:latin typeface="Montserrat"/>
                <a:ea typeface="Montserrat"/>
                <a:cs typeface="Montserrat"/>
                <a:sym typeface="Montserrat"/>
              </a:rPr>
              <a:t>Dos capas de evasión.</a:t>
            </a:r>
            <a:r>
              <a:rPr b="0" i="0" lang="en-US" sz="1200" u="none" cap="none" strike="noStrike">
                <a:solidFill>
                  <a:srgbClr val="C9C5D8"/>
                </a:solidFill>
                <a:latin typeface="Montserrat"/>
                <a:ea typeface="Montserrat"/>
                <a:cs typeface="Montserrat"/>
                <a:sym typeface="Montserrat"/>
              </a:rPr>
              <a:t> El servidor solo entrega con el User-Agent, el header y un token que en nuestras pruebas no sirvió dos veces. El payload revisa el entorno y se niega a correr si detecta análisis.</a:t>
            </a:r>
            <a:endParaRPr b="0" i="0" sz="1200" u="none" cap="none" strike="noStrike">
              <a:solidFill>
                <a:schemeClr val="lt1"/>
              </a:solidFill>
              <a:latin typeface="Montserrat"/>
              <a:ea typeface="Montserrat"/>
              <a:cs typeface="Montserrat"/>
              <a:sym typeface="Montserrat"/>
            </a:endParaRPr>
          </a:p>
        </p:txBody>
      </p:sp>
      <p:pic>
        <p:nvPicPr>
          <p:cNvPr descr="Ventana DEBUG que mostró el payload en el sandbox, burlándose del analista: dice que la ingeniería inversa no es lo suyo" id="407" name="Google Shape;407;p15"/>
          <p:cNvPicPr preferRelativeResize="0"/>
          <p:nvPr/>
        </p:nvPicPr>
        <p:blipFill rotWithShape="1">
          <a:blip r:embed="rId4">
            <a:alphaModFix/>
          </a:blip>
          <a:srcRect b="0" l="-104" r="-104" t="0"/>
          <a:stretch/>
        </p:blipFill>
        <p:spPr>
          <a:xfrm>
            <a:off x="6686550" y="1835100"/>
            <a:ext cx="4686300" cy="2622550"/>
          </a:xfrm>
          <a:prstGeom prst="roundRect">
            <a:avLst>
              <a:gd fmla="val 2663" name="adj"/>
            </a:avLst>
          </a:prstGeom>
          <a:noFill/>
          <a:ln>
            <a:noFill/>
          </a:ln>
        </p:spPr>
      </p:pic>
      <p:sp>
        <p:nvSpPr>
          <p:cNvPr id="408" name="Google Shape;408;p15"/>
          <p:cNvSpPr/>
          <p:nvPr/>
        </p:nvSpPr>
        <p:spPr>
          <a:xfrm>
            <a:off x="6683375" y="1831925"/>
            <a:ext cx="4692650" cy="2628900"/>
          </a:xfrm>
          <a:prstGeom prst="roundRect">
            <a:avLst>
              <a:gd fmla="val 2778" name="adj"/>
            </a:avLst>
          </a:prstGeom>
          <a:no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5"/>
          <p:cNvSpPr/>
          <p:nvPr/>
        </p:nvSpPr>
        <p:spPr>
          <a:xfrm>
            <a:off x="6680200" y="4540200"/>
            <a:ext cx="483997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Lo que mostró el payload en el sandbox: un mensaje para el analista, no la cadena.</a:t>
            </a:r>
            <a:endParaRPr b="0" i="0" sz="1200" u="none" cap="none" strike="noStrike">
              <a:solidFill>
                <a:schemeClr val="lt1"/>
              </a:solidFill>
              <a:latin typeface="Montserrat"/>
              <a:ea typeface="Montserrat"/>
              <a:cs typeface="Montserrat"/>
              <a:sym typeface="Montserrat"/>
            </a:endParaRPr>
          </a:p>
        </p:txBody>
      </p:sp>
      <p:sp>
        <p:nvSpPr>
          <p:cNvPr id="410" name="Google Shape;410;p15"/>
          <p:cNvSpPr/>
          <p:nvPr/>
        </p:nvSpPr>
        <p:spPr>
          <a:xfrm>
            <a:off x="812800" y="5220841"/>
            <a:ext cx="10883392"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0" i="0" lang="en-US" sz="1500" u="none" cap="none" strike="noStrike">
                <a:solidFill>
                  <a:srgbClr val="F59E42"/>
                </a:solidFill>
                <a:latin typeface="Montserrat"/>
                <a:ea typeface="Montserrat"/>
                <a:cs typeface="Montserrat"/>
                <a:sym typeface="Montserrat"/>
              </a:rPr>
              <a:t>Un veredicto limpio no es ausencia de amenaza: puede ser evasión exitosa.</a:t>
            </a:r>
            <a:endParaRPr b="0" i="0" sz="1500" u="none" cap="none" strike="noStrike">
              <a:solidFill>
                <a:schemeClr val="lt1"/>
              </a:solidFill>
              <a:latin typeface="Montserrat"/>
              <a:ea typeface="Montserrat"/>
              <a:cs typeface="Montserrat"/>
              <a:sym typeface="Montserrat"/>
            </a:endParaRPr>
          </a:p>
        </p:txBody>
      </p:sp>
      <p:sp>
        <p:nvSpPr>
          <p:cNvPr id="411" name="Google Shape;411;p15"/>
          <p:cNvSpPr/>
          <p:nvPr/>
        </p:nvSpPr>
        <p:spPr>
          <a:xfrm>
            <a:off x="812800" y="6238280"/>
            <a:ext cx="763625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Detonación propia en ANY.RUN, 12/10/2026 · reglas Sigma generadas por el sandbox</a:t>
            </a:r>
            <a:endParaRPr b="0" i="0" sz="1200" u="none" cap="none" strike="noStrike">
              <a:solidFill>
                <a:schemeClr val="lt1"/>
              </a:solidFill>
              <a:latin typeface="Montserrat"/>
              <a:ea typeface="Montserrat"/>
              <a:cs typeface="Montserrat"/>
              <a:sym typeface="Montserrat"/>
            </a:endParaRPr>
          </a:p>
        </p:txBody>
      </p:sp>
      <p:sp>
        <p:nvSpPr>
          <p:cNvPr id="412" name="Google Shape;412;p15"/>
          <p:cNvSpPr/>
          <p:nvPr/>
        </p:nvSpPr>
        <p:spPr>
          <a:xfrm>
            <a:off x="11187212" y="6238280"/>
            <a:ext cx="191988"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15</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417" name="Shape 417"/>
        <p:cNvGrpSpPr/>
        <p:nvPr/>
      </p:nvGrpSpPr>
      <p:grpSpPr>
        <a:xfrm>
          <a:off x="0" y="0"/>
          <a:ext cx="0" cy="0"/>
          <a:chOff x="0" y="0"/>
          <a:chExt cx="0" cy="0"/>
        </a:xfrm>
      </p:grpSpPr>
      <p:sp>
        <p:nvSpPr>
          <p:cNvPr id="418" name="Google Shape;418;p16"/>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LA CAZA EN SENTINEL</a:t>
            </a:r>
            <a:endParaRPr b="0" i="0" sz="1200" u="none" cap="none" strike="noStrike">
              <a:solidFill>
                <a:schemeClr val="lt1"/>
              </a:solidFill>
              <a:latin typeface="Montserrat"/>
              <a:ea typeface="Montserrat"/>
              <a:cs typeface="Montserrat"/>
              <a:sym typeface="Montserrat"/>
            </a:endParaRPr>
          </a:p>
        </p:txBody>
      </p:sp>
      <p:sp>
        <p:nvSpPr>
          <p:cNvPr id="419" name="Google Shape;419;p16"/>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La hipótesis del ejercicio</a:t>
            </a:r>
            <a:endParaRPr sz="3200"/>
          </a:p>
        </p:txBody>
      </p:sp>
      <p:sp>
        <p:nvSpPr>
          <p:cNvPr id="420" name="Google Shape;420;p16"/>
          <p:cNvSpPr/>
          <p:nvPr/>
        </p:nvSpPr>
        <p:spPr>
          <a:xfrm>
            <a:off x="812800" y="1777950"/>
            <a:ext cx="10566400" cy="1104900"/>
          </a:xfrm>
          <a:prstGeom prst="roundRect">
            <a:avLst>
              <a:gd fmla="val 9195" name="adj"/>
            </a:avLst>
          </a:prstGeom>
          <a:solidFill>
            <a:srgbClr val="1B1726"/>
          </a:solidFill>
          <a:ln>
            <a:noFill/>
          </a:ln>
        </p:spPr>
        <p:txBody>
          <a:bodyPr anchorCtr="0" anchor="t" bIns="97225" lIns="262325" spcFirstLastPara="1" rIns="0" wrap="square" tIns="122625">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Si alguien pegó un comando desde un señuelo ClickFix, vamos a ver un intérprete lanzado por Explorer (Win+R) o por el navegador (FileFix) con un comando de descarga y, segundos después, la cadena que ese comando dispara.</a:t>
            </a:r>
            <a:endParaRPr b="0" i="0" sz="1500" u="none" cap="none" strike="noStrike">
              <a:solidFill>
                <a:schemeClr val="lt1"/>
              </a:solidFill>
              <a:latin typeface="Montserrat"/>
              <a:ea typeface="Montserrat"/>
              <a:cs typeface="Montserrat"/>
              <a:sym typeface="Montserrat"/>
            </a:endParaRPr>
          </a:p>
        </p:txBody>
      </p:sp>
      <p:sp>
        <p:nvSpPr>
          <p:cNvPr id="421" name="Google Shape;421;p16"/>
          <p:cNvSpPr/>
          <p:nvPr/>
        </p:nvSpPr>
        <p:spPr>
          <a:xfrm>
            <a:off x="812800" y="1777950"/>
            <a:ext cx="10566400" cy="1104900"/>
          </a:xfrm>
          <a:custGeom>
            <a:rect b="b" l="l" r="r" t="t"/>
            <a:pathLst>
              <a:path extrusionOk="0" h="1104900" w="10566400">
                <a:moveTo>
                  <a:pt x="101600" y="1104900"/>
                </a:moveTo>
                <a:lnTo>
                  <a:pt x="101600" y="1104900"/>
                </a:lnTo>
                <a:cubicBezTo>
                  <a:pt x="45488" y="1104900"/>
                  <a:pt x="0" y="1059412"/>
                  <a:pt x="0" y="1003300"/>
                </a:cubicBezTo>
                <a:lnTo>
                  <a:pt x="0" y="101600"/>
                </a:lnTo>
                <a:cubicBezTo>
                  <a:pt x="0" y="45488"/>
                  <a:pt x="45488" y="0"/>
                  <a:pt x="101600" y="0"/>
                </a:cubicBezTo>
                <a:lnTo>
                  <a:pt x="101600" y="0"/>
                </a:lnTo>
                <a:cubicBezTo>
                  <a:pt x="66530" y="0"/>
                  <a:pt x="38100" y="45488"/>
                  <a:pt x="38100" y="101600"/>
                </a:cubicBezTo>
                <a:lnTo>
                  <a:pt x="38100" y="1003300"/>
                </a:lnTo>
                <a:cubicBezTo>
                  <a:pt x="38100" y="1059412"/>
                  <a:pt x="66530" y="1104900"/>
                  <a:pt x="101600" y="1104900"/>
                </a:cubicBezTo>
                <a:close/>
              </a:path>
            </a:pathLst>
          </a:custGeom>
          <a:solidFill>
            <a:srgbClr val="F59E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422" name="Google Shape;422;p16"/>
          <p:cNvGraphicFramePr/>
          <p:nvPr/>
        </p:nvGraphicFramePr>
        <p:xfrm>
          <a:off x="825500" y="3098750"/>
          <a:ext cx="3000000" cy="3000000"/>
        </p:xfrm>
        <a:graphic>
          <a:graphicData uri="http://schemas.openxmlformats.org/drawingml/2006/table">
            <a:tbl>
              <a:tblPr>
                <a:noFill/>
                <a:tableStyleId>{FB773AD2-FA50-4F7C-A878-0F7E4A0B4D0B}</a:tableStyleId>
              </a:tblPr>
              <a:tblGrid>
                <a:gridCol w="2532900"/>
                <a:gridCol w="8020800"/>
              </a:tblGrid>
              <a:tr h="378425">
                <a:tc>
                  <a:txBody>
                    <a:bodyPr/>
                    <a:lstStyle/>
                    <a:p>
                      <a:pPr indent="0" lvl="0" marL="0" marR="0" rtl="0" algn="l">
                        <a:lnSpc>
                          <a:spcPct val="140000"/>
                        </a:lnSpc>
                        <a:spcBef>
                          <a:spcPts val="0"/>
                        </a:spcBef>
                        <a:spcAft>
                          <a:spcPts val="0"/>
                        </a:spcAft>
                        <a:buClr>
                          <a:srgbClr val="C2C2F4"/>
                        </a:buClr>
                        <a:buSzPts val="1200"/>
                        <a:buFont typeface="Montserrat"/>
                        <a:buNone/>
                      </a:pPr>
                      <a:r>
                        <a:rPr lang="en-US" sz="1200" u="none" cap="none" strike="noStrike">
                          <a:solidFill>
                            <a:srgbClr val="C2C2F4"/>
                          </a:solidFill>
                          <a:latin typeface="Montserrat"/>
                          <a:ea typeface="Montserrat"/>
                          <a:cs typeface="Montserrat"/>
                          <a:sym typeface="Montserrat"/>
                        </a:rPr>
                        <a:t>Fuente de datos</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Procesos, red, archivos y registro del EDR en toda la flota: los eventos, no las alertas.</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r>
              <a:tr h="378425">
                <a:tc>
                  <a:txBody>
                    <a:bodyPr/>
                    <a:lstStyle/>
                    <a:p>
                      <a:pPr indent="0" lvl="0" marL="0" marR="0" rtl="0" algn="l">
                        <a:lnSpc>
                          <a:spcPct val="140000"/>
                        </a:lnSpc>
                        <a:spcBef>
                          <a:spcPts val="0"/>
                        </a:spcBef>
                        <a:spcAft>
                          <a:spcPts val="0"/>
                        </a:spcAft>
                        <a:buClr>
                          <a:srgbClr val="C2C2F4"/>
                        </a:buClr>
                        <a:buSzPts val="1200"/>
                        <a:buFont typeface="Montserrat"/>
                        <a:buNone/>
                      </a:pPr>
                      <a:r>
                        <a:rPr lang="en-US" sz="1200" u="none" cap="none" strike="noStrike">
                          <a:solidFill>
                            <a:srgbClr val="C2C2F4"/>
                          </a:solidFill>
                          <a:latin typeface="Montserrat"/>
                          <a:ea typeface="Montserrat"/>
                          <a:cs typeface="Montserrat"/>
                          <a:sym typeface="Montserrat"/>
                        </a:rPr>
                        <a:t>Control positivo</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Reproducir el patrón en un equipo del lab y confirmar que la query lo encuentra.</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r>
              <a:tr h="378425">
                <a:tc>
                  <a:txBody>
                    <a:bodyPr/>
                    <a:lstStyle/>
                    <a:p>
                      <a:pPr indent="0" lvl="0" marL="0" marR="0" rtl="0" algn="l">
                        <a:lnSpc>
                          <a:spcPct val="140000"/>
                        </a:lnSpc>
                        <a:spcBef>
                          <a:spcPts val="0"/>
                        </a:spcBef>
                        <a:spcAft>
                          <a:spcPts val="0"/>
                        </a:spcAft>
                        <a:buClr>
                          <a:srgbClr val="C2C2F4"/>
                        </a:buClr>
                        <a:buSzPts val="1200"/>
                        <a:buFont typeface="Montserrat"/>
                        <a:buNone/>
                      </a:pPr>
                      <a:r>
                        <a:rPr lang="en-US" sz="1200" u="none" cap="none" strike="noStrike">
                          <a:solidFill>
                            <a:srgbClr val="C2C2F4"/>
                          </a:solidFill>
                          <a:latin typeface="Montserrat"/>
                          <a:ea typeface="Montserrat"/>
                          <a:cs typeface="Montserrat"/>
                          <a:sym typeface="Montserrat"/>
                        </a:rPr>
                        <a:t>La confirma</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Un equipo con un intérprete que descarga y ejecuta, seguido de la cadena que lanza.</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r>
              <a:tr h="378425">
                <a:tc>
                  <a:txBody>
                    <a:bodyPr/>
                    <a:lstStyle/>
                    <a:p>
                      <a:pPr indent="0" lvl="0" marL="0" marR="0" rtl="0" algn="l">
                        <a:lnSpc>
                          <a:spcPct val="140000"/>
                        </a:lnSpc>
                        <a:spcBef>
                          <a:spcPts val="0"/>
                        </a:spcBef>
                        <a:spcAft>
                          <a:spcPts val="0"/>
                        </a:spcAft>
                        <a:buClr>
                          <a:srgbClr val="C2C2F4"/>
                        </a:buClr>
                        <a:buSzPts val="1200"/>
                        <a:buFont typeface="Montserrat"/>
                        <a:buNone/>
                      </a:pPr>
                      <a:r>
                        <a:rPr lang="en-US" sz="1200" u="none" cap="none" strike="noStrike">
                          <a:solidFill>
                            <a:srgbClr val="C2C2F4"/>
                          </a:solidFill>
                          <a:latin typeface="Montserrat"/>
                          <a:ea typeface="Montserrat"/>
                          <a:cs typeface="Montserrat"/>
                          <a:sym typeface="Montserrat"/>
                        </a:rPr>
                        <a:t>La refuta</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Cero resultados, con la query ya validada contra el control positivo.</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r>
              <a:tr h="591750">
                <a:tc>
                  <a:txBody>
                    <a:bodyPr/>
                    <a:lstStyle/>
                    <a:p>
                      <a:pPr indent="0" lvl="0" marL="0" marR="0" rtl="0" algn="l">
                        <a:lnSpc>
                          <a:spcPct val="140000"/>
                        </a:lnSpc>
                        <a:spcBef>
                          <a:spcPts val="0"/>
                        </a:spcBef>
                        <a:spcAft>
                          <a:spcPts val="0"/>
                        </a:spcAft>
                        <a:buClr>
                          <a:srgbClr val="C2C2F4"/>
                        </a:buClr>
                        <a:buSzPts val="1200"/>
                        <a:buFont typeface="Montserrat"/>
                        <a:buNone/>
                      </a:pPr>
                      <a:r>
                        <a:rPr lang="en-US" sz="1200" u="none" cap="none" strike="noStrike">
                          <a:solidFill>
                            <a:srgbClr val="C2C2F4"/>
                          </a:solidFill>
                          <a:latin typeface="Montserrat"/>
                          <a:ea typeface="Montserrat"/>
                          <a:cs typeface="Montserrat"/>
                          <a:sym typeface="Montserrat"/>
                        </a:rPr>
                        <a:t>Brecha conocida</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El portapapeles no se registra. RunMRU solo ve Win+R; un pegado en la Terminal (Win+X) solo lo ve Script Block Logging.</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r>
              <a:tr h="378425">
                <a:tc>
                  <a:txBody>
                    <a:bodyPr/>
                    <a:lstStyle/>
                    <a:p>
                      <a:pPr indent="0" lvl="0" marL="0" marR="0" rtl="0" algn="l">
                        <a:lnSpc>
                          <a:spcPct val="140000"/>
                        </a:lnSpc>
                        <a:spcBef>
                          <a:spcPts val="0"/>
                        </a:spcBef>
                        <a:spcAft>
                          <a:spcPts val="0"/>
                        </a:spcAft>
                        <a:buClr>
                          <a:srgbClr val="C2C2F4"/>
                        </a:buClr>
                        <a:buSzPts val="1200"/>
                        <a:buFont typeface="Montserrat"/>
                        <a:buNone/>
                      </a:pPr>
                      <a:r>
                        <a:rPr lang="en-US" sz="1200" u="none" cap="none" strike="noStrike">
                          <a:solidFill>
                            <a:srgbClr val="C2C2F4"/>
                          </a:solidFill>
                          <a:latin typeface="Montserrat"/>
                          <a:ea typeface="Montserrat"/>
                          <a:cs typeface="Montserrat"/>
                          <a:sym typeface="Montserrat"/>
                        </a:rPr>
                        <a:t>ATT&amp;CK</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T1204.004 → T1059.001 · T1564.003 · T1218.007 · T1055 · T1176.001</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r>
            </a:tbl>
          </a:graphicData>
        </a:graphic>
      </p:graphicFrame>
      <p:sp>
        <p:nvSpPr>
          <p:cNvPr id="423" name="Google Shape;423;p16"/>
          <p:cNvSpPr/>
          <p:nvPr/>
        </p:nvSpPr>
        <p:spPr>
          <a:xfrm>
            <a:off x="812800" y="6238280"/>
            <a:ext cx="523482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WRITING THE INCIDENT STORY · DEATHCON 2026</a:t>
            </a:r>
            <a:endParaRPr b="0" i="0" sz="1200" u="none" cap="none" strike="noStrike">
              <a:solidFill>
                <a:schemeClr val="lt1"/>
              </a:solidFill>
              <a:latin typeface="Montserrat"/>
              <a:ea typeface="Montserrat"/>
              <a:cs typeface="Montserrat"/>
              <a:sym typeface="Montserrat"/>
            </a:endParaRPr>
          </a:p>
        </p:txBody>
      </p:sp>
      <p:sp>
        <p:nvSpPr>
          <p:cNvPr id="424" name="Google Shape;424;p16"/>
          <p:cNvSpPr/>
          <p:nvPr/>
        </p:nvSpPr>
        <p:spPr>
          <a:xfrm>
            <a:off x="11180614" y="6238280"/>
            <a:ext cx="198586"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16</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429" name="Shape 429"/>
        <p:cNvGrpSpPr/>
        <p:nvPr/>
      </p:nvGrpSpPr>
      <p:grpSpPr>
        <a:xfrm>
          <a:off x="0" y="0"/>
          <a:ext cx="0" cy="0"/>
          <a:chOff x="0" y="0"/>
          <a:chExt cx="0" cy="0"/>
        </a:xfrm>
      </p:grpSpPr>
      <p:sp>
        <p:nvSpPr>
          <p:cNvPr id="430" name="Google Shape;430;p17"/>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LA CAZA EN SENTINEL</a:t>
            </a:r>
            <a:endParaRPr b="0" i="0" sz="1200" u="none" cap="none" strike="noStrike">
              <a:solidFill>
                <a:schemeClr val="lt1"/>
              </a:solidFill>
              <a:latin typeface="Montserrat"/>
              <a:ea typeface="Montserrat"/>
              <a:cs typeface="Montserrat"/>
              <a:sym typeface="Montserrat"/>
            </a:endParaRPr>
          </a:p>
        </p:txBody>
      </p:sp>
      <p:sp>
        <p:nvSpPr>
          <p:cNvPr id="431" name="Google Shape;431;p17"/>
          <p:cNvSpPr txBox="1"/>
          <p:nvPr>
            <p:ph type="title"/>
          </p:nvPr>
        </p:nvSpPr>
        <p:spPr>
          <a:xfrm>
            <a:off x="812800" y="1127720"/>
            <a:ext cx="9810750" cy="91946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Cero resultados sin control positivo no prueban nada</a:t>
            </a:r>
            <a:endParaRPr sz="3200"/>
          </a:p>
        </p:txBody>
      </p:sp>
      <p:sp>
        <p:nvSpPr>
          <p:cNvPr id="432" name="Google Shape;432;p17"/>
          <p:cNvSpPr/>
          <p:nvPr/>
        </p:nvSpPr>
        <p:spPr>
          <a:xfrm>
            <a:off x="812800" y="2224980"/>
            <a:ext cx="6278880" cy="55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Preparando este workshop, nueve queries seguidas volvieron vacías. Así lo diagnosticamos:</a:t>
            </a:r>
            <a:endParaRPr b="0" i="0" sz="1500" u="none" cap="none" strike="noStrike">
              <a:solidFill>
                <a:schemeClr val="lt1"/>
              </a:solidFill>
              <a:latin typeface="Montserrat"/>
              <a:ea typeface="Montserrat"/>
              <a:cs typeface="Montserrat"/>
              <a:sym typeface="Montserrat"/>
            </a:endParaRPr>
          </a:p>
        </p:txBody>
      </p:sp>
      <p:sp>
        <p:nvSpPr>
          <p:cNvPr id="433" name="Google Shape;433;p17"/>
          <p:cNvSpPr/>
          <p:nvPr/>
        </p:nvSpPr>
        <p:spPr>
          <a:xfrm>
            <a:off x="812800" y="2859980"/>
            <a:ext cx="2540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200"/>
              <a:buFont typeface="Montserrat"/>
              <a:buNone/>
            </a:pPr>
            <a:r>
              <a:rPr b="1" i="0" lang="en-US" sz="1200" u="none" cap="none" strike="noStrike">
                <a:solidFill>
                  <a:srgbClr val="F59E42"/>
                </a:solidFill>
                <a:latin typeface="Montserrat"/>
                <a:ea typeface="Montserrat"/>
                <a:cs typeface="Montserrat"/>
                <a:sym typeface="Montserrat"/>
              </a:rPr>
              <a:t>1</a:t>
            </a:r>
            <a:endParaRPr b="0" i="0" sz="1200" u="none" cap="none" strike="noStrike">
              <a:solidFill>
                <a:schemeClr val="lt1"/>
              </a:solidFill>
              <a:latin typeface="Montserrat"/>
              <a:ea typeface="Montserrat"/>
              <a:cs typeface="Montserrat"/>
              <a:sym typeface="Montserrat"/>
            </a:endParaRPr>
          </a:p>
        </p:txBody>
      </p:sp>
      <p:sp>
        <p:nvSpPr>
          <p:cNvPr id="434" name="Google Shape;434;p17"/>
          <p:cNvSpPr/>
          <p:nvPr/>
        </p:nvSpPr>
        <p:spPr>
          <a:xfrm>
            <a:off x="1143000" y="2859980"/>
            <a:ext cx="330142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¿La tabla tiene datos?</a:t>
            </a:r>
            <a:endParaRPr b="0" i="0" sz="1200" u="none" cap="none" strike="noStrike">
              <a:solidFill>
                <a:schemeClr val="lt1"/>
              </a:solidFill>
              <a:latin typeface="Montserrat"/>
              <a:ea typeface="Montserrat"/>
              <a:cs typeface="Montserrat"/>
              <a:sym typeface="Montserrat"/>
            </a:endParaRPr>
          </a:p>
        </p:txBody>
      </p:sp>
      <p:sp>
        <p:nvSpPr>
          <p:cNvPr id="435" name="Google Shape;435;p17"/>
          <p:cNvSpPr/>
          <p:nvPr/>
        </p:nvSpPr>
        <p:spPr>
          <a:xfrm>
            <a:off x="1143000" y="3086001"/>
            <a:ext cx="384631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Sí: cuatro equipos con eventos de registro.</a:t>
            </a:r>
            <a:endParaRPr b="0" i="0" sz="1200" u="none" cap="none" strike="noStrike">
              <a:solidFill>
                <a:schemeClr val="lt1"/>
              </a:solidFill>
              <a:latin typeface="Montserrat"/>
              <a:ea typeface="Montserrat"/>
              <a:cs typeface="Montserrat"/>
              <a:sym typeface="Montserrat"/>
            </a:endParaRPr>
          </a:p>
        </p:txBody>
      </p:sp>
      <p:sp>
        <p:nvSpPr>
          <p:cNvPr id="436" name="Google Shape;436;p17"/>
          <p:cNvSpPr/>
          <p:nvPr/>
        </p:nvSpPr>
        <p:spPr>
          <a:xfrm>
            <a:off x="812800" y="3400921"/>
            <a:ext cx="2540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200"/>
              <a:buFont typeface="Montserrat"/>
              <a:buNone/>
            </a:pPr>
            <a:r>
              <a:rPr b="1" i="0" lang="en-US" sz="1200" u="none" cap="none" strike="noStrike">
                <a:solidFill>
                  <a:srgbClr val="F59E42"/>
                </a:solidFill>
                <a:latin typeface="Montserrat"/>
                <a:ea typeface="Montserrat"/>
                <a:cs typeface="Montserrat"/>
                <a:sym typeface="Montserrat"/>
              </a:rPr>
              <a:t>2</a:t>
            </a:r>
            <a:endParaRPr b="0" i="0" sz="1200" u="none" cap="none" strike="noStrike">
              <a:solidFill>
                <a:schemeClr val="lt1"/>
              </a:solidFill>
              <a:latin typeface="Montserrat"/>
              <a:ea typeface="Montserrat"/>
              <a:cs typeface="Montserrat"/>
              <a:sym typeface="Montserrat"/>
            </a:endParaRPr>
          </a:p>
        </p:txBody>
      </p:sp>
      <p:sp>
        <p:nvSpPr>
          <p:cNvPr id="437" name="Google Shape;437;p17"/>
          <p:cNvSpPr/>
          <p:nvPr/>
        </p:nvSpPr>
        <p:spPr>
          <a:xfrm>
            <a:off x="1143000" y="3400921"/>
            <a:ext cx="3041987"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¿Aparece mi evento de prueba?</a:t>
            </a:r>
            <a:endParaRPr b="0" i="0" sz="1200" u="none" cap="none" strike="noStrike">
              <a:solidFill>
                <a:schemeClr val="lt1"/>
              </a:solidFill>
              <a:latin typeface="Montserrat"/>
              <a:ea typeface="Montserrat"/>
              <a:cs typeface="Montserrat"/>
              <a:sym typeface="Montserrat"/>
            </a:endParaRPr>
          </a:p>
        </p:txBody>
      </p:sp>
      <p:sp>
        <p:nvSpPr>
          <p:cNvPr id="438" name="Google Shape;438;p17"/>
          <p:cNvSpPr/>
          <p:nvPr/>
        </p:nvSpPr>
        <p:spPr>
          <a:xfrm>
            <a:off x="1143000" y="3626941"/>
            <a:ext cx="261103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No.</a:t>
            </a:r>
            <a:endParaRPr b="0" i="0" sz="1200" u="none" cap="none" strike="noStrike">
              <a:solidFill>
                <a:schemeClr val="lt1"/>
              </a:solidFill>
              <a:latin typeface="Montserrat"/>
              <a:ea typeface="Montserrat"/>
              <a:cs typeface="Montserrat"/>
              <a:sym typeface="Montserrat"/>
            </a:endParaRPr>
          </a:p>
        </p:txBody>
      </p:sp>
      <p:sp>
        <p:nvSpPr>
          <p:cNvPr id="439" name="Google Shape;439;p17"/>
          <p:cNvSpPr/>
          <p:nvPr/>
        </p:nvSpPr>
        <p:spPr>
          <a:xfrm>
            <a:off x="812800" y="3941862"/>
            <a:ext cx="2540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200"/>
              <a:buFont typeface="Montserrat"/>
              <a:buNone/>
            </a:pPr>
            <a:r>
              <a:rPr b="1" i="0" lang="en-US" sz="1200" u="none" cap="none" strike="noStrike">
                <a:solidFill>
                  <a:srgbClr val="F59E42"/>
                </a:solidFill>
                <a:latin typeface="Montserrat"/>
                <a:ea typeface="Montserrat"/>
                <a:cs typeface="Montserrat"/>
                <a:sym typeface="Montserrat"/>
              </a:rPr>
              <a:t>3</a:t>
            </a:r>
            <a:endParaRPr b="0" i="0" sz="1200" u="none" cap="none" strike="noStrike">
              <a:solidFill>
                <a:schemeClr val="lt1"/>
              </a:solidFill>
              <a:latin typeface="Montserrat"/>
              <a:ea typeface="Montserrat"/>
              <a:cs typeface="Montserrat"/>
              <a:sym typeface="Montserrat"/>
            </a:endParaRPr>
          </a:p>
        </p:txBody>
      </p:sp>
      <p:sp>
        <p:nvSpPr>
          <p:cNvPr id="440" name="Google Shape;440;p17"/>
          <p:cNvSpPr/>
          <p:nvPr/>
        </p:nvSpPr>
        <p:spPr>
          <a:xfrm>
            <a:off x="1143000" y="3941862"/>
            <a:ext cx="4558367"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¿Qué cuentas generan procesos en ese equipo?</a:t>
            </a:r>
            <a:endParaRPr b="0" i="0" sz="1200" u="none" cap="none" strike="noStrike">
              <a:solidFill>
                <a:schemeClr val="lt1"/>
              </a:solidFill>
              <a:latin typeface="Montserrat"/>
              <a:ea typeface="Montserrat"/>
              <a:cs typeface="Montserrat"/>
              <a:sym typeface="Montserrat"/>
            </a:endParaRPr>
          </a:p>
        </p:txBody>
      </p:sp>
      <p:sp>
        <p:nvSpPr>
          <p:cNvPr id="441" name="Google Shape;441;p17"/>
          <p:cNvSpPr/>
          <p:nvPr/>
        </p:nvSpPr>
        <p:spPr>
          <a:xfrm>
            <a:off x="1143000" y="4167882"/>
            <a:ext cx="391259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Las de otros instructores. La mía, no.</a:t>
            </a:r>
            <a:endParaRPr b="0" i="0" sz="1200" u="none" cap="none" strike="noStrike">
              <a:solidFill>
                <a:schemeClr val="lt1"/>
              </a:solidFill>
              <a:latin typeface="Montserrat"/>
              <a:ea typeface="Montserrat"/>
              <a:cs typeface="Montserrat"/>
              <a:sym typeface="Montserrat"/>
            </a:endParaRPr>
          </a:p>
        </p:txBody>
      </p:sp>
      <p:sp>
        <p:nvSpPr>
          <p:cNvPr id="442" name="Google Shape;442;p17"/>
          <p:cNvSpPr/>
          <p:nvPr/>
        </p:nvSpPr>
        <p:spPr>
          <a:xfrm>
            <a:off x="812800" y="4482802"/>
            <a:ext cx="2540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200"/>
              <a:buFont typeface="Montserrat"/>
              <a:buNone/>
            </a:pPr>
            <a:r>
              <a:rPr b="1" i="0" lang="en-US" sz="1200" u="none" cap="none" strike="noStrike">
                <a:solidFill>
                  <a:srgbClr val="F59E42"/>
                </a:solidFill>
                <a:latin typeface="Montserrat"/>
                <a:ea typeface="Montserrat"/>
                <a:cs typeface="Montserrat"/>
                <a:sym typeface="Montserrat"/>
              </a:rPr>
              <a:t>4</a:t>
            </a:r>
            <a:endParaRPr b="0" i="0" sz="1200" u="none" cap="none" strike="noStrike">
              <a:solidFill>
                <a:schemeClr val="lt1"/>
              </a:solidFill>
              <a:latin typeface="Montserrat"/>
              <a:ea typeface="Montserrat"/>
              <a:cs typeface="Montserrat"/>
              <a:sym typeface="Montserrat"/>
            </a:endParaRPr>
          </a:p>
        </p:txBody>
      </p:sp>
      <p:sp>
        <p:nvSpPr>
          <p:cNvPr id="443" name="Google Shape;443;p17"/>
          <p:cNvSpPr/>
          <p:nvPr/>
        </p:nvSpPr>
        <p:spPr>
          <a:xfrm>
            <a:off x="1143000" y="4482802"/>
            <a:ext cx="417903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¿El equipo de la prueba está en DeviceInfo?</a:t>
            </a:r>
            <a:endParaRPr b="0" i="0" sz="1200" u="none" cap="none" strike="noStrike">
              <a:solidFill>
                <a:schemeClr val="lt1"/>
              </a:solidFill>
              <a:latin typeface="Montserrat"/>
              <a:ea typeface="Montserrat"/>
              <a:cs typeface="Montserrat"/>
              <a:sym typeface="Montserrat"/>
            </a:endParaRPr>
          </a:p>
        </p:txBody>
      </p:sp>
      <p:sp>
        <p:nvSpPr>
          <p:cNvPr id="444" name="Google Shape;444;p17"/>
          <p:cNvSpPr/>
          <p:nvPr/>
        </p:nvSpPr>
        <p:spPr>
          <a:xfrm>
            <a:off x="1143000" y="4708823"/>
            <a:ext cx="358700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No: no tenía el sensor de Defender.</a:t>
            </a:r>
            <a:endParaRPr b="0" i="0" sz="1200" u="none" cap="none" strike="noStrike">
              <a:solidFill>
                <a:schemeClr val="lt1"/>
              </a:solidFill>
              <a:latin typeface="Montserrat"/>
              <a:ea typeface="Montserrat"/>
              <a:cs typeface="Montserrat"/>
              <a:sym typeface="Montserrat"/>
            </a:endParaRPr>
          </a:p>
        </p:txBody>
      </p:sp>
      <p:pic>
        <p:nvPicPr>
          <p:cNvPr descr="Consola PowerShell con hostname y whoami: el equipo era el puesto del instructor, no un equipo del lab" id="445" name="Google Shape;445;p17"/>
          <p:cNvPicPr preferRelativeResize="0"/>
          <p:nvPr/>
        </p:nvPicPr>
        <p:blipFill rotWithShape="1">
          <a:blip r:embed="rId3">
            <a:alphaModFix/>
          </a:blip>
          <a:srcRect b="0" l="-348" r="-348" t="0"/>
          <a:stretch/>
        </p:blipFill>
        <p:spPr>
          <a:xfrm>
            <a:off x="7321550" y="2231330"/>
            <a:ext cx="4051300" cy="1111250"/>
          </a:xfrm>
          <a:prstGeom prst="roundRect">
            <a:avLst>
              <a:gd fmla="val 6286" name="adj"/>
            </a:avLst>
          </a:prstGeom>
          <a:noFill/>
          <a:ln>
            <a:noFill/>
          </a:ln>
        </p:spPr>
      </p:pic>
      <p:sp>
        <p:nvSpPr>
          <p:cNvPr id="446" name="Google Shape;446;p17"/>
          <p:cNvSpPr/>
          <p:nvPr/>
        </p:nvSpPr>
        <p:spPr>
          <a:xfrm>
            <a:off x="7318375" y="2228155"/>
            <a:ext cx="4057650" cy="1117600"/>
          </a:xfrm>
          <a:prstGeom prst="roundRect">
            <a:avLst>
              <a:gd fmla="val 6534" name="adj"/>
            </a:avLst>
          </a:prstGeom>
          <a:no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7"/>
          <p:cNvSpPr/>
          <p:nvPr/>
        </p:nvSpPr>
        <p:spPr>
          <a:xfrm>
            <a:off x="7315200" y="3425130"/>
            <a:ext cx="4185920"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El control positivo corrió en el puesto del instructor, que no manda telemetría. La query estaba bien; el equipo no.</a:t>
            </a:r>
            <a:endParaRPr b="0" i="0" sz="1200" u="none" cap="none" strike="noStrike">
              <a:solidFill>
                <a:schemeClr val="lt1"/>
              </a:solidFill>
              <a:latin typeface="Montserrat"/>
              <a:ea typeface="Montserrat"/>
              <a:cs typeface="Montserrat"/>
              <a:sym typeface="Montserrat"/>
            </a:endParaRPr>
          </a:p>
        </p:txBody>
      </p:sp>
      <p:sp>
        <p:nvSpPr>
          <p:cNvPr id="448" name="Google Shape;448;p17"/>
          <p:cNvSpPr/>
          <p:nvPr/>
        </p:nvSpPr>
        <p:spPr>
          <a:xfrm>
            <a:off x="812800" y="5125343"/>
            <a:ext cx="10883392"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0" i="0" lang="en-US" sz="1500" u="none" cap="none" strike="noStrike">
                <a:solidFill>
                  <a:srgbClr val="F59E42"/>
                </a:solidFill>
                <a:latin typeface="Montserrat"/>
                <a:ea typeface="Montserrat"/>
                <a:cs typeface="Montserrat"/>
                <a:sym typeface="Montserrat"/>
              </a:rPr>
              <a:t>Antes de concluir “no está”, probá que la query encuentra lo que sabés que existe, en el equipo correcto.</a:t>
            </a:r>
            <a:endParaRPr b="0" i="0" sz="1500" u="none" cap="none" strike="noStrike">
              <a:solidFill>
                <a:schemeClr val="lt1"/>
              </a:solidFill>
              <a:latin typeface="Montserrat"/>
              <a:ea typeface="Montserrat"/>
              <a:cs typeface="Montserrat"/>
              <a:sym typeface="Montserrat"/>
            </a:endParaRPr>
          </a:p>
        </p:txBody>
      </p:sp>
      <p:sp>
        <p:nvSpPr>
          <p:cNvPr id="449" name="Google Shape;449;p17"/>
          <p:cNvSpPr/>
          <p:nvPr/>
        </p:nvSpPr>
        <p:spPr>
          <a:xfrm>
            <a:off x="812800" y="6238280"/>
            <a:ext cx="523482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WRITING THE INCIDENT STORY · DEATHCON 2026</a:t>
            </a:r>
            <a:endParaRPr b="0" i="0" sz="1200" u="none" cap="none" strike="noStrike">
              <a:solidFill>
                <a:schemeClr val="lt1"/>
              </a:solidFill>
              <a:latin typeface="Montserrat"/>
              <a:ea typeface="Montserrat"/>
              <a:cs typeface="Montserrat"/>
              <a:sym typeface="Montserrat"/>
            </a:endParaRPr>
          </a:p>
        </p:txBody>
      </p:sp>
      <p:sp>
        <p:nvSpPr>
          <p:cNvPr id="450" name="Google Shape;450;p17"/>
          <p:cNvSpPr/>
          <p:nvPr/>
        </p:nvSpPr>
        <p:spPr>
          <a:xfrm>
            <a:off x="11183689" y="6238280"/>
            <a:ext cx="195511"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17</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455" name="Shape 455"/>
        <p:cNvGrpSpPr/>
        <p:nvPr/>
      </p:nvGrpSpPr>
      <p:grpSpPr>
        <a:xfrm>
          <a:off x="0" y="0"/>
          <a:ext cx="0" cy="0"/>
          <a:chOff x="0" y="0"/>
          <a:chExt cx="0" cy="0"/>
        </a:xfrm>
      </p:grpSpPr>
      <p:sp>
        <p:nvSpPr>
          <p:cNvPr id="456" name="Google Shape;456;p18"/>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LA CAZA EN SENTINEL</a:t>
            </a:r>
            <a:endParaRPr b="0" i="0" sz="1200" u="none" cap="none" strike="noStrike">
              <a:solidFill>
                <a:schemeClr val="lt1"/>
              </a:solidFill>
              <a:latin typeface="Montserrat"/>
              <a:ea typeface="Montserrat"/>
              <a:cs typeface="Montserrat"/>
              <a:sym typeface="Montserrat"/>
            </a:endParaRPr>
          </a:p>
        </p:txBody>
      </p:sp>
      <p:sp>
        <p:nvSpPr>
          <p:cNvPr id="457" name="Google Shape;457;p18"/>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Siete queries encadenadas</a:t>
            </a:r>
            <a:endParaRPr sz="3200"/>
          </a:p>
        </p:txBody>
      </p:sp>
      <p:graphicFrame>
        <p:nvGraphicFramePr>
          <p:cNvPr id="458" name="Google Shape;458;p18"/>
          <p:cNvGraphicFramePr/>
          <p:nvPr/>
        </p:nvGraphicFramePr>
        <p:xfrm>
          <a:off x="825500" y="1790650"/>
          <a:ext cx="3000000" cy="3000000"/>
        </p:xfrm>
        <a:graphic>
          <a:graphicData uri="http://schemas.openxmlformats.org/drawingml/2006/table">
            <a:tbl>
              <a:tblPr>
                <a:noFill/>
                <a:tableStyleId>{FB773AD2-FA50-4F7C-A878-0F7E4A0B4D0B}</a:tableStyleId>
              </a:tblPr>
              <a:tblGrid>
                <a:gridCol w="633225"/>
                <a:gridCol w="2532900"/>
                <a:gridCol w="4643625"/>
                <a:gridCol w="2743950"/>
              </a:tblGrid>
              <a:tr h="378425">
                <a:tc>
                  <a:txBody>
                    <a:bodyPr/>
                    <a:lstStyle/>
                    <a:p>
                      <a:pPr indent="0" lvl="0" marL="0" marR="0" rtl="0" algn="l">
                        <a:lnSpc>
                          <a:spcPct val="140000"/>
                        </a:lnSpc>
                        <a:spcBef>
                          <a:spcPts val="0"/>
                        </a:spcBef>
                        <a:spcAft>
                          <a:spcPts val="0"/>
                        </a:spcAft>
                        <a:buClr>
                          <a:srgbClr val="C2C2F4"/>
                        </a:buClr>
                        <a:buSzPts val="1200"/>
                        <a:buFont typeface="Montserrat"/>
                        <a:buNone/>
                      </a:pPr>
                      <a:r>
                        <a:rPr b="1" lang="en-US" sz="1200" u="none" cap="none" strike="noStrike">
                          <a:solidFill>
                            <a:srgbClr val="C2C2F4"/>
                          </a:solidFill>
                          <a:latin typeface="Montserrat"/>
                          <a:ea typeface="Montserrat"/>
                          <a:cs typeface="Montserrat"/>
                          <a:sym typeface="Montserrat"/>
                        </a:rPr>
                        <a:t>#</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584662"/>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584662"/>
                      </a:solidFill>
                      <a:prstDash val="solid"/>
                      <a:round/>
                      <a:headEnd len="sm" w="sm" type="none"/>
                      <a:tailEnd len="sm" w="sm" type="none"/>
                    </a:lnB>
                    <a:solidFill>
                      <a:srgbClr val="2A1438"/>
                    </a:solidFill>
                  </a:tcPr>
                </a:tc>
                <a:tc>
                  <a:txBody>
                    <a:bodyPr/>
                    <a:lstStyle/>
                    <a:p>
                      <a:pPr indent="0" lvl="0" marL="0" marR="0" rtl="0" algn="l">
                        <a:lnSpc>
                          <a:spcPct val="140000"/>
                        </a:lnSpc>
                        <a:spcBef>
                          <a:spcPts val="0"/>
                        </a:spcBef>
                        <a:spcAft>
                          <a:spcPts val="0"/>
                        </a:spcAft>
                        <a:buClr>
                          <a:srgbClr val="C2C2F4"/>
                        </a:buClr>
                        <a:buSzPts val="1200"/>
                        <a:buFont typeface="Montserrat"/>
                        <a:buNone/>
                      </a:pPr>
                      <a:r>
                        <a:rPr b="1" lang="en-US" sz="1200" u="none" cap="none" strike="noStrike">
                          <a:solidFill>
                            <a:srgbClr val="C2C2F4"/>
                          </a:solidFill>
                          <a:latin typeface="Montserrat"/>
                          <a:ea typeface="Montserrat"/>
                          <a:cs typeface="Montserrat"/>
                          <a:sym typeface="Montserrat"/>
                        </a:rPr>
                        <a:t>Pregunta</a:t>
                      </a:r>
                      <a:endParaRPr sz="1200" u="none" cap="none" strike="noStrike">
                        <a:latin typeface="Montserrat"/>
                        <a:ea typeface="Montserrat"/>
                        <a:cs typeface="Montserrat"/>
                        <a:sym typeface="Montserrat"/>
                      </a:endParaRPr>
                    </a:p>
                  </a:txBody>
                  <a:tcPr marT="76200" marB="76200" marR="127000" marL="127000">
                    <a:lnL cap="flat" cmpd="sng" w="12700">
                      <a:solidFill>
                        <a:srgbClr val="584662"/>
                      </a:solidFill>
                      <a:prstDash val="solid"/>
                      <a:round/>
                      <a:headEnd len="sm" w="sm" type="none"/>
                      <a:tailEnd len="sm" w="sm" type="none"/>
                    </a:lnL>
                    <a:lnR cap="flat" cmpd="sng" w="12700">
                      <a:solidFill>
                        <a:srgbClr val="584662"/>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584662"/>
                      </a:solidFill>
                      <a:prstDash val="solid"/>
                      <a:round/>
                      <a:headEnd len="sm" w="sm" type="none"/>
                      <a:tailEnd len="sm" w="sm" type="none"/>
                    </a:lnB>
                    <a:solidFill>
                      <a:srgbClr val="2A1438"/>
                    </a:solidFill>
                  </a:tcPr>
                </a:tc>
                <a:tc>
                  <a:txBody>
                    <a:bodyPr/>
                    <a:lstStyle/>
                    <a:p>
                      <a:pPr indent="0" lvl="0" marL="0" marR="0" rtl="0" algn="l">
                        <a:lnSpc>
                          <a:spcPct val="140000"/>
                        </a:lnSpc>
                        <a:spcBef>
                          <a:spcPts val="0"/>
                        </a:spcBef>
                        <a:spcAft>
                          <a:spcPts val="0"/>
                        </a:spcAft>
                        <a:buClr>
                          <a:srgbClr val="C2C2F4"/>
                        </a:buClr>
                        <a:buSzPts val="1200"/>
                        <a:buFont typeface="Montserrat"/>
                        <a:buNone/>
                      </a:pPr>
                      <a:r>
                        <a:rPr b="1" lang="en-US" sz="1200" u="none" cap="none" strike="noStrike">
                          <a:solidFill>
                            <a:srgbClr val="C2C2F4"/>
                          </a:solidFill>
                          <a:latin typeface="Montserrat"/>
                          <a:ea typeface="Montserrat"/>
                          <a:cs typeface="Montserrat"/>
                          <a:sym typeface="Montserrat"/>
                        </a:rPr>
                        <a:t>Qué busca</a:t>
                      </a:r>
                      <a:endParaRPr sz="1200" u="none" cap="none" strike="noStrike">
                        <a:latin typeface="Montserrat"/>
                        <a:ea typeface="Montserrat"/>
                        <a:cs typeface="Montserrat"/>
                        <a:sym typeface="Montserrat"/>
                      </a:endParaRPr>
                    </a:p>
                  </a:txBody>
                  <a:tcPr marT="76200" marB="76200" marR="127000" marL="127000">
                    <a:lnL cap="flat" cmpd="sng" w="12700">
                      <a:solidFill>
                        <a:srgbClr val="584662"/>
                      </a:solidFill>
                      <a:prstDash val="solid"/>
                      <a:round/>
                      <a:headEnd len="sm" w="sm" type="none"/>
                      <a:tailEnd len="sm" w="sm" type="none"/>
                    </a:lnL>
                    <a:lnR cap="flat" cmpd="sng" w="12700">
                      <a:solidFill>
                        <a:srgbClr val="584662"/>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584662"/>
                      </a:solidFill>
                      <a:prstDash val="solid"/>
                      <a:round/>
                      <a:headEnd len="sm" w="sm" type="none"/>
                      <a:tailEnd len="sm" w="sm" type="none"/>
                    </a:lnB>
                    <a:solidFill>
                      <a:srgbClr val="2A1438"/>
                    </a:solidFill>
                  </a:tcPr>
                </a:tc>
                <a:tc>
                  <a:txBody>
                    <a:bodyPr/>
                    <a:lstStyle/>
                    <a:p>
                      <a:pPr indent="0" lvl="0" marL="0" marR="0" rtl="0" algn="l">
                        <a:lnSpc>
                          <a:spcPct val="140000"/>
                        </a:lnSpc>
                        <a:spcBef>
                          <a:spcPts val="0"/>
                        </a:spcBef>
                        <a:spcAft>
                          <a:spcPts val="0"/>
                        </a:spcAft>
                        <a:buClr>
                          <a:srgbClr val="C2C2F4"/>
                        </a:buClr>
                        <a:buSzPts val="1200"/>
                        <a:buFont typeface="Montserrat"/>
                        <a:buNone/>
                      </a:pPr>
                      <a:r>
                        <a:rPr b="1" lang="en-US" sz="1200" u="none" cap="none" strike="noStrike">
                          <a:solidFill>
                            <a:srgbClr val="C2C2F4"/>
                          </a:solidFill>
                          <a:latin typeface="Montserrat"/>
                          <a:ea typeface="Montserrat"/>
                          <a:cs typeface="Montserrat"/>
                          <a:sym typeface="Montserrat"/>
                        </a:rPr>
                        <a:t>Tabla</a:t>
                      </a:r>
                      <a:endParaRPr sz="1200" u="none" cap="none" strike="noStrike">
                        <a:latin typeface="Montserrat"/>
                        <a:ea typeface="Montserrat"/>
                        <a:cs typeface="Montserrat"/>
                        <a:sym typeface="Montserrat"/>
                      </a:endParaRPr>
                    </a:p>
                  </a:txBody>
                  <a:tcPr marT="76200" marB="76200" marR="127000" marL="127000">
                    <a:lnL cap="flat" cmpd="sng" w="12700">
                      <a:solidFill>
                        <a:srgbClr val="584662"/>
                      </a:solidFill>
                      <a:prstDash val="solid"/>
                      <a:round/>
                      <a:headEnd len="sm" w="sm" type="none"/>
                      <a:tailEnd len="sm" w="sm" type="none"/>
                    </a:lnL>
                    <a:lnR cap="flat" cmpd="sng" w="12700">
                      <a:solidFill>
                        <a:srgbClr val="584662"/>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584662"/>
                      </a:solidFill>
                      <a:prstDash val="solid"/>
                      <a:round/>
                      <a:headEnd len="sm" w="sm" type="none"/>
                      <a:tailEnd len="sm" w="sm" type="none"/>
                    </a:lnB>
                    <a:solidFill>
                      <a:srgbClr val="2A1438"/>
                    </a:solidFill>
                  </a:tcPr>
                </a:tc>
              </a:tr>
              <a:tr h="591750">
                <a:tc>
                  <a:txBody>
                    <a:bodyPr/>
                    <a:lstStyle/>
                    <a:p>
                      <a:pPr indent="0" lvl="0" marL="0" marR="0" rtl="0" algn="l">
                        <a:lnSpc>
                          <a:spcPct val="140000"/>
                        </a:lnSpc>
                        <a:spcBef>
                          <a:spcPts val="0"/>
                        </a:spcBef>
                        <a:spcAft>
                          <a:spcPts val="0"/>
                        </a:spcAft>
                        <a:buClr>
                          <a:srgbClr val="F59E42"/>
                        </a:buClr>
                        <a:buSzPts val="1200"/>
                        <a:buFont typeface="Montserrat"/>
                        <a:buNone/>
                      </a:pPr>
                      <a:r>
                        <a:rPr lang="en-US" sz="1200" u="none" cap="none" strike="noStrike">
                          <a:solidFill>
                            <a:srgbClr val="F59E42"/>
                          </a:solidFill>
                          <a:latin typeface="Montserrat"/>
                          <a:ea typeface="Montserrat"/>
                          <a:cs typeface="Montserrat"/>
                          <a:sym typeface="Montserrat"/>
                        </a:rPr>
                        <a:t>1</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584662"/>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¿Alguien pegó un comando?</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584662"/>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C9C5D8"/>
                        </a:buClr>
                        <a:buSzPts val="1200"/>
                        <a:buFont typeface="Montserrat"/>
                        <a:buNone/>
                      </a:pPr>
                      <a:r>
                        <a:rPr lang="en-US" sz="1200" u="none" cap="none" strike="noStrike">
                          <a:solidFill>
                            <a:srgbClr val="C9C5D8"/>
                          </a:solidFill>
                          <a:latin typeface="Montserrat"/>
                          <a:ea typeface="Montserrat"/>
                          <a:cs typeface="Montserrat"/>
                          <a:sym typeface="Montserrat"/>
                        </a:rPr>
                        <a:t>Explorer o el navegador lanzan un intérprete con un comando de descarga</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584662"/>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DeviceProcessEvents</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584662"/>
                      </a:solidFill>
                      <a:prstDash val="solid"/>
                      <a:round/>
                      <a:headEnd len="sm" w="sm" type="none"/>
                      <a:tailEnd len="sm" w="sm" type="none"/>
                    </a:lnT>
                    <a:lnB cap="flat" cmpd="sng" w="12700">
                      <a:solidFill>
                        <a:srgbClr val="403F44"/>
                      </a:solidFill>
                      <a:prstDash val="solid"/>
                      <a:round/>
                      <a:headEnd len="sm" w="sm" type="none"/>
                      <a:tailEnd len="sm" w="sm" type="none"/>
                    </a:lnB>
                  </a:tcPr>
                </a:tc>
              </a:tr>
              <a:tr h="591750">
                <a:tc>
                  <a:txBody>
                    <a:bodyPr/>
                    <a:lstStyle/>
                    <a:p>
                      <a:pPr indent="0" lvl="0" marL="0" marR="0" rtl="0" algn="l">
                        <a:lnSpc>
                          <a:spcPct val="140000"/>
                        </a:lnSpc>
                        <a:spcBef>
                          <a:spcPts val="0"/>
                        </a:spcBef>
                        <a:spcAft>
                          <a:spcPts val="0"/>
                        </a:spcAft>
                        <a:buClr>
                          <a:srgbClr val="F59E42"/>
                        </a:buClr>
                        <a:buSzPts val="1200"/>
                        <a:buFont typeface="Montserrat"/>
                        <a:buNone/>
                      </a:pPr>
                      <a:r>
                        <a:rPr lang="en-US" sz="1200" u="none" cap="none" strike="noStrike">
                          <a:solidFill>
                            <a:srgbClr val="F59E42"/>
                          </a:solidFill>
                          <a:latin typeface="Montserrat"/>
                          <a:ea typeface="Montserrat"/>
                          <a:cs typeface="Montserrat"/>
                          <a:sym typeface="Montserrat"/>
                        </a:rPr>
                        <a:t>2</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¿Por qué no lo vio?</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C9C5D8"/>
                        </a:buClr>
                        <a:buSzPts val="1200"/>
                        <a:buFont typeface="Montserrat"/>
                        <a:buNone/>
                      </a:pPr>
                      <a:r>
                        <a:rPr lang="en-US" sz="1200" u="none" cap="none" strike="noStrike">
                          <a:solidFill>
                            <a:srgbClr val="C9C5D8"/>
                          </a:solidFill>
                          <a:latin typeface="Montserrat"/>
                          <a:ea typeface="Montserrat"/>
                          <a:cs typeface="Montserrat"/>
                          <a:sym typeface="Montserrat"/>
                        </a:rPr>
                        <a:t>Un Start-Process con -WindowStyle Hidden y el resto de los cmdlets del script</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DeviceEvents · PowerShellCommand *</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r>
              <a:tr h="378425">
                <a:tc>
                  <a:txBody>
                    <a:bodyPr/>
                    <a:lstStyle/>
                    <a:p>
                      <a:pPr indent="0" lvl="0" marL="0" marR="0" rtl="0" algn="l">
                        <a:lnSpc>
                          <a:spcPct val="140000"/>
                        </a:lnSpc>
                        <a:spcBef>
                          <a:spcPts val="0"/>
                        </a:spcBef>
                        <a:spcAft>
                          <a:spcPts val="0"/>
                        </a:spcAft>
                        <a:buClr>
                          <a:srgbClr val="F59E42"/>
                        </a:buClr>
                        <a:buSzPts val="1200"/>
                        <a:buFont typeface="Montserrat"/>
                        <a:buNone/>
                      </a:pPr>
                      <a:r>
                        <a:rPr lang="en-US" sz="1200" u="none" cap="none" strike="noStrike">
                          <a:solidFill>
                            <a:srgbClr val="F59E42"/>
                          </a:solidFill>
                          <a:latin typeface="Montserrat"/>
                          <a:ea typeface="Montserrat"/>
                          <a:cs typeface="Montserrat"/>
                          <a:sym typeface="Montserrat"/>
                        </a:rPr>
                        <a:t>3</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¿Qué vino después?</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C9C5D8"/>
                        </a:buClr>
                        <a:buSzPts val="1200"/>
                        <a:buFont typeface="Montserrat"/>
                        <a:buNone/>
                      </a:pPr>
                      <a:r>
                        <a:rPr lang="en-US" sz="1200" u="none" cap="none" strike="noStrike">
                          <a:solidFill>
                            <a:srgbClr val="C9C5D8"/>
                          </a:solidFill>
                          <a:latin typeface="Montserrat"/>
                          <a:ea typeface="Montserrat"/>
                          <a:cs typeface="Montserrat"/>
                          <a:sym typeface="Montserrat"/>
                        </a:rPr>
                        <a:t>msiexec lanza un PowerShell oculto</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DeviceProcessEvents</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r>
              <a:tr h="378425">
                <a:tc>
                  <a:txBody>
                    <a:bodyPr/>
                    <a:lstStyle/>
                    <a:p>
                      <a:pPr indent="0" lvl="0" marL="0" marR="0" rtl="0" algn="l">
                        <a:lnSpc>
                          <a:spcPct val="140000"/>
                        </a:lnSpc>
                        <a:spcBef>
                          <a:spcPts val="0"/>
                        </a:spcBef>
                        <a:spcAft>
                          <a:spcPts val="0"/>
                        </a:spcAft>
                        <a:buClr>
                          <a:srgbClr val="F59E42"/>
                        </a:buClr>
                        <a:buSzPts val="1200"/>
                        <a:buFont typeface="Montserrat"/>
                        <a:buNone/>
                      </a:pPr>
                      <a:r>
                        <a:rPr lang="en-US" sz="1200" u="none" cap="none" strike="noStrike">
                          <a:solidFill>
                            <a:srgbClr val="F59E42"/>
                          </a:solidFill>
                          <a:latin typeface="Montserrat"/>
                          <a:ea typeface="Montserrat"/>
                          <a:cs typeface="Montserrat"/>
                          <a:sym typeface="Montserrat"/>
                        </a:rPr>
                        <a:t>4</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¿Con quién habló?</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C9C5D8"/>
                        </a:buClr>
                        <a:buSzPts val="1200"/>
                        <a:buFont typeface="Montserrat"/>
                        <a:buNone/>
                      </a:pPr>
                      <a:r>
                        <a:rPr lang="en-US" sz="1200" u="none" cap="none" strike="noStrike">
                          <a:solidFill>
                            <a:srgbClr val="C9C5D8"/>
                          </a:solidFill>
                          <a:latin typeface="Montserrat"/>
                          <a:ea typeface="Montserrat"/>
                          <a:cs typeface="Montserrat"/>
                          <a:sym typeface="Montserrat"/>
                        </a:rPr>
                        <a:t>Un binario .NET (csc, ilasm) con conexión saliente</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DeviceNetworkEvents</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r>
              <a:tr h="378425">
                <a:tc>
                  <a:txBody>
                    <a:bodyPr/>
                    <a:lstStyle/>
                    <a:p>
                      <a:pPr indent="0" lvl="0" marL="0" marR="0" rtl="0" algn="l">
                        <a:lnSpc>
                          <a:spcPct val="140000"/>
                        </a:lnSpc>
                        <a:spcBef>
                          <a:spcPts val="0"/>
                        </a:spcBef>
                        <a:spcAft>
                          <a:spcPts val="0"/>
                        </a:spcAft>
                        <a:buClr>
                          <a:srgbClr val="F59E42"/>
                        </a:buClr>
                        <a:buSzPts val="1200"/>
                        <a:buFont typeface="Montserrat"/>
                        <a:buNone/>
                      </a:pPr>
                      <a:r>
                        <a:rPr lang="en-US" sz="1200" u="none" cap="none" strike="noStrike">
                          <a:solidFill>
                            <a:srgbClr val="F59E42"/>
                          </a:solidFill>
                          <a:latin typeface="Montserrat"/>
                          <a:ea typeface="Montserrat"/>
                          <a:cs typeface="Montserrat"/>
                          <a:sym typeface="Montserrat"/>
                        </a:rPr>
                        <a:t>5</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¿Se ubicó?</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C9C5D8"/>
                        </a:buClr>
                        <a:buSzPts val="1200"/>
                        <a:buFont typeface="Montserrat"/>
                        <a:buNone/>
                      </a:pPr>
                      <a:r>
                        <a:rPr lang="en-US" sz="1200" u="none" cap="none" strike="noStrike">
                          <a:solidFill>
                            <a:srgbClr val="C9C5D8"/>
                          </a:solidFill>
                          <a:latin typeface="Montserrat"/>
                          <a:ea typeface="Montserrat"/>
                          <a:cs typeface="Montserrat"/>
                          <a:sym typeface="Montserrat"/>
                        </a:rPr>
                        <a:t>Un proceso que no es navegador consulta su IP pública</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DeviceNetworkEvents</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r>
              <a:tr h="591750">
                <a:tc>
                  <a:txBody>
                    <a:bodyPr/>
                    <a:lstStyle/>
                    <a:p>
                      <a:pPr indent="0" lvl="0" marL="0" marR="0" rtl="0" algn="l">
                        <a:lnSpc>
                          <a:spcPct val="140000"/>
                        </a:lnSpc>
                        <a:spcBef>
                          <a:spcPts val="0"/>
                        </a:spcBef>
                        <a:spcAft>
                          <a:spcPts val="0"/>
                        </a:spcAft>
                        <a:buClr>
                          <a:srgbClr val="F59E42"/>
                        </a:buClr>
                        <a:buSzPts val="1200"/>
                        <a:buFont typeface="Montserrat"/>
                        <a:buNone/>
                      </a:pPr>
                      <a:r>
                        <a:rPr lang="en-US" sz="1200" u="none" cap="none" strike="noStrike">
                          <a:solidFill>
                            <a:srgbClr val="F59E42"/>
                          </a:solidFill>
                          <a:latin typeface="Montserrat"/>
                          <a:ea typeface="Montserrat"/>
                          <a:cs typeface="Montserrat"/>
                          <a:sym typeface="Montserrat"/>
                        </a:rPr>
                        <a:t>6</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¿Cómo se queda?</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C9C5D8"/>
                        </a:buClr>
                        <a:buSzPts val="1200"/>
                        <a:buFont typeface="Montserrat"/>
                        <a:buNone/>
                      </a:pPr>
                      <a:r>
                        <a:rPr lang="en-US" sz="1200" u="none" cap="none" strike="noStrike">
                          <a:solidFill>
                            <a:srgbClr val="C9C5D8"/>
                          </a:solidFill>
                          <a:latin typeface="Montserrat"/>
                          <a:ea typeface="Montserrat"/>
                          <a:cs typeface="Montserrat"/>
                          <a:sym typeface="Montserrat"/>
                        </a:rPr>
                        <a:t>Un proceso que no es el navegador modifica el perfil de Chrome</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DeviceFileEvents</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r>
              <a:tr h="378425">
                <a:tc>
                  <a:txBody>
                    <a:bodyPr/>
                    <a:lstStyle/>
                    <a:p>
                      <a:pPr indent="0" lvl="0" marL="0" marR="0" rtl="0" algn="l">
                        <a:lnSpc>
                          <a:spcPct val="140000"/>
                        </a:lnSpc>
                        <a:spcBef>
                          <a:spcPts val="0"/>
                        </a:spcBef>
                        <a:spcAft>
                          <a:spcPts val="0"/>
                        </a:spcAft>
                        <a:buClr>
                          <a:srgbClr val="F59E42"/>
                        </a:buClr>
                        <a:buSzPts val="1200"/>
                        <a:buFont typeface="Montserrat"/>
                        <a:buNone/>
                      </a:pPr>
                      <a:r>
                        <a:rPr lang="en-US" sz="1200" u="none" cap="none" strike="noStrike">
                          <a:solidFill>
                            <a:srgbClr val="F59E42"/>
                          </a:solidFill>
                          <a:latin typeface="Montserrat"/>
                          <a:ea typeface="Montserrat"/>
                          <a:cs typeface="Montserrat"/>
                          <a:sym typeface="Montserrat"/>
                        </a:rPr>
                        <a:t>7</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Próxima caza</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C9C5D8"/>
                        </a:buClr>
                        <a:buSzPts val="1200"/>
                        <a:buFont typeface="Montserrat"/>
                        <a:buNone/>
                      </a:pPr>
                      <a:r>
                        <a:rPr lang="en-US" sz="1200" u="none" cap="none" strike="noStrike">
                          <a:solidFill>
                            <a:srgbClr val="C9C5D8"/>
                          </a:solidFill>
                          <a:latin typeface="Montserrat"/>
                          <a:ea typeface="Montserrat"/>
                          <a:cs typeface="Montserrat"/>
                          <a:sym typeface="Montserrat"/>
                        </a:rPr>
                        <a:t>Un manifest.json creado fuera del navegador</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DeviceFileEvents</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r>
            </a:tbl>
          </a:graphicData>
        </a:graphic>
      </p:graphicFrame>
      <p:sp>
        <p:nvSpPr>
          <p:cNvPr id="459" name="Google Shape;459;p18"/>
          <p:cNvSpPr/>
          <p:nvPr/>
        </p:nvSpPr>
        <p:spPr>
          <a:xfrm>
            <a:off x="812800" y="6238280"/>
            <a:ext cx="974794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Queries completas en el repo del workshop · * el lab no ingiere el 4104: PowerShellCommand ve los cmdlets, no el script</a:t>
            </a:r>
            <a:endParaRPr b="0" i="0" sz="1200" u="none" cap="none" strike="noStrike">
              <a:solidFill>
                <a:schemeClr val="lt1"/>
              </a:solidFill>
              <a:latin typeface="Montserrat"/>
              <a:ea typeface="Montserrat"/>
              <a:cs typeface="Montserrat"/>
              <a:sym typeface="Montserrat"/>
            </a:endParaRPr>
          </a:p>
        </p:txBody>
      </p:sp>
      <p:sp>
        <p:nvSpPr>
          <p:cNvPr id="460" name="Google Shape;460;p18"/>
          <p:cNvSpPr/>
          <p:nvPr/>
        </p:nvSpPr>
        <p:spPr>
          <a:xfrm>
            <a:off x="11176248" y="6238280"/>
            <a:ext cx="202952"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18</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465" name="Shape 465"/>
        <p:cNvGrpSpPr/>
        <p:nvPr/>
      </p:nvGrpSpPr>
      <p:grpSpPr>
        <a:xfrm>
          <a:off x="0" y="0"/>
          <a:ext cx="0" cy="0"/>
          <a:chOff x="0" y="0"/>
          <a:chExt cx="0" cy="0"/>
        </a:xfrm>
      </p:grpSpPr>
      <p:sp>
        <p:nvSpPr>
          <p:cNvPr id="466" name="Google Shape;466;p19"/>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LA CAZA EN SENTINEL</a:t>
            </a:r>
            <a:endParaRPr b="0" i="0" sz="1200" u="none" cap="none" strike="noStrike">
              <a:solidFill>
                <a:schemeClr val="lt1"/>
              </a:solidFill>
              <a:latin typeface="Montserrat"/>
              <a:ea typeface="Montserrat"/>
              <a:cs typeface="Montserrat"/>
              <a:sym typeface="Montserrat"/>
            </a:endParaRPr>
          </a:p>
        </p:txBody>
      </p:sp>
      <p:sp>
        <p:nvSpPr>
          <p:cNvPr id="467" name="Google Shape;467;p19"/>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Query 1: el linaje del pegado</a:t>
            </a:r>
            <a:endParaRPr sz="3200"/>
          </a:p>
        </p:txBody>
      </p:sp>
      <p:sp>
        <p:nvSpPr>
          <p:cNvPr id="468" name="Google Shape;468;p19"/>
          <p:cNvSpPr/>
          <p:nvPr/>
        </p:nvSpPr>
        <p:spPr>
          <a:xfrm>
            <a:off x="815975" y="1831925"/>
            <a:ext cx="6724650" cy="3155950"/>
          </a:xfrm>
          <a:prstGeom prst="roundRect">
            <a:avLst>
              <a:gd fmla="val 3119" name="adj"/>
            </a:avLst>
          </a:prstGeom>
          <a:solidFill>
            <a:srgbClr val="08070D"/>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9"/>
          <p:cNvSpPr/>
          <p:nvPr/>
        </p:nvSpPr>
        <p:spPr>
          <a:xfrm>
            <a:off x="1073150" y="2038300"/>
            <a:ext cx="6396609"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59E42"/>
              </a:buClr>
              <a:buSzPts val="1200"/>
              <a:buFont typeface="JetBrains Mono"/>
              <a:buNone/>
            </a:pPr>
            <a:r>
              <a:rPr b="0" i="0" lang="en-US" sz="1200" u="none" cap="none" strike="noStrike">
                <a:solidFill>
                  <a:srgbClr val="F59E42"/>
                </a:solidFill>
                <a:latin typeface="JetBrains Mono"/>
                <a:ea typeface="JetBrains Mono"/>
                <a:cs typeface="JetBrains Mono"/>
                <a:sym typeface="JetBrains Mono"/>
              </a:rPr>
              <a:t>DeviceProcessEvents</a:t>
            </a:r>
            <a:endParaRPr b="0" i="0" sz="1200" u="none" cap="none" strike="noStrike">
              <a:solidFill>
                <a:schemeClr val="lt1"/>
              </a:solidFill>
              <a:latin typeface="Montserrat"/>
              <a:ea typeface="Montserrat"/>
              <a:cs typeface="Montserrat"/>
              <a:sym typeface="Montserrat"/>
            </a:endParaRPr>
          </a:p>
        </p:txBody>
      </p:sp>
      <p:sp>
        <p:nvSpPr>
          <p:cNvPr id="470" name="Google Shape;470;p19"/>
          <p:cNvSpPr/>
          <p:nvPr/>
        </p:nvSpPr>
        <p:spPr>
          <a:xfrm>
            <a:off x="1073150" y="2266900"/>
            <a:ext cx="6396609"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C2C2F4"/>
              </a:buClr>
              <a:buSzPts val="1200"/>
              <a:buFont typeface="JetBrains Mono"/>
              <a:buNone/>
            </a:pPr>
            <a:r>
              <a:rPr b="0" i="0" lang="en-US" sz="1200" u="none" cap="none" strike="noStrike">
                <a:solidFill>
                  <a:srgbClr val="C2C2F4"/>
                </a:solidFill>
                <a:latin typeface="JetBrains Mono"/>
                <a:ea typeface="JetBrains Mono"/>
                <a:cs typeface="JetBrains Mono"/>
                <a:sym typeface="JetBrains Mono"/>
              </a:rPr>
              <a:t>| where</a:t>
            </a:r>
            <a:r>
              <a:rPr b="0" i="0" lang="en-US" sz="1200" u="none" cap="none" strike="noStrike">
                <a:solidFill>
                  <a:srgbClr val="DCD8EA"/>
                </a:solidFill>
                <a:latin typeface="JetBrains Mono"/>
                <a:ea typeface="JetBrains Mono"/>
                <a:cs typeface="JetBrains Mono"/>
                <a:sym typeface="JetBrains Mono"/>
              </a:rPr>
              <a:t> TimeGenerated &gt; ago(30d)</a:t>
            </a:r>
            <a:endParaRPr b="0" i="0" sz="1200" u="none" cap="none" strike="noStrike">
              <a:solidFill>
                <a:schemeClr val="lt1"/>
              </a:solidFill>
              <a:latin typeface="Montserrat"/>
              <a:ea typeface="Montserrat"/>
              <a:cs typeface="Montserrat"/>
              <a:sym typeface="Montserrat"/>
            </a:endParaRPr>
          </a:p>
        </p:txBody>
      </p:sp>
      <p:sp>
        <p:nvSpPr>
          <p:cNvPr id="471" name="Google Shape;471;p19"/>
          <p:cNvSpPr/>
          <p:nvPr/>
        </p:nvSpPr>
        <p:spPr>
          <a:xfrm>
            <a:off x="1073150" y="2495500"/>
            <a:ext cx="6396609"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C2C2F4"/>
              </a:buClr>
              <a:buSzPts val="1200"/>
              <a:buFont typeface="JetBrains Mono"/>
              <a:buNone/>
            </a:pPr>
            <a:r>
              <a:rPr b="0" i="0" lang="en-US" sz="1200" u="none" cap="none" strike="noStrike">
                <a:solidFill>
                  <a:srgbClr val="C2C2F4"/>
                </a:solidFill>
                <a:latin typeface="JetBrains Mono"/>
                <a:ea typeface="JetBrains Mono"/>
                <a:cs typeface="JetBrains Mono"/>
                <a:sym typeface="JetBrains Mono"/>
              </a:rPr>
              <a:t>| where</a:t>
            </a:r>
            <a:r>
              <a:rPr b="0" i="0" lang="en-US" sz="1200" u="none" cap="none" strike="noStrike">
                <a:solidFill>
                  <a:srgbClr val="DCD8EA"/>
                </a:solidFill>
                <a:latin typeface="JetBrains Mono"/>
                <a:ea typeface="JetBrains Mono"/>
                <a:cs typeface="JetBrains Mono"/>
                <a:sym typeface="JetBrains Mono"/>
              </a:rPr>
              <a:t> FileName in~ ("powershell.exe", "pwsh.exe",</a:t>
            </a:r>
            <a:endParaRPr b="0" i="0" sz="1200" u="none" cap="none" strike="noStrike">
              <a:solidFill>
                <a:schemeClr val="lt1"/>
              </a:solidFill>
              <a:latin typeface="Montserrat"/>
              <a:ea typeface="Montserrat"/>
              <a:cs typeface="Montserrat"/>
              <a:sym typeface="Montserrat"/>
            </a:endParaRPr>
          </a:p>
        </p:txBody>
      </p:sp>
      <p:sp>
        <p:nvSpPr>
          <p:cNvPr id="472" name="Google Shape;472;p19"/>
          <p:cNvSpPr/>
          <p:nvPr/>
        </p:nvSpPr>
        <p:spPr>
          <a:xfrm>
            <a:off x="1073150" y="2724100"/>
            <a:ext cx="6396609"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DCD8EA"/>
              </a:buClr>
              <a:buSzPts val="1200"/>
              <a:buFont typeface="JetBrains Mono"/>
              <a:buNone/>
            </a:pPr>
            <a:r>
              <a:rPr b="0" i="0" lang="en-US" sz="1200" u="none" cap="none" strike="noStrike">
                <a:solidFill>
                  <a:srgbClr val="DCD8EA"/>
                </a:solidFill>
                <a:latin typeface="JetBrains Mono"/>
                <a:ea typeface="JetBrains Mono"/>
                <a:cs typeface="JetBrains Mono"/>
                <a:sym typeface="JetBrains Mono"/>
              </a:rPr>
              <a:t>      "cmd.exe", "mshta.exe")</a:t>
            </a:r>
            <a:endParaRPr b="0" i="0" sz="1200" u="none" cap="none" strike="noStrike">
              <a:solidFill>
                <a:schemeClr val="lt1"/>
              </a:solidFill>
              <a:latin typeface="Montserrat"/>
              <a:ea typeface="Montserrat"/>
              <a:cs typeface="Montserrat"/>
              <a:sym typeface="Montserrat"/>
            </a:endParaRPr>
          </a:p>
        </p:txBody>
      </p:sp>
      <p:sp>
        <p:nvSpPr>
          <p:cNvPr id="473" name="Google Shape;473;p19"/>
          <p:cNvSpPr/>
          <p:nvPr/>
        </p:nvSpPr>
        <p:spPr>
          <a:xfrm>
            <a:off x="1073150" y="2952700"/>
            <a:ext cx="6396609"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C2C2F4"/>
              </a:buClr>
              <a:buSzPts val="1200"/>
              <a:buFont typeface="JetBrains Mono"/>
              <a:buNone/>
            </a:pPr>
            <a:r>
              <a:rPr b="0" i="0" lang="en-US" sz="1200" u="none" cap="none" strike="noStrike">
                <a:solidFill>
                  <a:srgbClr val="C2C2F4"/>
                </a:solidFill>
                <a:latin typeface="JetBrains Mono"/>
                <a:ea typeface="JetBrains Mono"/>
                <a:cs typeface="JetBrains Mono"/>
                <a:sym typeface="JetBrains Mono"/>
              </a:rPr>
              <a:t>| where</a:t>
            </a:r>
            <a:r>
              <a:rPr b="0" i="0" lang="en-US" sz="1200" u="none" cap="none" strike="noStrike">
                <a:solidFill>
                  <a:srgbClr val="DCD8EA"/>
                </a:solidFill>
                <a:latin typeface="JetBrains Mono"/>
                <a:ea typeface="JetBrains Mono"/>
                <a:cs typeface="JetBrains Mono"/>
                <a:sym typeface="JetBrains Mono"/>
              </a:rPr>
              <a:t> InitiatingProcessFileName in~ ("explorer.exe",</a:t>
            </a:r>
            <a:endParaRPr b="0" i="0" sz="1200" u="none" cap="none" strike="noStrike">
              <a:solidFill>
                <a:schemeClr val="lt1"/>
              </a:solidFill>
              <a:latin typeface="Montserrat"/>
              <a:ea typeface="Montserrat"/>
              <a:cs typeface="Montserrat"/>
              <a:sym typeface="Montserrat"/>
            </a:endParaRPr>
          </a:p>
        </p:txBody>
      </p:sp>
      <p:sp>
        <p:nvSpPr>
          <p:cNvPr id="474" name="Google Shape;474;p19"/>
          <p:cNvSpPr/>
          <p:nvPr/>
        </p:nvSpPr>
        <p:spPr>
          <a:xfrm>
            <a:off x="1073150" y="3181300"/>
            <a:ext cx="6396609"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DCD8EA"/>
              </a:buClr>
              <a:buSzPts val="1200"/>
              <a:buFont typeface="JetBrains Mono"/>
              <a:buNone/>
            </a:pPr>
            <a:r>
              <a:rPr b="0" i="0" lang="en-US" sz="1200" u="none" cap="none" strike="noStrike">
                <a:solidFill>
                  <a:srgbClr val="DCD8EA"/>
                </a:solidFill>
                <a:latin typeface="JetBrains Mono"/>
                <a:ea typeface="JetBrains Mono"/>
                <a:cs typeface="JetBrains Mono"/>
                <a:sym typeface="JetBrains Mono"/>
              </a:rPr>
              <a:t>      "chrome.exe", "msedge.exe", "firefox.exe")</a:t>
            </a:r>
            <a:endParaRPr b="0" i="0" sz="1200" u="none" cap="none" strike="noStrike">
              <a:solidFill>
                <a:schemeClr val="lt1"/>
              </a:solidFill>
              <a:latin typeface="Montserrat"/>
              <a:ea typeface="Montserrat"/>
              <a:cs typeface="Montserrat"/>
              <a:sym typeface="Montserrat"/>
            </a:endParaRPr>
          </a:p>
        </p:txBody>
      </p:sp>
      <p:sp>
        <p:nvSpPr>
          <p:cNvPr id="475" name="Google Shape;475;p19"/>
          <p:cNvSpPr/>
          <p:nvPr/>
        </p:nvSpPr>
        <p:spPr>
          <a:xfrm>
            <a:off x="1073150" y="3409900"/>
            <a:ext cx="6396609"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C2C2F4"/>
              </a:buClr>
              <a:buSzPts val="1200"/>
              <a:buFont typeface="JetBrains Mono"/>
              <a:buNone/>
            </a:pPr>
            <a:r>
              <a:rPr b="0" i="0" lang="en-US" sz="1200" u="none" cap="none" strike="noStrike">
                <a:solidFill>
                  <a:srgbClr val="C2C2F4"/>
                </a:solidFill>
                <a:latin typeface="JetBrains Mono"/>
                <a:ea typeface="JetBrains Mono"/>
                <a:cs typeface="JetBrains Mono"/>
                <a:sym typeface="JetBrains Mono"/>
              </a:rPr>
              <a:t>| where</a:t>
            </a:r>
            <a:r>
              <a:rPr b="0" i="0" lang="en-US" sz="1200" u="none" cap="none" strike="noStrike">
                <a:solidFill>
                  <a:srgbClr val="DCD8EA"/>
                </a:solidFill>
                <a:latin typeface="JetBrains Mono"/>
                <a:ea typeface="JetBrains Mono"/>
                <a:cs typeface="JetBrains Mono"/>
                <a:sym typeface="JetBrains Mono"/>
              </a:rPr>
              <a:t> ProcessCommandLine has_any ("irm", "iwr", "iex",</a:t>
            </a:r>
            <a:endParaRPr b="0" i="0" sz="1200" u="none" cap="none" strike="noStrike">
              <a:solidFill>
                <a:schemeClr val="lt1"/>
              </a:solidFill>
              <a:latin typeface="Montserrat"/>
              <a:ea typeface="Montserrat"/>
              <a:cs typeface="Montserrat"/>
              <a:sym typeface="Montserrat"/>
            </a:endParaRPr>
          </a:p>
        </p:txBody>
      </p:sp>
      <p:sp>
        <p:nvSpPr>
          <p:cNvPr id="476" name="Google Shape;476;p19"/>
          <p:cNvSpPr/>
          <p:nvPr/>
        </p:nvSpPr>
        <p:spPr>
          <a:xfrm>
            <a:off x="1073150" y="3638500"/>
            <a:ext cx="6396609"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DCD8EA"/>
              </a:buClr>
              <a:buSzPts val="1200"/>
              <a:buFont typeface="JetBrains Mono"/>
              <a:buNone/>
            </a:pPr>
            <a:r>
              <a:rPr b="0" i="0" lang="en-US" sz="1200" u="none" cap="none" strike="noStrike">
                <a:solidFill>
                  <a:srgbClr val="DCD8EA"/>
                </a:solidFill>
                <a:latin typeface="JetBrains Mono"/>
                <a:ea typeface="JetBrains Mono"/>
                <a:cs typeface="JetBrains Mono"/>
                <a:sym typeface="JetBrains Mono"/>
              </a:rPr>
              <a:t>      "Invoke-RestMethod", "Invoke-WebRequest",</a:t>
            </a:r>
            <a:endParaRPr b="0" i="0" sz="1200" u="none" cap="none" strike="noStrike">
              <a:solidFill>
                <a:schemeClr val="lt1"/>
              </a:solidFill>
              <a:latin typeface="Montserrat"/>
              <a:ea typeface="Montserrat"/>
              <a:cs typeface="Montserrat"/>
              <a:sym typeface="Montserrat"/>
            </a:endParaRPr>
          </a:p>
        </p:txBody>
      </p:sp>
      <p:sp>
        <p:nvSpPr>
          <p:cNvPr id="477" name="Google Shape;477;p19"/>
          <p:cNvSpPr/>
          <p:nvPr/>
        </p:nvSpPr>
        <p:spPr>
          <a:xfrm>
            <a:off x="1073150" y="3867100"/>
            <a:ext cx="6396609"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DCD8EA"/>
              </a:buClr>
              <a:buSzPts val="1200"/>
              <a:buFont typeface="JetBrains Mono"/>
              <a:buNone/>
            </a:pPr>
            <a:r>
              <a:rPr b="0" i="0" lang="en-US" sz="1200" u="none" cap="none" strike="noStrike">
                <a:solidFill>
                  <a:srgbClr val="DCD8EA"/>
                </a:solidFill>
                <a:latin typeface="JetBrains Mono"/>
                <a:ea typeface="JetBrains Mono"/>
                <a:cs typeface="JetBrains Mono"/>
                <a:sym typeface="JetBrains Mono"/>
              </a:rPr>
              <a:t>      "DownloadString", "http")</a:t>
            </a:r>
            <a:endParaRPr b="0" i="0" sz="1200" u="none" cap="none" strike="noStrike">
              <a:solidFill>
                <a:schemeClr val="lt1"/>
              </a:solidFill>
              <a:latin typeface="Montserrat"/>
              <a:ea typeface="Montserrat"/>
              <a:cs typeface="Montserrat"/>
              <a:sym typeface="Montserrat"/>
            </a:endParaRPr>
          </a:p>
        </p:txBody>
      </p:sp>
      <p:sp>
        <p:nvSpPr>
          <p:cNvPr id="478" name="Google Shape;478;p19"/>
          <p:cNvSpPr/>
          <p:nvPr/>
        </p:nvSpPr>
        <p:spPr>
          <a:xfrm>
            <a:off x="1073150" y="4095700"/>
            <a:ext cx="6396609"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C2C2F4"/>
              </a:buClr>
              <a:buSzPts val="1200"/>
              <a:buFont typeface="JetBrains Mono"/>
              <a:buNone/>
            </a:pPr>
            <a:r>
              <a:rPr b="0" i="0" lang="en-US" sz="1200" u="none" cap="none" strike="noStrike">
                <a:solidFill>
                  <a:srgbClr val="C2C2F4"/>
                </a:solidFill>
                <a:latin typeface="JetBrains Mono"/>
                <a:ea typeface="JetBrains Mono"/>
                <a:cs typeface="JetBrains Mono"/>
                <a:sym typeface="JetBrains Mono"/>
              </a:rPr>
              <a:t>| project</a:t>
            </a:r>
            <a:r>
              <a:rPr b="0" i="0" lang="en-US" sz="1200" u="none" cap="none" strike="noStrike">
                <a:solidFill>
                  <a:srgbClr val="DCD8EA"/>
                </a:solidFill>
                <a:latin typeface="JetBrains Mono"/>
                <a:ea typeface="JetBrains Mono"/>
                <a:cs typeface="JetBrains Mono"/>
                <a:sym typeface="JetBrains Mono"/>
              </a:rPr>
              <a:t> TimeGenerated, DeviceName, AccountName,</a:t>
            </a:r>
            <a:endParaRPr b="0" i="0" sz="1200" u="none" cap="none" strike="noStrike">
              <a:solidFill>
                <a:schemeClr val="lt1"/>
              </a:solidFill>
              <a:latin typeface="Montserrat"/>
              <a:ea typeface="Montserrat"/>
              <a:cs typeface="Montserrat"/>
              <a:sym typeface="Montserrat"/>
            </a:endParaRPr>
          </a:p>
        </p:txBody>
      </p:sp>
      <p:sp>
        <p:nvSpPr>
          <p:cNvPr id="479" name="Google Shape;479;p19"/>
          <p:cNvSpPr/>
          <p:nvPr/>
        </p:nvSpPr>
        <p:spPr>
          <a:xfrm>
            <a:off x="1073150" y="4324300"/>
            <a:ext cx="6396609"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DCD8EA"/>
              </a:buClr>
              <a:buSzPts val="1200"/>
              <a:buFont typeface="JetBrains Mono"/>
              <a:buNone/>
            </a:pPr>
            <a:r>
              <a:rPr b="0" i="0" lang="en-US" sz="1200" u="none" cap="none" strike="noStrike">
                <a:solidFill>
                  <a:srgbClr val="DCD8EA"/>
                </a:solidFill>
                <a:latin typeface="JetBrains Mono"/>
                <a:ea typeface="JetBrains Mono"/>
                <a:cs typeface="JetBrains Mono"/>
                <a:sym typeface="JetBrains Mono"/>
              </a:rPr>
              <a:t>      InitiatingProcessFileName, ProcessCommandLine</a:t>
            </a:r>
            <a:endParaRPr b="0" i="0" sz="1200" u="none" cap="none" strike="noStrike">
              <a:solidFill>
                <a:schemeClr val="lt1"/>
              </a:solidFill>
              <a:latin typeface="Montserrat"/>
              <a:ea typeface="Montserrat"/>
              <a:cs typeface="Montserrat"/>
              <a:sym typeface="Montserrat"/>
            </a:endParaRPr>
          </a:p>
        </p:txBody>
      </p:sp>
      <p:sp>
        <p:nvSpPr>
          <p:cNvPr id="480" name="Google Shape;480;p19"/>
          <p:cNvSpPr/>
          <p:nvPr/>
        </p:nvSpPr>
        <p:spPr>
          <a:xfrm>
            <a:off x="1073150" y="4552900"/>
            <a:ext cx="6396609"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C2C2F4"/>
              </a:buClr>
              <a:buSzPts val="1200"/>
              <a:buFont typeface="JetBrains Mono"/>
              <a:buNone/>
            </a:pPr>
            <a:r>
              <a:rPr b="0" i="0" lang="en-US" sz="1200" u="none" cap="none" strike="noStrike">
                <a:solidFill>
                  <a:srgbClr val="C2C2F4"/>
                </a:solidFill>
                <a:latin typeface="JetBrains Mono"/>
                <a:ea typeface="JetBrains Mono"/>
                <a:cs typeface="JetBrains Mono"/>
                <a:sym typeface="JetBrains Mono"/>
              </a:rPr>
              <a:t>| sort by</a:t>
            </a:r>
            <a:r>
              <a:rPr b="0" i="0" lang="en-US" sz="1200" u="none" cap="none" strike="noStrike">
                <a:solidFill>
                  <a:srgbClr val="DCD8EA"/>
                </a:solidFill>
                <a:latin typeface="JetBrains Mono"/>
                <a:ea typeface="JetBrains Mono"/>
                <a:cs typeface="JetBrains Mono"/>
                <a:sym typeface="JetBrains Mono"/>
              </a:rPr>
              <a:t> TimeGenerated asc</a:t>
            </a:r>
            <a:endParaRPr b="0" i="0" sz="1200" u="none" cap="none" strike="noStrike">
              <a:solidFill>
                <a:schemeClr val="lt1"/>
              </a:solidFill>
              <a:latin typeface="Montserrat"/>
              <a:ea typeface="Montserrat"/>
              <a:cs typeface="Montserrat"/>
              <a:sym typeface="Montserrat"/>
            </a:endParaRPr>
          </a:p>
        </p:txBody>
      </p:sp>
      <p:sp>
        <p:nvSpPr>
          <p:cNvPr id="481" name="Google Shape;481;p19"/>
          <p:cNvSpPr/>
          <p:nvPr/>
        </p:nvSpPr>
        <p:spPr>
          <a:xfrm>
            <a:off x="7848600" y="1828750"/>
            <a:ext cx="3636518"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Por qué el navegador</a:t>
            </a:r>
            <a:endParaRPr b="0" i="0" sz="1500" u="none" cap="none" strike="noStrike">
              <a:solidFill>
                <a:schemeClr val="lt1"/>
              </a:solidFill>
              <a:latin typeface="Montserrat"/>
              <a:ea typeface="Montserrat"/>
              <a:cs typeface="Montserrat"/>
              <a:sym typeface="Montserrat"/>
            </a:endParaRPr>
          </a:p>
        </p:txBody>
      </p:sp>
      <p:sp>
        <p:nvSpPr>
          <p:cNvPr id="482" name="Google Shape;482;p19"/>
          <p:cNvSpPr/>
          <p:nvPr/>
        </p:nvSpPr>
        <p:spPr>
          <a:xfrm>
            <a:off x="7848600" y="2095450"/>
            <a:ext cx="3636518"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FileFix ejecuta el comando desde el diálogo de archivos del navegador: el padre es chrome.exe o msedge.exe.</a:t>
            </a:r>
            <a:endParaRPr b="0" i="0" sz="1200" u="none" cap="none" strike="noStrike">
              <a:solidFill>
                <a:schemeClr val="lt1"/>
              </a:solidFill>
              <a:latin typeface="Montserrat"/>
              <a:ea typeface="Montserrat"/>
              <a:cs typeface="Montserrat"/>
              <a:sym typeface="Montserrat"/>
            </a:endParaRPr>
          </a:p>
        </p:txBody>
      </p:sp>
      <p:sp>
        <p:nvSpPr>
          <p:cNvPr id="483" name="Google Shape;483;p19"/>
          <p:cNvSpPr/>
          <p:nvPr/>
        </p:nvSpPr>
        <p:spPr>
          <a:xfrm>
            <a:off x="7848600" y="2913211"/>
            <a:ext cx="3636518"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59E42"/>
              </a:buClr>
              <a:buSzPts val="1500"/>
              <a:buFont typeface="Montserrat"/>
              <a:buNone/>
            </a:pPr>
            <a:r>
              <a:rPr b="1" i="0" lang="en-US" sz="1500" u="none" cap="none" strike="noStrike">
                <a:solidFill>
                  <a:srgbClr val="F59E42"/>
                </a:solidFill>
                <a:latin typeface="Montserrat"/>
                <a:ea typeface="Montserrat"/>
                <a:cs typeface="Montserrat"/>
                <a:sym typeface="Montserrat"/>
              </a:rPr>
              <a:t>Lo que no ve</a:t>
            </a:r>
            <a:endParaRPr b="0" i="0" sz="1500" u="none" cap="none" strike="noStrike">
              <a:solidFill>
                <a:schemeClr val="lt1"/>
              </a:solidFill>
              <a:latin typeface="Montserrat"/>
              <a:ea typeface="Montserrat"/>
              <a:cs typeface="Montserrat"/>
              <a:sym typeface="Montserrat"/>
            </a:endParaRPr>
          </a:p>
        </p:txBody>
      </p:sp>
      <p:sp>
        <p:nvSpPr>
          <p:cNvPr id="484" name="Google Shape;484;p19"/>
          <p:cNvSpPr/>
          <p:nvPr/>
        </p:nvSpPr>
        <p:spPr>
          <a:xfrm>
            <a:off x="7848600" y="3179911"/>
            <a:ext cx="3636518" cy="10920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Un pegado en una consola ya abierta (Win+X → Terminal): el padre es la consola y, en PowerShell, el comando ni siquiera es una línea de comandos. Eso lo ve Script Block Logging.</a:t>
            </a:r>
            <a:endParaRPr b="0" i="0" sz="1200" u="none" cap="none" strike="noStrike">
              <a:solidFill>
                <a:schemeClr val="lt1"/>
              </a:solidFill>
              <a:latin typeface="Montserrat"/>
              <a:ea typeface="Montserrat"/>
              <a:cs typeface="Montserrat"/>
              <a:sym typeface="Montserrat"/>
            </a:endParaRPr>
          </a:p>
        </p:txBody>
      </p:sp>
      <p:sp>
        <p:nvSpPr>
          <p:cNvPr id="485" name="Google Shape;485;p19"/>
          <p:cNvSpPr/>
          <p:nvPr/>
        </p:nvSpPr>
        <p:spPr>
          <a:xfrm>
            <a:off x="7848600" y="4424313"/>
            <a:ext cx="3636518"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C2C2F4"/>
              </a:buClr>
              <a:buSzPts val="1500"/>
              <a:buFont typeface="Montserrat"/>
              <a:buNone/>
            </a:pPr>
            <a:r>
              <a:rPr b="1" i="0" lang="en-US" sz="1500" u="none" cap="none" strike="noStrike">
                <a:solidFill>
                  <a:srgbClr val="C2C2F4"/>
                </a:solidFill>
                <a:latin typeface="Montserrat"/>
                <a:ea typeface="Montserrat"/>
                <a:cs typeface="Montserrat"/>
                <a:sym typeface="Montserrat"/>
              </a:rPr>
              <a:t>Validado en el lab</a:t>
            </a:r>
            <a:endParaRPr b="0" i="0" sz="1500" u="none" cap="none" strike="noStrike">
              <a:solidFill>
                <a:schemeClr val="lt1"/>
              </a:solidFill>
              <a:latin typeface="Montserrat"/>
              <a:ea typeface="Montserrat"/>
              <a:cs typeface="Montserrat"/>
              <a:sym typeface="Montserrat"/>
            </a:endParaRPr>
          </a:p>
        </p:txBody>
      </p:sp>
      <p:sp>
        <p:nvSpPr>
          <p:cNvPr id="486" name="Google Shape;486;p19"/>
          <p:cNvSpPr/>
          <p:nvPr/>
        </p:nvSpPr>
        <p:spPr>
          <a:xfrm>
            <a:off x="7848600" y="4691013"/>
            <a:ext cx="3636518"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En Windows 11 el padre es explorer.exe, y RunMRU guarda el comando completo.</a:t>
            </a:r>
            <a:endParaRPr b="0" i="0" sz="1200" u="none" cap="none" strike="noStrike">
              <a:solidFill>
                <a:schemeClr val="lt1"/>
              </a:solidFill>
              <a:latin typeface="Montserrat"/>
              <a:ea typeface="Montserrat"/>
              <a:cs typeface="Montserrat"/>
              <a:sym typeface="Montserrat"/>
            </a:endParaRPr>
          </a:p>
        </p:txBody>
      </p:sp>
      <p:sp>
        <p:nvSpPr>
          <p:cNvPr id="487" name="Google Shape;487;p19"/>
          <p:cNvSpPr/>
          <p:nvPr/>
        </p:nvSpPr>
        <p:spPr>
          <a:xfrm>
            <a:off x="812800" y="6238280"/>
            <a:ext cx="523482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WRITING THE INCIDENT STORY · DEATHCON 2026</a:t>
            </a:r>
            <a:endParaRPr b="0" i="0" sz="1200" u="none" cap="none" strike="noStrike">
              <a:solidFill>
                <a:schemeClr val="lt1"/>
              </a:solidFill>
              <a:latin typeface="Montserrat"/>
              <a:ea typeface="Montserrat"/>
              <a:cs typeface="Montserrat"/>
              <a:sym typeface="Montserrat"/>
            </a:endParaRPr>
          </a:p>
        </p:txBody>
      </p:sp>
      <p:sp>
        <p:nvSpPr>
          <p:cNvPr id="488" name="Google Shape;488;p19"/>
          <p:cNvSpPr/>
          <p:nvPr/>
        </p:nvSpPr>
        <p:spPr>
          <a:xfrm>
            <a:off x="11180614" y="6238280"/>
            <a:ext cx="198586"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19</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493" name="Shape 493"/>
        <p:cNvGrpSpPr/>
        <p:nvPr/>
      </p:nvGrpSpPr>
      <p:grpSpPr>
        <a:xfrm>
          <a:off x="0" y="0"/>
          <a:ext cx="0" cy="0"/>
          <a:chOff x="0" y="0"/>
          <a:chExt cx="0" cy="0"/>
        </a:xfrm>
      </p:grpSpPr>
      <p:sp>
        <p:nvSpPr>
          <p:cNvPr id="494" name="Google Shape;494;p20"/>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LA CAZA EN SENTINEL</a:t>
            </a:r>
            <a:endParaRPr b="0" i="0" sz="1200" u="none" cap="none" strike="noStrike">
              <a:solidFill>
                <a:schemeClr val="lt1"/>
              </a:solidFill>
              <a:latin typeface="Montserrat"/>
              <a:ea typeface="Montserrat"/>
              <a:cs typeface="Montserrat"/>
              <a:sym typeface="Montserrat"/>
            </a:endParaRPr>
          </a:p>
        </p:txBody>
      </p:sp>
      <p:sp>
        <p:nvSpPr>
          <p:cNvPr id="495" name="Google Shape;495;p20"/>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El ruido también es parte de la historia</a:t>
            </a:r>
            <a:endParaRPr sz="3200"/>
          </a:p>
        </p:txBody>
      </p:sp>
      <p:graphicFrame>
        <p:nvGraphicFramePr>
          <p:cNvPr id="496" name="Google Shape;496;p20"/>
          <p:cNvGraphicFramePr/>
          <p:nvPr/>
        </p:nvGraphicFramePr>
        <p:xfrm>
          <a:off x="825500" y="1790650"/>
          <a:ext cx="3000000" cy="3000000"/>
        </p:xfrm>
        <a:graphic>
          <a:graphicData uri="http://schemas.openxmlformats.org/drawingml/2006/table">
            <a:tbl>
              <a:tblPr>
                <a:noFill/>
                <a:tableStyleId>{FB773AD2-FA50-4F7C-A878-0F7E4A0B4D0B}</a:tableStyleId>
              </a:tblPr>
              <a:tblGrid>
                <a:gridCol w="4221475"/>
                <a:gridCol w="3377175"/>
                <a:gridCol w="2955025"/>
              </a:tblGrid>
              <a:tr h="378425">
                <a:tc>
                  <a:txBody>
                    <a:bodyPr/>
                    <a:lstStyle/>
                    <a:p>
                      <a:pPr indent="0" lvl="0" marL="0" marR="0" rtl="0" algn="l">
                        <a:lnSpc>
                          <a:spcPct val="140000"/>
                        </a:lnSpc>
                        <a:spcBef>
                          <a:spcPts val="0"/>
                        </a:spcBef>
                        <a:spcAft>
                          <a:spcPts val="0"/>
                        </a:spcAft>
                        <a:buClr>
                          <a:srgbClr val="C2C2F4"/>
                        </a:buClr>
                        <a:buSzPts val="1200"/>
                        <a:buFont typeface="Montserrat"/>
                        <a:buNone/>
                      </a:pPr>
                      <a:r>
                        <a:rPr b="1" lang="en-US" sz="1200" u="none" cap="none" strike="noStrike">
                          <a:solidFill>
                            <a:srgbClr val="C2C2F4"/>
                          </a:solidFill>
                          <a:latin typeface="Montserrat"/>
                          <a:ea typeface="Montserrat"/>
                          <a:cs typeface="Montserrat"/>
                          <a:sym typeface="Montserrat"/>
                        </a:rPr>
                        <a:t>Qué se ve</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584662"/>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584662"/>
                      </a:solidFill>
                      <a:prstDash val="solid"/>
                      <a:round/>
                      <a:headEnd len="sm" w="sm" type="none"/>
                      <a:tailEnd len="sm" w="sm" type="none"/>
                    </a:lnB>
                    <a:solidFill>
                      <a:srgbClr val="2A1438"/>
                    </a:solidFill>
                  </a:tcPr>
                </a:tc>
                <a:tc>
                  <a:txBody>
                    <a:bodyPr/>
                    <a:lstStyle/>
                    <a:p>
                      <a:pPr indent="0" lvl="0" marL="0" marR="0" rtl="0" algn="l">
                        <a:lnSpc>
                          <a:spcPct val="140000"/>
                        </a:lnSpc>
                        <a:spcBef>
                          <a:spcPts val="0"/>
                        </a:spcBef>
                        <a:spcAft>
                          <a:spcPts val="0"/>
                        </a:spcAft>
                        <a:buClr>
                          <a:srgbClr val="C2C2F4"/>
                        </a:buClr>
                        <a:buSzPts val="1200"/>
                        <a:buFont typeface="Montserrat"/>
                        <a:buNone/>
                      </a:pPr>
                      <a:r>
                        <a:rPr b="1" lang="en-US" sz="1200" u="none" cap="none" strike="noStrike">
                          <a:solidFill>
                            <a:srgbClr val="C2C2F4"/>
                          </a:solidFill>
                          <a:latin typeface="Montserrat"/>
                          <a:ea typeface="Montserrat"/>
                          <a:cs typeface="Montserrat"/>
                          <a:sym typeface="Montserrat"/>
                        </a:rPr>
                        <a:t>Qué es</a:t>
                      </a:r>
                      <a:endParaRPr sz="1200" u="none" cap="none" strike="noStrike">
                        <a:latin typeface="Montserrat"/>
                        <a:ea typeface="Montserrat"/>
                        <a:cs typeface="Montserrat"/>
                        <a:sym typeface="Montserrat"/>
                      </a:endParaRPr>
                    </a:p>
                  </a:txBody>
                  <a:tcPr marT="76200" marB="76200" marR="127000" marL="127000">
                    <a:lnL cap="flat" cmpd="sng" w="12700">
                      <a:solidFill>
                        <a:srgbClr val="584662"/>
                      </a:solidFill>
                      <a:prstDash val="solid"/>
                      <a:round/>
                      <a:headEnd len="sm" w="sm" type="none"/>
                      <a:tailEnd len="sm" w="sm" type="none"/>
                    </a:lnL>
                    <a:lnR cap="flat" cmpd="sng" w="12700">
                      <a:solidFill>
                        <a:srgbClr val="584662"/>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584662"/>
                      </a:solidFill>
                      <a:prstDash val="solid"/>
                      <a:round/>
                      <a:headEnd len="sm" w="sm" type="none"/>
                      <a:tailEnd len="sm" w="sm" type="none"/>
                    </a:lnB>
                    <a:solidFill>
                      <a:srgbClr val="2A1438"/>
                    </a:solidFill>
                  </a:tcPr>
                </a:tc>
                <a:tc>
                  <a:txBody>
                    <a:bodyPr/>
                    <a:lstStyle/>
                    <a:p>
                      <a:pPr indent="0" lvl="0" marL="0" marR="0" rtl="0" algn="l">
                        <a:lnSpc>
                          <a:spcPct val="140000"/>
                        </a:lnSpc>
                        <a:spcBef>
                          <a:spcPts val="0"/>
                        </a:spcBef>
                        <a:spcAft>
                          <a:spcPts val="0"/>
                        </a:spcAft>
                        <a:buClr>
                          <a:srgbClr val="C2C2F4"/>
                        </a:buClr>
                        <a:buSzPts val="1200"/>
                        <a:buFont typeface="Montserrat"/>
                        <a:buNone/>
                      </a:pPr>
                      <a:r>
                        <a:rPr b="1" lang="en-US" sz="1200" u="none" cap="none" strike="noStrike">
                          <a:solidFill>
                            <a:srgbClr val="C2C2F4"/>
                          </a:solidFill>
                          <a:latin typeface="Montserrat"/>
                          <a:ea typeface="Montserrat"/>
                          <a:cs typeface="Montserrat"/>
                          <a:sym typeface="Montserrat"/>
                        </a:rPr>
                        <a:t>Qué hacer</a:t>
                      </a:r>
                      <a:endParaRPr sz="1200" u="none" cap="none" strike="noStrike">
                        <a:latin typeface="Montserrat"/>
                        <a:ea typeface="Montserrat"/>
                        <a:cs typeface="Montserrat"/>
                        <a:sym typeface="Montserrat"/>
                      </a:endParaRPr>
                    </a:p>
                  </a:txBody>
                  <a:tcPr marT="76200" marB="76200" marR="127000" marL="127000">
                    <a:lnL cap="flat" cmpd="sng" w="12700">
                      <a:solidFill>
                        <a:srgbClr val="584662"/>
                      </a:solidFill>
                      <a:prstDash val="solid"/>
                      <a:round/>
                      <a:headEnd len="sm" w="sm" type="none"/>
                      <a:tailEnd len="sm" w="sm" type="none"/>
                    </a:lnL>
                    <a:lnR cap="flat" cmpd="sng" w="12700">
                      <a:solidFill>
                        <a:srgbClr val="584662"/>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584662"/>
                      </a:solidFill>
                      <a:prstDash val="solid"/>
                      <a:round/>
                      <a:headEnd len="sm" w="sm" type="none"/>
                      <a:tailEnd len="sm" w="sm" type="none"/>
                    </a:lnB>
                    <a:solidFill>
                      <a:srgbClr val="2A1438"/>
                    </a:solidFill>
                  </a:tcPr>
                </a:tc>
              </a:tr>
              <a:tr h="591750">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PowerShell -ExecutionPolicy AllSigned -NoProfile, lanzado por SenseIR.exe</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584662"/>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C9C5D8"/>
                        </a:buClr>
                        <a:buSzPts val="1200"/>
                        <a:buFont typeface="Montserrat"/>
                        <a:buNone/>
                      </a:pPr>
                      <a:r>
                        <a:rPr lang="en-US" sz="1200" u="none" cap="none" strike="noStrike">
                          <a:solidFill>
                            <a:srgbClr val="C9C5D8"/>
                          </a:solidFill>
                          <a:latin typeface="Montserrat"/>
                          <a:ea typeface="Montserrat"/>
                          <a:cs typeface="Montserrat"/>
                          <a:sym typeface="Montserrat"/>
                        </a:rPr>
                        <a:t>El propio sensor de Defender</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584662"/>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C9C5D8"/>
                        </a:buClr>
                        <a:buSzPts val="1200"/>
                        <a:buFont typeface="Montserrat"/>
                        <a:buNone/>
                      </a:pPr>
                      <a:r>
                        <a:rPr lang="en-US" sz="1200" u="none" cap="none" strike="noStrike">
                          <a:solidFill>
                            <a:srgbClr val="C9C5D8"/>
                          </a:solidFill>
                          <a:latin typeface="Montserrat"/>
                          <a:ea typeface="Montserrat"/>
                          <a:cs typeface="Montserrat"/>
                          <a:sym typeface="Montserrat"/>
                        </a:rPr>
                        <a:t>Excluir por proceso padre</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584662"/>
                      </a:solidFill>
                      <a:prstDash val="solid"/>
                      <a:round/>
                      <a:headEnd len="sm" w="sm" type="none"/>
                      <a:tailEnd len="sm" w="sm" type="none"/>
                    </a:lnT>
                    <a:lnB cap="flat" cmpd="sng" w="12700">
                      <a:solidFill>
                        <a:srgbClr val="403F44"/>
                      </a:solidFill>
                      <a:prstDash val="solid"/>
                      <a:round/>
                      <a:headEnd len="sm" w="sm" type="none"/>
                      <a:tailEnd len="sm" w="sm" type="none"/>
                    </a:lnB>
                  </a:tcPr>
                </a:tc>
              </a:tr>
              <a:tr h="591750">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powershell -File …\SYSVOL\…\Invoke-WEFClientSetup.ps1 con -encodedCommand</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C9C5D8"/>
                        </a:buClr>
                        <a:buSzPts val="1200"/>
                        <a:buFont typeface="Montserrat"/>
                        <a:buNone/>
                      </a:pPr>
                      <a:r>
                        <a:rPr lang="en-US" sz="1200" u="none" cap="none" strike="noStrike">
                          <a:solidFill>
                            <a:srgbClr val="C9C5D8"/>
                          </a:solidFill>
                          <a:latin typeface="Montserrat"/>
                          <a:ea typeface="Montserrat"/>
                          <a:cs typeface="Montserrat"/>
                          <a:sym typeface="Montserrat"/>
                        </a:rPr>
                        <a:t>Una GPO de Windows Event Forwarding</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C9C5D8"/>
                        </a:buClr>
                        <a:buSzPts val="1200"/>
                        <a:buFont typeface="Montserrat"/>
                        <a:buNone/>
                      </a:pPr>
                      <a:r>
                        <a:rPr lang="en-US" sz="1200" u="none" cap="none" strike="noStrike">
                          <a:solidFill>
                            <a:srgbClr val="C9C5D8"/>
                          </a:solidFill>
                          <a:latin typeface="Montserrat"/>
                          <a:ea typeface="Montserrat"/>
                          <a:cs typeface="Montserrat"/>
                          <a:sym typeface="Montserrat"/>
                        </a:rPr>
                        <a:t>Excluir por ruta de SYSVOL, documentado</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r>
              <a:tr h="591750">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DownloadFile de http://127.0.0.1/1.exe a invoice.exe</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C9C5D8"/>
                        </a:buClr>
                        <a:buSzPts val="1200"/>
                        <a:buFont typeface="Montserrat"/>
                        <a:buNone/>
                      </a:pPr>
                      <a:r>
                        <a:rPr lang="en-US" sz="1200" u="none" cap="none" strike="noStrike">
                          <a:solidFill>
                            <a:srgbClr val="C9C5D8"/>
                          </a:solidFill>
                          <a:latin typeface="Montserrat"/>
                          <a:ea typeface="Montserrat"/>
                          <a:cs typeface="Montserrat"/>
                          <a:sym typeface="Montserrat"/>
                        </a:rPr>
                        <a:t>La simulación de otro instructor del lab</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C9C5D8"/>
                        </a:buClr>
                        <a:buSzPts val="1200"/>
                        <a:buFont typeface="Montserrat"/>
                        <a:buNone/>
                      </a:pPr>
                      <a:r>
                        <a:rPr lang="en-US" sz="1200" u="none" cap="none" strike="noStrike">
                          <a:solidFill>
                            <a:srgbClr val="C9C5D8"/>
                          </a:solidFill>
                          <a:latin typeface="Montserrat"/>
                          <a:ea typeface="Montserrat"/>
                          <a:cs typeface="Montserrat"/>
                          <a:sym typeface="Montserrat"/>
                        </a:rPr>
                        <a:t>No concluyente: preguntar, no asumir</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r>
              <a:tr h="591750">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mscopilot.exe y msedgewebview2.exe escriben Preferences</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C9C5D8"/>
                        </a:buClr>
                        <a:buSzPts val="1200"/>
                        <a:buFont typeface="Montserrat"/>
                        <a:buNone/>
                      </a:pPr>
                      <a:r>
                        <a:rPr lang="en-US" sz="1200" u="none" cap="none" strike="noStrike">
                          <a:solidFill>
                            <a:srgbClr val="C9C5D8"/>
                          </a:solidFill>
                          <a:latin typeface="Montserrat"/>
                          <a:ea typeface="Montserrat"/>
                          <a:cs typeface="Montserrat"/>
                          <a:sym typeface="Montserrat"/>
                        </a:rPr>
                        <a:t>Copilot y WebView2 en su propio perfil</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C9C5D8"/>
                        </a:buClr>
                        <a:buSzPts val="1200"/>
                        <a:buFont typeface="Montserrat"/>
                        <a:buNone/>
                      </a:pPr>
                      <a:r>
                        <a:rPr lang="en-US" sz="1200" u="none" cap="none" strike="noStrike">
                          <a:solidFill>
                            <a:srgbClr val="C9C5D8"/>
                          </a:solidFill>
                          <a:latin typeface="Montserrat"/>
                          <a:ea typeface="Montserrat"/>
                          <a:cs typeface="Montserrat"/>
                          <a:sym typeface="Montserrat"/>
                        </a:rPr>
                        <a:t>Exclusión justificada en la regla</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r>
            </a:tbl>
          </a:graphicData>
        </a:graphic>
      </p:graphicFrame>
      <p:sp>
        <p:nvSpPr>
          <p:cNvPr id="497" name="Google Shape;497;p20"/>
          <p:cNvSpPr/>
          <p:nvPr/>
        </p:nvSpPr>
        <p:spPr>
          <a:xfrm>
            <a:off x="812800" y="5180000"/>
            <a:ext cx="10883392"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Documentá cada falso positivo con su justificación: es lo que vuelve reutilizable a la detección.</a:t>
            </a:r>
            <a:endParaRPr b="0" i="0" sz="1500" u="none" cap="none" strike="noStrike">
              <a:solidFill>
                <a:schemeClr val="lt1"/>
              </a:solidFill>
              <a:latin typeface="Montserrat"/>
              <a:ea typeface="Montserrat"/>
              <a:cs typeface="Montserrat"/>
              <a:sym typeface="Montserrat"/>
            </a:endParaRPr>
          </a:p>
        </p:txBody>
      </p:sp>
      <p:sp>
        <p:nvSpPr>
          <p:cNvPr id="498" name="Google Shape;498;p20"/>
          <p:cNvSpPr/>
          <p:nvPr/>
        </p:nvSpPr>
        <p:spPr>
          <a:xfrm>
            <a:off x="812800" y="6238280"/>
            <a:ext cx="653147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Filas 1 a 3: vistas en el lab de DEATHCon · fila 4: caso del informe modelo</a:t>
            </a:r>
            <a:endParaRPr b="0" i="0" sz="1200" u="none" cap="none" strike="noStrike">
              <a:solidFill>
                <a:schemeClr val="lt1"/>
              </a:solidFill>
              <a:latin typeface="Montserrat"/>
              <a:ea typeface="Montserrat"/>
              <a:cs typeface="Montserrat"/>
              <a:sym typeface="Montserrat"/>
            </a:endParaRPr>
          </a:p>
        </p:txBody>
      </p:sp>
      <p:sp>
        <p:nvSpPr>
          <p:cNvPr id="499" name="Google Shape;499;p20"/>
          <p:cNvSpPr/>
          <p:nvPr/>
        </p:nvSpPr>
        <p:spPr>
          <a:xfrm>
            <a:off x="11141224" y="6238280"/>
            <a:ext cx="237976"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20</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21"/>
          <p:cNvSpPr/>
          <p:nvPr/>
        </p:nvSpPr>
        <p:spPr>
          <a:xfrm>
            <a:off x="812800" y="200154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ESCRIBIR LA HISTORIA</a:t>
            </a:r>
            <a:endParaRPr b="0" i="0" sz="1200" u="none" cap="none" strike="noStrike">
              <a:solidFill>
                <a:schemeClr val="lt1"/>
              </a:solidFill>
              <a:latin typeface="Montserrat"/>
              <a:ea typeface="Montserrat"/>
              <a:cs typeface="Montserrat"/>
              <a:sym typeface="Montserrat"/>
            </a:endParaRPr>
          </a:p>
        </p:txBody>
      </p:sp>
      <p:sp>
        <p:nvSpPr>
          <p:cNvPr id="506" name="Google Shape;506;p21"/>
          <p:cNvSpPr txBox="1"/>
          <p:nvPr>
            <p:ph type="title"/>
          </p:nvPr>
        </p:nvSpPr>
        <p:spPr>
          <a:xfrm>
            <a:off x="812800" y="2468860"/>
            <a:ext cx="9810750" cy="1625600"/>
          </a:xfrm>
          <a:prstGeom prst="rect">
            <a:avLst/>
          </a:prstGeom>
          <a:noFill/>
          <a:ln>
            <a:noFill/>
          </a:ln>
        </p:spPr>
        <p:txBody>
          <a:bodyPr anchorCtr="0" anchor="t" bIns="0" lIns="0" spcFirstLastPara="1" rIns="0" wrap="square" tIns="0">
            <a:normAutofit/>
          </a:bodyPr>
          <a:lstStyle/>
          <a:p>
            <a:pPr indent="0" lvl="0" marL="0" rtl="0" algn="l">
              <a:lnSpc>
                <a:spcPct val="104999"/>
              </a:lnSpc>
              <a:spcBef>
                <a:spcPts val="0"/>
              </a:spcBef>
              <a:spcAft>
                <a:spcPts val="0"/>
              </a:spcAft>
              <a:buClr>
                <a:srgbClr val="F1EEF7"/>
              </a:buClr>
              <a:buSzPts val="6000"/>
              <a:buFont typeface="Montserrat"/>
              <a:buNone/>
            </a:pPr>
            <a:r>
              <a:rPr b="1" i="0" lang="en-US" sz="6000">
                <a:solidFill>
                  <a:srgbClr val="F1EEF7"/>
                </a:solidFill>
                <a:latin typeface="Montserrat"/>
                <a:ea typeface="Montserrat"/>
                <a:cs typeface="Montserrat"/>
                <a:sym typeface="Montserrat"/>
              </a:rPr>
              <a:t>De hallazgos sueltos a una historia</a:t>
            </a:r>
            <a:endParaRPr sz="6000"/>
          </a:p>
        </p:txBody>
      </p:sp>
      <p:sp>
        <p:nvSpPr>
          <p:cNvPr id="507" name="Google Shape;507;p21"/>
          <p:cNvSpPr/>
          <p:nvPr/>
        </p:nvSpPr>
        <p:spPr>
          <a:xfrm>
            <a:off x="812800" y="4323060"/>
            <a:ext cx="9156700" cy="3556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F59E42"/>
              </a:buClr>
              <a:buSzPts val="2000"/>
              <a:buFont typeface="Montserrat"/>
              <a:buNone/>
            </a:pPr>
            <a:r>
              <a:rPr b="0" i="0" lang="en-US" sz="2000" u="none" cap="none" strike="noStrike">
                <a:solidFill>
                  <a:srgbClr val="F59E42"/>
                </a:solidFill>
                <a:latin typeface="Montserrat"/>
                <a:ea typeface="Montserrat"/>
                <a:cs typeface="Montserrat"/>
                <a:sym typeface="Montserrat"/>
              </a:rPr>
              <a:t>La caza ya está. Ahora hay que contarla para que alguien la use.</a:t>
            </a:r>
            <a:endParaRPr b="0" i="0" sz="2000" u="none" cap="none" strike="noStrike">
              <a:solidFill>
                <a:schemeClr val="lt1"/>
              </a:solidFill>
              <a:latin typeface="Montserrat"/>
              <a:ea typeface="Montserrat"/>
              <a:cs typeface="Montserrat"/>
              <a:sym typeface="Montserrat"/>
            </a:endParaRPr>
          </a:p>
        </p:txBody>
      </p:sp>
      <p:sp>
        <p:nvSpPr>
          <p:cNvPr id="508" name="Google Shape;508;p21"/>
          <p:cNvSpPr/>
          <p:nvPr/>
        </p:nvSpPr>
        <p:spPr>
          <a:xfrm>
            <a:off x="812800" y="6238280"/>
            <a:ext cx="523482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WRITING THE INCIDENT STORY · DEATHCON 2026</a:t>
            </a:r>
            <a:endParaRPr b="0" i="0" sz="1200" u="none" cap="none" strike="noStrike">
              <a:solidFill>
                <a:schemeClr val="lt1"/>
              </a:solidFill>
              <a:latin typeface="Montserrat"/>
              <a:ea typeface="Montserrat"/>
              <a:cs typeface="Montserrat"/>
              <a:sym typeface="Montserrat"/>
            </a:endParaRPr>
          </a:p>
        </p:txBody>
      </p:sp>
      <p:sp>
        <p:nvSpPr>
          <p:cNvPr id="509" name="Google Shape;509;p21"/>
          <p:cNvSpPr/>
          <p:nvPr/>
        </p:nvSpPr>
        <p:spPr>
          <a:xfrm>
            <a:off x="11186815" y="6238280"/>
            <a:ext cx="192385"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21</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514" name="Shape 514"/>
        <p:cNvGrpSpPr/>
        <p:nvPr/>
      </p:nvGrpSpPr>
      <p:grpSpPr>
        <a:xfrm>
          <a:off x="0" y="0"/>
          <a:ext cx="0" cy="0"/>
          <a:chOff x="0" y="0"/>
          <a:chExt cx="0" cy="0"/>
        </a:xfrm>
      </p:grpSpPr>
      <p:sp>
        <p:nvSpPr>
          <p:cNvPr id="515" name="Google Shape;515;p22"/>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ESCRIBIR LA HISTORIA</a:t>
            </a:r>
            <a:endParaRPr b="0" i="0" sz="1200" u="none" cap="none" strike="noStrike">
              <a:solidFill>
                <a:schemeClr val="lt1"/>
              </a:solidFill>
              <a:latin typeface="Montserrat"/>
              <a:ea typeface="Montserrat"/>
              <a:cs typeface="Montserrat"/>
              <a:sym typeface="Montserrat"/>
            </a:endParaRPr>
          </a:p>
        </p:txBody>
      </p:sp>
      <p:sp>
        <p:nvSpPr>
          <p:cNvPr id="516" name="Google Shape;516;p22"/>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La estructura del informe</a:t>
            </a:r>
            <a:endParaRPr sz="3200"/>
          </a:p>
        </p:txBody>
      </p:sp>
      <p:sp>
        <p:nvSpPr>
          <p:cNvPr id="517" name="Google Shape;517;p22"/>
          <p:cNvSpPr/>
          <p:nvPr/>
        </p:nvSpPr>
        <p:spPr>
          <a:xfrm>
            <a:off x="819150" y="1835100"/>
            <a:ext cx="5232400" cy="645120"/>
          </a:xfrm>
          <a:prstGeom prst="roundRect">
            <a:avLst>
              <a:gd fmla="val 10827" name="adj"/>
            </a:avLst>
          </a:prstGeom>
          <a:solidFill>
            <a:srgbClr val="1B1726"/>
          </a:solidFill>
          <a:ln cap="flat" cmpd="sng" w="12700">
            <a:solidFill>
              <a:srgbClr val="F59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2"/>
          <p:cNvSpPr/>
          <p:nvPr/>
        </p:nvSpPr>
        <p:spPr>
          <a:xfrm>
            <a:off x="977900" y="1930350"/>
            <a:ext cx="35560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1" i="0" lang="en-US" sz="1500" u="none" cap="none" strike="noStrike">
                <a:solidFill>
                  <a:srgbClr val="F59E42"/>
                </a:solidFill>
                <a:latin typeface="Montserrat"/>
                <a:ea typeface="Montserrat"/>
                <a:cs typeface="Montserrat"/>
                <a:sym typeface="Montserrat"/>
              </a:rPr>
              <a:t>1</a:t>
            </a:r>
            <a:endParaRPr b="0" i="0" sz="1500" u="none" cap="none" strike="noStrike">
              <a:solidFill>
                <a:schemeClr val="lt1"/>
              </a:solidFill>
              <a:latin typeface="Montserrat"/>
              <a:ea typeface="Montserrat"/>
              <a:cs typeface="Montserrat"/>
              <a:sym typeface="Montserrat"/>
            </a:endParaRPr>
          </a:p>
        </p:txBody>
      </p:sp>
      <p:sp>
        <p:nvSpPr>
          <p:cNvPr id="519" name="Google Shape;519;p22"/>
          <p:cNvSpPr/>
          <p:nvPr/>
        </p:nvSpPr>
        <p:spPr>
          <a:xfrm>
            <a:off x="1409700" y="1930350"/>
            <a:ext cx="3716077"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Resumen ejecutivo</a:t>
            </a:r>
            <a:endParaRPr b="0" i="0" sz="1500" u="none" cap="none" strike="noStrike">
              <a:solidFill>
                <a:schemeClr val="lt1"/>
              </a:solidFill>
              <a:latin typeface="Montserrat"/>
              <a:ea typeface="Montserrat"/>
              <a:cs typeface="Montserrat"/>
              <a:sym typeface="Montserrat"/>
            </a:endParaRPr>
          </a:p>
        </p:txBody>
      </p:sp>
      <p:sp>
        <p:nvSpPr>
          <p:cNvPr id="520" name="Google Shape;520;p22"/>
          <p:cNvSpPr/>
          <p:nvPr/>
        </p:nvSpPr>
        <p:spPr>
          <a:xfrm>
            <a:off x="1409700" y="2171650"/>
            <a:ext cx="432941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Qué pasó y qué hay que decidir, en una página.</a:t>
            </a:r>
            <a:endParaRPr b="0" i="0" sz="1200" u="none" cap="none" strike="noStrike">
              <a:solidFill>
                <a:schemeClr val="lt1"/>
              </a:solidFill>
              <a:latin typeface="Montserrat"/>
              <a:ea typeface="Montserrat"/>
              <a:cs typeface="Montserrat"/>
              <a:sym typeface="Montserrat"/>
            </a:endParaRPr>
          </a:p>
        </p:txBody>
      </p:sp>
      <p:sp>
        <p:nvSpPr>
          <p:cNvPr id="521" name="Google Shape;521;p22"/>
          <p:cNvSpPr/>
          <p:nvPr/>
        </p:nvSpPr>
        <p:spPr>
          <a:xfrm>
            <a:off x="6137275" y="1831925"/>
            <a:ext cx="5238750" cy="651470"/>
          </a:xfrm>
          <a:prstGeom prst="roundRect">
            <a:avLst>
              <a:gd fmla="val 11209"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2"/>
          <p:cNvSpPr/>
          <p:nvPr/>
        </p:nvSpPr>
        <p:spPr>
          <a:xfrm>
            <a:off x="6292850" y="1924000"/>
            <a:ext cx="35560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1" i="0" lang="en-US" sz="1500" u="none" cap="none" strike="noStrike">
                <a:solidFill>
                  <a:srgbClr val="F59E42"/>
                </a:solidFill>
                <a:latin typeface="Montserrat"/>
                <a:ea typeface="Montserrat"/>
                <a:cs typeface="Montserrat"/>
                <a:sym typeface="Montserrat"/>
              </a:rPr>
              <a:t>6</a:t>
            </a:r>
            <a:endParaRPr b="0" i="0" sz="1500" u="none" cap="none" strike="noStrike">
              <a:solidFill>
                <a:schemeClr val="lt1"/>
              </a:solidFill>
              <a:latin typeface="Montserrat"/>
              <a:ea typeface="Montserrat"/>
              <a:cs typeface="Montserrat"/>
              <a:sym typeface="Montserrat"/>
            </a:endParaRPr>
          </a:p>
        </p:txBody>
      </p:sp>
      <p:sp>
        <p:nvSpPr>
          <p:cNvPr id="523" name="Google Shape;523;p22"/>
          <p:cNvSpPr/>
          <p:nvPr/>
        </p:nvSpPr>
        <p:spPr>
          <a:xfrm>
            <a:off x="6724650" y="1924000"/>
            <a:ext cx="3269126"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Metodología</a:t>
            </a:r>
            <a:endParaRPr b="0" i="0" sz="1500" u="none" cap="none" strike="noStrike">
              <a:solidFill>
                <a:schemeClr val="lt1"/>
              </a:solidFill>
              <a:latin typeface="Montserrat"/>
              <a:ea typeface="Montserrat"/>
              <a:cs typeface="Montserrat"/>
              <a:sym typeface="Montserrat"/>
            </a:endParaRPr>
          </a:p>
        </p:txBody>
      </p:sp>
      <p:sp>
        <p:nvSpPr>
          <p:cNvPr id="524" name="Google Shape;524;p22"/>
          <p:cNvSpPr/>
          <p:nvPr/>
        </p:nvSpPr>
        <p:spPr>
          <a:xfrm>
            <a:off x="6724650" y="2165300"/>
            <a:ext cx="380869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PEAK y cómo se encadenaron las queries.</a:t>
            </a:r>
            <a:endParaRPr b="0" i="0" sz="1200" u="none" cap="none" strike="noStrike">
              <a:solidFill>
                <a:schemeClr val="lt1"/>
              </a:solidFill>
              <a:latin typeface="Montserrat"/>
              <a:ea typeface="Montserrat"/>
              <a:cs typeface="Montserrat"/>
              <a:sym typeface="Montserrat"/>
            </a:endParaRPr>
          </a:p>
        </p:txBody>
      </p:sp>
      <p:sp>
        <p:nvSpPr>
          <p:cNvPr id="525" name="Google Shape;525;p22"/>
          <p:cNvSpPr/>
          <p:nvPr/>
        </p:nvSpPr>
        <p:spPr>
          <a:xfrm>
            <a:off x="815975" y="2565946"/>
            <a:ext cx="5238750" cy="638770"/>
          </a:xfrm>
          <a:prstGeom prst="roundRect">
            <a:avLst>
              <a:gd fmla="val 11432"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2"/>
          <p:cNvSpPr/>
          <p:nvPr/>
        </p:nvSpPr>
        <p:spPr>
          <a:xfrm>
            <a:off x="971550" y="2658021"/>
            <a:ext cx="35560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1" i="0" lang="en-US" sz="1500" u="none" cap="none" strike="noStrike">
                <a:solidFill>
                  <a:srgbClr val="F59E42"/>
                </a:solidFill>
                <a:latin typeface="Montserrat"/>
                <a:ea typeface="Montserrat"/>
                <a:cs typeface="Montserrat"/>
                <a:sym typeface="Montserrat"/>
              </a:rPr>
              <a:t>2</a:t>
            </a:r>
            <a:endParaRPr b="0" i="0" sz="1500" u="none" cap="none" strike="noStrike">
              <a:solidFill>
                <a:schemeClr val="lt1"/>
              </a:solidFill>
              <a:latin typeface="Montserrat"/>
              <a:ea typeface="Montserrat"/>
              <a:cs typeface="Montserrat"/>
              <a:sym typeface="Montserrat"/>
            </a:endParaRPr>
          </a:p>
        </p:txBody>
      </p:sp>
      <p:sp>
        <p:nvSpPr>
          <p:cNvPr id="527" name="Google Shape;527;p22"/>
          <p:cNvSpPr/>
          <p:nvPr/>
        </p:nvSpPr>
        <p:spPr>
          <a:xfrm>
            <a:off x="1403350" y="2658021"/>
            <a:ext cx="3218386"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Hipótesis de caza</a:t>
            </a:r>
            <a:endParaRPr b="0" i="0" sz="1500" u="none" cap="none" strike="noStrike">
              <a:solidFill>
                <a:schemeClr val="lt1"/>
              </a:solidFill>
              <a:latin typeface="Montserrat"/>
              <a:ea typeface="Montserrat"/>
              <a:cs typeface="Montserrat"/>
              <a:sym typeface="Montserrat"/>
            </a:endParaRPr>
          </a:p>
        </p:txBody>
      </p:sp>
      <p:sp>
        <p:nvSpPr>
          <p:cNvPr id="528" name="Google Shape;528;p22"/>
          <p:cNvSpPr/>
          <p:nvPr/>
        </p:nvSpPr>
        <p:spPr>
          <a:xfrm>
            <a:off x="1403350" y="2899321"/>
            <a:ext cx="374957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La pregunta y qué la confirma o la refuta.</a:t>
            </a:r>
            <a:endParaRPr b="0" i="0" sz="1200" u="none" cap="none" strike="noStrike">
              <a:solidFill>
                <a:schemeClr val="lt1"/>
              </a:solidFill>
              <a:latin typeface="Montserrat"/>
              <a:ea typeface="Montserrat"/>
              <a:cs typeface="Montserrat"/>
              <a:sym typeface="Montserrat"/>
            </a:endParaRPr>
          </a:p>
        </p:txBody>
      </p:sp>
      <p:sp>
        <p:nvSpPr>
          <p:cNvPr id="529" name="Google Shape;529;p22"/>
          <p:cNvSpPr/>
          <p:nvPr/>
        </p:nvSpPr>
        <p:spPr>
          <a:xfrm>
            <a:off x="6137275" y="2565946"/>
            <a:ext cx="5238750" cy="638770"/>
          </a:xfrm>
          <a:prstGeom prst="roundRect">
            <a:avLst>
              <a:gd fmla="val 11432"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2"/>
          <p:cNvSpPr/>
          <p:nvPr/>
        </p:nvSpPr>
        <p:spPr>
          <a:xfrm>
            <a:off x="6292850" y="2658021"/>
            <a:ext cx="35560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1" i="0" lang="en-US" sz="1500" u="none" cap="none" strike="noStrike">
                <a:solidFill>
                  <a:srgbClr val="F59E42"/>
                </a:solidFill>
                <a:latin typeface="Montserrat"/>
                <a:ea typeface="Montserrat"/>
                <a:cs typeface="Montserrat"/>
                <a:sym typeface="Montserrat"/>
              </a:rPr>
              <a:t>7</a:t>
            </a:r>
            <a:endParaRPr b="0" i="0" sz="1500" u="none" cap="none" strike="noStrike">
              <a:solidFill>
                <a:schemeClr val="lt1"/>
              </a:solidFill>
              <a:latin typeface="Montserrat"/>
              <a:ea typeface="Montserrat"/>
              <a:cs typeface="Montserrat"/>
              <a:sym typeface="Montserrat"/>
            </a:endParaRPr>
          </a:p>
        </p:txBody>
      </p:sp>
      <p:sp>
        <p:nvSpPr>
          <p:cNvPr id="531" name="Google Shape;531;p22"/>
          <p:cNvSpPr/>
          <p:nvPr/>
        </p:nvSpPr>
        <p:spPr>
          <a:xfrm>
            <a:off x="6724650" y="2658021"/>
            <a:ext cx="2717578"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Hallazgos</a:t>
            </a:r>
            <a:endParaRPr b="0" i="0" sz="1500" u="none" cap="none" strike="noStrike">
              <a:solidFill>
                <a:schemeClr val="lt1"/>
              </a:solidFill>
              <a:latin typeface="Montserrat"/>
              <a:ea typeface="Montserrat"/>
              <a:cs typeface="Montserrat"/>
              <a:sym typeface="Montserrat"/>
            </a:endParaRPr>
          </a:p>
        </p:txBody>
      </p:sp>
      <p:sp>
        <p:nvSpPr>
          <p:cNvPr id="532" name="Google Shape;532;p22"/>
          <p:cNvSpPr/>
          <p:nvPr/>
        </p:nvSpPr>
        <p:spPr>
          <a:xfrm>
            <a:off x="6724650" y="2899321"/>
            <a:ext cx="316611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Veredicto y evidencia por consulta.</a:t>
            </a:r>
            <a:endParaRPr b="0" i="0" sz="1200" u="none" cap="none" strike="noStrike">
              <a:solidFill>
                <a:schemeClr val="lt1"/>
              </a:solidFill>
              <a:latin typeface="Montserrat"/>
              <a:ea typeface="Montserrat"/>
              <a:cs typeface="Montserrat"/>
              <a:sym typeface="Montserrat"/>
            </a:endParaRPr>
          </a:p>
        </p:txBody>
      </p:sp>
      <p:sp>
        <p:nvSpPr>
          <p:cNvPr id="533" name="Google Shape;533;p22"/>
          <p:cNvSpPr/>
          <p:nvPr/>
        </p:nvSpPr>
        <p:spPr>
          <a:xfrm>
            <a:off x="815975" y="3287266"/>
            <a:ext cx="5238750" cy="638770"/>
          </a:xfrm>
          <a:prstGeom prst="roundRect">
            <a:avLst>
              <a:gd fmla="val 11432"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2"/>
          <p:cNvSpPr/>
          <p:nvPr/>
        </p:nvSpPr>
        <p:spPr>
          <a:xfrm>
            <a:off x="971550" y="3379341"/>
            <a:ext cx="35560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1" i="0" lang="en-US" sz="1500" u="none" cap="none" strike="noStrike">
                <a:solidFill>
                  <a:srgbClr val="F59E42"/>
                </a:solidFill>
                <a:latin typeface="Montserrat"/>
                <a:ea typeface="Montserrat"/>
                <a:cs typeface="Montserrat"/>
                <a:sym typeface="Montserrat"/>
              </a:rPr>
              <a:t>3</a:t>
            </a:r>
            <a:endParaRPr b="0" i="0" sz="1500" u="none" cap="none" strike="noStrike">
              <a:solidFill>
                <a:schemeClr val="lt1"/>
              </a:solidFill>
              <a:latin typeface="Montserrat"/>
              <a:ea typeface="Montserrat"/>
              <a:cs typeface="Montserrat"/>
              <a:sym typeface="Montserrat"/>
            </a:endParaRPr>
          </a:p>
        </p:txBody>
      </p:sp>
      <p:sp>
        <p:nvSpPr>
          <p:cNvPr id="535" name="Google Shape;535;p22"/>
          <p:cNvSpPr/>
          <p:nvPr/>
        </p:nvSpPr>
        <p:spPr>
          <a:xfrm>
            <a:off x="1403350" y="3379341"/>
            <a:ext cx="4171664"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Alcance y limitaciones</a:t>
            </a:r>
            <a:endParaRPr b="0" i="0" sz="1500" u="none" cap="none" strike="noStrike">
              <a:solidFill>
                <a:schemeClr val="lt1"/>
              </a:solidFill>
              <a:latin typeface="Montserrat"/>
              <a:ea typeface="Montserrat"/>
              <a:cs typeface="Montserrat"/>
              <a:sym typeface="Montserrat"/>
            </a:endParaRPr>
          </a:p>
        </p:txBody>
      </p:sp>
      <p:sp>
        <p:nvSpPr>
          <p:cNvPr id="536" name="Google Shape;536;p22"/>
          <p:cNvSpPr/>
          <p:nvPr/>
        </p:nvSpPr>
        <p:spPr>
          <a:xfrm>
            <a:off x="1403350" y="3620641"/>
            <a:ext cx="46482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Qué se miró, qué no se pudo ver y con qué confianza.</a:t>
            </a:r>
            <a:endParaRPr b="0" i="0" sz="1200" u="none" cap="none" strike="noStrike">
              <a:solidFill>
                <a:schemeClr val="lt1"/>
              </a:solidFill>
              <a:latin typeface="Montserrat"/>
              <a:ea typeface="Montserrat"/>
              <a:cs typeface="Montserrat"/>
              <a:sym typeface="Montserrat"/>
            </a:endParaRPr>
          </a:p>
        </p:txBody>
      </p:sp>
      <p:sp>
        <p:nvSpPr>
          <p:cNvPr id="537" name="Google Shape;537;p22"/>
          <p:cNvSpPr/>
          <p:nvPr/>
        </p:nvSpPr>
        <p:spPr>
          <a:xfrm>
            <a:off x="6137275" y="3287266"/>
            <a:ext cx="5238750" cy="638770"/>
          </a:xfrm>
          <a:prstGeom prst="roundRect">
            <a:avLst>
              <a:gd fmla="val 11432"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2"/>
          <p:cNvSpPr/>
          <p:nvPr/>
        </p:nvSpPr>
        <p:spPr>
          <a:xfrm>
            <a:off x="6292850" y="3379341"/>
            <a:ext cx="35560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1" i="0" lang="en-US" sz="1500" u="none" cap="none" strike="noStrike">
                <a:solidFill>
                  <a:srgbClr val="F59E42"/>
                </a:solidFill>
                <a:latin typeface="Montserrat"/>
                <a:ea typeface="Montserrat"/>
                <a:cs typeface="Montserrat"/>
                <a:sym typeface="Montserrat"/>
              </a:rPr>
              <a:t>8</a:t>
            </a:r>
            <a:endParaRPr b="0" i="0" sz="1500" u="none" cap="none" strike="noStrike">
              <a:solidFill>
                <a:schemeClr val="lt1"/>
              </a:solidFill>
              <a:latin typeface="Montserrat"/>
              <a:ea typeface="Montserrat"/>
              <a:cs typeface="Montserrat"/>
              <a:sym typeface="Montserrat"/>
            </a:endParaRPr>
          </a:p>
        </p:txBody>
      </p:sp>
      <p:sp>
        <p:nvSpPr>
          <p:cNvPr id="539" name="Google Shape;539;p22"/>
          <p:cNvSpPr/>
          <p:nvPr/>
        </p:nvSpPr>
        <p:spPr>
          <a:xfrm>
            <a:off x="6724650" y="3379341"/>
            <a:ext cx="3110570"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Recomendaciones</a:t>
            </a:r>
            <a:endParaRPr b="0" i="0" sz="1500" u="none" cap="none" strike="noStrike">
              <a:solidFill>
                <a:schemeClr val="lt1"/>
              </a:solidFill>
              <a:latin typeface="Montserrat"/>
              <a:ea typeface="Montserrat"/>
              <a:cs typeface="Montserrat"/>
              <a:sym typeface="Montserrat"/>
            </a:endParaRPr>
          </a:p>
        </p:txBody>
      </p:sp>
      <p:sp>
        <p:nvSpPr>
          <p:cNvPr id="540" name="Google Shape;540;p22"/>
          <p:cNvSpPr/>
          <p:nvPr/>
        </p:nvSpPr>
        <p:spPr>
          <a:xfrm>
            <a:off x="6724650" y="3620641"/>
            <a:ext cx="362396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Acciones con prioridad, dueño y estado.</a:t>
            </a:r>
            <a:endParaRPr b="0" i="0" sz="1200" u="none" cap="none" strike="noStrike">
              <a:solidFill>
                <a:schemeClr val="lt1"/>
              </a:solidFill>
              <a:latin typeface="Montserrat"/>
              <a:ea typeface="Montserrat"/>
              <a:cs typeface="Montserrat"/>
              <a:sym typeface="Montserrat"/>
            </a:endParaRPr>
          </a:p>
        </p:txBody>
      </p:sp>
      <p:sp>
        <p:nvSpPr>
          <p:cNvPr id="541" name="Google Shape;541;p22"/>
          <p:cNvSpPr/>
          <p:nvPr/>
        </p:nvSpPr>
        <p:spPr>
          <a:xfrm>
            <a:off x="815975" y="4008586"/>
            <a:ext cx="5238750" cy="638770"/>
          </a:xfrm>
          <a:prstGeom prst="roundRect">
            <a:avLst>
              <a:gd fmla="val 11432"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2"/>
          <p:cNvSpPr/>
          <p:nvPr/>
        </p:nvSpPr>
        <p:spPr>
          <a:xfrm>
            <a:off x="971550" y="4100661"/>
            <a:ext cx="35560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1" i="0" lang="en-US" sz="1500" u="none" cap="none" strike="noStrike">
                <a:solidFill>
                  <a:srgbClr val="F59E42"/>
                </a:solidFill>
                <a:latin typeface="Montserrat"/>
                <a:ea typeface="Montserrat"/>
                <a:cs typeface="Montserrat"/>
                <a:sym typeface="Montserrat"/>
              </a:rPr>
              <a:t>4</a:t>
            </a:r>
            <a:endParaRPr b="0" i="0" sz="1500" u="none" cap="none" strike="noStrike">
              <a:solidFill>
                <a:schemeClr val="lt1"/>
              </a:solidFill>
              <a:latin typeface="Montserrat"/>
              <a:ea typeface="Montserrat"/>
              <a:cs typeface="Montserrat"/>
              <a:sym typeface="Montserrat"/>
            </a:endParaRPr>
          </a:p>
        </p:txBody>
      </p:sp>
      <p:sp>
        <p:nvSpPr>
          <p:cNvPr id="543" name="Google Shape;543;p22"/>
          <p:cNvSpPr/>
          <p:nvPr/>
        </p:nvSpPr>
        <p:spPr>
          <a:xfrm>
            <a:off x="1403350" y="4100661"/>
            <a:ext cx="4095171"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Antecedentes</a:t>
            </a:r>
            <a:endParaRPr b="0" i="0" sz="1500" u="none" cap="none" strike="noStrike">
              <a:solidFill>
                <a:schemeClr val="lt1"/>
              </a:solidFill>
              <a:latin typeface="Montserrat"/>
              <a:ea typeface="Montserrat"/>
              <a:cs typeface="Montserrat"/>
              <a:sym typeface="Montserrat"/>
            </a:endParaRPr>
          </a:p>
        </p:txBody>
      </p:sp>
      <p:sp>
        <p:nvSpPr>
          <p:cNvPr id="544" name="Google Shape;544;p22"/>
          <p:cNvSpPr/>
          <p:nvPr/>
        </p:nvSpPr>
        <p:spPr>
          <a:xfrm>
            <a:off x="1403350" y="4341961"/>
            <a:ext cx="46482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La inteligencia que justifica la hipótesis, con fuentes.</a:t>
            </a:r>
            <a:endParaRPr b="0" i="0" sz="1200" u="none" cap="none" strike="noStrike">
              <a:solidFill>
                <a:schemeClr val="lt1"/>
              </a:solidFill>
              <a:latin typeface="Montserrat"/>
              <a:ea typeface="Montserrat"/>
              <a:cs typeface="Montserrat"/>
              <a:sym typeface="Montserrat"/>
            </a:endParaRPr>
          </a:p>
        </p:txBody>
      </p:sp>
      <p:sp>
        <p:nvSpPr>
          <p:cNvPr id="545" name="Google Shape;545;p22"/>
          <p:cNvSpPr/>
          <p:nvPr/>
        </p:nvSpPr>
        <p:spPr>
          <a:xfrm>
            <a:off x="6137275" y="4008586"/>
            <a:ext cx="5238750" cy="638770"/>
          </a:xfrm>
          <a:prstGeom prst="roundRect">
            <a:avLst>
              <a:gd fmla="val 11432"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2"/>
          <p:cNvSpPr/>
          <p:nvPr/>
        </p:nvSpPr>
        <p:spPr>
          <a:xfrm>
            <a:off x="6292850" y="4100661"/>
            <a:ext cx="35560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1" i="0" lang="en-US" sz="1500" u="none" cap="none" strike="noStrike">
                <a:solidFill>
                  <a:srgbClr val="F59E42"/>
                </a:solidFill>
                <a:latin typeface="Montserrat"/>
                <a:ea typeface="Montserrat"/>
                <a:cs typeface="Montserrat"/>
                <a:sym typeface="Montserrat"/>
              </a:rPr>
              <a:t>9</a:t>
            </a:r>
            <a:endParaRPr b="0" i="0" sz="1500" u="none" cap="none" strike="noStrike">
              <a:solidFill>
                <a:schemeClr val="lt1"/>
              </a:solidFill>
              <a:latin typeface="Montserrat"/>
              <a:ea typeface="Montserrat"/>
              <a:cs typeface="Montserrat"/>
              <a:sym typeface="Montserrat"/>
            </a:endParaRPr>
          </a:p>
        </p:txBody>
      </p:sp>
      <p:sp>
        <p:nvSpPr>
          <p:cNvPr id="547" name="Google Shape;547;p22"/>
          <p:cNvSpPr/>
          <p:nvPr/>
        </p:nvSpPr>
        <p:spPr>
          <a:xfrm>
            <a:off x="6724650" y="4100661"/>
            <a:ext cx="2723914"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Conclusión</a:t>
            </a:r>
            <a:endParaRPr b="0" i="0" sz="1500" u="none" cap="none" strike="noStrike">
              <a:solidFill>
                <a:schemeClr val="lt1"/>
              </a:solidFill>
              <a:latin typeface="Montserrat"/>
              <a:ea typeface="Montserrat"/>
              <a:cs typeface="Montserrat"/>
              <a:sym typeface="Montserrat"/>
            </a:endParaRPr>
          </a:p>
        </p:txBody>
      </p:sp>
      <p:sp>
        <p:nvSpPr>
          <p:cNvPr id="548" name="Google Shape;548;p22"/>
          <p:cNvSpPr/>
          <p:nvPr/>
        </p:nvSpPr>
        <p:spPr>
          <a:xfrm>
            <a:off x="6724650" y="4341961"/>
            <a:ext cx="31734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La historia completa en un párrafo.</a:t>
            </a:r>
            <a:endParaRPr b="0" i="0" sz="1200" u="none" cap="none" strike="noStrike">
              <a:solidFill>
                <a:schemeClr val="lt1"/>
              </a:solidFill>
              <a:latin typeface="Montserrat"/>
              <a:ea typeface="Montserrat"/>
              <a:cs typeface="Montserrat"/>
              <a:sym typeface="Montserrat"/>
            </a:endParaRPr>
          </a:p>
        </p:txBody>
      </p:sp>
      <p:sp>
        <p:nvSpPr>
          <p:cNvPr id="549" name="Google Shape;549;p22"/>
          <p:cNvSpPr/>
          <p:nvPr/>
        </p:nvSpPr>
        <p:spPr>
          <a:xfrm>
            <a:off x="815975" y="4729907"/>
            <a:ext cx="5238750" cy="638770"/>
          </a:xfrm>
          <a:prstGeom prst="roundRect">
            <a:avLst>
              <a:gd fmla="val 11432"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2"/>
          <p:cNvSpPr/>
          <p:nvPr/>
        </p:nvSpPr>
        <p:spPr>
          <a:xfrm>
            <a:off x="971550" y="4821982"/>
            <a:ext cx="35560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1" i="0" lang="en-US" sz="1500" u="none" cap="none" strike="noStrike">
                <a:solidFill>
                  <a:srgbClr val="F59E42"/>
                </a:solidFill>
                <a:latin typeface="Montserrat"/>
                <a:ea typeface="Montserrat"/>
                <a:cs typeface="Montserrat"/>
                <a:sym typeface="Montserrat"/>
              </a:rPr>
              <a:t>5</a:t>
            </a:r>
            <a:endParaRPr b="0" i="0" sz="1500" u="none" cap="none" strike="noStrike">
              <a:solidFill>
                <a:schemeClr val="lt1"/>
              </a:solidFill>
              <a:latin typeface="Montserrat"/>
              <a:ea typeface="Montserrat"/>
              <a:cs typeface="Montserrat"/>
              <a:sym typeface="Montserrat"/>
            </a:endParaRPr>
          </a:p>
        </p:txBody>
      </p:sp>
      <p:sp>
        <p:nvSpPr>
          <p:cNvPr id="551" name="Google Shape;551;p22"/>
          <p:cNvSpPr/>
          <p:nvPr/>
        </p:nvSpPr>
        <p:spPr>
          <a:xfrm>
            <a:off x="1403350" y="4821982"/>
            <a:ext cx="2963817"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MITRE ATT&amp;CK</a:t>
            </a:r>
            <a:endParaRPr b="0" i="0" sz="1500" u="none" cap="none" strike="noStrike">
              <a:solidFill>
                <a:schemeClr val="lt1"/>
              </a:solidFill>
              <a:latin typeface="Montserrat"/>
              <a:ea typeface="Montserrat"/>
              <a:cs typeface="Montserrat"/>
              <a:sym typeface="Montserrat"/>
            </a:endParaRPr>
          </a:p>
        </p:txBody>
      </p:sp>
      <p:sp>
        <p:nvSpPr>
          <p:cNvPr id="552" name="Google Shape;552;p22"/>
          <p:cNvSpPr/>
          <p:nvPr/>
        </p:nvSpPr>
        <p:spPr>
          <a:xfrm>
            <a:off x="1403350" y="5063282"/>
            <a:ext cx="345299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Técnica, táctica y evidencia en el caso.</a:t>
            </a:r>
            <a:endParaRPr b="0" i="0" sz="1200" u="none" cap="none" strike="noStrike">
              <a:solidFill>
                <a:schemeClr val="lt1"/>
              </a:solidFill>
              <a:latin typeface="Montserrat"/>
              <a:ea typeface="Montserrat"/>
              <a:cs typeface="Montserrat"/>
              <a:sym typeface="Montserrat"/>
            </a:endParaRPr>
          </a:p>
        </p:txBody>
      </p:sp>
      <p:sp>
        <p:nvSpPr>
          <p:cNvPr id="553" name="Google Shape;553;p22"/>
          <p:cNvSpPr/>
          <p:nvPr/>
        </p:nvSpPr>
        <p:spPr>
          <a:xfrm>
            <a:off x="6137275" y="4729907"/>
            <a:ext cx="5238750" cy="638770"/>
          </a:xfrm>
          <a:prstGeom prst="roundRect">
            <a:avLst>
              <a:gd fmla="val 11432"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2"/>
          <p:cNvSpPr/>
          <p:nvPr/>
        </p:nvSpPr>
        <p:spPr>
          <a:xfrm>
            <a:off x="6292850" y="4821982"/>
            <a:ext cx="35560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1" i="0" lang="en-US" sz="1500" u="none" cap="none" strike="noStrike">
                <a:solidFill>
                  <a:srgbClr val="F59E42"/>
                </a:solidFill>
                <a:latin typeface="Montserrat"/>
                <a:ea typeface="Montserrat"/>
                <a:cs typeface="Montserrat"/>
                <a:sym typeface="Montserrat"/>
              </a:rPr>
              <a:t>10</a:t>
            </a:r>
            <a:endParaRPr b="0" i="0" sz="1500" u="none" cap="none" strike="noStrike">
              <a:solidFill>
                <a:schemeClr val="lt1"/>
              </a:solidFill>
              <a:latin typeface="Montserrat"/>
              <a:ea typeface="Montserrat"/>
              <a:cs typeface="Montserrat"/>
              <a:sym typeface="Montserrat"/>
            </a:endParaRPr>
          </a:p>
        </p:txBody>
      </p:sp>
      <p:sp>
        <p:nvSpPr>
          <p:cNvPr id="555" name="Google Shape;555;p22"/>
          <p:cNvSpPr/>
          <p:nvPr/>
        </p:nvSpPr>
        <p:spPr>
          <a:xfrm>
            <a:off x="6724650" y="4821982"/>
            <a:ext cx="3920110"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Anexos</a:t>
            </a:r>
            <a:endParaRPr b="0" i="0" sz="1500" u="none" cap="none" strike="noStrike">
              <a:solidFill>
                <a:schemeClr val="lt1"/>
              </a:solidFill>
              <a:latin typeface="Montserrat"/>
              <a:ea typeface="Montserrat"/>
              <a:cs typeface="Montserrat"/>
              <a:sym typeface="Montserrat"/>
            </a:endParaRPr>
          </a:p>
        </p:txBody>
      </p:sp>
      <p:sp>
        <p:nvSpPr>
          <p:cNvPr id="556" name="Google Shape;556;p22"/>
          <p:cNvSpPr/>
          <p:nvPr/>
        </p:nvSpPr>
        <p:spPr>
          <a:xfrm>
            <a:off x="6724650" y="5063282"/>
            <a:ext cx="456711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IOCs, queries, línea de tiempo, controles y fuentes.</a:t>
            </a:r>
            <a:endParaRPr b="0" i="0" sz="1200" u="none" cap="none" strike="noStrike">
              <a:solidFill>
                <a:schemeClr val="lt1"/>
              </a:solidFill>
              <a:latin typeface="Montserrat"/>
              <a:ea typeface="Montserrat"/>
              <a:cs typeface="Montserrat"/>
              <a:sym typeface="Montserrat"/>
            </a:endParaRPr>
          </a:p>
        </p:txBody>
      </p:sp>
      <p:sp>
        <p:nvSpPr>
          <p:cNvPr id="557" name="Google Shape;557;p22"/>
          <p:cNvSpPr/>
          <p:nvPr/>
        </p:nvSpPr>
        <p:spPr>
          <a:xfrm>
            <a:off x="812800" y="6238280"/>
            <a:ext cx="712755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Plantilla completa en español e inglés: github.com/Ank1nskywalker/Templates</a:t>
            </a:r>
            <a:endParaRPr b="0" i="0" sz="1200" u="none" cap="none" strike="noStrike">
              <a:solidFill>
                <a:schemeClr val="lt1"/>
              </a:solidFill>
              <a:latin typeface="Montserrat"/>
              <a:ea typeface="Montserrat"/>
              <a:cs typeface="Montserrat"/>
              <a:sym typeface="Montserrat"/>
            </a:endParaRPr>
          </a:p>
        </p:txBody>
      </p:sp>
      <p:sp>
        <p:nvSpPr>
          <p:cNvPr id="558" name="Google Shape;558;p22"/>
          <p:cNvSpPr/>
          <p:nvPr/>
        </p:nvSpPr>
        <p:spPr>
          <a:xfrm>
            <a:off x="11155263" y="6238280"/>
            <a:ext cx="223937"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22</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563" name="Shape 563"/>
        <p:cNvGrpSpPr/>
        <p:nvPr/>
      </p:nvGrpSpPr>
      <p:grpSpPr>
        <a:xfrm>
          <a:off x="0" y="0"/>
          <a:ext cx="0" cy="0"/>
          <a:chOff x="0" y="0"/>
          <a:chExt cx="0" cy="0"/>
        </a:xfrm>
      </p:grpSpPr>
      <p:sp>
        <p:nvSpPr>
          <p:cNvPr id="564" name="Google Shape;564;p23"/>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ESCRIBIR LA HISTORIA · BLUF</a:t>
            </a:r>
            <a:endParaRPr b="0" i="0" sz="1200" u="none" cap="none" strike="noStrike">
              <a:solidFill>
                <a:schemeClr val="lt1"/>
              </a:solidFill>
              <a:latin typeface="Montserrat"/>
              <a:ea typeface="Montserrat"/>
              <a:cs typeface="Montserrat"/>
              <a:sym typeface="Montserrat"/>
            </a:endParaRPr>
          </a:p>
        </p:txBody>
      </p:sp>
      <p:sp>
        <p:nvSpPr>
          <p:cNvPr id="565" name="Google Shape;565;p23"/>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Resumen ejecutivo: lo primero, primero</a:t>
            </a:r>
            <a:endParaRPr sz="3200"/>
          </a:p>
        </p:txBody>
      </p:sp>
      <p:sp>
        <p:nvSpPr>
          <p:cNvPr id="566" name="Google Shape;566;p23"/>
          <p:cNvSpPr/>
          <p:nvPr/>
        </p:nvSpPr>
        <p:spPr>
          <a:xfrm>
            <a:off x="815975" y="1831925"/>
            <a:ext cx="5168900" cy="2175470"/>
          </a:xfrm>
          <a:prstGeom prst="roundRect">
            <a:avLst>
              <a:gd fmla="val 4524" name="adj"/>
            </a:avLst>
          </a:prstGeom>
          <a:solidFill>
            <a:srgbClr val="15121D"/>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3"/>
          <p:cNvSpPr/>
          <p:nvPr/>
        </p:nvSpPr>
        <p:spPr>
          <a:xfrm>
            <a:off x="1073150" y="2089100"/>
            <a:ext cx="4794187"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1" i="0" lang="en-US" sz="1200" u="none" cap="none" strike="noStrike">
                <a:solidFill>
                  <a:srgbClr val="8F8AA6"/>
                </a:solidFill>
                <a:latin typeface="Montserrat"/>
                <a:ea typeface="Montserrat"/>
                <a:cs typeface="Montserrat"/>
                <a:sym typeface="Montserrat"/>
              </a:rPr>
              <a:t>ANTES · EJEMPLO</a:t>
            </a:r>
            <a:endParaRPr b="0" i="0" sz="1200" u="none" cap="none" strike="noStrike">
              <a:solidFill>
                <a:schemeClr val="lt1"/>
              </a:solidFill>
              <a:latin typeface="Montserrat"/>
              <a:ea typeface="Montserrat"/>
              <a:cs typeface="Montserrat"/>
              <a:sym typeface="Montserrat"/>
            </a:endParaRPr>
          </a:p>
        </p:txBody>
      </p:sp>
      <p:sp>
        <p:nvSpPr>
          <p:cNvPr id="568" name="Google Shape;568;p23"/>
          <p:cNvSpPr/>
          <p:nvPr/>
        </p:nvSpPr>
        <p:spPr>
          <a:xfrm>
            <a:off x="1073150" y="2404021"/>
            <a:ext cx="4794187" cy="13589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500"/>
              <a:buFont typeface="Montserrat"/>
              <a:buNone/>
            </a:pPr>
            <a:r>
              <a:rPr b="0" i="0" lang="en-US" sz="1500" u="none" cap="none" strike="noStrike">
                <a:solidFill>
                  <a:srgbClr val="C9C5D8"/>
                </a:solidFill>
                <a:latin typeface="Montserrat"/>
                <a:ea typeface="Montserrat"/>
                <a:cs typeface="Montserrat"/>
                <a:sym typeface="Montserrat"/>
              </a:rPr>
              <a:t>En septiembre se ejecutaron varias consultas en el EDR y se observó actividad sospechosa relacionada con PowerShell en algunos equipos, que podría estar vinculada con ClickFix. Se recomienda continuar la investigación.</a:t>
            </a:r>
            <a:endParaRPr b="0" i="0" sz="1500" u="none" cap="none" strike="noStrike">
              <a:solidFill>
                <a:schemeClr val="lt1"/>
              </a:solidFill>
              <a:latin typeface="Montserrat"/>
              <a:ea typeface="Montserrat"/>
              <a:cs typeface="Montserrat"/>
              <a:sym typeface="Montserrat"/>
            </a:endParaRPr>
          </a:p>
        </p:txBody>
      </p:sp>
      <p:sp>
        <p:nvSpPr>
          <p:cNvPr id="569" name="Google Shape;569;p23"/>
          <p:cNvSpPr/>
          <p:nvPr/>
        </p:nvSpPr>
        <p:spPr>
          <a:xfrm>
            <a:off x="6197600" y="1835100"/>
            <a:ext cx="5175250" cy="2169120"/>
          </a:xfrm>
          <a:prstGeom prst="roundRect">
            <a:avLst>
              <a:gd fmla="val 4391" name="adj"/>
            </a:avLst>
          </a:prstGeom>
          <a:solidFill>
            <a:srgbClr val="1B1726"/>
          </a:solidFill>
          <a:ln cap="flat" cmpd="sng" w="12700">
            <a:solidFill>
              <a:srgbClr val="F59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3"/>
          <p:cNvSpPr/>
          <p:nvPr/>
        </p:nvSpPr>
        <p:spPr>
          <a:xfrm>
            <a:off x="6457950" y="2095450"/>
            <a:ext cx="4794187"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200"/>
              <a:buFont typeface="Montserrat"/>
              <a:buNone/>
            </a:pPr>
            <a:r>
              <a:rPr b="1" i="0" lang="en-US" sz="1200" u="none" cap="none" strike="noStrike">
                <a:solidFill>
                  <a:srgbClr val="F59E42"/>
                </a:solidFill>
                <a:latin typeface="Montserrat"/>
                <a:ea typeface="Montserrat"/>
                <a:cs typeface="Montserrat"/>
                <a:sym typeface="Montserrat"/>
              </a:rPr>
              <a:t>DESPUÉS · INFORME MODELO</a:t>
            </a:r>
            <a:endParaRPr b="0" i="0" sz="1200" u="none" cap="none" strike="noStrike">
              <a:solidFill>
                <a:schemeClr val="lt1"/>
              </a:solidFill>
              <a:latin typeface="Montserrat"/>
              <a:ea typeface="Montserrat"/>
              <a:cs typeface="Montserrat"/>
              <a:sym typeface="Montserrat"/>
            </a:endParaRPr>
          </a:p>
        </p:txBody>
      </p:sp>
      <p:sp>
        <p:nvSpPr>
          <p:cNvPr id="571" name="Google Shape;571;p23"/>
          <p:cNvSpPr/>
          <p:nvPr/>
        </p:nvSpPr>
        <p:spPr>
          <a:xfrm>
            <a:off x="6457950" y="2410371"/>
            <a:ext cx="4794187" cy="13589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Hipótesis confirmada en un equipo (XXXX-01).</a:t>
            </a:r>
            <a:r>
              <a:rPr b="0" i="0" lang="en-US" sz="1500" u="none" cap="none" strike="noStrike">
                <a:solidFill>
                  <a:srgbClr val="F1EEF7"/>
                </a:solidFill>
                <a:latin typeface="Montserrat"/>
                <a:ea typeface="Montserrat"/>
                <a:cs typeface="Montserrat"/>
                <a:sym typeface="Montserrat"/>
              </a:rPr>
              <a:t> Un usuario pegó en Win+R un comando desde un señuelo ClickFix y, en menos de 30 segundos, quedó instalada una extensión de Chrome que roba sesiones. La única alerta llegó a T+4:51.</a:t>
            </a:r>
            <a:endParaRPr b="0" i="0" sz="1500" u="none" cap="none" strike="noStrike">
              <a:solidFill>
                <a:schemeClr val="lt1"/>
              </a:solidFill>
              <a:latin typeface="Montserrat"/>
              <a:ea typeface="Montserrat"/>
              <a:cs typeface="Montserrat"/>
              <a:sym typeface="Montserrat"/>
            </a:endParaRPr>
          </a:p>
        </p:txBody>
      </p:sp>
      <p:sp>
        <p:nvSpPr>
          <p:cNvPr id="572" name="Google Shape;572;p23"/>
          <p:cNvSpPr/>
          <p:nvPr/>
        </p:nvSpPr>
        <p:spPr>
          <a:xfrm>
            <a:off x="812800" y="4264571"/>
            <a:ext cx="2824758" cy="340320"/>
          </a:xfrm>
          <a:prstGeom prst="roundRect">
            <a:avLst>
              <a:gd fmla="val 50000" name="adj"/>
            </a:avLst>
          </a:prstGeom>
          <a:solidFill>
            <a:srgbClr val="2A1438"/>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El veredicto en la primera línea</a:t>
            </a:r>
            <a:endParaRPr b="0" i="0" sz="1200" u="none" cap="none" strike="noStrike">
              <a:solidFill>
                <a:schemeClr val="lt1"/>
              </a:solidFill>
              <a:latin typeface="Montserrat"/>
              <a:ea typeface="Montserrat"/>
              <a:cs typeface="Montserrat"/>
              <a:sym typeface="Montserrat"/>
            </a:endParaRPr>
          </a:p>
        </p:txBody>
      </p:sp>
      <p:sp>
        <p:nvSpPr>
          <p:cNvPr id="573" name="Google Shape;573;p23"/>
          <p:cNvSpPr/>
          <p:nvPr/>
        </p:nvSpPr>
        <p:spPr>
          <a:xfrm>
            <a:off x="3739158" y="4264571"/>
            <a:ext cx="2698800" cy="340320"/>
          </a:xfrm>
          <a:prstGeom prst="roundRect">
            <a:avLst>
              <a:gd fmla="val 50000" name="adj"/>
            </a:avLst>
          </a:prstGeom>
          <a:solidFill>
            <a:srgbClr val="2A1438"/>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Escrito para quien no lee KQL</a:t>
            </a:r>
            <a:endParaRPr b="0" i="0" sz="1200" u="none" cap="none" strike="noStrike">
              <a:solidFill>
                <a:schemeClr val="lt1"/>
              </a:solidFill>
              <a:latin typeface="Montserrat"/>
              <a:ea typeface="Montserrat"/>
              <a:cs typeface="Montserrat"/>
              <a:sym typeface="Montserrat"/>
            </a:endParaRPr>
          </a:p>
        </p:txBody>
      </p:sp>
      <p:sp>
        <p:nvSpPr>
          <p:cNvPr id="574" name="Google Shape;574;p23"/>
          <p:cNvSpPr/>
          <p:nvPr/>
        </p:nvSpPr>
        <p:spPr>
          <a:xfrm>
            <a:off x="6539557" y="4264571"/>
            <a:ext cx="2141984" cy="340320"/>
          </a:xfrm>
          <a:prstGeom prst="roundRect">
            <a:avLst>
              <a:gd fmla="val 50000" name="adj"/>
            </a:avLst>
          </a:prstGeom>
          <a:solidFill>
            <a:srgbClr val="2A1438"/>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Números, no adjetivos</a:t>
            </a:r>
            <a:endParaRPr b="0" i="0" sz="1200" u="none" cap="none" strike="noStrike">
              <a:solidFill>
                <a:schemeClr val="lt1"/>
              </a:solidFill>
              <a:latin typeface="Montserrat"/>
              <a:ea typeface="Montserrat"/>
              <a:cs typeface="Montserrat"/>
              <a:sym typeface="Montserrat"/>
            </a:endParaRPr>
          </a:p>
        </p:txBody>
      </p:sp>
      <p:sp>
        <p:nvSpPr>
          <p:cNvPr id="575" name="Google Shape;575;p23"/>
          <p:cNvSpPr/>
          <p:nvPr/>
        </p:nvSpPr>
        <p:spPr>
          <a:xfrm>
            <a:off x="812800" y="6238280"/>
            <a:ext cx="523482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WRITING THE INCIDENT STORY · DEATHCON 2026</a:t>
            </a:r>
            <a:endParaRPr b="0" i="0" sz="1200" u="none" cap="none" strike="noStrike">
              <a:solidFill>
                <a:schemeClr val="lt1"/>
              </a:solidFill>
              <a:latin typeface="Montserrat"/>
              <a:ea typeface="Montserrat"/>
              <a:cs typeface="Montserrat"/>
              <a:sym typeface="Montserrat"/>
            </a:endParaRPr>
          </a:p>
        </p:txBody>
      </p:sp>
      <p:sp>
        <p:nvSpPr>
          <p:cNvPr id="576" name="Google Shape;576;p23"/>
          <p:cNvSpPr/>
          <p:nvPr/>
        </p:nvSpPr>
        <p:spPr>
          <a:xfrm>
            <a:off x="11155809" y="6238280"/>
            <a:ext cx="223391"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23</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581" name="Shape 581"/>
        <p:cNvGrpSpPr/>
        <p:nvPr/>
      </p:nvGrpSpPr>
      <p:grpSpPr>
        <a:xfrm>
          <a:off x="0" y="0"/>
          <a:ext cx="0" cy="0"/>
          <a:chOff x="0" y="0"/>
          <a:chExt cx="0" cy="0"/>
        </a:xfrm>
      </p:grpSpPr>
      <p:sp>
        <p:nvSpPr>
          <p:cNvPr id="582" name="Google Shape;582;p24"/>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ESCRIBIR LA HISTORIA</a:t>
            </a:r>
            <a:endParaRPr b="0" i="0" sz="1200" u="none" cap="none" strike="noStrike">
              <a:solidFill>
                <a:schemeClr val="lt1"/>
              </a:solidFill>
              <a:latin typeface="Montserrat"/>
              <a:ea typeface="Montserrat"/>
              <a:cs typeface="Montserrat"/>
              <a:sym typeface="Montserrat"/>
            </a:endParaRPr>
          </a:p>
        </p:txBody>
      </p:sp>
      <p:sp>
        <p:nvSpPr>
          <p:cNvPr id="583" name="Google Shape;583;p24"/>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Hechos y evaluaciones, separados</a:t>
            </a:r>
            <a:endParaRPr sz="3200"/>
          </a:p>
        </p:txBody>
      </p:sp>
      <p:graphicFrame>
        <p:nvGraphicFramePr>
          <p:cNvPr id="584" name="Google Shape;584;p24"/>
          <p:cNvGraphicFramePr/>
          <p:nvPr/>
        </p:nvGraphicFramePr>
        <p:xfrm>
          <a:off x="825500" y="1790650"/>
          <a:ext cx="3000000" cy="3000000"/>
        </p:xfrm>
        <a:graphic>
          <a:graphicData uri="http://schemas.openxmlformats.org/drawingml/2006/table">
            <a:tbl>
              <a:tblPr>
                <a:noFill/>
                <a:tableStyleId>{FB773AD2-FA50-4F7C-A878-0F7E4A0B4D0B}</a:tableStyleId>
              </a:tblPr>
              <a:tblGrid>
                <a:gridCol w="5276850"/>
                <a:gridCol w="5276850"/>
              </a:tblGrid>
              <a:tr h="403825">
                <a:tc>
                  <a:txBody>
                    <a:bodyPr/>
                    <a:lstStyle/>
                    <a:p>
                      <a:pPr indent="0" lvl="0" marL="0" marR="0" rtl="0" algn="l">
                        <a:lnSpc>
                          <a:spcPct val="140000"/>
                        </a:lnSpc>
                        <a:spcBef>
                          <a:spcPts val="0"/>
                        </a:spcBef>
                        <a:spcAft>
                          <a:spcPts val="0"/>
                        </a:spcAft>
                        <a:buClr>
                          <a:srgbClr val="C2C2F4"/>
                        </a:buClr>
                        <a:buSzPts val="1200"/>
                        <a:buFont typeface="Montserrat"/>
                        <a:buNone/>
                      </a:pPr>
                      <a:r>
                        <a:rPr b="1" lang="en-US" sz="1200" u="none" cap="none" strike="noStrike">
                          <a:solidFill>
                            <a:srgbClr val="C2C2F4"/>
                          </a:solidFill>
                          <a:latin typeface="Montserrat"/>
                          <a:ea typeface="Montserrat"/>
                          <a:cs typeface="Montserrat"/>
                          <a:sym typeface="Montserrat"/>
                        </a:rPr>
                        <a:t>Hecho · lo que muestra la telemetría</a:t>
                      </a:r>
                      <a:endParaRPr sz="1200" u="none" cap="none" strike="noStrike">
                        <a:latin typeface="Montserrat"/>
                        <a:ea typeface="Montserrat"/>
                        <a:cs typeface="Montserrat"/>
                        <a:sym typeface="Montserrat"/>
                      </a:endParaRPr>
                    </a:p>
                  </a:txBody>
                  <a:tcPr marT="88900" marB="88900" marR="152400" marL="152400">
                    <a:lnL cap="flat" cmpd="sng" w="12700">
                      <a:solidFill>
                        <a:srgbClr val="403F44"/>
                      </a:solidFill>
                      <a:prstDash val="solid"/>
                      <a:round/>
                      <a:headEnd len="sm" w="sm" type="none"/>
                      <a:tailEnd len="sm" w="sm" type="none"/>
                    </a:lnL>
                    <a:lnR cap="flat" cmpd="sng" w="12700">
                      <a:solidFill>
                        <a:srgbClr val="584662"/>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584662"/>
                      </a:solidFill>
                      <a:prstDash val="solid"/>
                      <a:round/>
                      <a:headEnd len="sm" w="sm" type="none"/>
                      <a:tailEnd len="sm" w="sm" type="none"/>
                    </a:lnB>
                    <a:solidFill>
                      <a:srgbClr val="2A1438"/>
                    </a:solidFill>
                  </a:tcPr>
                </a:tc>
                <a:tc>
                  <a:txBody>
                    <a:bodyPr/>
                    <a:lstStyle/>
                    <a:p>
                      <a:pPr indent="0" lvl="0" marL="0" marR="0" rtl="0" algn="l">
                        <a:lnSpc>
                          <a:spcPct val="140000"/>
                        </a:lnSpc>
                        <a:spcBef>
                          <a:spcPts val="0"/>
                        </a:spcBef>
                        <a:spcAft>
                          <a:spcPts val="0"/>
                        </a:spcAft>
                        <a:buClr>
                          <a:srgbClr val="F59E42"/>
                        </a:buClr>
                        <a:buSzPts val="1200"/>
                        <a:buFont typeface="Montserrat"/>
                        <a:buNone/>
                      </a:pPr>
                      <a:r>
                        <a:rPr b="1" lang="en-US" sz="1200" u="none" cap="none" strike="noStrike">
                          <a:solidFill>
                            <a:srgbClr val="F59E42"/>
                          </a:solidFill>
                          <a:latin typeface="Montserrat"/>
                          <a:ea typeface="Montserrat"/>
                          <a:cs typeface="Montserrat"/>
                          <a:sym typeface="Montserrat"/>
                        </a:rPr>
                        <a:t>Evaluación · lo que inferimos</a:t>
                      </a:r>
                      <a:endParaRPr sz="1200" u="none" cap="none" strike="noStrike">
                        <a:latin typeface="Montserrat"/>
                        <a:ea typeface="Montserrat"/>
                        <a:cs typeface="Montserrat"/>
                        <a:sym typeface="Montserrat"/>
                      </a:endParaRPr>
                    </a:p>
                  </a:txBody>
                  <a:tcPr marT="88900" marB="88900" marR="152400" marL="152400">
                    <a:lnL cap="flat" cmpd="sng" w="12700">
                      <a:solidFill>
                        <a:srgbClr val="584662"/>
                      </a:solidFill>
                      <a:prstDash val="solid"/>
                      <a:round/>
                      <a:headEnd len="sm" w="sm" type="none"/>
                      <a:tailEnd len="sm" w="sm" type="none"/>
                    </a:lnL>
                    <a:lnR cap="flat" cmpd="sng" w="12700">
                      <a:solidFill>
                        <a:srgbClr val="584662"/>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584662"/>
                      </a:solidFill>
                      <a:prstDash val="solid"/>
                      <a:round/>
                      <a:headEnd len="sm" w="sm" type="none"/>
                      <a:tailEnd len="sm" w="sm" type="none"/>
                    </a:lnB>
                    <a:solidFill>
                      <a:srgbClr val="2A1438"/>
                    </a:solidFill>
                  </a:tcPr>
                </a:tc>
              </a:tr>
              <a:tr h="403825">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csc.exe corrió sin argumentos y modificó Secure Preferences.</a:t>
                      </a:r>
                      <a:endParaRPr sz="1200" u="none" cap="none" strike="noStrike">
                        <a:latin typeface="Montserrat"/>
                        <a:ea typeface="Montserrat"/>
                        <a:cs typeface="Montserrat"/>
                        <a:sym typeface="Montserrat"/>
                      </a:endParaRPr>
                    </a:p>
                  </a:txBody>
                  <a:tcPr marT="88900" marB="88900" marR="152400" marL="1524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584662"/>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C9C5D8"/>
                        </a:buClr>
                        <a:buSzPts val="1200"/>
                        <a:buFont typeface="Montserrat"/>
                        <a:buNone/>
                      </a:pPr>
                      <a:r>
                        <a:rPr lang="en-US" sz="1200" u="none" cap="none" strike="noStrike">
                          <a:solidFill>
                            <a:srgbClr val="C9C5D8"/>
                          </a:solidFill>
                          <a:latin typeface="Montserrat"/>
                          <a:ea typeface="Montserrat"/>
                          <a:cs typeface="Montserrat"/>
                          <a:sym typeface="Montserrat"/>
                        </a:rPr>
                        <a:t>Probable: código inyectado en un binario .NET firmado.</a:t>
                      </a:r>
                      <a:endParaRPr sz="1200" u="none" cap="none" strike="noStrike">
                        <a:latin typeface="Montserrat"/>
                        <a:ea typeface="Montserrat"/>
                        <a:cs typeface="Montserrat"/>
                        <a:sym typeface="Montserrat"/>
                      </a:endParaRPr>
                    </a:p>
                  </a:txBody>
                  <a:tcPr marT="88900" marB="88900" marR="152400" marL="1524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584662"/>
                      </a:solidFill>
                      <a:prstDash val="solid"/>
                      <a:round/>
                      <a:headEnd len="sm" w="sm" type="none"/>
                      <a:tailEnd len="sm" w="sm" type="none"/>
                    </a:lnT>
                    <a:lnB cap="flat" cmpd="sng" w="12700">
                      <a:solidFill>
                        <a:srgbClr val="403F44"/>
                      </a:solidFill>
                      <a:prstDash val="solid"/>
                      <a:round/>
                      <a:headEnd len="sm" w="sm" type="none"/>
                      <a:tailEnd len="sm" w="sm" type="none"/>
                    </a:lnB>
                  </a:tcPr>
                </a:tc>
              </a:tr>
              <a:tr h="617150">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explorer.exe escribió cuatro veces el mismo comando en RunMRU.</a:t>
                      </a:r>
                      <a:endParaRPr sz="1200" u="none" cap="none" strike="noStrike">
                        <a:latin typeface="Montserrat"/>
                        <a:ea typeface="Montserrat"/>
                        <a:cs typeface="Montserrat"/>
                        <a:sym typeface="Montserrat"/>
                      </a:endParaRPr>
                    </a:p>
                  </a:txBody>
                  <a:tcPr marT="88900" marB="88900" marR="152400" marL="152400">
                    <a:lnL cap="flat" cmpd="sng" w="12700">
                      <a:solidFill>
                        <a:srgbClr val="403F44"/>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C9C5D8"/>
                        </a:buClr>
                        <a:buSzPts val="1200"/>
                        <a:buFont typeface="Montserrat"/>
                        <a:buNone/>
                      </a:pPr>
                      <a:r>
                        <a:rPr lang="en-US" sz="1200" u="none" cap="none" strike="noStrike">
                          <a:solidFill>
                            <a:srgbClr val="C9C5D8"/>
                          </a:solidFill>
                          <a:latin typeface="Montserrat"/>
                          <a:ea typeface="Montserrat"/>
                          <a:cs typeface="Montserrat"/>
                          <a:sym typeface="Montserrat"/>
                        </a:rPr>
                        <a:t>Muy probable: la usuaria reintentó porque el script ocultaba la consola.</a:t>
                      </a:r>
                      <a:endParaRPr sz="1200" u="none" cap="none" strike="noStrike">
                        <a:latin typeface="Montserrat"/>
                        <a:ea typeface="Montserrat"/>
                        <a:cs typeface="Montserrat"/>
                        <a:sym typeface="Montserrat"/>
                      </a:endParaRPr>
                    </a:p>
                  </a:txBody>
                  <a:tcPr marT="88900" marB="88900" marR="152400" marL="1524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r>
              <a:tr h="617150">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Solo uno de los tres C2 figuraba en una lista de reputación, y fue el único bloqueado.</a:t>
                      </a:r>
                      <a:endParaRPr sz="1200" u="none" cap="none" strike="noStrike">
                        <a:latin typeface="Montserrat"/>
                        <a:ea typeface="Montserrat"/>
                        <a:cs typeface="Montserrat"/>
                        <a:sym typeface="Montserrat"/>
                      </a:endParaRPr>
                    </a:p>
                  </a:txBody>
                  <a:tcPr marT="88900" marB="88900" marR="152400" marL="1524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C9C5D8"/>
                        </a:buClr>
                        <a:buSzPts val="1200"/>
                        <a:buFont typeface="Montserrat"/>
                        <a:buNone/>
                      </a:pPr>
                      <a:r>
                        <a:rPr lang="en-US" sz="1200" u="none" cap="none" strike="noStrike">
                          <a:solidFill>
                            <a:srgbClr val="C9C5D8"/>
                          </a:solidFill>
                          <a:latin typeface="Montserrat"/>
                          <a:ea typeface="Montserrat"/>
                          <a:cs typeface="Montserrat"/>
                          <a:sym typeface="Montserrat"/>
                        </a:rPr>
                        <a:t>Muy probable: sin bloqueo, los otros dos siguen alcanzables desde la red.</a:t>
                      </a:r>
                      <a:endParaRPr sz="1200" u="none" cap="none" strike="noStrike">
                        <a:latin typeface="Montserrat"/>
                        <a:ea typeface="Montserrat"/>
                        <a:cs typeface="Montserrat"/>
                        <a:sym typeface="Montserrat"/>
                      </a:endParaRPr>
                    </a:p>
                  </a:txBody>
                  <a:tcPr marT="88900" marB="88900" marR="152400" marL="1524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r>
            </a:tbl>
          </a:graphicData>
        </a:graphic>
      </p:graphicFrame>
      <p:sp>
        <p:nvSpPr>
          <p:cNvPr id="585" name="Google Shape;585;p24"/>
          <p:cNvSpPr/>
          <p:nvPr/>
        </p:nvSpPr>
        <p:spPr>
          <a:xfrm>
            <a:off x="812800" y="4035772"/>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El hecho lleva verbo en pasado y su fuente. La evaluación lleva una palabra de probabilidad y el porqué.</a:t>
            </a:r>
            <a:endParaRPr b="0" i="0" sz="1200" u="none" cap="none" strike="noStrike">
              <a:solidFill>
                <a:schemeClr val="lt1"/>
              </a:solidFill>
              <a:latin typeface="Montserrat"/>
              <a:ea typeface="Montserrat"/>
              <a:cs typeface="Montserrat"/>
              <a:sym typeface="Montserrat"/>
            </a:endParaRPr>
          </a:p>
        </p:txBody>
      </p:sp>
      <p:sp>
        <p:nvSpPr>
          <p:cNvPr id="586" name="Google Shape;586;p24"/>
          <p:cNvSpPr/>
          <p:nvPr/>
        </p:nvSpPr>
        <p:spPr>
          <a:xfrm>
            <a:off x="812800" y="4452293"/>
            <a:ext cx="10883392"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Si el lector no distingue qué viste de qué pensás, no puede confiar en ninguna de las dos.</a:t>
            </a:r>
            <a:endParaRPr b="0" i="0" sz="1500" u="none" cap="none" strike="noStrike">
              <a:solidFill>
                <a:schemeClr val="lt1"/>
              </a:solidFill>
              <a:latin typeface="Montserrat"/>
              <a:ea typeface="Montserrat"/>
              <a:cs typeface="Montserrat"/>
              <a:sym typeface="Montserrat"/>
            </a:endParaRPr>
          </a:p>
        </p:txBody>
      </p:sp>
      <p:sp>
        <p:nvSpPr>
          <p:cNvPr id="587" name="Google Shape;587;p24"/>
          <p:cNvSpPr/>
          <p:nvPr/>
        </p:nvSpPr>
        <p:spPr>
          <a:xfrm>
            <a:off x="812800" y="6238280"/>
            <a:ext cx="523482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WRITING THE INCIDENT STORY · DEATHCON 2026</a:t>
            </a:r>
            <a:endParaRPr b="0" i="0" sz="1200" u="none" cap="none" strike="noStrike">
              <a:solidFill>
                <a:schemeClr val="lt1"/>
              </a:solidFill>
              <a:latin typeface="Montserrat"/>
              <a:ea typeface="Montserrat"/>
              <a:cs typeface="Montserrat"/>
              <a:sym typeface="Montserrat"/>
            </a:endParaRPr>
          </a:p>
        </p:txBody>
      </p:sp>
      <p:sp>
        <p:nvSpPr>
          <p:cNvPr id="588" name="Google Shape;588;p24"/>
          <p:cNvSpPr/>
          <p:nvPr/>
        </p:nvSpPr>
        <p:spPr>
          <a:xfrm>
            <a:off x="11144498" y="6238280"/>
            <a:ext cx="234702"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24</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593" name="Shape 593"/>
        <p:cNvGrpSpPr/>
        <p:nvPr/>
      </p:nvGrpSpPr>
      <p:grpSpPr>
        <a:xfrm>
          <a:off x="0" y="0"/>
          <a:ext cx="0" cy="0"/>
          <a:chOff x="0" y="0"/>
          <a:chExt cx="0" cy="0"/>
        </a:xfrm>
      </p:grpSpPr>
      <p:sp>
        <p:nvSpPr>
          <p:cNvPr id="594" name="Google Shape;594;p25"/>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ESCRIBIR LA HISTORIA</a:t>
            </a:r>
            <a:endParaRPr b="0" i="0" sz="1200" u="none" cap="none" strike="noStrike">
              <a:solidFill>
                <a:schemeClr val="lt1"/>
              </a:solidFill>
              <a:latin typeface="Montserrat"/>
              <a:ea typeface="Montserrat"/>
              <a:cs typeface="Montserrat"/>
              <a:sym typeface="Montserrat"/>
            </a:endParaRPr>
          </a:p>
        </p:txBody>
      </p:sp>
      <p:sp>
        <p:nvSpPr>
          <p:cNvPr id="595" name="Google Shape;595;p25"/>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Decí cuán seguro estás</a:t>
            </a:r>
            <a:endParaRPr sz="3200"/>
          </a:p>
        </p:txBody>
      </p:sp>
      <p:sp>
        <p:nvSpPr>
          <p:cNvPr id="596" name="Google Shape;596;p25"/>
          <p:cNvSpPr/>
          <p:nvPr/>
        </p:nvSpPr>
        <p:spPr>
          <a:xfrm>
            <a:off x="812800" y="1777950"/>
            <a:ext cx="497078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200"/>
              <a:buFont typeface="Montserrat"/>
              <a:buNone/>
            </a:pPr>
            <a:r>
              <a:rPr b="1" i="0" lang="en-US" sz="1200" u="none" cap="none" strike="noStrike">
                <a:solidFill>
                  <a:srgbClr val="F59E42"/>
                </a:solidFill>
                <a:latin typeface="Montserrat"/>
                <a:ea typeface="Montserrat"/>
                <a:cs typeface="Montserrat"/>
                <a:sym typeface="Montserrat"/>
              </a:rPr>
              <a:t>PROBABILIDAD · ICD 203</a:t>
            </a:r>
            <a:endParaRPr b="0" i="0" sz="1200" u="none" cap="none" strike="noStrike">
              <a:solidFill>
                <a:schemeClr val="lt1"/>
              </a:solidFill>
              <a:latin typeface="Montserrat"/>
              <a:ea typeface="Montserrat"/>
              <a:cs typeface="Montserrat"/>
              <a:sym typeface="Montserrat"/>
            </a:endParaRPr>
          </a:p>
        </p:txBody>
      </p:sp>
      <p:cxnSp>
        <p:nvCxnSpPr>
          <p:cNvPr id="597" name="Google Shape;597;p25"/>
          <p:cNvCxnSpPr/>
          <p:nvPr/>
        </p:nvCxnSpPr>
        <p:spPr>
          <a:xfrm>
            <a:off x="812800" y="2296666"/>
            <a:ext cx="4826000" cy="0"/>
          </a:xfrm>
          <a:prstGeom prst="straightConnector1">
            <a:avLst/>
          </a:prstGeom>
          <a:noFill/>
          <a:ln cap="flat" cmpd="sng" w="9525">
            <a:solidFill>
              <a:srgbClr val="2D2740"/>
            </a:solidFill>
            <a:prstDash val="solid"/>
            <a:round/>
            <a:headEnd len="sm" w="sm" type="none"/>
            <a:tailEnd len="sm" w="sm" type="none"/>
          </a:ln>
        </p:spPr>
      </p:cxnSp>
      <p:sp>
        <p:nvSpPr>
          <p:cNvPr id="598" name="Google Shape;598;p25"/>
          <p:cNvSpPr/>
          <p:nvPr/>
        </p:nvSpPr>
        <p:spPr>
          <a:xfrm>
            <a:off x="812800" y="2054771"/>
            <a:ext cx="225242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Casi ninguna posibilidad</a:t>
            </a:r>
            <a:endParaRPr b="0" i="0" sz="1200" u="none" cap="none" strike="noStrike">
              <a:solidFill>
                <a:schemeClr val="lt1"/>
              </a:solidFill>
              <a:latin typeface="Montserrat"/>
              <a:ea typeface="Montserrat"/>
              <a:cs typeface="Montserrat"/>
              <a:sym typeface="Montserrat"/>
            </a:endParaRPr>
          </a:p>
        </p:txBody>
      </p:sp>
      <p:sp>
        <p:nvSpPr>
          <p:cNvPr id="599" name="Google Shape;599;p25"/>
          <p:cNvSpPr/>
          <p:nvPr/>
        </p:nvSpPr>
        <p:spPr>
          <a:xfrm>
            <a:off x="4870668" y="2054771"/>
            <a:ext cx="768132"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JetBrains Mono"/>
              <a:buNone/>
            </a:pPr>
            <a:r>
              <a:rPr b="0" i="0" lang="en-US" sz="1200" u="none" cap="none" strike="noStrike">
                <a:solidFill>
                  <a:srgbClr val="8F8AA6"/>
                </a:solidFill>
                <a:latin typeface="JetBrains Mono"/>
                <a:ea typeface="JetBrains Mono"/>
                <a:cs typeface="JetBrains Mono"/>
                <a:sym typeface="JetBrains Mono"/>
              </a:rPr>
              <a:t>01–05 %</a:t>
            </a:r>
            <a:endParaRPr b="0" i="0" sz="1200" u="none" cap="none" strike="noStrike">
              <a:solidFill>
                <a:schemeClr val="lt1"/>
              </a:solidFill>
              <a:latin typeface="Montserrat"/>
              <a:ea typeface="Montserrat"/>
              <a:cs typeface="Montserrat"/>
              <a:sym typeface="Montserrat"/>
            </a:endParaRPr>
          </a:p>
        </p:txBody>
      </p:sp>
      <p:cxnSp>
        <p:nvCxnSpPr>
          <p:cNvPr id="600" name="Google Shape;600;p25"/>
          <p:cNvCxnSpPr/>
          <p:nvPr/>
        </p:nvCxnSpPr>
        <p:spPr>
          <a:xfrm>
            <a:off x="812800" y="2605236"/>
            <a:ext cx="4826000" cy="0"/>
          </a:xfrm>
          <a:prstGeom prst="straightConnector1">
            <a:avLst/>
          </a:prstGeom>
          <a:noFill/>
          <a:ln cap="flat" cmpd="sng" w="9525">
            <a:solidFill>
              <a:srgbClr val="2D2740"/>
            </a:solidFill>
            <a:prstDash val="solid"/>
            <a:round/>
            <a:headEnd len="sm" w="sm" type="none"/>
            <a:tailEnd len="sm" w="sm" type="none"/>
          </a:ln>
        </p:spPr>
      </p:cxnSp>
      <p:sp>
        <p:nvSpPr>
          <p:cNvPr id="601" name="Google Shape;601;p25"/>
          <p:cNvSpPr/>
          <p:nvPr/>
        </p:nvSpPr>
        <p:spPr>
          <a:xfrm>
            <a:off x="812800" y="2363341"/>
            <a:ext cx="151209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Muy improbable</a:t>
            </a:r>
            <a:endParaRPr b="0" i="0" sz="1200" u="none" cap="none" strike="noStrike">
              <a:solidFill>
                <a:schemeClr val="lt1"/>
              </a:solidFill>
              <a:latin typeface="Montserrat"/>
              <a:ea typeface="Montserrat"/>
              <a:cs typeface="Montserrat"/>
              <a:sym typeface="Montserrat"/>
            </a:endParaRPr>
          </a:p>
        </p:txBody>
      </p:sp>
      <p:sp>
        <p:nvSpPr>
          <p:cNvPr id="602" name="Google Shape;602;p25"/>
          <p:cNvSpPr/>
          <p:nvPr/>
        </p:nvSpPr>
        <p:spPr>
          <a:xfrm>
            <a:off x="4870668" y="2363341"/>
            <a:ext cx="768132"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JetBrains Mono"/>
              <a:buNone/>
            </a:pPr>
            <a:r>
              <a:rPr b="0" i="0" lang="en-US" sz="1200" u="none" cap="none" strike="noStrike">
                <a:solidFill>
                  <a:srgbClr val="8F8AA6"/>
                </a:solidFill>
                <a:latin typeface="JetBrains Mono"/>
                <a:ea typeface="JetBrains Mono"/>
                <a:cs typeface="JetBrains Mono"/>
                <a:sym typeface="JetBrains Mono"/>
              </a:rPr>
              <a:t>05–20 %</a:t>
            </a:r>
            <a:endParaRPr b="0" i="0" sz="1200" u="none" cap="none" strike="noStrike">
              <a:solidFill>
                <a:schemeClr val="lt1"/>
              </a:solidFill>
              <a:latin typeface="Montserrat"/>
              <a:ea typeface="Montserrat"/>
              <a:cs typeface="Montserrat"/>
              <a:sym typeface="Montserrat"/>
            </a:endParaRPr>
          </a:p>
        </p:txBody>
      </p:sp>
      <p:cxnSp>
        <p:nvCxnSpPr>
          <p:cNvPr id="603" name="Google Shape;603;p25"/>
          <p:cNvCxnSpPr/>
          <p:nvPr/>
        </p:nvCxnSpPr>
        <p:spPr>
          <a:xfrm>
            <a:off x="812800" y="2913807"/>
            <a:ext cx="4826000" cy="0"/>
          </a:xfrm>
          <a:prstGeom prst="straightConnector1">
            <a:avLst/>
          </a:prstGeom>
          <a:noFill/>
          <a:ln cap="flat" cmpd="sng" w="9525">
            <a:solidFill>
              <a:srgbClr val="2D2740"/>
            </a:solidFill>
            <a:prstDash val="solid"/>
            <a:round/>
            <a:headEnd len="sm" w="sm" type="none"/>
            <a:tailEnd len="sm" w="sm" type="none"/>
          </a:ln>
        </p:spPr>
      </p:cxnSp>
      <p:sp>
        <p:nvSpPr>
          <p:cNvPr id="604" name="Google Shape;604;p25"/>
          <p:cNvSpPr/>
          <p:nvPr/>
        </p:nvSpPr>
        <p:spPr>
          <a:xfrm>
            <a:off x="812800" y="2671911"/>
            <a:ext cx="1074063"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Improbable</a:t>
            </a:r>
            <a:endParaRPr b="0" i="0" sz="1200" u="none" cap="none" strike="noStrike">
              <a:solidFill>
                <a:schemeClr val="lt1"/>
              </a:solidFill>
              <a:latin typeface="Montserrat"/>
              <a:ea typeface="Montserrat"/>
              <a:cs typeface="Montserrat"/>
              <a:sym typeface="Montserrat"/>
            </a:endParaRPr>
          </a:p>
        </p:txBody>
      </p:sp>
      <p:sp>
        <p:nvSpPr>
          <p:cNvPr id="605" name="Google Shape;605;p25"/>
          <p:cNvSpPr/>
          <p:nvPr/>
        </p:nvSpPr>
        <p:spPr>
          <a:xfrm>
            <a:off x="4870668" y="2671911"/>
            <a:ext cx="768132"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JetBrains Mono"/>
              <a:buNone/>
            </a:pPr>
            <a:r>
              <a:rPr b="0" i="0" lang="en-US" sz="1200" u="none" cap="none" strike="noStrike">
                <a:solidFill>
                  <a:srgbClr val="8F8AA6"/>
                </a:solidFill>
                <a:latin typeface="JetBrains Mono"/>
                <a:ea typeface="JetBrains Mono"/>
                <a:cs typeface="JetBrains Mono"/>
                <a:sym typeface="JetBrains Mono"/>
              </a:rPr>
              <a:t>20–45 %</a:t>
            </a:r>
            <a:endParaRPr b="0" i="0" sz="1200" u="none" cap="none" strike="noStrike">
              <a:solidFill>
                <a:schemeClr val="lt1"/>
              </a:solidFill>
              <a:latin typeface="Montserrat"/>
              <a:ea typeface="Montserrat"/>
              <a:cs typeface="Montserrat"/>
              <a:sym typeface="Montserrat"/>
            </a:endParaRPr>
          </a:p>
        </p:txBody>
      </p:sp>
      <p:cxnSp>
        <p:nvCxnSpPr>
          <p:cNvPr id="606" name="Google Shape;606;p25"/>
          <p:cNvCxnSpPr/>
          <p:nvPr/>
        </p:nvCxnSpPr>
        <p:spPr>
          <a:xfrm>
            <a:off x="812800" y="3222377"/>
            <a:ext cx="4826000" cy="0"/>
          </a:xfrm>
          <a:prstGeom prst="straightConnector1">
            <a:avLst/>
          </a:prstGeom>
          <a:noFill/>
          <a:ln cap="flat" cmpd="sng" w="9525">
            <a:solidFill>
              <a:srgbClr val="2D2740"/>
            </a:solidFill>
            <a:prstDash val="solid"/>
            <a:round/>
            <a:headEnd len="sm" w="sm" type="none"/>
            <a:tailEnd len="sm" w="sm" type="none"/>
          </a:ln>
        </p:spPr>
      </p:cxnSp>
      <p:sp>
        <p:nvSpPr>
          <p:cNvPr id="607" name="Google Shape;607;p25"/>
          <p:cNvSpPr/>
          <p:nvPr/>
        </p:nvSpPr>
        <p:spPr>
          <a:xfrm>
            <a:off x="812800" y="2980482"/>
            <a:ext cx="206311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Tan probable como no</a:t>
            </a:r>
            <a:endParaRPr b="0" i="0" sz="1200" u="none" cap="none" strike="noStrike">
              <a:solidFill>
                <a:schemeClr val="lt1"/>
              </a:solidFill>
              <a:latin typeface="Montserrat"/>
              <a:ea typeface="Montserrat"/>
              <a:cs typeface="Montserrat"/>
              <a:sym typeface="Montserrat"/>
            </a:endParaRPr>
          </a:p>
        </p:txBody>
      </p:sp>
      <p:sp>
        <p:nvSpPr>
          <p:cNvPr id="608" name="Google Shape;608;p25"/>
          <p:cNvSpPr/>
          <p:nvPr/>
        </p:nvSpPr>
        <p:spPr>
          <a:xfrm>
            <a:off x="4870668" y="2980482"/>
            <a:ext cx="768132"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JetBrains Mono"/>
              <a:buNone/>
            </a:pPr>
            <a:r>
              <a:rPr b="0" i="0" lang="en-US" sz="1200" u="none" cap="none" strike="noStrike">
                <a:solidFill>
                  <a:srgbClr val="8F8AA6"/>
                </a:solidFill>
                <a:latin typeface="JetBrains Mono"/>
                <a:ea typeface="JetBrains Mono"/>
                <a:cs typeface="JetBrains Mono"/>
                <a:sym typeface="JetBrains Mono"/>
              </a:rPr>
              <a:t>45–55 %</a:t>
            </a:r>
            <a:endParaRPr b="0" i="0" sz="1200" u="none" cap="none" strike="noStrike">
              <a:solidFill>
                <a:schemeClr val="lt1"/>
              </a:solidFill>
              <a:latin typeface="Montserrat"/>
              <a:ea typeface="Montserrat"/>
              <a:cs typeface="Montserrat"/>
              <a:sym typeface="Montserrat"/>
            </a:endParaRPr>
          </a:p>
        </p:txBody>
      </p:sp>
      <p:cxnSp>
        <p:nvCxnSpPr>
          <p:cNvPr id="609" name="Google Shape;609;p25"/>
          <p:cNvCxnSpPr/>
          <p:nvPr/>
        </p:nvCxnSpPr>
        <p:spPr>
          <a:xfrm>
            <a:off x="812800" y="3530947"/>
            <a:ext cx="4826000" cy="0"/>
          </a:xfrm>
          <a:prstGeom prst="straightConnector1">
            <a:avLst/>
          </a:prstGeom>
          <a:noFill/>
          <a:ln cap="flat" cmpd="sng" w="9525">
            <a:solidFill>
              <a:srgbClr val="2D2740"/>
            </a:solidFill>
            <a:prstDash val="solid"/>
            <a:round/>
            <a:headEnd len="sm" w="sm" type="none"/>
            <a:tailEnd len="sm" w="sm" type="none"/>
          </a:ln>
        </p:spPr>
      </p:cxnSp>
      <p:sp>
        <p:nvSpPr>
          <p:cNvPr id="610" name="Google Shape;610;p25"/>
          <p:cNvSpPr/>
          <p:nvPr/>
        </p:nvSpPr>
        <p:spPr>
          <a:xfrm>
            <a:off x="812800" y="3289052"/>
            <a:ext cx="82796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Probable</a:t>
            </a:r>
            <a:endParaRPr b="0" i="0" sz="1200" u="none" cap="none" strike="noStrike">
              <a:solidFill>
                <a:schemeClr val="lt1"/>
              </a:solidFill>
              <a:latin typeface="Montserrat"/>
              <a:ea typeface="Montserrat"/>
              <a:cs typeface="Montserrat"/>
              <a:sym typeface="Montserrat"/>
            </a:endParaRPr>
          </a:p>
        </p:txBody>
      </p:sp>
      <p:sp>
        <p:nvSpPr>
          <p:cNvPr id="611" name="Google Shape;611;p25"/>
          <p:cNvSpPr/>
          <p:nvPr/>
        </p:nvSpPr>
        <p:spPr>
          <a:xfrm>
            <a:off x="4870668" y="3289052"/>
            <a:ext cx="768132"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JetBrains Mono"/>
              <a:buNone/>
            </a:pPr>
            <a:r>
              <a:rPr b="0" i="0" lang="en-US" sz="1200" u="none" cap="none" strike="noStrike">
                <a:solidFill>
                  <a:srgbClr val="8F8AA6"/>
                </a:solidFill>
                <a:latin typeface="JetBrains Mono"/>
                <a:ea typeface="JetBrains Mono"/>
                <a:cs typeface="JetBrains Mono"/>
                <a:sym typeface="JetBrains Mono"/>
              </a:rPr>
              <a:t>55–80 %</a:t>
            </a:r>
            <a:endParaRPr b="0" i="0" sz="1200" u="none" cap="none" strike="noStrike">
              <a:solidFill>
                <a:schemeClr val="lt1"/>
              </a:solidFill>
              <a:latin typeface="Montserrat"/>
              <a:ea typeface="Montserrat"/>
              <a:cs typeface="Montserrat"/>
              <a:sym typeface="Montserrat"/>
            </a:endParaRPr>
          </a:p>
        </p:txBody>
      </p:sp>
      <p:cxnSp>
        <p:nvCxnSpPr>
          <p:cNvPr id="612" name="Google Shape;612;p25"/>
          <p:cNvCxnSpPr/>
          <p:nvPr/>
        </p:nvCxnSpPr>
        <p:spPr>
          <a:xfrm>
            <a:off x="812800" y="3839518"/>
            <a:ext cx="4826000" cy="0"/>
          </a:xfrm>
          <a:prstGeom prst="straightConnector1">
            <a:avLst/>
          </a:prstGeom>
          <a:noFill/>
          <a:ln cap="flat" cmpd="sng" w="9525">
            <a:solidFill>
              <a:srgbClr val="2D2740"/>
            </a:solidFill>
            <a:prstDash val="solid"/>
            <a:round/>
            <a:headEnd len="sm" w="sm" type="none"/>
            <a:tailEnd len="sm" w="sm" type="none"/>
          </a:ln>
        </p:spPr>
      </p:cxnSp>
      <p:sp>
        <p:nvSpPr>
          <p:cNvPr id="613" name="Google Shape;613;p25"/>
          <p:cNvSpPr/>
          <p:nvPr/>
        </p:nvSpPr>
        <p:spPr>
          <a:xfrm>
            <a:off x="812800" y="3597622"/>
            <a:ext cx="126890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Muy probable</a:t>
            </a:r>
            <a:endParaRPr b="0" i="0" sz="1200" u="none" cap="none" strike="noStrike">
              <a:solidFill>
                <a:schemeClr val="lt1"/>
              </a:solidFill>
              <a:latin typeface="Montserrat"/>
              <a:ea typeface="Montserrat"/>
              <a:cs typeface="Montserrat"/>
              <a:sym typeface="Montserrat"/>
            </a:endParaRPr>
          </a:p>
        </p:txBody>
      </p:sp>
      <p:sp>
        <p:nvSpPr>
          <p:cNvPr id="614" name="Google Shape;614;p25"/>
          <p:cNvSpPr/>
          <p:nvPr/>
        </p:nvSpPr>
        <p:spPr>
          <a:xfrm>
            <a:off x="4870668" y="3597622"/>
            <a:ext cx="768132"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JetBrains Mono"/>
              <a:buNone/>
            </a:pPr>
            <a:r>
              <a:rPr b="0" i="0" lang="en-US" sz="1200" u="none" cap="none" strike="noStrike">
                <a:solidFill>
                  <a:srgbClr val="8F8AA6"/>
                </a:solidFill>
                <a:latin typeface="JetBrains Mono"/>
                <a:ea typeface="JetBrains Mono"/>
                <a:cs typeface="JetBrains Mono"/>
                <a:sym typeface="JetBrains Mono"/>
              </a:rPr>
              <a:t>80–95 %</a:t>
            </a:r>
            <a:endParaRPr b="0" i="0" sz="1200" u="none" cap="none" strike="noStrike">
              <a:solidFill>
                <a:schemeClr val="lt1"/>
              </a:solidFill>
              <a:latin typeface="Montserrat"/>
              <a:ea typeface="Montserrat"/>
              <a:cs typeface="Montserrat"/>
              <a:sym typeface="Montserrat"/>
            </a:endParaRPr>
          </a:p>
        </p:txBody>
      </p:sp>
      <p:cxnSp>
        <p:nvCxnSpPr>
          <p:cNvPr id="615" name="Google Shape;615;p25"/>
          <p:cNvCxnSpPr/>
          <p:nvPr/>
        </p:nvCxnSpPr>
        <p:spPr>
          <a:xfrm>
            <a:off x="812800" y="4148088"/>
            <a:ext cx="4826000" cy="0"/>
          </a:xfrm>
          <a:prstGeom prst="straightConnector1">
            <a:avLst/>
          </a:prstGeom>
          <a:noFill/>
          <a:ln cap="flat" cmpd="sng" w="9525">
            <a:solidFill>
              <a:srgbClr val="2D2740"/>
            </a:solidFill>
            <a:prstDash val="solid"/>
            <a:round/>
            <a:headEnd len="sm" w="sm" type="none"/>
            <a:tailEnd len="sm" w="sm" type="none"/>
          </a:ln>
        </p:spPr>
      </p:cxnSp>
      <p:sp>
        <p:nvSpPr>
          <p:cNvPr id="616" name="Google Shape;616;p25"/>
          <p:cNvSpPr/>
          <p:nvPr/>
        </p:nvSpPr>
        <p:spPr>
          <a:xfrm>
            <a:off x="812800" y="3906193"/>
            <a:ext cx="105656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Casi seguro</a:t>
            </a:r>
            <a:endParaRPr b="0" i="0" sz="1200" u="none" cap="none" strike="noStrike">
              <a:solidFill>
                <a:schemeClr val="lt1"/>
              </a:solidFill>
              <a:latin typeface="Montserrat"/>
              <a:ea typeface="Montserrat"/>
              <a:cs typeface="Montserrat"/>
              <a:sym typeface="Montserrat"/>
            </a:endParaRPr>
          </a:p>
        </p:txBody>
      </p:sp>
      <p:sp>
        <p:nvSpPr>
          <p:cNvPr id="617" name="Google Shape;617;p25"/>
          <p:cNvSpPr/>
          <p:nvPr/>
        </p:nvSpPr>
        <p:spPr>
          <a:xfrm>
            <a:off x="4870668" y="3906193"/>
            <a:ext cx="768132"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JetBrains Mono"/>
              <a:buNone/>
            </a:pPr>
            <a:r>
              <a:rPr b="0" i="0" lang="en-US" sz="1200" u="none" cap="none" strike="noStrike">
                <a:solidFill>
                  <a:srgbClr val="8F8AA6"/>
                </a:solidFill>
                <a:latin typeface="JetBrains Mono"/>
                <a:ea typeface="JetBrains Mono"/>
                <a:cs typeface="JetBrains Mono"/>
                <a:sym typeface="JetBrains Mono"/>
              </a:rPr>
              <a:t>95–99 %</a:t>
            </a:r>
            <a:endParaRPr b="0" i="0" sz="1200" u="none" cap="none" strike="noStrike">
              <a:solidFill>
                <a:schemeClr val="lt1"/>
              </a:solidFill>
              <a:latin typeface="Montserrat"/>
              <a:ea typeface="Montserrat"/>
              <a:cs typeface="Montserrat"/>
              <a:sym typeface="Montserrat"/>
            </a:endParaRPr>
          </a:p>
        </p:txBody>
      </p:sp>
      <p:sp>
        <p:nvSpPr>
          <p:cNvPr id="618" name="Google Shape;618;p25"/>
          <p:cNvSpPr/>
          <p:nvPr/>
        </p:nvSpPr>
        <p:spPr>
          <a:xfrm>
            <a:off x="812800" y="4265563"/>
            <a:ext cx="497078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1" i="0" lang="en-US" sz="1200" u="none" cap="none" strike="noStrike">
                <a:solidFill>
                  <a:srgbClr val="C9C5D8"/>
                </a:solidFill>
                <a:latin typeface="Montserrat"/>
                <a:ea typeface="Montserrat"/>
                <a:cs typeface="Montserrat"/>
                <a:sym typeface="Montserrat"/>
              </a:rPr>
              <a:t>Confianza</a:t>
            </a:r>
            <a:r>
              <a:rPr b="0" i="0" lang="en-US" sz="1200" u="none" cap="none" strike="noStrike">
                <a:solidFill>
                  <a:srgbClr val="C9C5D8"/>
                </a:solidFill>
                <a:latin typeface="Montserrat"/>
                <a:ea typeface="Montserrat"/>
                <a:cs typeface="Montserrat"/>
                <a:sym typeface="Montserrat"/>
              </a:rPr>
              <a:t> alta, moderada o baja: cuán sólida es la evidencia, no cuán probable es el hecho.</a:t>
            </a:r>
            <a:endParaRPr b="0" i="0" sz="1200" u="none" cap="none" strike="noStrike">
              <a:solidFill>
                <a:schemeClr val="lt1"/>
              </a:solidFill>
              <a:latin typeface="Montserrat"/>
              <a:ea typeface="Montserrat"/>
              <a:cs typeface="Montserrat"/>
              <a:sym typeface="Montserrat"/>
            </a:endParaRPr>
          </a:p>
        </p:txBody>
      </p:sp>
      <p:sp>
        <p:nvSpPr>
          <p:cNvPr id="619" name="Google Shape;619;p25"/>
          <p:cNvSpPr/>
          <p:nvPr/>
        </p:nvSpPr>
        <p:spPr>
          <a:xfrm>
            <a:off x="5943600" y="1777950"/>
            <a:ext cx="559866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200"/>
              <a:buFont typeface="Montserrat"/>
              <a:buNone/>
            </a:pPr>
            <a:r>
              <a:rPr b="1" i="0" lang="en-US" sz="1200" u="none" cap="none" strike="noStrike">
                <a:solidFill>
                  <a:srgbClr val="F59E42"/>
                </a:solidFill>
                <a:latin typeface="Montserrat"/>
                <a:ea typeface="Montserrat"/>
                <a:cs typeface="Montserrat"/>
                <a:sym typeface="Montserrat"/>
              </a:rPr>
              <a:t>FUENTES · CÓDIGO ADMIRALTY</a:t>
            </a:r>
            <a:endParaRPr b="0" i="0" sz="1200" u="none" cap="none" strike="noStrike">
              <a:solidFill>
                <a:schemeClr val="lt1"/>
              </a:solidFill>
              <a:latin typeface="Montserrat"/>
              <a:ea typeface="Montserrat"/>
              <a:cs typeface="Montserrat"/>
              <a:sym typeface="Montserrat"/>
            </a:endParaRPr>
          </a:p>
        </p:txBody>
      </p:sp>
      <p:sp>
        <p:nvSpPr>
          <p:cNvPr id="620" name="Google Shape;620;p25"/>
          <p:cNvSpPr/>
          <p:nvPr/>
        </p:nvSpPr>
        <p:spPr>
          <a:xfrm>
            <a:off x="5943600" y="2067471"/>
            <a:ext cx="269468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Fiabilidad de la fuente</a:t>
            </a:r>
            <a:endParaRPr b="0" i="0" sz="1200" u="none" cap="none" strike="noStrike">
              <a:solidFill>
                <a:schemeClr val="lt1"/>
              </a:solidFill>
              <a:latin typeface="Montserrat"/>
              <a:ea typeface="Montserrat"/>
              <a:cs typeface="Montserrat"/>
              <a:sym typeface="Montserrat"/>
            </a:endParaRPr>
          </a:p>
        </p:txBody>
      </p:sp>
      <p:sp>
        <p:nvSpPr>
          <p:cNvPr id="621" name="Google Shape;621;p25"/>
          <p:cNvSpPr/>
          <p:nvPr/>
        </p:nvSpPr>
        <p:spPr>
          <a:xfrm>
            <a:off x="5943600" y="2318891"/>
            <a:ext cx="269468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A · Totalmente fiable</a:t>
            </a:r>
            <a:endParaRPr b="0" i="0" sz="1200" u="none" cap="none" strike="noStrike">
              <a:solidFill>
                <a:schemeClr val="lt1"/>
              </a:solidFill>
              <a:latin typeface="Montserrat"/>
              <a:ea typeface="Montserrat"/>
              <a:cs typeface="Montserrat"/>
              <a:sym typeface="Montserrat"/>
            </a:endParaRPr>
          </a:p>
        </p:txBody>
      </p:sp>
      <p:sp>
        <p:nvSpPr>
          <p:cNvPr id="622" name="Google Shape;622;p25"/>
          <p:cNvSpPr/>
          <p:nvPr/>
        </p:nvSpPr>
        <p:spPr>
          <a:xfrm>
            <a:off x="5943600" y="2570311"/>
            <a:ext cx="269468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B · Usualmente fiable</a:t>
            </a:r>
            <a:endParaRPr b="0" i="0" sz="1200" u="none" cap="none" strike="noStrike">
              <a:solidFill>
                <a:schemeClr val="lt1"/>
              </a:solidFill>
              <a:latin typeface="Montserrat"/>
              <a:ea typeface="Montserrat"/>
              <a:cs typeface="Montserrat"/>
              <a:sym typeface="Montserrat"/>
            </a:endParaRPr>
          </a:p>
        </p:txBody>
      </p:sp>
      <p:sp>
        <p:nvSpPr>
          <p:cNvPr id="623" name="Google Shape;623;p25"/>
          <p:cNvSpPr/>
          <p:nvPr/>
        </p:nvSpPr>
        <p:spPr>
          <a:xfrm>
            <a:off x="5943600" y="2821732"/>
            <a:ext cx="269468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C · Bastante fiable</a:t>
            </a:r>
            <a:endParaRPr b="0" i="0" sz="1200" u="none" cap="none" strike="noStrike">
              <a:solidFill>
                <a:schemeClr val="lt1"/>
              </a:solidFill>
              <a:latin typeface="Montserrat"/>
              <a:ea typeface="Montserrat"/>
              <a:cs typeface="Montserrat"/>
              <a:sym typeface="Montserrat"/>
            </a:endParaRPr>
          </a:p>
        </p:txBody>
      </p:sp>
      <p:sp>
        <p:nvSpPr>
          <p:cNvPr id="624" name="Google Shape;624;p25"/>
          <p:cNvSpPr/>
          <p:nvPr/>
        </p:nvSpPr>
        <p:spPr>
          <a:xfrm>
            <a:off x="5943600" y="3073152"/>
            <a:ext cx="269468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D · Poco fiable</a:t>
            </a:r>
            <a:endParaRPr b="0" i="0" sz="1200" u="none" cap="none" strike="noStrike">
              <a:solidFill>
                <a:schemeClr val="lt1"/>
              </a:solidFill>
              <a:latin typeface="Montserrat"/>
              <a:ea typeface="Montserrat"/>
              <a:cs typeface="Montserrat"/>
              <a:sym typeface="Montserrat"/>
            </a:endParaRPr>
          </a:p>
        </p:txBody>
      </p:sp>
      <p:sp>
        <p:nvSpPr>
          <p:cNvPr id="625" name="Google Shape;625;p25"/>
          <p:cNvSpPr/>
          <p:nvPr/>
        </p:nvSpPr>
        <p:spPr>
          <a:xfrm>
            <a:off x="5943600" y="3324572"/>
            <a:ext cx="269468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E · No fiable</a:t>
            </a:r>
            <a:endParaRPr b="0" i="0" sz="1200" u="none" cap="none" strike="noStrike">
              <a:solidFill>
                <a:schemeClr val="lt1"/>
              </a:solidFill>
              <a:latin typeface="Montserrat"/>
              <a:ea typeface="Montserrat"/>
              <a:cs typeface="Montserrat"/>
              <a:sym typeface="Montserrat"/>
            </a:endParaRPr>
          </a:p>
        </p:txBody>
      </p:sp>
      <p:sp>
        <p:nvSpPr>
          <p:cNvPr id="626" name="Google Shape;626;p25"/>
          <p:cNvSpPr/>
          <p:nvPr/>
        </p:nvSpPr>
        <p:spPr>
          <a:xfrm>
            <a:off x="5943600" y="3575993"/>
            <a:ext cx="269468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F · No se puede juzgar</a:t>
            </a:r>
            <a:endParaRPr b="0" i="0" sz="1200" u="none" cap="none" strike="noStrike">
              <a:solidFill>
                <a:schemeClr val="lt1"/>
              </a:solidFill>
              <a:latin typeface="Montserrat"/>
              <a:ea typeface="Montserrat"/>
              <a:cs typeface="Montserrat"/>
              <a:sym typeface="Montserrat"/>
            </a:endParaRPr>
          </a:p>
        </p:txBody>
      </p:sp>
      <p:sp>
        <p:nvSpPr>
          <p:cNvPr id="627" name="Google Shape;627;p25"/>
          <p:cNvSpPr/>
          <p:nvPr/>
        </p:nvSpPr>
        <p:spPr>
          <a:xfrm>
            <a:off x="8763000" y="2067471"/>
            <a:ext cx="269468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Credibilidad del dato</a:t>
            </a:r>
            <a:endParaRPr b="0" i="0" sz="1200" u="none" cap="none" strike="noStrike">
              <a:solidFill>
                <a:schemeClr val="lt1"/>
              </a:solidFill>
              <a:latin typeface="Montserrat"/>
              <a:ea typeface="Montserrat"/>
              <a:cs typeface="Montserrat"/>
              <a:sym typeface="Montserrat"/>
            </a:endParaRPr>
          </a:p>
        </p:txBody>
      </p:sp>
      <p:sp>
        <p:nvSpPr>
          <p:cNvPr id="628" name="Google Shape;628;p25"/>
          <p:cNvSpPr/>
          <p:nvPr/>
        </p:nvSpPr>
        <p:spPr>
          <a:xfrm>
            <a:off x="8763000" y="2318891"/>
            <a:ext cx="269468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1 · Confirmado</a:t>
            </a:r>
            <a:endParaRPr b="0" i="0" sz="1200" u="none" cap="none" strike="noStrike">
              <a:solidFill>
                <a:schemeClr val="lt1"/>
              </a:solidFill>
              <a:latin typeface="Montserrat"/>
              <a:ea typeface="Montserrat"/>
              <a:cs typeface="Montserrat"/>
              <a:sym typeface="Montserrat"/>
            </a:endParaRPr>
          </a:p>
        </p:txBody>
      </p:sp>
      <p:sp>
        <p:nvSpPr>
          <p:cNvPr id="629" name="Google Shape;629;p25"/>
          <p:cNvSpPr/>
          <p:nvPr/>
        </p:nvSpPr>
        <p:spPr>
          <a:xfrm>
            <a:off x="8763000" y="2570311"/>
            <a:ext cx="269468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2 · Probablemente cierto</a:t>
            </a:r>
            <a:endParaRPr b="0" i="0" sz="1200" u="none" cap="none" strike="noStrike">
              <a:solidFill>
                <a:schemeClr val="lt1"/>
              </a:solidFill>
              <a:latin typeface="Montserrat"/>
              <a:ea typeface="Montserrat"/>
              <a:cs typeface="Montserrat"/>
              <a:sym typeface="Montserrat"/>
            </a:endParaRPr>
          </a:p>
        </p:txBody>
      </p:sp>
      <p:sp>
        <p:nvSpPr>
          <p:cNvPr id="630" name="Google Shape;630;p25"/>
          <p:cNvSpPr/>
          <p:nvPr/>
        </p:nvSpPr>
        <p:spPr>
          <a:xfrm>
            <a:off x="8763000" y="2821732"/>
            <a:ext cx="269468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3 · Posiblemente cierto</a:t>
            </a:r>
            <a:endParaRPr b="0" i="0" sz="1200" u="none" cap="none" strike="noStrike">
              <a:solidFill>
                <a:schemeClr val="lt1"/>
              </a:solidFill>
              <a:latin typeface="Montserrat"/>
              <a:ea typeface="Montserrat"/>
              <a:cs typeface="Montserrat"/>
              <a:sym typeface="Montserrat"/>
            </a:endParaRPr>
          </a:p>
        </p:txBody>
      </p:sp>
      <p:sp>
        <p:nvSpPr>
          <p:cNvPr id="631" name="Google Shape;631;p25"/>
          <p:cNvSpPr/>
          <p:nvPr/>
        </p:nvSpPr>
        <p:spPr>
          <a:xfrm>
            <a:off x="8763000" y="3073152"/>
            <a:ext cx="269468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4 · Dudoso</a:t>
            </a:r>
            <a:endParaRPr b="0" i="0" sz="1200" u="none" cap="none" strike="noStrike">
              <a:solidFill>
                <a:schemeClr val="lt1"/>
              </a:solidFill>
              <a:latin typeface="Montserrat"/>
              <a:ea typeface="Montserrat"/>
              <a:cs typeface="Montserrat"/>
              <a:sym typeface="Montserrat"/>
            </a:endParaRPr>
          </a:p>
        </p:txBody>
      </p:sp>
      <p:sp>
        <p:nvSpPr>
          <p:cNvPr id="632" name="Google Shape;632;p25"/>
          <p:cNvSpPr/>
          <p:nvPr/>
        </p:nvSpPr>
        <p:spPr>
          <a:xfrm>
            <a:off x="8763000" y="3324572"/>
            <a:ext cx="269468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5 · Improbable</a:t>
            </a:r>
            <a:endParaRPr b="0" i="0" sz="1200" u="none" cap="none" strike="noStrike">
              <a:solidFill>
                <a:schemeClr val="lt1"/>
              </a:solidFill>
              <a:latin typeface="Montserrat"/>
              <a:ea typeface="Montserrat"/>
              <a:cs typeface="Montserrat"/>
              <a:sym typeface="Montserrat"/>
            </a:endParaRPr>
          </a:p>
        </p:txBody>
      </p:sp>
      <p:sp>
        <p:nvSpPr>
          <p:cNvPr id="633" name="Google Shape;633;p25"/>
          <p:cNvSpPr/>
          <p:nvPr/>
        </p:nvSpPr>
        <p:spPr>
          <a:xfrm>
            <a:off x="8763000" y="3575993"/>
            <a:ext cx="269468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6 · No se puede juzgar</a:t>
            </a:r>
            <a:endParaRPr b="0" i="0" sz="1200" u="none" cap="none" strike="noStrike">
              <a:solidFill>
                <a:schemeClr val="lt1"/>
              </a:solidFill>
              <a:latin typeface="Montserrat"/>
              <a:ea typeface="Montserrat"/>
              <a:cs typeface="Montserrat"/>
              <a:sym typeface="Montserrat"/>
            </a:endParaRPr>
          </a:p>
        </p:txBody>
      </p:sp>
      <p:sp>
        <p:nvSpPr>
          <p:cNvPr id="634" name="Google Shape;634;p25"/>
          <p:cNvSpPr/>
          <p:nvPr/>
        </p:nvSpPr>
        <p:spPr>
          <a:xfrm>
            <a:off x="812800" y="4895404"/>
            <a:ext cx="10566400" cy="680641"/>
          </a:xfrm>
          <a:prstGeom prst="roundRect">
            <a:avLst>
              <a:gd fmla="val 14927" name="adj"/>
            </a:avLst>
          </a:prstGeom>
          <a:solidFill>
            <a:srgbClr val="1B1726"/>
          </a:solidFill>
          <a:ln>
            <a:noFill/>
          </a:ln>
        </p:spPr>
        <p:txBody>
          <a:bodyPr anchorCtr="0" anchor="t" bIns="71825" lIns="211525" spcFirstLastPara="1" rIns="0" wrap="square" tIns="97225">
            <a:normAutofit/>
          </a:bodyPr>
          <a:lstStyle/>
          <a:p>
            <a:pPr indent="0" lvl="0" marL="0" marR="0" rtl="0" algn="l">
              <a:lnSpc>
                <a:spcPct val="140000"/>
              </a:lnSpc>
              <a:spcBef>
                <a:spcPts val="0"/>
              </a:spcBef>
              <a:spcAft>
                <a:spcPts val="0"/>
              </a:spcAft>
              <a:buClr>
                <a:srgbClr val="C2C2F4"/>
              </a:buClr>
              <a:buSzPts val="1200"/>
              <a:buFont typeface="Montserrat"/>
              <a:buNone/>
            </a:pPr>
            <a:r>
              <a:rPr b="0" i="0" lang="en-US" sz="1200" u="none" cap="none" strike="noStrike">
                <a:solidFill>
                  <a:srgbClr val="C2C2F4"/>
                </a:solidFill>
                <a:latin typeface="Montserrat"/>
                <a:ea typeface="Montserrat"/>
                <a:cs typeface="Montserrat"/>
                <a:sym typeface="Montserrat"/>
              </a:rPr>
              <a:t>En el informe:</a:t>
            </a:r>
            <a:r>
              <a:rPr b="0" i="0" lang="en-US" sz="1200" u="none" cap="none" strike="noStrike">
                <a:solidFill>
                  <a:srgbClr val="F1EEF7"/>
                </a:solidFill>
                <a:latin typeface="Montserrat"/>
                <a:ea typeface="Montserrat"/>
                <a:cs typeface="Montserrat"/>
                <a:sym typeface="Montserrat"/>
              </a:rPr>
              <a:t> “Confianza alta en que XXXX-01 fue comprometido: registro, procesos, red, archivos y sandbox coinciden. Confianza moderada en que no hay otros equipos afectados: la query principal solo cubre Win+R.”</a:t>
            </a:r>
            <a:endParaRPr b="0" i="0" sz="1200" u="none" cap="none" strike="noStrike">
              <a:solidFill>
                <a:schemeClr val="lt1"/>
              </a:solidFill>
              <a:latin typeface="Montserrat"/>
              <a:ea typeface="Montserrat"/>
              <a:cs typeface="Montserrat"/>
              <a:sym typeface="Montserrat"/>
            </a:endParaRPr>
          </a:p>
        </p:txBody>
      </p:sp>
      <p:sp>
        <p:nvSpPr>
          <p:cNvPr id="635" name="Google Shape;635;p25"/>
          <p:cNvSpPr/>
          <p:nvPr/>
        </p:nvSpPr>
        <p:spPr>
          <a:xfrm>
            <a:off x="812800" y="4895404"/>
            <a:ext cx="10566400" cy="680641"/>
          </a:xfrm>
          <a:custGeom>
            <a:rect b="b" l="l" r="r" t="t"/>
            <a:pathLst>
              <a:path extrusionOk="0" h="680641" w="10566400">
                <a:moveTo>
                  <a:pt x="101600" y="680641"/>
                </a:moveTo>
                <a:lnTo>
                  <a:pt x="101600" y="680641"/>
                </a:lnTo>
                <a:cubicBezTo>
                  <a:pt x="45488" y="680641"/>
                  <a:pt x="0" y="635153"/>
                  <a:pt x="0" y="579041"/>
                </a:cubicBezTo>
                <a:lnTo>
                  <a:pt x="0" y="101600"/>
                </a:lnTo>
                <a:cubicBezTo>
                  <a:pt x="0" y="45488"/>
                  <a:pt x="45488" y="0"/>
                  <a:pt x="101600" y="0"/>
                </a:cubicBezTo>
                <a:lnTo>
                  <a:pt x="101600" y="0"/>
                </a:lnTo>
                <a:cubicBezTo>
                  <a:pt x="66530" y="0"/>
                  <a:pt x="38100" y="45488"/>
                  <a:pt x="38100" y="101600"/>
                </a:cubicBezTo>
                <a:lnTo>
                  <a:pt x="38100" y="579041"/>
                </a:lnTo>
                <a:cubicBezTo>
                  <a:pt x="38100" y="635153"/>
                  <a:pt x="66530" y="680641"/>
                  <a:pt x="101600" y="680641"/>
                </a:cubicBezTo>
                <a:close/>
              </a:path>
            </a:pathLst>
          </a:custGeom>
          <a:solidFill>
            <a:srgbClr val="F59E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5"/>
          <p:cNvSpPr/>
          <p:nvPr/>
        </p:nvSpPr>
        <p:spPr>
          <a:xfrm>
            <a:off x="812800" y="6238280"/>
            <a:ext cx="8662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Fuentes: ODNI, Intelligence Community Directive 203 · sistema de evaluación NATO / Admiralty</a:t>
            </a:r>
            <a:endParaRPr b="0" i="0" sz="1200" u="none" cap="none" strike="noStrike">
              <a:solidFill>
                <a:schemeClr val="lt1"/>
              </a:solidFill>
              <a:latin typeface="Montserrat"/>
              <a:ea typeface="Montserrat"/>
              <a:cs typeface="Montserrat"/>
              <a:sym typeface="Montserrat"/>
            </a:endParaRPr>
          </a:p>
        </p:txBody>
      </p:sp>
      <p:sp>
        <p:nvSpPr>
          <p:cNvPr id="637" name="Google Shape;637;p25"/>
          <p:cNvSpPr/>
          <p:nvPr/>
        </p:nvSpPr>
        <p:spPr>
          <a:xfrm>
            <a:off x="11155611" y="6238280"/>
            <a:ext cx="223589"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25</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642" name="Shape 642"/>
        <p:cNvGrpSpPr/>
        <p:nvPr/>
      </p:nvGrpSpPr>
      <p:grpSpPr>
        <a:xfrm>
          <a:off x="0" y="0"/>
          <a:ext cx="0" cy="0"/>
          <a:chOff x="0" y="0"/>
          <a:chExt cx="0" cy="0"/>
        </a:xfrm>
      </p:grpSpPr>
      <p:sp>
        <p:nvSpPr>
          <p:cNvPr id="643" name="Google Shape;643;p26"/>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ESCRIBIR LA HISTORIA · ACH</a:t>
            </a:r>
            <a:endParaRPr b="0" i="0" sz="1200" u="none" cap="none" strike="noStrike">
              <a:solidFill>
                <a:schemeClr val="lt1"/>
              </a:solidFill>
              <a:latin typeface="Montserrat"/>
              <a:ea typeface="Montserrat"/>
              <a:cs typeface="Montserrat"/>
              <a:sym typeface="Montserrat"/>
            </a:endParaRPr>
          </a:p>
        </p:txBody>
      </p:sp>
      <p:sp>
        <p:nvSpPr>
          <p:cNvPr id="644" name="Google Shape;644;p26"/>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Hipótesis en competencia: ¿lo pegó?</a:t>
            </a:r>
            <a:endParaRPr sz="3200"/>
          </a:p>
        </p:txBody>
      </p:sp>
      <p:graphicFrame>
        <p:nvGraphicFramePr>
          <p:cNvPr id="645" name="Google Shape;645;p26"/>
          <p:cNvGraphicFramePr/>
          <p:nvPr/>
        </p:nvGraphicFramePr>
        <p:xfrm>
          <a:off x="825500" y="1790650"/>
          <a:ext cx="3000000" cy="3000000"/>
        </p:xfrm>
        <a:graphic>
          <a:graphicData uri="http://schemas.openxmlformats.org/drawingml/2006/table">
            <a:tbl>
              <a:tblPr>
                <a:noFill/>
                <a:tableStyleId>{FB773AD2-FA50-4F7C-A878-0F7E4A0B4D0B}</a:tableStyleId>
              </a:tblPr>
              <a:tblGrid>
                <a:gridCol w="5804525"/>
                <a:gridCol w="1583050"/>
                <a:gridCol w="1583050"/>
                <a:gridCol w="1583050"/>
              </a:tblGrid>
              <a:tr h="378425">
                <a:tc>
                  <a:txBody>
                    <a:bodyPr/>
                    <a:lstStyle/>
                    <a:p>
                      <a:pPr indent="0" lvl="0" marL="0" marR="0" rtl="0" algn="l">
                        <a:lnSpc>
                          <a:spcPct val="140000"/>
                        </a:lnSpc>
                        <a:spcBef>
                          <a:spcPts val="0"/>
                        </a:spcBef>
                        <a:spcAft>
                          <a:spcPts val="0"/>
                        </a:spcAft>
                        <a:buClr>
                          <a:srgbClr val="C2C2F4"/>
                        </a:buClr>
                        <a:buSzPts val="1200"/>
                        <a:buFont typeface="Montserrat"/>
                        <a:buNone/>
                      </a:pPr>
                      <a:r>
                        <a:rPr b="1" lang="en-US" sz="1200" u="none" cap="none" strike="noStrike">
                          <a:solidFill>
                            <a:srgbClr val="C2C2F4"/>
                          </a:solidFill>
                          <a:latin typeface="Montserrat"/>
                          <a:ea typeface="Montserrat"/>
                          <a:cs typeface="Montserrat"/>
                          <a:sym typeface="Montserrat"/>
                        </a:rPr>
                        <a:t>Evidencia</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584662"/>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584662"/>
                      </a:solidFill>
                      <a:prstDash val="solid"/>
                      <a:round/>
                      <a:headEnd len="sm" w="sm" type="none"/>
                      <a:tailEnd len="sm" w="sm" type="none"/>
                    </a:lnB>
                    <a:solidFill>
                      <a:srgbClr val="2A1438"/>
                    </a:solidFill>
                  </a:tcPr>
                </a:tc>
                <a:tc>
                  <a:txBody>
                    <a:bodyPr/>
                    <a:lstStyle/>
                    <a:p>
                      <a:pPr indent="0" lvl="0" marL="0" marR="0" rtl="0" algn="l">
                        <a:lnSpc>
                          <a:spcPct val="140000"/>
                        </a:lnSpc>
                        <a:spcBef>
                          <a:spcPts val="0"/>
                        </a:spcBef>
                        <a:spcAft>
                          <a:spcPts val="0"/>
                        </a:spcAft>
                        <a:buClr>
                          <a:srgbClr val="C2C2F4"/>
                        </a:buClr>
                        <a:buSzPts val="1200"/>
                        <a:buFont typeface="Montserrat"/>
                        <a:buNone/>
                      </a:pPr>
                      <a:r>
                        <a:rPr b="1" lang="en-US" sz="1200" u="none" cap="none" strike="noStrike">
                          <a:solidFill>
                            <a:srgbClr val="C2C2F4"/>
                          </a:solidFill>
                          <a:latin typeface="Montserrat"/>
                          <a:ea typeface="Montserrat"/>
                          <a:cs typeface="Montserrat"/>
                          <a:sym typeface="Montserrat"/>
                        </a:rPr>
                        <a:t>H1 · Lo pegó</a:t>
                      </a:r>
                      <a:endParaRPr sz="1200" u="none" cap="none" strike="noStrike">
                        <a:latin typeface="Montserrat"/>
                        <a:ea typeface="Montserrat"/>
                        <a:cs typeface="Montserrat"/>
                        <a:sym typeface="Montserrat"/>
                      </a:endParaRPr>
                    </a:p>
                  </a:txBody>
                  <a:tcPr marT="76200" marB="76200" marR="127000" marL="127000">
                    <a:lnL cap="flat" cmpd="sng" w="12700">
                      <a:solidFill>
                        <a:srgbClr val="584662"/>
                      </a:solidFill>
                      <a:prstDash val="solid"/>
                      <a:round/>
                      <a:headEnd len="sm" w="sm" type="none"/>
                      <a:tailEnd len="sm" w="sm" type="none"/>
                    </a:lnL>
                    <a:lnR cap="flat" cmpd="sng" w="12700">
                      <a:solidFill>
                        <a:srgbClr val="584662"/>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584662"/>
                      </a:solidFill>
                      <a:prstDash val="solid"/>
                      <a:round/>
                      <a:headEnd len="sm" w="sm" type="none"/>
                      <a:tailEnd len="sm" w="sm" type="none"/>
                    </a:lnB>
                    <a:solidFill>
                      <a:srgbClr val="2A1438"/>
                    </a:solidFill>
                  </a:tcPr>
                </a:tc>
                <a:tc>
                  <a:txBody>
                    <a:bodyPr/>
                    <a:lstStyle/>
                    <a:p>
                      <a:pPr indent="0" lvl="0" marL="0" marR="0" rtl="0" algn="l">
                        <a:lnSpc>
                          <a:spcPct val="140000"/>
                        </a:lnSpc>
                        <a:spcBef>
                          <a:spcPts val="0"/>
                        </a:spcBef>
                        <a:spcAft>
                          <a:spcPts val="0"/>
                        </a:spcAft>
                        <a:buClr>
                          <a:srgbClr val="C2C2F4"/>
                        </a:buClr>
                        <a:buSzPts val="1200"/>
                        <a:buFont typeface="Montserrat"/>
                        <a:buNone/>
                      </a:pPr>
                      <a:r>
                        <a:rPr b="1" lang="en-US" sz="1200" u="none" cap="none" strike="noStrike">
                          <a:solidFill>
                            <a:srgbClr val="C2C2F4"/>
                          </a:solidFill>
                          <a:latin typeface="Montserrat"/>
                          <a:ea typeface="Montserrat"/>
                          <a:cs typeface="Montserrat"/>
                          <a:sym typeface="Montserrat"/>
                        </a:rPr>
                        <a:t>H2 · Lo tipeó</a:t>
                      </a:r>
                      <a:endParaRPr sz="1200" u="none" cap="none" strike="noStrike">
                        <a:latin typeface="Montserrat"/>
                        <a:ea typeface="Montserrat"/>
                        <a:cs typeface="Montserrat"/>
                        <a:sym typeface="Montserrat"/>
                      </a:endParaRPr>
                    </a:p>
                  </a:txBody>
                  <a:tcPr marT="76200" marB="76200" marR="127000" marL="127000">
                    <a:lnL cap="flat" cmpd="sng" w="12700">
                      <a:solidFill>
                        <a:srgbClr val="584662"/>
                      </a:solidFill>
                      <a:prstDash val="solid"/>
                      <a:round/>
                      <a:headEnd len="sm" w="sm" type="none"/>
                      <a:tailEnd len="sm" w="sm" type="none"/>
                    </a:lnL>
                    <a:lnR cap="flat" cmpd="sng" w="12700">
                      <a:solidFill>
                        <a:srgbClr val="584662"/>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584662"/>
                      </a:solidFill>
                      <a:prstDash val="solid"/>
                      <a:round/>
                      <a:headEnd len="sm" w="sm" type="none"/>
                      <a:tailEnd len="sm" w="sm" type="none"/>
                    </a:lnB>
                    <a:solidFill>
                      <a:srgbClr val="2A1438"/>
                    </a:solidFill>
                  </a:tcPr>
                </a:tc>
                <a:tc>
                  <a:txBody>
                    <a:bodyPr/>
                    <a:lstStyle/>
                    <a:p>
                      <a:pPr indent="0" lvl="0" marL="0" marR="0" rtl="0" algn="l">
                        <a:lnSpc>
                          <a:spcPct val="140000"/>
                        </a:lnSpc>
                        <a:spcBef>
                          <a:spcPts val="0"/>
                        </a:spcBef>
                        <a:spcAft>
                          <a:spcPts val="0"/>
                        </a:spcAft>
                        <a:buClr>
                          <a:srgbClr val="C2C2F4"/>
                        </a:buClr>
                        <a:buSzPts val="1200"/>
                        <a:buFont typeface="Montserrat"/>
                        <a:buNone/>
                      </a:pPr>
                      <a:r>
                        <a:rPr b="1" lang="en-US" sz="1200" u="none" cap="none" strike="noStrike">
                          <a:solidFill>
                            <a:srgbClr val="C2C2F4"/>
                          </a:solidFill>
                          <a:latin typeface="Montserrat"/>
                          <a:ea typeface="Montserrat"/>
                          <a:cs typeface="Montserrat"/>
                          <a:sym typeface="Montserrat"/>
                        </a:rPr>
                        <a:t>H3 · Remoto</a:t>
                      </a:r>
                      <a:endParaRPr sz="1200" u="none" cap="none" strike="noStrike">
                        <a:latin typeface="Montserrat"/>
                        <a:ea typeface="Montserrat"/>
                        <a:cs typeface="Montserrat"/>
                        <a:sym typeface="Montserrat"/>
                      </a:endParaRPr>
                    </a:p>
                  </a:txBody>
                  <a:tcPr marT="76200" marB="76200" marR="127000" marL="127000">
                    <a:lnL cap="flat" cmpd="sng" w="12700">
                      <a:solidFill>
                        <a:srgbClr val="584662"/>
                      </a:solidFill>
                      <a:prstDash val="solid"/>
                      <a:round/>
                      <a:headEnd len="sm" w="sm" type="none"/>
                      <a:tailEnd len="sm" w="sm" type="none"/>
                    </a:lnL>
                    <a:lnR cap="flat" cmpd="sng" w="12700">
                      <a:solidFill>
                        <a:srgbClr val="584662"/>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584662"/>
                      </a:solidFill>
                      <a:prstDash val="solid"/>
                      <a:round/>
                      <a:headEnd len="sm" w="sm" type="none"/>
                      <a:tailEnd len="sm" w="sm" type="none"/>
                    </a:lnB>
                    <a:solidFill>
                      <a:srgbClr val="2A1438"/>
                    </a:solidFill>
                  </a:tcPr>
                </a:tc>
              </a:tr>
              <a:tr h="378425">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Quedó en RunMRU, escrito por explorer.exe</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584662"/>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C2C2F4"/>
                        </a:buClr>
                        <a:buSzPts val="1200"/>
                        <a:buFont typeface="Montserrat"/>
                        <a:buNone/>
                      </a:pPr>
                      <a:r>
                        <a:rPr lang="en-US" sz="1200" u="none" cap="none" strike="noStrike">
                          <a:solidFill>
                            <a:srgbClr val="C2C2F4"/>
                          </a:solidFill>
                          <a:latin typeface="Montserrat"/>
                          <a:ea typeface="Montserrat"/>
                          <a:cs typeface="Montserrat"/>
                          <a:sym typeface="Montserrat"/>
                        </a:rPr>
                        <a:t>Consistente</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584662"/>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C2C2F4"/>
                        </a:buClr>
                        <a:buSzPts val="1200"/>
                        <a:buFont typeface="Montserrat"/>
                        <a:buNone/>
                      </a:pPr>
                      <a:r>
                        <a:rPr lang="en-US" sz="1200" u="none" cap="none" strike="noStrike">
                          <a:solidFill>
                            <a:srgbClr val="C2C2F4"/>
                          </a:solidFill>
                          <a:latin typeface="Montserrat"/>
                          <a:ea typeface="Montserrat"/>
                          <a:cs typeface="Montserrat"/>
                          <a:sym typeface="Montserrat"/>
                        </a:rPr>
                        <a:t>Consistente</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584662"/>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F59E42"/>
                        </a:buClr>
                        <a:buSzPts val="1200"/>
                        <a:buFont typeface="Montserrat"/>
                        <a:buNone/>
                      </a:pPr>
                      <a:r>
                        <a:rPr lang="en-US" sz="1200" u="none" cap="none" strike="noStrike">
                          <a:solidFill>
                            <a:srgbClr val="F59E42"/>
                          </a:solidFill>
                          <a:latin typeface="Montserrat"/>
                          <a:ea typeface="Montserrat"/>
                          <a:cs typeface="Montserrat"/>
                          <a:sym typeface="Montserrat"/>
                        </a:rPr>
                        <a:t>Inconsistente</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584662"/>
                      </a:solidFill>
                      <a:prstDash val="solid"/>
                      <a:round/>
                      <a:headEnd len="sm" w="sm" type="none"/>
                      <a:tailEnd len="sm" w="sm" type="none"/>
                    </a:lnT>
                    <a:lnB cap="flat" cmpd="sng" w="12700">
                      <a:solidFill>
                        <a:srgbClr val="403F44"/>
                      </a:solidFill>
                      <a:prstDash val="solid"/>
                      <a:round/>
                      <a:headEnd len="sm" w="sm" type="none"/>
                      <a:tailEnd len="sm" w="sm" type="none"/>
                    </a:lnB>
                  </a:tcPr>
                </a:tc>
              </a:tr>
              <a:tr h="378425">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120 caracteres con una IP en decimal, en segundos</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C2C2F4"/>
                        </a:buClr>
                        <a:buSzPts val="1200"/>
                        <a:buFont typeface="Montserrat"/>
                        <a:buNone/>
                      </a:pPr>
                      <a:r>
                        <a:rPr lang="en-US" sz="1200" u="none" cap="none" strike="noStrike">
                          <a:solidFill>
                            <a:srgbClr val="C2C2F4"/>
                          </a:solidFill>
                          <a:latin typeface="Montserrat"/>
                          <a:ea typeface="Montserrat"/>
                          <a:cs typeface="Montserrat"/>
                          <a:sym typeface="Montserrat"/>
                        </a:rPr>
                        <a:t>Consistente</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F59E42"/>
                        </a:buClr>
                        <a:buSzPts val="1200"/>
                        <a:buFont typeface="Montserrat"/>
                        <a:buNone/>
                      </a:pPr>
                      <a:r>
                        <a:rPr lang="en-US" sz="1200" u="none" cap="none" strike="noStrike">
                          <a:solidFill>
                            <a:srgbClr val="F59E42"/>
                          </a:solidFill>
                          <a:latin typeface="Montserrat"/>
                          <a:ea typeface="Montserrat"/>
                          <a:cs typeface="Montserrat"/>
                          <a:sym typeface="Montserrat"/>
                        </a:rPr>
                        <a:t>Inconsistente</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8F8AA6"/>
                        </a:buClr>
                        <a:buSzPts val="1200"/>
                        <a:buFont typeface="Montserrat"/>
                        <a:buNone/>
                      </a:pPr>
                      <a:r>
                        <a:rPr lang="en-US" sz="1200" u="none" cap="none" strike="noStrike">
                          <a:solidFill>
                            <a:srgbClr val="8F8AA6"/>
                          </a:solidFill>
                          <a:latin typeface="Montserrat"/>
                          <a:ea typeface="Montserrat"/>
                          <a:cs typeface="Montserrat"/>
                          <a:sym typeface="Montserrat"/>
                        </a:rPr>
                        <a:t>Neutral</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r>
              <a:tr h="378425">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El mismo comando, idéntico, cuatro veces</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C2C2F4"/>
                        </a:buClr>
                        <a:buSzPts val="1200"/>
                        <a:buFont typeface="Montserrat"/>
                        <a:buNone/>
                      </a:pPr>
                      <a:r>
                        <a:rPr lang="en-US" sz="1200" u="none" cap="none" strike="noStrike">
                          <a:solidFill>
                            <a:srgbClr val="C2C2F4"/>
                          </a:solidFill>
                          <a:latin typeface="Montserrat"/>
                          <a:ea typeface="Montserrat"/>
                          <a:cs typeface="Montserrat"/>
                          <a:sym typeface="Montserrat"/>
                        </a:rPr>
                        <a:t>Consistente</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F59E42"/>
                        </a:buClr>
                        <a:buSzPts val="1200"/>
                        <a:buFont typeface="Montserrat"/>
                        <a:buNone/>
                      </a:pPr>
                      <a:r>
                        <a:rPr lang="en-US" sz="1200" u="none" cap="none" strike="noStrike">
                          <a:solidFill>
                            <a:srgbClr val="F59E42"/>
                          </a:solidFill>
                          <a:latin typeface="Montserrat"/>
                          <a:ea typeface="Montserrat"/>
                          <a:cs typeface="Montserrat"/>
                          <a:sym typeface="Montserrat"/>
                        </a:rPr>
                        <a:t>Inconsistente</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C2C2F4"/>
                        </a:buClr>
                        <a:buSzPts val="1200"/>
                        <a:buFont typeface="Montserrat"/>
                        <a:buNone/>
                      </a:pPr>
                      <a:r>
                        <a:rPr lang="en-US" sz="1200" u="none" cap="none" strike="noStrike">
                          <a:solidFill>
                            <a:srgbClr val="C2C2F4"/>
                          </a:solidFill>
                          <a:latin typeface="Montserrat"/>
                          <a:ea typeface="Montserrat"/>
                          <a:cs typeface="Montserrat"/>
                          <a:sym typeface="Montserrat"/>
                        </a:rPr>
                        <a:t>Consistente</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r>
              <a:tr h="378425">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Sin herramientas de acceso remoto en 24 h</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8F8AA6"/>
                        </a:buClr>
                        <a:buSzPts val="1200"/>
                        <a:buFont typeface="Montserrat"/>
                        <a:buNone/>
                      </a:pPr>
                      <a:r>
                        <a:rPr lang="en-US" sz="1200" u="none" cap="none" strike="noStrike">
                          <a:solidFill>
                            <a:srgbClr val="8F8AA6"/>
                          </a:solidFill>
                          <a:latin typeface="Montserrat"/>
                          <a:ea typeface="Montserrat"/>
                          <a:cs typeface="Montserrat"/>
                          <a:sym typeface="Montserrat"/>
                        </a:rPr>
                        <a:t>Neutral</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8F8AA6"/>
                        </a:buClr>
                        <a:buSzPts val="1200"/>
                        <a:buFont typeface="Montserrat"/>
                        <a:buNone/>
                      </a:pPr>
                      <a:r>
                        <a:rPr lang="en-US" sz="1200" u="none" cap="none" strike="noStrike">
                          <a:solidFill>
                            <a:srgbClr val="8F8AA6"/>
                          </a:solidFill>
                          <a:latin typeface="Montserrat"/>
                          <a:ea typeface="Montserrat"/>
                          <a:cs typeface="Montserrat"/>
                          <a:sym typeface="Montserrat"/>
                        </a:rPr>
                        <a:t>Neutral</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F59E42"/>
                        </a:buClr>
                        <a:buSzPts val="1200"/>
                        <a:buFont typeface="Montserrat"/>
                        <a:buNone/>
                      </a:pPr>
                      <a:r>
                        <a:rPr lang="en-US" sz="1200" u="none" cap="none" strike="noStrike">
                          <a:solidFill>
                            <a:srgbClr val="F59E42"/>
                          </a:solidFill>
                          <a:latin typeface="Montserrat"/>
                          <a:ea typeface="Montserrat"/>
                          <a:cs typeface="Montserrat"/>
                          <a:sym typeface="Montserrat"/>
                        </a:rPr>
                        <a:t>Inconsistente</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r>
              <a:tr h="378425">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El navegador visitó un señuelo segundos antes</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C2C2F4"/>
                        </a:buClr>
                        <a:buSzPts val="1200"/>
                        <a:buFont typeface="Montserrat"/>
                        <a:buNone/>
                      </a:pPr>
                      <a:r>
                        <a:rPr lang="en-US" sz="1200" u="none" cap="none" strike="noStrike">
                          <a:solidFill>
                            <a:srgbClr val="C2C2F4"/>
                          </a:solidFill>
                          <a:latin typeface="Montserrat"/>
                          <a:ea typeface="Montserrat"/>
                          <a:cs typeface="Montserrat"/>
                          <a:sym typeface="Montserrat"/>
                        </a:rPr>
                        <a:t>Consistente</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F8AA6"/>
                        </a:buClr>
                        <a:buSzPts val="1200"/>
                        <a:buFont typeface="Montserrat"/>
                        <a:buNone/>
                      </a:pPr>
                      <a:r>
                        <a:rPr lang="en-US" sz="1200" u="none" cap="none" strike="noStrike">
                          <a:solidFill>
                            <a:srgbClr val="8F8AA6"/>
                          </a:solidFill>
                          <a:latin typeface="Montserrat"/>
                          <a:ea typeface="Montserrat"/>
                          <a:cs typeface="Montserrat"/>
                          <a:sym typeface="Montserrat"/>
                        </a:rPr>
                        <a:t>Neutral</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F8AA6"/>
                        </a:buClr>
                        <a:buSzPts val="1200"/>
                        <a:buFont typeface="Montserrat"/>
                        <a:buNone/>
                      </a:pPr>
                      <a:r>
                        <a:rPr lang="en-US" sz="1200" u="none" cap="none" strike="noStrike">
                          <a:solidFill>
                            <a:srgbClr val="8F8AA6"/>
                          </a:solidFill>
                          <a:latin typeface="Montserrat"/>
                          <a:ea typeface="Montserrat"/>
                          <a:cs typeface="Montserrat"/>
                          <a:sym typeface="Montserrat"/>
                        </a:rPr>
                        <a:t>Neutral</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r>
            </a:tbl>
          </a:graphicData>
        </a:graphic>
      </p:graphicFrame>
      <p:sp>
        <p:nvSpPr>
          <p:cNvPr id="646" name="Google Shape;646;p26"/>
          <p:cNvSpPr/>
          <p:nvPr/>
        </p:nvSpPr>
        <p:spPr>
          <a:xfrm>
            <a:off x="812800" y="4162772"/>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H1: lo pegó desde un señuelo · H2: lo tipeó a mano · H3: lo lanzó otro proceso o un acceso remoto</a:t>
            </a:r>
            <a:endParaRPr b="0" i="0" sz="1200" u="none" cap="none" strike="noStrike">
              <a:solidFill>
                <a:schemeClr val="lt1"/>
              </a:solidFill>
              <a:latin typeface="Montserrat"/>
              <a:ea typeface="Montserrat"/>
              <a:cs typeface="Montserrat"/>
              <a:sym typeface="Montserrat"/>
            </a:endParaRPr>
          </a:p>
        </p:txBody>
      </p:sp>
      <p:sp>
        <p:nvSpPr>
          <p:cNvPr id="647" name="Google Shape;647;p26"/>
          <p:cNvSpPr/>
          <p:nvPr/>
        </p:nvSpPr>
        <p:spPr>
          <a:xfrm>
            <a:off x="812800" y="4579293"/>
            <a:ext cx="10883392"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H1 es la única sin evidencia en contra. ACH no suma a favor: se queda con la hipótesis que sobrevive.</a:t>
            </a:r>
            <a:endParaRPr b="0" i="0" sz="1500" u="none" cap="none" strike="noStrike">
              <a:solidFill>
                <a:schemeClr val="lt1"/>
              </a:solidFill>
              <a:latin typeface="Montserrat"/>
              <a:ea typeface="Montserrat"/>
              <a:cs typeface="Montserrat"/>
              <a:sym typeface="Montserrat"/>
            </a:endParaRPr>
          </a:p>
        </p:txBody>
      </p:sp>
      <p:sp>
        <p:nvSpPr>
          <p:cNvPr id="648" name="Google Shape;648;p26"/>
          <p:cNvSpPr/>
          <p:nvPr/>
        </p:nvSpPr>
        <p:spPr>
          <a:xfrm>
            <a:off x="812800" y="6238280"/>
            <a:ext cx="941134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Método: R. J. Heuer, “Psychology of Intelligence Analysis” (CIA, 1999) · ejemplo sobre el caso del informe modelo</a:t>
            </a:r>
            <a:endParaRPr b="0" i="0" sz="1200" u="none" cap="none" strike="noStrike">
              <a:solidFill>
                <a:schemeClr val="lt1"/>
              </a:solidFill>
              <a:latin typeface="Montserrat"/>
              <a:ea typeface="Montserrat"/>
              <a:cs typeface="Montserrat"/>
              <a:sym typeface="Montserrat"/>
            </a:endParaRPr>
          </a:p>
        </p:txBody>
      </p:sp>
      <p:sp>
        <p:nvSpPr>
          <p:cNvPr id="649" name="Google Shape;649;p26"/>
          <p:cNvSpPr/>
          <p:nvPr/>
        </p:nvSpPr>
        <p:spPr>
          <a:xfrm>
            <a:off x="11149310" y="6238280"/>
            <a:ext cx="22989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26</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654" name="Shape 654"/>
        <p:cNvGrpSpPr/>
        <p:nvPr/>
      </p:nvGrpSpPr>
      <p:grpSpPr>
        <a:xfrm>
          <a:off x="0" y="0"/>
          <a:ext cx="0" cy="0"/>
          <a:chOff x="0" y="0"/>
          <a:chExt cx="0" cy="0"/>
        </a:xfrm>
      </p:grpSpPr>
      <p:sp>
        <p:nvSpPr>
          <p:cNvPr id="655" name="Google Shape;655;p27"/>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ESCRIBIR LA HISTORIA</a:t>
            </a:r>
            <a:endParaRPr b="0" i="0" sz="1200" u="none" cap="none" strike="noStrike">
              <a:solidFill>
                <a:schemeClr val="lt1"/>
              </a:solidFill>
              <a:latin typeface="Montserrat"/>
              <a:ea typeface="Montserrat"/>
              <a:cs typeface="Montserrat"/>
              <a:sym typeface="Montserrat"/>
            </a:endParaRPr>
          </a:p>
        </p:txBody>
      </p:sp>
      <p:sp>
        <p:nvSpPr>
          <p:cNvPr id="656" name="Google Shape;656;p27"/>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Una hunt sin hallazgos también se reporta</a:t>
            </a:r>
            <a:endParaRPr sz="3200"/>
          </a:p>
        </p:txBody>
      </p:sp>
      <p:sp>
        <p:nvSpPr>
          <p:cNvPr id="657" name="Google Shape;657;p27"/>
          <p:cNvSpPr/>
          <p:nvPr/>
        </p:nvSpPr>
        <p:spPr>
          <a:xfrm>
            <a:off x="812800" y="1828750"/>
            <a:ext cx="10883392"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Cero resultados es un resultado, si podés probar que la query funciona.</a:t>
            </a:r>
            <a:endParaRPr b="0" i="0" sz="1500" u="none" cap="none" strike="noStrike">
              <a:solidFill>
                <a:schemeClr val="lt1"/>
              </a:solidFill>
              <a:latin typeface="Montserrat"/>
              <a:ea typeface="Montserrat"/>
              <a:cs typeface="Montserrat"/>
              <a:sym typeface="Montserrat"/>
            </a:endParaRPr>
          </a:p>
        </p:txBody>
      </p:sp>
      <p:sp>
        <p:nvSpPr>
          <p:cNvPr id="658" name="Google Shape;658;p27"/>
          <p:cNvSpPr/>
          <p:nvPr/>
        </p:nvSpPr>
        <p:spPr>
          <a:xfrm>
            <a:off x="815975" y="2352625"/>
            <a:ext cx="2482850" cy="2104231"/>
          </a:xfrm>
          <a:prstGeom prst="roundRect">
            <a:avLst>
              <a:gd fmla="val 4677"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Globe" id="659" name="Google Shape;659;p27"/>
          <p:cNvPicPr preferRelativeResize="0"/>
          <p:nvPr/>
        </p:nvPicPr>
        <p:blipFill rotWithShape="1">
          <a:blip r:embed="rId3">
            <a:alphaModFix/>
          </a:blip>
          <a:srcRect b="0" l="0" r="0" t="0"/>
          <a:stretch/>
        </p:blipFill>
        <p:spPr>
          <a:xfrm>
            <a:off x="1073150" y="2609800"/>
            <a:ext cx="304800" cy="304800"/>
          </a:xfrm>
          <a:prstGeom prst="rect">
            <a:avLst/>
          </a:prstGeom>
          <a:noFill/>
          <a:ln>
            <a:noFill/>
          </a:ln>
        </p:spPr>
      </p:pic>
      <p:sp>
        <p:nvSpPr>
          <p:cNvPr id="660" name="Google Shape;660;p27"/>
          <p:cNvSpPr/>
          <p:nvPr/>
        </p:nvSpPr>
        <p:spPr>
          <a:xfrm>
            <a:off x="1073150" y="3016200"/>
            <a:ext cx="2027555"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Cobertura</a:t>
            </a:r>
            <a:endParaRPr b="0" i="0" sz="1500" u="none" cap="none" strike="noStrike">
              <a:solidFill>
                <a:schemeClr val="lt1"/>
              </a:solidFill>
              <a:latin typeface="Montserrat"/>
              <a:ea typeface="Montserrat"/>
              <a:cs typeface="Montserrat"/>
              <a:sym typeface="Montserrat"/>
            </a:endParaRPr>
          </a:p>
        </p:txBody>
      </p:sp>
      <p:sp>
        <p:nvSpPr>
          <p:cNvPr id="661" name="Google Shape;661;p27"/>
          <p:cNvSpPr/>
          <p:nvPr/>
        </p:nvSpPr>
        <p:spPr>
          <a:xfrm>
            <a:off x="1073150" y="3346400"/>
            <a:ext cx="2027555"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Qué equipos, qué ventana de tiempo y qué fuentes de datos.</a:t>
            </a:r>
            <a:endParaRPr b="0" i="0" sz="1200" u="none" cap="none" strike="noStrike">
              <a:solidFill>
                <a:schemeClr val="lt1"/>
              </a:solidFill>
              <a:latin typeface="Montserrat"/>
              <a:ea typeface="Montserrat"/>
              <a:cs typeface="Montserrat"/>
              <a:sym typeface="Montserrat"/>
            </a:endParaRPr>
          </a:p>
        </p:txBody>
      </p:sp>
      <p:sp>
        <p:nvSpPr>
          <p:cNvPr id="662" name="Google Shape;662;p27"/>
          <p:cNvSpPr/>
          <p:nvPr/>
        </p:nvSpPr>
        <p:spPr>
          <a:xfrm>
            <a:off x="3508375" y="2352625"/>
            <a:ext cx="2482850" cy="2104231"/>
          </a:xfrm>
          <a:prstGeom prst="roundRect">
            <a:avLst>
              <a:gd fmla="val 4677"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eckCircle" id="663" name="Google Shape;663;p27"/>
          <p:cNvPicPr preferRelativeResize="0"/>
          <p:nvPr/>
        </p:nvPicPr>
        <p:blipFill rotWithShape="1">
          <a:blip r:embed="rId4">
            <a:alphaModFix/>
          </a:blip>
          <a:srcRect b="0" l="0" r="0" t="0"/>
          <a:stretch/>
        </p:blipFill>
        <p:spPr>
          <a:xfrm>
            <a:off x="3765550" y="2609800"/>
            <a:ext cx="304800" cy="304800"/>
          </a:xfrm>
          <a:prstGeom prst="rect">
            <a:avLst/>
          </a:prstGeom>
          <a:noFill/>
          <a:ln>
            <a:noFill/>
          </a:ln>
        </p:spPr>
      </p:pic>
      <p:sp>
        <p:nvSpPr>
          <p:cNvPr id="664" name="Google Shape;664;p27"/>
          <p:cNvSpPr/>
          <p:nvPr/>
        </p:nvSpPr>
        <p:spPr>
          <a:xfrm>
            <a:off x="3765550" y="3016200"/>
            <a:ext cx="2027555"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Control positivo</a:t>
            </a:r>
            <a:endParaRPr b="0" i="0" sz="1500" u="none" cap="none" strike="noStrike">
              <a:solidFill>
                <a:schemeClr val="lt1"/>
              </a:solidFill>
              <a:latin typeface="Montserrat"/>
              <a:ea typeface="Montserrat"/>
              <a:cs typeface="Montserrat"/>
              <a:sym typeface="Montserrat"/>
            </a:endParaRPr>
          </a:p>
        </p:txBody>
      </p:sp>
      <p:sp>
        <p:nvSpPr>
          <p:cNvPr id="665" name="Google Shape;665;p27"/>
          <p:cNvSpPr/>
          <p:nvPr/>
        </p:nvSpPr>
        <p:spPr>
          <a:xfrm>
            <a:off x="3765550" y="3346400"/>
            <a:ext cx="2027555"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La evidencia de que la query encuentra el patrón que buscabas.</a:t>
            </a:r>
            <a:endParaRPr b="0" i="0" sz="1200" u="none" cap="none" strike="noStrike">
              <a:solidFill>
                <a:schemeClr val="lt1"/>
              </a:solidFill>
              <a:latin typeface="Montserrat"/>
              <a:ea typeface="Montserrat"/>
              <a:cs typeface="Montserrat"/>
              <a:sym typeface="Montserrat"/>
            </a:endParaRPr>
          </a:p>
        </p:txBody>
      </p:sp>
      <p:sp>
        <p:nvSpPr>
          <p:cNvPr id="666" name="Google Shape;666;p27"/>
          <p:cNvSpPr/>
          <p:nvPr/>
        </p:nvSpPr>
        <p:spPr>
          <a:xfrm>
            <a:off x="6200775" y="2352625"/>
            <a:ext cx="2482850" cy="2104231"/>
          </a:xfrm>
          <a:prstGeom prst="roundRect">
            <a:avLst>
              <a:gd fmla="val 4677"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Warning" id="667" name="Google Shape;667;p27"/>
          <p:cNvPicPr preferRelativeResize="0"/>
          <p:nvPr/>
        </p:nvPicPr>
        <p:blipFill rotWithShape="1">
          <a:blip r:embed="rId5">
            <a:alphaModFix/>
          </a:blip>
          <a:srcRect b="0" l="0" r="0" t="0"/>
          <a:stretch/>
        </p:blipFill>
        <p:spPr>
          <a:xfrm>
            <a:off x="6457950" y="2609800"/>
            <a:ext cx="304800" cy="304800"/>
          </a:xfrm>
          <a:prstGeom prst="rect">
            <a:avLst/>
          </a:prstGeom>
          <a:noFill/>
          <a:ln>
            <a:noFill/>
          </a:ln>
        </p:spPr>
      </p:pic>
      <p:sp>
        <p:nvSpPr>
          <p:cNvPr id="668" name="Google Shape;668;p27"/>
          <p:cNvSpPr/>
          <p:nvPr/>
        </p:nvSpPr>
        <p:spPr>
          <a:xfrm>
            <a:off x="6457950" y="3016200"/>
            <a:ext cx="2027555"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Brechas</a:t>
            </a:r>
            <a:endParaRPr b="0" i="0" sz="1500" u="none" cap="none" strike="noStrike">
              <a:solidFill>
                <a:schemeClr val="lt1"/>
              </a:solidFill>
              <a:latin typeface="Montserrat"/>
              <a:ea typeface="Montserrat"/>
              <a:cs typeface="Montserrat"/>
              <a:sym typeface="Montserrat"/>
            </a:endParaRPr>
          </a:p>
        </p:txBody>
      </p:sp>
      <p:sp>
        <p:nvSpPr>
          <p:cNvPr id="669" name="Google Shape;669;p27"/>
          <p:cNvSpPr/>
          <p:nvPr/>
        </p:nvSpPr>
        <p:spPr>
          <a:xfrm>
            <a:off x="6457950" y="3346400"/>
            <a:ext cx="2027555" cy="87868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Lo que no se pudo ver: el portapapeles, un canal sin telemetría, una fuente sin ingesta.</a:t>
            </a:r>
            <a:endParaRPr b="0" i="0" sz="1200" u="none" cap="none" strike="noStrike">
              <a:solidFill>
                <a:schemeClr val="lt1"/>
              </a:solidFill>
              <a:latin typeface="Montserrat"/>
              <a:ea typeface="Montserrat"/>
              <a:cs typeface="Montserrat"/>
              <a:sym typeface="Montserrat"/>
            </a:endParaRPr>
          </a:p>
        </p:txBody>
      </p:sp>
      <p:sp>
        <p:nvSpPr>
          <p:cNvPr id="670" name="Google Shape;670;p27"/>
          <p:cNvSpPr/>
          <p:nvPr/>
        </p:nvSpPr>
        <p:spPr>
          <a:xfrm>
            <a:off x="8893175" y="2352625"/>
            <a:ext cx="2482850" cy="2104231"/>
          </a:xfrm>
          <a:prstGeom prst="roundRect">
            <a:avLst>
              <a:gd fmla="val 4677"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ghtbulb" id="671" name="Google Shape;671;p27"/>
          <p:cNvPicPr preferRelativeResize="0"/>
          <p:nvPr/>
        </p:nvPicPr>
        <p:blipFill rotWithShape="1">
          <a:blip r:embed="rId6">
            <a:alphaModFix/>
          </a:blip>
          <a:srcRect b="0" l="0" r="0" t="0"/>
          <a:stretch/>
        </p:blipFill>
        <p:spPr>
          <a:xfrm>
            <a:off x="9150350" y="2609800"/>
            <a:ext cx="304800" cy="304800"/>
          </a:xfrm>
          <a:prstGeom prst="rect">
            <a:avLst/>
          </a:prstGeom>
          <a:noFill/>
          <a:ln>
            <a:noFill/>
          </a:ln>
        </p:spPr>
      </p:pic>
      <p:sp>
        <p:nvSpPr>
          <p:cNvPr id="672" name="Google Shape;672;p27"/>
          <p:cNvSpPr/>
          <p:nvPr/>
        </p:nvSpPr>
        <p:spPr>
          <a:xfrm>
            <a:off x="9150350" y="3016200"/>
            <a:ext cx="2027555"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Próxima hipótesis</a:t>
            </a:r>
            <a:endParaRPr b="0" i="0" sz="1500" u="none" cap="none" strike="noStrike">
              <a:solidFill>
                <a:schemeClr val="lt1"/>
              </a:solidFill>
              <a:latin typeface="Montserrat"/>
              <a:ea typeface="Montserrat"/>
              <a:cs typeface="Montserrat"/>
              <a:sym typeface="Montserrat"/>
            </a:endParaRPr>
          </a:p>
        </p:txBody>
      </p:sp>
      <p:sp>
        <p:nvSpPr>
          <p:cNvPr id="673" name="Google Shape;673;p27"/>
          <p:cNvSpPr/>
          <p:nvPr/>
        </p:nvSpPr>
        <p:spPr>
          <a:xfrm>
            <a:off x="9150350" y="3346400"/>
            <a:ext cx="2027555"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Qué buscarías si tuvieras la visibilidad que falta.</a:t>
            </a:r>
            <a:endParaRPr b="0" i="0" sz="1200" u="none" cap="none" strike="noStrike">
              <a:solidFill>
                <a:schemeClr val="lt1"/>
              </a:solidFill>
              <a:latin typeface="Montserrat"/>
              <a:ea typeface="Montserrat"/>
              <a:cs typeface="Montserrat"/>
              <a:sym typeface="Montserrat"/>
            </a:endParaRPr>
          </a:p>
        </p:txBody>
      </p:sp>
      <p:sp>
        <p:nvSpPr>
          <p:cNvPr id="674" name="Google Shape;674;p27"/>
          <p:cNvSpPr/>
          <p:nvPr/>
        </p:nvSpPr>
        <p:spPr>
          <a:xfrm>
            <a:off x="812800" y="4714032"/>
            <a:ext cx="10883392"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0" i="0" lang="en-US" sz="1500" u="none" cap="none" strike="noStrike">
                <a:solidFill>
                  <a:srgbClr val="F59E42"/>
                </a:solidFill>
                <a:latin typeface="Montserrat"/>
                <a:ea typeface="Montserrat"/>
                <a:cs typeface="Montserrat"/>
                <a:sym typeface="Montserrat"/>
              </a:rPr>
              <a:t>Un informe así le dice al que decide cuánto confiar en el silencio.</a:t>
            </a:r>
            <a:endParaRPr b="0" i="0" sz="1500" u="none" cap="none" strike="noStrike">
              <a:solidFill>
                <a:schemeClr val="lt1"/>
              </a:solidFill>
              <a:latin typeface="Montserrat"/>
              <a:ea typeface="Montserrat"/>
              <a:cs typeface="Montserrat"/>
              <a:sym typeface="Montserrat"/>
            </a:endParaRPr>
          </a:p>
        </p:txBody>
      </p:sp>
      <p:sp>
        <p:nvSpPr>
          <p:cNvPr id="675" name="Google Shape;675;p27"/>
          <p:cNvSpPr/>
          <p:nvPr/>
        </p:nvSpPr>
        <p:spPr>
          <a:xfrm>
            <a:off x="812800" y="6238280"/>
            <a:ext cx="523482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WRITING THE INCIDENT STORY · DEATHCON 2026</a:t>
            </a:r>
            <a:endParaRPr b="0" i="0" sz="1200" u="none" cap="none" strike="noStrike">
              <a:solidFill>
                <a:schemeClr val="lt1"/>
              </a:solidFill>
              <a:latin typeface="Montserrat"/>
              <a:ea typeface="Montserrat"/>
              <a:cs typeface="Montserrat"/>
              <a:sym typeface="Montserrat"/>
            </a:endParaRPr>
          </a:p>
        </p:txBody>
      </p:sp>
      <p:sp>
        <p:nvSpPr>
          <p:cNvPr id="676" name="Google Shape;676;p27"/>
          <p:cNvSpPr/>
          <p:nvPr/>
        </p:nvSpPr>
        <p:spPr>
          <a:xfrm>
            <a:off x="11152436" y="6238280"/>
            <a:ext cx="226764"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27</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681" name="Shape 681"/>
        <p:cNvGrpSpPr/>
        <p:nvPr/>
      </p:nvGrpSpPr>
      <p:grpSpPr>
        <a:xfrm>
          <a:off x="0" y="0"/>
          <a:ext cx="0" cy="0"/>
          <a:chOff x="0" y="0"/>
          <a:chExt cx="0" cy="0"/>
        </a:xfrm>
      </p:grpSpPr>
      <p:sp>
        <p:nvSpPr>
          <p:cNvPr id="682" name="Google Shape;682;p28"/>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ESCRIBIR LA HISTORIA · CHECKLIST</a:t>
            </a:r>
            <a:endParaRPr b="0" i="0" sz="1200" u="none" cap="none" strike="noStrike">
              <a:solidFill>
                <a:schemeClr val="lt1"/>
              </a:solidFill>
              <a:latin typeface="Montserrat"/>
              <a:ea typeface="Montserrat"/>
              <a:cs typeface="Montserrat"/>
              <a:sym typeface="Montserrat"/>
            </a:endParaRPr>
          </a:p>
        </p:txBody>
      </p:sp>
      <p:sp>
        <p:nvSpPr>
          <p:cNvPr id="683" name="Google Shape;683;p28"/>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Antes de entregar</a:t>
            </a:r>
            <a:endParaRPr sz="3200"/>
          </a:p>
        </p:txBody>
      </p:sp>
      <p:pic>
        <p:nvPicPr>
          <p:cNvPr descr="Check" id="684" name="Google Shape;684;p28"/>
          <p:cNvPicPr preferRelativeResize="0"/>
          <p:nvPr/>
        </p:nvPicPr>
        <p:blipFill rotWithShape="1">
          <a:blip r:embed="rId3">
            <a:alphaModFix/>
          </a:blip>
          <a:srcRect b="-500" l="0" r="0" t="-500"/>
          <a:stretch/>
        </p:blipFill>
        <p:spPr>
          <a:xfrm>
            <a:off x="812800" y="1828750"/>
            <a:ext cx="188615" cy="254000"/>
          </a:xfrm>
          <a:prstGeom prst="rect">
            <a:avLst/>
          </a:prstGeom>
          <a:noFill/>
          <a:ln>
            <a:noFill/>
          </a:ln>
        </p:spPr>
      </p:pic>
      <p:sp>
        <p:nvSpPr>
          <p:cNvPr id="685" name="Google Shape;685;p28"/>
          <p:cNvSpPr/>
          <p:nvPr/>
        </p:nvSpPr>
        <p:spPr>
          <a:xfrm>
            <a:off x="1128415" y="1828750"/>
            <a:ext cx="5025046" cy="55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El resumen ejecutivo entra en una página y empieza por el veredicto.</a:t>
            </a:r>
            <a:endParaRPr b="0" i="0" sz="1500" u="none" cap="none" strike="noStrike">
              <a:solidFill>
                <a:schemeClr val="lt1"/>
              </a:solidFill>
              <a:latin typeface="Montserrat"/>
              <a:ea typeface="Montserrat"/>
              <a:cs typeface="Montserrat"/>
              <a:sym typeface="Montserrat"/>
            </a:endParaRPr>
          </a:p>
        </p:txBody>
      </p:sp>
      <p:pic>
        <p:nvPicPr>
          <p:cNvPr descr="Check" id="686" name="Google Shape;686;p28"/>
          <p:cNvPicPr preferRelativeResize="0"/>
          <p:nvPr/>
        </p:nvPicPr>
        <p:blipFill rotWithShape="1">
          <a:blip r:embed="rId4">
            <a:alphaModFix/>
          </a:blip>
          <a:srcRect b="-175" l="0" r="0" t="-175"/>
          <a:stretch/>
        </p:blipFill>
        <p:spPr>
          <a:xfrm>
            <a:off x="6184900" y="1828750"/>
            <a:ext cx="240457" cy="254000"/>
          </a:xfrm>
          <a:prstGeom prst="rect">
            <a:avLst/>
          </a:prstGeom>
          <a:noFill/>
          <a:ln>
            <a:noFill/>
          </a:ln>
        </p:spPr>
      </p:pic>
      <p:sp>
        <p:nvSpPr>
          <p:cNvPr id="687" name="Google Shape;687;p28"/>
          <p:cNvSpPr/>
          <p:nvPr/>
        </p:nvSpPr>
        <p:spPr>
          <a:xfrm>
            <a:off x="6552357" y="1828750"/>
            <a:ext cx="4971649" cy="55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Cada recomendación tiene prioridad, dueño y estado.</a:t>
            </a:r>
            <a:endParaRPr b="0" i="0" sz="1500" u="none" cap="none" strike="noStrike">
              <a:solidFill>
                <a:schemeClr val="lt1"/>
              </a:solidFill>
              <a:latin typeface="Montserrat"/>
              <a:ea typeface="Montserrat"/>
              <a:cs typeface="Montserrat"/>
              <a:sym typeface="Montserrat"/>
            </a:endParaRPr>
          </a:p>
        </p:txBody>
      </p:sp>
      <p:pic>
        <p:nvPicPr>
          <p:cNvPr descr="Check" id="688" name="Google Shape;688;p28"/>
          <p:cNvPicPr preferRelativeResize="0"/>
          <p:nvPr/>
        </p:nvPicPr>
        <p:blipFill rotWithShape="1">
          <a:blip r:embed="rId5">
            <a:alphaModFix/>
          </a:blip>
          <a:srcRect b="-499" l="0" r="0" t="-499"/>
          <a:stretch/>
        </p:blipFill>
        <p:spPr>
          <a:xfrm>
            <a:off x="812800" y="2539950"/>
            <a:ext cx="213767" cy="254000"/>
          </a:xfrm>
          <a:prstGeom prst="rect">
            <a:avLst/>
          </a:prstGeom>
          <a:noFill/>
          <a:ln>
            <a:noFill/>
          </a:ln>
        </p:spPr>
      </p:pic>
      <p:sp>
        <p:nvSpPr>
          <p:cNvPr id="689" name="Google Shape;689;p28"/>
          <p:cNvSpPr/>
          <p:nvPr/>
        </p:nvSpPr>
        <p:spPr>
          <a:xfrm>
            <a:off x="1153567" y="2539950"/>
            <a:ext cx="4999139" cy="55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Cada hallazgo tiene veredicto, evidencia y nivel de confianza.</a:t>
            </a:r>
            <a:endParaRPr b="0" i="0" sz="1500" u="none" cap="none" strike="noStrike">
              <a:solidFill>
                <a:schemeClr val="lt1"/>
              </a:solidFill>
              <a:latin typeface="Montserrat"/>
              <a:ea typeface="Montserrat"/>
              <a:cs typeface="Montserrat"/>
              <a:sym typeface="Montserrat"/>
            </a:endParaRPr>
          </a:p>
        </p:txBody>
      </p:sp>
      <p:pic>
        <p:nvPicPr>
          <p:cNvPr descr="Check" id="690" name="Google Shape;690;p28"/>
          <p:cNvPicPr preferRelativeResize="0"/>
          <p:nvPr/>
        </p:nvPicPr>
        <p:blipFill rotWithShape="1">
          <a:blip r:embed="rId6">
            <a:alphaModFix/>
          </a:blip>
          <a:srcRect b="-351" l="0" r="0" t="-351"/>
          <a:stretch/>
        </p:blipFill>
        <p:spPr>
          <a:xfrm>
            <a:off x="6184900" y="2539950"/>
            <a:ext cx="233313" cy="254000"/>
          </a:xfrm>
          <a:prstGeom prst="rect">
            <a:avLst/>
          </a:prstGeom>
          <a:noFill/>
          <a:ln>
            <a:noFill/>
          </a:ln>
        </p:spPr>
      </p:pic>
      <p:sp>
        <p:nvSpPr>
          <p:cNvPr id="691" name="Google Shape;691;p28"/>
          <p:cNvSpPr/>
          <p:nvPr/>
        </p:nvSpPr>
        <p:spPr>
          <a:xfrm>
            <a:off x="6545213" y="2539950"/>
            <a:ext cx="4979007" cy="55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Las queries del anexo se pueden volver a correr tal cual.</a:t>
            </a:r>
            <a:endParaRPr b="0" i="0" sz="1500" u="none" cap="none" strike="noStrike">
              <a:solidFill>
                <a:schemeClr val="lt1"/>
              </a:solidFill>
              <a:latin typeface="Montserrat"/>
              <a:ea typeface="Montserrat"/>
              <a:cs typeface="Montserrat"/>
              <a:sym typeface="Montserrat"/>
            </a:endParaRPr>
          </a:p>
        </p:txBody>
      </p:sp>
      <p:pic>
        <p:nvPicPr>
          <p:cNvPr descr="Check" id="692" name="Google Shape;692;p28"/>
          <p:cNvPicPr preferRelativeResize="0"/>
          <p:nvPr/>
        </p:nvPicPr>
        <p:blipFill rotWithShape="1">
          <a:blip r:embed="rId7">
            <a:alphaModFix/>
          </a:blip>
          <a:srcRect b="0" l="0" r="0" t="0"/>
          <a:stretch/>
        </p:blipFill>
        <p:spPr>
          <a:xfrm>
            <a:off x="812800" y="3251150"/>
            <a:ext cx="254000" cy="254000"/>
          </a:xfrm>
          <a:prstGeom prst="rect">
            <a:avLst/>
          </a:prstGeom>
          <a:noFill/>
          <a:ln>
            <a:noFill/>
          </a:ln>
        </p:spPr>
      </p:pic>
      <p:sp>
        <p:nvSpPr>
          <p:cNvPr id="693" name="Google Shape;693;p28"/>
          <p:cNvSpPr/>
          <p:nvPr/>
        </p:nvSpPr>
        <p:spPr>
          <a:xfrm>
            <a:off x="1193800" y="3251150"/>
            <a:ext cx="499110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Los hechos están separados de las evaluaciones.</a:t>
            </a:r>
            <a:endParaRPr b="0" i="0" sz="1500" u="none" cap="none" strike="noStrike">
              <a:solidFill>
                <a:schemeClr val="lt1"/>
              </a:solidFill>
              <a:latin typeface="Montserrat"/>
              <a:ea typeface="Montserrat"/>
              <a:cs typeface="Montserrat"/>
              <a:sym typeface="Montserrat"/>
            </a:endParaRPr>
          </a:p>
        </p:txBody>
      </p:sp>
      <p:pic>
        <p:nvPicPr>
          <p:cNvPr descr="Check" id="694" name="Google Shape;694;p28"/>
          <p:cNvPicPr preferRelativeResize="0"/>
          <p:nvPr/>
        </p:nvPicPr>
        <p:blipFill rotWithShape="1">
          <a:blip r:embed="rId7">
            <a:alphaModFix/>
          </a:blip>
          <a:srcRect b="0" l="0" r="0" t="0"/>
          <a:stretch/>
        </p:blipFill>
        <p:spPr>
          <a:xfrm>
            <a:off x="6184900" y="3251150"/>
            <a:ext cx="254000" cy="254000"/>
          </a:xfrm>
          <a:prstGeom prst="rect">
            <a:avLst/>
          </a:prstGeom>
          <a:noFill/>
          <a:ln>
            <a:noFill/>
          </a:ln>
        </p:spPr>
      </p:pic>
      <p:sp>
        <p:nvSpPr>
          <p:cNvPr id="695" name="Google Shape;695;p28"/>
          <p:cNvSpPr/>
          <p:nvPr/>
        </p:nvSpPr>
        <p:spPr>
          <a:xfrm>
            <a:off x="6565900" y="3251150"/>
            <a:ext cx="5008424"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Los datos de la víctima están anonimizados.</a:t>
            </a:r>
            <a:endParaRPr b="0" i="0" sz="1500" u="none" cap="none" strike="noStrike">
              <a:solidFill>
                <a:schemeClr val="lt1"/>
              </a:solidFill>
              <a:latin typeface="Montserrat"/>
              <a:ea typeface="Montserrat"/>
              <a:cs typeface="Montserrat"/>
              <a:sym typeface="Montserrat"/>
            </a:endParaRPr>
          </a:p>
        </p:txBody>
      </p:sp>
      <p:pic>
        <p:nvPicPr>
          <p:cNvPr descr="Check" id="696" name="Google Shape;696;p28"/>
          <p:cNvPicPr preferRelativeResize="0"/>
          <p:nvPr/>
        </p:nvPicPr>
        <p:blipFill rotWithShape="1">
          <a:blip r:embed="rId8">
            <a:alphaModFix/>
          </a:blip>
          <a:srcRect b="0" l="-502" r="-502" t="0"/>
          <a:stretch/>
        </p:blipFill>
        <p:spPr>
          <a:xfrm>
            <a:off x="812800" y="3695650"/>
            <a:ext cx="224482" cy="254000"/>
          </a:xfrm>
          <a:prstGeom prst="rect">
            <a:avLst/>
          </a:prstGeom>
          <a:noFill/>
          <a:ln>
            <a:noFill/>
          </a:ln>
        </p:spPr>
      </p:pic>
      <p:sp>
        <p:nvSpPr>
          <p:cNvPr id="697" name="Google Shape;697;p28"/>
          <p:cNvSpPr/>
          <p:nvPr/>
        </p:nvSpPr>
        <p:spPr>
          <a:xfrm>
            <a:off x="1164282" y="3695650"/>
            <a:ext cx="4988102" cy="55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Las limitaciones y las brechas están escritas, no implícitas.</a:t>
            </a:r>
            <a:endParaRPr b="0" i="0" sz="1500" u="none" cap="none" strike="noStrike">
              <a:solidFill>
                <a:schemeClr val="lt1"/>
              </a:solidFill>
              <a:latin typeface="Montserrat"/>
              <a:ea typeface="Montserrat"/>
              <a:cs typeface="Montserrat"/>
              <a:sym typeface="Montserrat"/>
            </a:endParaRPr>
          </a:p>
        </p:txBody>
      </p:sp>
      <p:pic>
        <p:nvPicPr>
          <p:cNvPr descr="Check" id="698" name="Google Shape;698;p28"/>
          <p:cNvPicPr preferRelativeResize="0"/>
          <p:nvPr/>
        </p:nvPicPr>
        <p:blipFill rotWithShape="1">
          <a:blip r:embed="rId7">
            <a:alphaModFix/>
          </a:blip>
          <a:srcRect b="0" l="0" r="0" t="0"/>
          <a:stretch/>
        </p:blipFill>
        <p:spPr>
          <a:xfrm>
            <a:off x="6184900" y="3695650"/>
            <a:ext cx="254000" cy="254000"/>
          </a:xfrm>
          <a:prstGeom prst="rect">
            <a:avLst/>
          </a:prstGeom>
          <a:noFill/>
          <a:ln>
            <a:noFill/>
          </a:ln>
        </p:spPr>
      </p:pic>
      <p:sp>
        <p:nvSpPr>
          <p:cNvPr id="699" name="Google Shape;699;p28"/>
          <p:cNvSpPr/>
          <p:nvPr/>
        </p:nvSpPr>
        <p:spPr>
          <a:xfrm>
            <a:off x="6565900" y="3695650"/>
            <a:ext cx="3949244"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El TLP está marcado en la portada.</a:t>
            </a:r>
            <a:endParaRPr b="0" i="0" sz="1500" u="none" cap="none" strike="noStrike">
              <a:solidFill>
                <a:schemeClr val="lt1"/>
              </a:solidFill>
              <a:latin typeface="Montserrat"/>
              <a:ea typeface="Montserrat"/>
              <a:cs typeface="Montserrat"/>
              <a:sym typeface="Montserrat"/>
            </a:endParaRPr>
          </a:p>
        </p:txBody>
      </p:sp>
      <p:sp>
        <p:nvSpPr>
          <p:cNvPr id="700" name="Google Shape;700;p28"/>
          <p:cNvSpPr/>
          <p:nvPr/>
        </p:nvSpPr>
        <p:spPr>
          <a:xfrm>
            <a:off x="812800" y="4483050"/>
            <a:ext cx="10883392"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0" i="0" lang="en-US" sz="1500" u="none" cap="none" strike="noStrike">
                <a:solidFill>
                  <a:srgbClr val="F59E42"/>
                </a:solidFill>
                <a:latin typeface="Montserrat"/>
                <a:ea typeface="Montserrat"/>
                <a:cs typeface="Montserrat"/>
                <a:sym typeface="Montserrat"/>
              </a:rPr>
              <a:t>Es la rúbrica con la que se corrige el ejercicio.</a:t>
            </a:r>
            <a:endParaRPr b="0" i="0" sz="1500" u="none" cap="none" strike="noStrike">
              <a:solidFill>
                <a:schemeClr val="lt1"/>
              </a:solidFill>
              <a:latin typeface="Montserrat"/>
              <a:ea typeface="Montserrat"/>
              <a:cs typeface="Montserrat"/>
              <a:sym typeface="Montserrat"/>
            </a:endParaRPr>
          </a:p>
        </p:txBody>
      </p:sp>
      <p:sp>
        <p:nvSpPr>
          <p:cNvPr id="701" name="Google Shape;701;p28"/>
          <p:cNvSpPr/>
          <p:nvPr/>
        </p:nvSpPr>
        <p:spPr>
          <a:xfrm>
            <a:off x="812800" y="6238280"/>
            <a:ext cx="523482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WRITING THE INCIDENT STORY · DEATHCON 2026</a:t>
            </a:r>
            <a:endParaRPr b="0" i="0" sz="1200" u="none" cap="none" strike="noStrike">
              <a:solidFill>
                <a:schemeClr val="lt1"/>
              </a:solidFill>
              <a:latin typeface="Montserrat"/>
              <a:ea typeface="Montserrat"/>
              <a:cs typeface="Montserrat"/>
              <a:sym typeface="Montserrat"/>
            </a:endParaRPr>
          </a:p>
        </p:txBody>
      </p:sp>
      <p:sp>
        <p:nvSpPr>
          <p:cNvPr id="702" name="Google Shape;702;p28"/>
          <p:cNvSpPr/>
          <p:nvPr/>
        </p:nvSpPr>
        <p:spPr>
          <a:xfrm>
            <a:off x="11144647" y="6238280"/>
            <a:ext cx="234553"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28</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707" name="Shape 707"/>
        <p:cNvGrpSpPr/>
        <p:nvPr/>
      </p:nvGrpSpPr>
      <p:grpSpPr>
        <a:xfrm>
          <a:off x="0" y="0"/>
          <a:ext cx="0" cy="0"/>
          <a:chOff x="0" y="0"/>
          <a:chExt cx="0" cy="0"/>
        </a:xfrm>
      </p:grpSpPr>
      <p:sp>
        <p:nvSpPr>
          <p:cNvPr id="708" name="Google Shape;708;p29"/>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EL EJERCICIO</a:t>
            </a:r>
            <a:endParaRPr b="0" i="0" sz="1200" u="none" cap="none" strike="noStrike">
              <a:solidFill>
                <a:schemeClr val="lt1"/>
              </a:solidFill>
              <a:latin typeface="Montserrat"/>
              <a:ea typeface="Montserrat"/>
              <a:cs typeface="Montserrat"/>
              <a:sym typeface="Montserrat"/>
            </a:endParaRPr>
          </a:p>
        </p:txBody>
      </p:sp>
      <p:sp>
        <p:nvSpPr>
          <p:cNvPr id="709" name="Google Shape;709;p29"/>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Te toca</a:t>
            </a:r>
            <a:endParaRPr sz="3200"/>
          </a:p>
        </p:txBody>
      </p:sp>
      <p:sp>
        <p:nvSpPr>
          <p:cNvPr id="710" name="Google Shape;710;p29"/>
          <p:cNvSpPr/>
          <p:nvPr/>
        </p:nvSpPr>
        <p:spPr>
          <a:xfrm>
            <a:off x="812800" y="1828750"/>
            <a:ext cx="355600" cy="30480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59E42"/>
              </a:buClr>
              <a:buSzPts val="2000"/>
              <a:buFont typeface="Montserrat"/>
              <a:buNone/>
            </a:pPr>
            <a:r>
              <a:rPr b="1" i="0" lang="en-US" sz="2000" u="none" cap="none" strike="noStrike">
                <a:solidFill>
                  <a:srgbClr val="F59E42"/>
                </a:solidFill>
                <a:latin typeface="Montserrat"/>
                <a:ea typeface="Montserrat"/>
                <a:cs typeface="Montserrat"/>
                <a:sym typeface="Montserrat"/>
              </a:rPr>
              <a:t>1</a:t>
            </a:r>
            <a:endParaRPr b="0" i="0" sz="2000" u="none" cap="none" strike="noStrike">
              <a:solidFill>
                <a:schemeClr val="lt1"/>
              </a:solidFill>
              <a:latin typeface="Montserrat"/>
              <a:ea typeface="Montserrat"/>
              <a:cs typeface="Montserrat"/>
              <a:sym typeface="Montserrat"/>
            </a:endParaRPr>
          </a:p>
        </p:txBody>
      </p:sp>
      <p:sp>
        <p:nvSpPr>
          <p:cNvPr id="711" name="Google Shape;711;p29"/>
          <p:cNvSpPr/>
          <p:nvPr/>
        </p:nvSpPr>
        <p:spPr>
          <a:xfrm>
            <a:off x="1270000" y="1828750"/>
            <a:ext cx="5414546"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Entrá al lab de Microsoft Sentinel del workshop.</a:t>
            </a:r>
            <a:endParaRPr b="0" i="0" sz="1500" u="none" cap="none" strike="noStrike">
              <a:solidFill>
                <a:schemeClr val="lt1"/>
              </a:solidFill>
              <a:latin typeface="Montserrat"/>
              <a:ea typeface="Montserrat"/>
              <a:cs typeface="Montserrat"/>
              <a:sym typeface="Montserrat"/>
            </a:endParaRPr>
          </a:p>
        </p:txBody>
      </p:sp>
      <p:sp>
        <p:nvSpPr>
          <p:cNvPr id="712" name="Google Shape;712;p29"/>
          <p:cNvSpPr/>
          <p:nvPr/>
        </p:nvSpPr>
        <p:spPr>
          <a:xfrm>
            <a:off x="812800" y="2235150"/>
            <a:ext cx="355600" cy="30480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59E42"/>
              </a:buClr>
              <a:buSzPts val="2000"/>
              <a:buFont typeface="Montserrat"/>
              <a:buNone/>
            </a:pPr>
            <a:r>
              <a:rPr b="1" i="0" lang="en-US" sz="2000" u="none" cap="none" strike="noStrike">
                <a:solidFill>
                  <a:srgbClr val="F59E42"/>
                </a:solidFill>
                <a:latin typeface="Montserrat"/>
                <a:ea typeface="Montserrat"/>
                <a:cs typeface="Montserrat"/>
                <a:sym typeface="Montserrat"/>
              </a:rPr>
              <a:t>2</a:t>
            </a:r>
            <a:endParaRPr b="0" i="0" sz="2000" u="none" cap="none" strike="noStrike">
              <a:solidFill>
                <a:schemeClr val="lt1"/>
              </a:solidFill>
              <a:latin typeface="Montserrat"/>
              <a:ea typeface="Montserrat"/>
              <a:cs typeface="Montserrat"/>
              <a:sym typeface="Montserrat"/>
            </a:endParaRPr>
          </a:p>
        </p:txBody>
      </p:sp>
      <p:sp>
        <p:nvSpPr>
          <p:cNvPr id="713" name="Google Shape;713;p29"/>
          <p:cNvSpPr/>
          <p:nvPr/>
        </p:nvSpPr>
        <p:spPr>
          <a:xfrm>
            <a:off x="1270000" y="2235150"/>
            <a:ext cx="5938774" cy="55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Corré las queries semilla en orden, desde el repo, empezando por el control positivo.</a:t>
            </a:r>
            <a:endParaRPr b="0" i="0" sz="1500" u="none" cap="none" strike="noStrike">
              <a:solidFill>
                <a:schemeClr val="lt1"/>
              </a:solidFill>
              <a:latin typeface="Montserrat"/>
              <a:ea typeface="Montserrat"/>
              <a:cs typeface="Montserrat"/>
              <a:sym typeface="Montserrat"/>
            </a:endParaRPr>
          </a:p>
        </p:txBody>
      </p:sp>
      <p:sp>
        <p:nvSpPr>
          <p:cNvPr id="714" name="Google Shape;714;p29"/>
          <p:cNvSpPr/>
          <p:nvPr/>
        </p:nvSpPr>
        <p:spPr>
          <a:xfrm>
            <a:off x="812800" y="2895550"/>
            <a:ext cx="355600" cy="30480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59E42"/>
              </a:buClr>
              <a:buSzPts val="2000"/>
              <a:buFont typeface="Montserrat"/>
              <a:buNone/>
            </a:pPr>
            <a:r>
              <a:rPr b="1" i="0" lang="en-US" sz="2000" u="none" cap="none" strike="noStrike">
                <a:solidFill>
                  <a:srgbClr val="F59E42"/>
                </a:solidFill>
                <a:latin typeface="Montserrat"/>
                <a:ea typeface="Montserrat"/>
                <a:cs typeface="Montserrat"/>
                <a:sym typeface="Montserrat"/>
              </a:rPr>
              <a:t>3</a:t>
            </a:r>
            <a:endParaRPr b="0" i="0" sz="2000" u="none" cap="none" strike="noStrike">
              <a:solidFill>
                <a:schemeClr val="lt1"/>
              </a:solidFill>
              <a:latin typeface="Montserrat"/>
              <a:ea typeface="Montserrat"/>
              <a:cs typeface="Montserrat"/>
              <a:sym typeface="Montserrat"/>
            </a:endParaRPr>
          </a:p>
        </p:txBody>
      </p:sp>
      <p:sp>
        <p:nvSpPr>
          <p:cNvPr id="715" name="Google Shape;715;p29"/>
          <p:cNvSpPr/>
          <p:nvPr/>
        </p:nvSpPr>
        <p:spPr>
          <a:xfrm>
            <a:off x="1270000" y="2895550"/>
            <a:ext cx="5938774" cy="55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Clasificá cada resultado: malicioso, benigno o no concluyente.</a:t>
            </a:r>
            <a:endParaRPr b="0" i="0" sz="1500" u="none" cap="none" strike="noStrike">
              <a:solidFill>
                <a:schemeClr val="lt1"/>
              </a:solidFill>
              <a:latin typeface="Montserrat"/>
              <a:ea typeface="Montserrat"/>
              <a:cs typeface="Montserrat"/>
              <a:sym typeface="Montserrat"/>
            </a:endParaRPr>
          </a:p>
        </p:txBody>
      </p:sp>
      <p:sp>
        <p:nvSpPr>
          <p:cNvPr id="716" name="Google Shape;716;p29"/>
          <p:cNvSpPr/>
          <p:nvPr/>
        </p:nvSpPr>
        <p:spPr>
          <a:xfrm>
            <a:off x="812800" y="3555950"/>
            <a:ext cx="355600" cy="30480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59E42"/>
              </a:buClr>
              <a:buSzPts val="2000"/>
              <a:buFont typeface="Montserrat"/>
              <a:buNone/>
            </a:pPr>
            <a:r>
              <a:rPr b="1" i="0" lang="en-US" sz="2000" u="none" cap="none" strike="noStrike">
                <a:solidFill>
                  <a:srgbClr val="F59E42"/>
                </a:solidFill>
                <a:latin typeface="Montserrat"/>
                <a:ea typeface="Montserrat"/>
                <a:cs typeface="Montserrat"/>
                <a:sym typeface="Montserrat"/>
              </a:rPr>
              <a:t>4</a:t>
            </a:r>
            <a:endParaRPr b="0" i="0" sz="2000" u="none" cap="none" strike="noStrike">
              <a:solidFill>
                <a:schemeClr val="lt1"/>
              </a:solidFill>
              <a:latin typeface="Montserrat"/>
              <a:ea typeface="Montserrat"/>
              <a:cs typeface="Montserrat"/>
              <a:sym typeface="Montserrat"/>
            </a:endParaRPr>
          </a:p>
        </p:txBody>
      </p:sp>
      <p:sp>
        <p:nvSpPr>
          <p:cNvPr id="717" name="Google Shape;717;p29"/>
          <p:cNvSpPr/>
          <p:nvPr/>
        </p:nvSpPr>
        <p:spPr>
          <a:xfrm>
            <a:off x="1270000" y="3555950"/>
            <a:ext cx="5938774" cy="55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Escribí el informe con la plantilla. El resumen ejecutivo va primero.</a:t>
            </a:r>
            <a:endParaRPr b="0" i="0" sz="1500" u="none" cap="none" strike="noStrike">
              <a:solidFill>
                <a:schemeClr val="lt1"/>
              </a:solidFill>
              <a:latin typeface="Montserrat"/>
              <a:ea typeface="Montserrat"/>
              <a:cs typeface="Montserrat"/>
              <a:sym typeface="Montserrat"/>
            </a:endParaRPr>
          </a:p>
        </p:txBody>
      </p:sp>
      <p:sp>
        <p:nvSpPr>
          <p:cNvPr id="718" name="Google Shape;718;p29"/>
          <p:cNvSpPr/>
          <p:nvPr/>
        </p:nvSpPr>
        <p:spPr>
          <a:xfrm>
            <a:off x="812800" y="4216350"/>
            <a:ext cx="355600" cy="30480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59E42"/>
              </a:buClr>
              <a:buSzPts val="2000"/>
              <a:buFont typeface="Montserrat"/>
              <a:buNone/>
            </a:pPr>
            <a:r>
              <a:rPr b="1" i="0" lang="en-US" sz="2000" u="none" cap="none" strike="noStrike">
                <a:solidFill>
                  <a:srgbClr val="F59E42"/>
                </a:solidFill>
                <a:latin typeface="Montserrat"/>
                <a:ea typeface="Montserrat"/>
                <a:cs typeface="Montserrat"/>
                <a:sym typeface="Montserrat"/>
              </a:rPr>
              <a:t>5</a:t>
            </a:r>
            <a:endParaRPr b="0" i="0" sz="2000" u="none" cap="none" strike="noStrike">
              <a:solidFill>
                <a:schemeClr val="lt1"/>
              </a:solidFill>
              <a:latin typeface="Montserrat"/>
              <a:ea typeface="Montserrat"/>
              <a:cs typeface="Montserrat"/>
              <a:sym typeface="Montserrat"/>
            </a:endParaRPr>
          </a:p>
        </p:txBody>
      </p:sp>
      <p:sp>
        <p:nvSpPr>
          <p:cNvPr id="719" name="Google Shape;719;p29"/>
          <p:cNvSpPr/>
          <p:nvPr/>
        </p:nvSpPr>
        <p:spPr>
          <a:xfrm>
            <a:off x="1270000" y="4216350"/>
            <a:ext cx="5344835"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Compartilo en Discord y revisalo con la rúbrica.</a:t>
            </a:r>
            <a:endParaRPr b="0" i="0" sz="1500" u="none" cap="none" strike="noStrike">
              <a:solidFill>
                <a:schemeClr val="lt1"/>
              </a:solidFill>
              <a:latin typeface="Montserrat"/>
              <a:ea typeface="Montserrat"/>
              <a:cs typeface="Montserrat"/>
              <a:sym typeface="Montserrat"/>
            </a:endParaRPr>
          </a:p>
        </p:txBody>
      </p:sp>
      <p:sp>
        <p:nvSpPr>
          <p:cNvPr id="720" name="Google Shape;720;p29"/>
          <p:cNvSpPr/>
          <p:nvPr/>
        </p:nvSpPr>
        <p:spPr>
          <a:xfrm>
            <a:off x="7448550" y="1835100"/>
            <a:ext cx="3924300" cy="2646363"/>
          </a:xfrm>
          <a:prstGeom prst="roundRect">
            <a:avLst>
              <a:gd fmla="val 3599" name="adj"/>
            </a:avLst>
          </a:prstGeom>
          <a:solidFill>
            <a:srgbClr val="1B1726"/>
          </a:solidFill>
          <a:ln cap="flat" cmpd="sng" w="12700">
            <a:solidFill>
              <a:srgbClr val="F59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29"/>
          <p:cNvSpPr/>
          <p:nvPr/>
        </p:nvSpPr>
        <p:spPr>
          <a:xfrm>
            <a:off x="7708900" y="2095450"/>
            <a:ext cx="350570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REPO DEL WORKSHOP</a:t>
            </a:r>
            <a:endParaRPr b="0" i="0" sz="1200" u="none" cap="none" strike="noStrike">
              <a:solidFill>
                <a:schemeClr val="lt1"/>
              </a:solidFill>
              <a:latin typeface="Montserrat"/>
              <a:ea typeface="Montserrat"/>
              <a:cs typeface="Montserrat"/>
              <a:sym typeface="Montserrat"/>
            </a:endParaRPr>
          </a:p>
        </p:txBody>
      </p:sp>
      <p:sp>
        <p:nvSpPr>
          <p:cNvPr id="722" name="Google Shape;722;p29"/>
          <p:cNvSpPr/>
          <p:nvPr/>
        </p:nvSpPr>
        <p:spPr>
          <a:xfrm>
            <a:off x="7708900" y="2346871"/>
            <a:ext cx="3505708"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github.com/Ank1nskywalker/talks, carpeta 2026</a:t>
            </a:r>
            <a:endParaRPr b="0" i="0" sz="1200" u="none" cap="none" strike="noStrike">
              <a:solidFill>
                <a:schemeClr val="lt1"/>
              </a:solidFill>
              <a:latin typeface="Montserrat"/>
              <a:ea typeface="Montserrat"/>
              <a:cs typeface="Montserrat"/>
              <a:sym typeface="Montserrat"/>
            </a:endParaRPr>
          </a:p>
        </p:txBody>
      </p:sp>
      <p:sp>
        <p:nvSpPr>
          <p:cNvPr id="723" name="Google Shape;723;p29"/>
          <p:cNvSpPr/>
          <p:nvPr/>
        </p:nvSpPr>
        <p:spPr>
          <a:xfrm>
            <a:off x="7708900" y="2925911"/>
            <a:ext cx="350570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PLANTILLA ES / EN</a:t>
            </a:r>
            <a:endParaRPr b="0" i="0" sz="1200" u="none" cap="none" strike="noStrike">
              <a:solidFill>
                <a:schemeClr val="lt1"/>
              </a:solidFill>
              <a:latin typeface="Montserrat"/>
              <a:ea typeface="Montserrat"/>
              <a:cs typeface="Montserrat"/>
              <a:sym typeface="Montserrat"/>
            </a:endParaRPr>
          </a:p>
        </p:txBody>
      </p:sp>
      <p:sp>
        <p:nvSpPr>
          <p:cNvPr id="724" name="Google Shape;724;p29"/>
          <p:cNvSpPr/>
          <p:nvPr/>
        </p:nvSpPr>
        <p:spPr>
          <a:xfrm>
            <a:off x="7708900" y="3177332"/>
            <a:ext cx="350570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github.com/Ank1nskywalker/Templates</a:t>
            </a:r>
            <a:endParaRPr b="0" i="0" sz="1200" u="none" cap="none" strike="noStrike">
              <a:solidFill>
                <a:schemeClr val="lt1"/>
              </a:solidFill>
              <a:latin typeface="Montserrat"/>
              <a:ea typeface="Montserrat"/>
              <a:cs typeface="Montserrat"/>
              <a:sym typeface="Montserrat"/>
            </a:endParaRPr>
          </a:p>
        </p:txBody>
      </p:sp>
      <p:sp>
        <p:nvSpPr>
          <p:cNvPr id="725" name="Google Shape;725;p29"/>
          <p:cNvSpPr/>
          <p:nvPr/>
        </p:nvSpPr>
        <p:spPr>
          <a:xfrm>
            <a:off x="7708900" y="3543052"/>
            <a:ext cx="350570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200"/>
              <a:buFont typeface="Montserrat"/>
              <a:buNone/>
            </a:pPr>
            <a:r>
              <a:rPr b="1" i="0" lang="en-US" sz="1200" u="none" cap="none" strike="noStrike">
                <a:solidFill>
                  <a:srgbClr val="F59E42"/>
                </a:solidFill>
                <a:latin typeface="Montserrat"/>
                <a:ea typeface="Montserrat"/>
                <a:cs typeface="Montserrat"/>
                <a:sym typeface="Montserrat"/>
              </a:rPr>
              <a:t>PISTA</a:t>
            </a:r>
            <a:endParaRPr b="0" i="0" sz="1200" u="none" cap="none" strike="noStrike">
              <a:solidFill>
                <a:schemeClr val="lt1"/>
              </a:solidFill>
              <a:latin typeface="Montserrat"/>
              <a:ea typeface="Montserrat"/>
              <a:cs typeface="Montserrat"/>
              <a:sym typeface="Montserrat"/>
            </a:endParaRPr>
          </a:p>
        </p:txBody>
      </p:sp>
      <p:sp>
        <p:nvSpPr>
          <p:cNvPr id="726" name="Google Shape;726;p29"/>
          <p:cNvSpPr/>
          <p:nvPr/>
        </p:nvSpPr>
        <p:spPr>
          <a:xfrm>
            <a:off x="7708900" y="3794472"/>
            <a:ext cx="3505708"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El lab es compartido: acotá por equipo y ventana de tiempo antes de concluir.</a:t>
            </a:r>
            <a:endParaRPr b="0" i="0" sz="1200" u="none" cap="none" strike="noStrike">
              <a:solidFill>
                <a:schemeClr val="lt1"/>
              </a:solidFill>
              <a:latin typeface="Montserrat"/>
              <a:ea typeface="Montserrat"/>
              <a:cs typeface="Montserrat"/>
              <a:sym typeface="Montserrat"/>
            </a:endParaRPr>
          </a:p>
        </p:txBody>
      </p:sp>
      <p:sp>
        <p:nvSpPr>
          <p:cNvPr id="727" name="Google Shape;727;p29"/>
          <p:cNvSpPr/>
          <p:nvPr/>
        </p:nvSpPr>
        <p:spPr>
          <a:xfrm>
            <a:off x="812800" y="6238280"/>
            <a:ext cx="523482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WRITING THE INCIDENT STORY · DEATHCON 2026</a:t>
            </a:r>
            <a:endParaRPr b="0" i="0" sz="1200" u="none" cap="none" strike="noStrike">
              <a:solidFill>
                <a:schemeClr val="lt1"/>
              </a:solidFill>
              <a:latin typeface="Montserrat"/>
              <a:ea typeface="Montserrat"/>
              <a:cs typeface="Montserrat"/>
              <a:sym typeface="Montserrat"/>
            </a:endParaRPr>
          </a:p>
        </p:txBody>
      </p:sp>
      <p:sp>
        <p:nvSpPr>
          <p:cNvPr id="728" name="Google Shape;728;p29"/>
          <p:cNvSpPr/>
          <p:nvPr/>
        </p:nvSpPr>
        <p:spPr>
          <a:xfrm>
            <a:off x="11149013" y="6238280"/>
            <a:ext cx="230188"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29</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30"/>
          <p:cNvSpPr txBox="1"/>
          <p:nvPr>
            <p:ph type="title"/>
          </p:nvPr>
        </p:nvSpPr>
        <p:spPr>
          <a:xfrm>
            <a:off x="812800" y="1701899"/>
            <a:ext cx="10883392" cy="7874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rgbClr val="F1EEF7"/>
              </a:buClr>
              <a:buSzPts val="6000"/>
              <a:buFont typeface="Montserrat"/>
              <a:buNone/>
            </a:pPr>
            <a:r>
              <a:rPr b="1" i="0" lang="en-US" sz="6000">
                <a:solidFill>
                  <a:srgbClr val="F1EEF7"/>
                </a:solidFill>
                <a:latin typeface="Montserrat"/>
                <a:ea typeface="Montserrat"/>
                <a:cs typeface="Montserrat"/>
                <a:sym typeface="Montserrat"/>
              </a:rPr>
              <a:t>Gracias</a:t>
            </a:r>
            <a:endParaRPr sz="6000"/>
          </a:p>
        </p:txBody>
      </p:sp>
      <p:sp>
        <p:nvSpPr>
          <p:cNvPr id="735" name="Google Shape;735;p30"/>
          <p:cNvSpPr/>
          <p:nvPr/>
        </p:nvSpPr>
        <p:spPr>
          <a:xfrm>
            <a:off x="812800" y="2667099"/>
            <a:ext cx="10883392" cy="3810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2000"/>
              <a:buFont typeface="Montserrat"/>
              <a:buNone/>
            </a:pPr>
            <a:r>
              <a:rPr b="0" i="0" lang="en-US" sz="2000" u="none" cap="none" strike="noStrike">
                <a:solidFill>
                  <a:srgbClr val="F59E42"/>
                </a:solidFill>
                <a:latin typeface="Montserrat"/>
                <a:ea typeface="Montserrat"/>
                <a:cs typeface="Montserrat"/>
                <a:sym typeface="Montserrat"/>
              </a:rPr>
              <a:t>Cada caza deja la siguiente.</a:t>
            </a:r>
            <a:endParaRPr b="0" i="0" sz="2000" u="none" cap="none" strike="noStrike">
              <a:solidFill>
                <a:schemeClr val="lt1"/>
              </a:solidFill>
              <a:latin typeface="Montserrat"/>
              <a:ea typeface="Montserrat"/>
              <a:cs typeface="Montserrat"/>
              <a:sym typeface="Montserrat"/>
            </a:endParaRPr>
          </a:p>
        </p:txBody>
      </p:sp>
      <p:sp>
        <p:nvSpPr>
          <p:cNvPr id="736" name="Google Shape;736;p30"/>
          <p:cNvSpPr/>
          <p:nvPr/>
        </p:nvSpPr>
        <p:spPr>
          <a:xfrm>
            <a:off x="812800" y="3225899"/>
            <a:ext cx="65405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0" i="0" lang="en-US" sz="1200" u="none" cap="none" strike="noStrike">
                <a:solidFill>
                  <a:srgbClr val="C2C2F4"/>
                </a:solidFill>
                <a:latin typeface="Montserrat"/>
                <a:ea typeface="Montserrat"/>
                <a:cs typeface="Montserrat"/>
                <a:sym typeface="Montserrat"/>
              </a:rPr>
              <a:t>Workshop:</a:t>
            </a:r>
            <a:r>
              <a:rPr b="0" i="0" lang="en-US" sz="1200" u="none" cap="none" strike="noStrike">
                <a:solidFill>
                  <a:srgbClr val="F1EEF7"/>
                </a:solidFill>
                <a:latin typeface="Montserrat"/>
                <a:ea typeface="Montserrat"/>
                <a:cs typeface="Montserrat"/>
                <a:sym typeface="Montserrat"/>
              </a:rPr>
              <a:t> github.com/Ank1nskywalker/talks</a:t>
            </a:r>
            <a:endParaRPr b="0" i="0" sz="1200" u="none" cap="none" strike="noStrike">
              <a:solidFill>
                <a:schemeClr val="lt1"/>
              </a:solidFill>
              <a:latin typeface="Montserrat"/>
              <a:ea typeface="Montserrat"/>
              <a:cs typeface="Montserrat"/>
              <a:sym typeface="Montserrat"/>
            </a:endParaRPr>
          </a:p>
        </p:txBody>
      </p:sp>
      <p:sp>
        <p:nvSpPr>
          <p:cNvPr id="737" name="Google Shape;737;p30"/>
          <p:cNvSpPr/>
          <p:nvPr/>
        </p:nvSpPr>
        <p:spPr>
          <a:xfrm>
            <a:off x="812800" y="3502720"/>
            <a:ext cx="65405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0" i="0" lang="en-US" sz="1200" u="none" cap="none" strike="noStrike">
                <a:solidFill>
                  <a:srgbClr val="C2C2F4"/>
                </a:solidFill>
                <a:latin typeface="Montserrat"/>
                <a:ea typeface="Montserrat"/>
                <a:cs typeface="Montserrat"/>
                <a:sym typeface="Montserrat"/>
              </a:rPr>
              <a:t>Plantilla:</a:t>
            </a:r>
            <a:r>
              <a:rPr b="0" i="0" lang="en-US" sz="1200" u="none" cap="none" strike="noStrike">
                <a:solidFill>
                  <a:srgbClr val="F1EEF7"/>
                </a:solidFill>
                <a:latin typeface="Montserrat"/>
                <a:ea typeface="Montserrat"/>
                <a:cs typeface="Montserrat"/>
                <a:sym typeface="Montserrat"/>
              </a:rPr>
              <a:t> github.com/Ank1nskywalker/Templates</a:t>
            </a:r>
            <a:endParaRPr b="0" i="0" sz="1200" u="none" cap="none" strike="noStrike">
              <a:solidFill>
                <a:schemeClr val="lt1"/>
              </a:solidFill>
              <a:latin typeface="Montserrat"/>
              <a:ea typeface="Montserrat"/>
              <a:cs typeface="Montserrat"/>
              <a:sym typeface="Montserrat"/>
            </a:endParaRPr>
          </a:p>
        </p:txBody>
      </p:sp>
      <p:sp>
        <p:nvSpPr>
          <p:cNvPr id="738" name="Google Shape;738;p30"/>
          <p:cNvSpPr/>
          <p:nvPr/>
        </p:nvSpPr>
        <p:spPr>
          <a:xfrm>
            <a:off x="812800" y="3779540"/>
            <a:ext cx="75184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0" i="0" lang="en-US" sz="1200" u="none" cap="none" strike="noStrike">
                <a:solidFill>
                  <a:srgbClr val="C2C2F4"/>
                </a:solidFill>
                <a:latin typeface="Montserrat"/>
                <a:ea typeface="Montserrat"/>
                <a:cs typeface="Montserrat"/>
                <a:sym typeface="Montserrat"/>
              </a:rPr>
              <a:t>La campaña:</a:t>
            </a:r>
            <a:r>
              <a:rPr b="0" i="0" lang="en-US" sz="1200" u="none" cap="none" strike="noStrike">
                <a:solidFill>
                  <a:srgbClr val="F1EEF7"/>
                </a:solidFill>
                <a:latin typeface="Montserrat"/>
                <a:ea typeface="Montserrat"/>
                <a:cs typeface="Montserrat"/>
                <a:sym typeface="Montserrat"/>
              </a:rPr>
              <a:t> M. H. Ali, “Arabic Streaming Websites ClickFix Campaign” (oct. 2026)</a:t>
            </a:r>
            <a:endParaRPr b="0" i="0" sz="1200" u="none" cap="none" strike="noStrike">
              <a:solidFill>
                <a:schemeClr val="lt1"/>
              </a:solidFill>
              <a:latin typeface="Montserrat"/>
              <a:ea typeface="Montserrat"/>
              <a:cs typeface="Montserrat"/>
              <a:sym typeface="Montserrat"/>
            </a:endParaRPr>
          </a:p>
        </p:txBody>
      </p:sp>
      <p:sp>
        <p:nvSpPr>
          <p:cNvPr id="739" name="Google Shape;739;p30"/>
          <p:cNvSpPr/>
          <p:nvPr/>
        </p:nvSpPr>
        <p:spPr>
          <a:xfrm>
            <a:off x="812800" y="4056360"/>
            <a:ext cx="654050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0" i="0" lang="en-US" sz="1200" u="none" cap="none" strike="noStrike">
                <a:solidFill>
                  <a:srgbClr val="C2C2F4"/>
                </a:solidFill>
                <a:latin typeface="Montserrat"/>
                <a:ea typeface="Montserrat"/>
                <a:cs typeface="Montserrat"/>
                <a:sym typeface="Montserrat"/>
              </a:rPr>
              <a:t>Marcos:</a:t>
            </a:r>
            <a:r>
              <a:rPr b="0" i="0" lang="en-US" sz="1200" u="none" cap="none" strike="noStrike">
                <a:solidFill>
                  <a:srgbClr val="F1EEF7"/>
                </a:solidFill>
                <a:latin typeface="Montserrat"/>
                <a:ea typeface="Montserrat"/>
                <a:cs typeface="Montserrat"/>
                <a:sym typeface="Montserrat"/>
              </a:rPr>
              <a:t> PEAK (Splunk SURGe, 2023) · Pyramid of Pain (Bianco, 2013) · ICD 203 (ODNI)</a:t>
            </a:r>
            <a:endParaRPr b="0" i="0" sz="1200" u="none" cap="none" strike="noStrike">
              <a:solidFill>
                <a:schemeClr val="lt1"/>
              </a:solidFill>
              <a:latin typeface="Montserrat"/>
              <a:ea typeface="Montserrat"/>
              <a:cs typeface="Montserrat"/>
              <a:sym typeface="Montserrat"/>
            </a:endParaRPr>
          </a:p>
        </p:txBody>
      </p:sp>
      <p:sp>
        <p:nvSpPr>
          <p:cNvPr id="740" name="Google Shape;740;p30"/>
          <p:cNvSpPr/>
          <p:nvPr/>
        </p:nvSpPr>
        <p:spPr>
          <a:xfrm>
            <a:off x="812800" y="4686201"/>
            <a:ext cx="10883392"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@anakinswal</a:t>
            </a:r>
            <a:endParaRPr b="0" i="0" sz="1500" u="none" cap="none" strike="noStrike">
              <a:solidFill>
                <a:schemeClr val="lt1"/>
              </a:solidFill>
              <a:latin typeface="Montserrat"/>
              <a:ea typeface="Montserrat"/>
              <a:cs typeface="Montserrat"/>
              <a:sym typeface="Montserrat"/>
            </a:endParaRPr>
          </a:p>
        </p:txBody>
      </p:sp>
      <p:sp>
        <p:nvSpPr>
          <p:cNvPr id="741" name="Google Shape;741;p30"/>
          <p:cNvSpPr/>
          <p:nvPr/>
        </p:nvSpPr>
        <p:spPr>
          <a:xfrm>
            <a:off x="812800" y="6238280"/>
            <a:ext cx="719455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DEATHCON 2026 · WRITING THE INCIDENT STORY</a:t>
            </a:r>
            <a:endParaRPr b="0" i="0" sz="1200" u="none" cap="none" strike="noStrike">
              <a:solidFill>
                <a:schemeClr val="lt1"/>
              </a:solidFill>
              <a:latin typeface="Montserrat"/>
              <a:ea typeface="Montserrat"/>
              <a:cs typeface="Montserrat"/>
              <a:sym typeface="Montserrat"/>
            </a:endParaRPr>
          </a:p>
        </p:txBody>
      </p:sp>
      <p:pic>
        <p:nvPicPr>
          <p:cNvPr descr="Logo de DEATHCon 2026" id="742" name="Google Shape;742;p30"/>
          <p:cNvPicPr preferRelativeResize="0"/>
          <p:nvPr/>
        </p:nvPicPr>
        <p:blipFill rotWithShape="1">
          <a:blip r:embed="rId3">
            <a:alphaModFix/>
          </a:blip>
          <a:srcRect b="0" l="0" r="0" t="0"/>
          <a:stretch/>
        </p:blipFill>
        <p:spPr>
          <a:xfrm>
            <a:off x="8331200" y="1905000"/>
            <a:ext cx="3048000" cy="3048000"/>
          </a:xfrm>
          <a:prstGeom prst="ellipse">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Writing the Incident Story · ES — DEATHCon 2026">
  <a:themeElements>
    <a:clrScheme name="Writing the Incident Story · ES — DEATHCon 2026">
      <a:dk1>
        <a:srgbClr val="0C0B12"/>
      </a:dk1>
      <a:lt1>
        <a:srgbClr val="F1EEF7"/>
      </a:lt1>
      <a:dk2>
        <a:srgbClr val="232229"/>
      </a:dk2>
      <a:lt2>
        <a:srgbClr val="B8B5BE"/>
      </a:lt2>
      <a:accent1>
        <a:srgbClr val="F59E42"/>
      </a:accent1>
      <a:accent2>
        <a:srgbClr val="C2C2F4"/>
      </a:accent2>
      <a:accent3>
        <a:srgbClr val="3A2208"/>
      </a:accent3>
      <a:accent4>
        <a:srgbClr val="5A2340"/>
      </a:accent4>
      <a:accent5>
        <a:srgbClr val="8F8AA6"/>
      </a:accent5>
      <a:accent6>
        <a:srgbClr val="C9C5D8"/>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riting the Incident Story · ES — DEATHCon 2026">
  <a:themeElements>
    <a:clrScheme name="Writing the Incident Story · ES — DEATHCon 2026">
      <a:dk1>
        <a:srgbClr val="0C0B12"/>
      </a:dk1>
      <a:lt1>
        <a:srgbClr val="F1EEF7"/>
      </a:lt1>
      <a:dk2>
        <a:srgbClr val="232229"/>
      </a:dk2>
      <a:lt2>
        <a:srgbClr val="B8B5BE"/>
      </a:lt2>
      <a:accent1>
        <a:srgbClr val="F59E42"/>
      </a:accent1>
      <a:accent2>
        <a:srgbClr val="C2C2F4"/>
      </a:accent2>
      <a:accent3>
        <a:srgbClr val="3A2208"/>
      </a:accent3>
      <a:accent4>
        <a:srgbClr val="5A2340"/>
      </a:accent4>
      <a:accent5>
        <a:srgbClr val="8F8AA6"/>
      </a:accent5>
      <a:accent6>
        <a:srgbClr val="C9C5D8"/>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2026-10-20T13:00:29Z</dcterms:created>
</cp:coreProperties>
</file>