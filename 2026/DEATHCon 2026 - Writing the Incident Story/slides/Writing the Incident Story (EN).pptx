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12192000"/>
  <p:embeddedFontLst>
    <p:embeddedFont>
      <p:font typeface="Montserrat"/>
      <p:regular r:id="rId36"/>
      <p:bold r:id="rId37"/>
      <p:italic r:id="rId38"/>
      <p:boldItalic r:id="rId39"/>
    </p:embeddedFont>
    <p:embeddedFont>
      <p:font typeface="JetBrains Mon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g+NvTRkA256gFpcwgGGfWGuuVS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773AD2-FA50-4F7C-A878-0F7E4A0B4D0B}">
  <a:tblStyle styleId="{FB773AD2-FA50-4F7C-A878-0F7E4A0B4D0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JetBrainsMono-regular.fntdata"/><Relationship Id="rId20" Type="http://schemas.openxmlformats.org/officeDocument/2006/relationships/slide" Target="slides/slide15.xml"/><Relationship Id="rId42" Type="http://schemas.openxmlformats.org/officeDocument/2006/relationships/font" Target="fonts/JetBrainsMono-italic.fntdata"/><Relationship Id="rId41" Type="http://schemas.openxmlformats.org/officeDocument/2006/relationships/font" Target="fonts/JetBrainsMono-bold.fntdata"/><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font" Target="fonts/JetBrainsMono-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Montserrat-bold.fntdata"/><Relationship Id="rId14" Type="http://schemas.openxmlformats.org/officeDocument/2006/relationships/slide" Target="slides/slide9.xml"/><Relationship Id="rId36" Type="http://schemas.openxmlformats.org/officeDocument/2006/relationships/font" Target="fonts/Montserrat-regular.fntdata"/><Relationship Id="rId17" Type="http://schemas.openxmlformats.org/officeDocument/2006/relationships/slide" Target="slides/slide12.xml"/><Relationship Id="rId39" Type="http://schemas.openxmlformats.org/officeDocument/2006/relationships/font" Target="fonts/Montserrat-boldItalic.fntdata"/><Relationship Id="rId16" Type="http://schemas.openxmlformats.org/officeDocument/2006/relationships/slide" Target="slides/slide11.xml"/><Relationship Id="rId38" Type="http://schemas.openxmlformats.org/officeDocument/2006/relationships/font" Target="fonts/Montserrat-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1pPr>
            <a:lvl2pPr lvl="1"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2pPr>
            <a:lvl3pPr lvl="2"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3pPr>
            <a:lvl4pPr lvl="3"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4pPr>
            <a:lvl5pPr lvl="4"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5pPr>
            <a:lvl6pPr lvl="5"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6pPr>
            <a:lvl7pPr lvl="6"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7pPr>
            <a:lvl8pPr lvl="7"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8pPr>
            <a:lvl9pPr lvl="8"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1pPr>
            <a:lvl2pPr lvl="1"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2pPr>
            <a:lvl3pPr lvl="2"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3pPr>
            <a:lvl4pPr lvl="3"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4pPr>
            <a:lvl5pPr lvl="4"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5pPr>
            <a:lvl6pPr lvl="5"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6pPr>
            <a:lvl7pPr lvl="6"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7pPr>
            <a:lvl8pPr lvl="7"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8pPr>
            <a:lvl9pPr lvl="8"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1pPr>
            <a:lvl2pPr indent="-228600" lvl="1" marL="9144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2pPr>
            <a:lvl3pPr indent="-228600" lvl="2" marL="13716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3pPr>
            <a:lvl4pPr indent="-228600" lvl="3" marL="18288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4pPr>
            <a:lvl5pPr indent="-228600" lvl="4" marL="22860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5pPr>
            <a:lvl6pPr indent="-228600" lvl="5" marL="27432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6pPr>
            <a:lvl7pPr indent="-228600" lvl="6" marL="32004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7pPr>
            <a:lvl8pPr indent="-228600" lvl="7" marL="36576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8pPr>
            <a:lvl9pPr indent="-228600" lvl="8" marL="411480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ontserrat"/>
                <a:ea typeface="Montserrat"/>
                <a:cs typeface="Montserrat"/>
                <a:sym typeface="Montserrat"/>
              </a:defRPr>
            </a:lvl1pPr>
            <a:lvl2pPr lvl="1"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2pPr>
            <a:lvl3pPr lvl="2"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3pPr>
            <a:lvl4pPr lvl="3"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4pPr>
            <a:lvl5pPr lvl="4"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5pPr>
            <a:lvl6pPr lvl="5"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6pPr>
            <a:lvl7pPr lvl="6"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7pPr>
            <a:lvl8pPr lvl="7"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8pPr>
            <a:lvl9pPr lvl="8" marR="0" rtl="0" algn="l">
              <a:spcBef>
                <a:spcPts val="0"/>
              </a:spcBef>
              <a:spcAft>
                <a:spcPts val="0"/>
              </a:spcAft>
              <a:buSzPts val="1400"/>
              <a:buNone/>
              <a:defRPr b="0" i="0" sz="1800" u="none" cap="none" strike="noStrike">
                <a:solidFill>
                  <a:schemeClr val="dk1"/>
                </a:solidFill>
                <a:latin typeface="Montserrat"/>
                <a:ea typeface="Montserrat"/>
                <a:cs typeface="Montserrat"/>
                <a:sym typeface="Montserrat"/>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Montserrat"/>
                <a:ea typeface="Montserrat"/>
                <a:cs typeface="Montserrat"/>
                <a:sym typeface="Montserrat"/>
              </a:rPr>
              <a:t>‹#›</a:t>
            </a:fld>
            <a:endParaRPr b="0" i="0" sz="1200" u="none" cap="none" strike="noStrike">
              <a:solidFill>
                <a:schemeClr val="dk1"/>
              </a:solidFill>
              <a:latin typeface="Montserrat"/>
              <a:ea typeface="Montserrat"/>
              <a:cs typeface="Montserrat"/>
              <a:sym typeface="Montserrat"/>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This workshop has one goal: that you leave knowing how to write a threat hunting report someone can act on. To get there we hunt for real: a ClickFix hypothesis, seed queries in Microsoft Sentinel and telemetry seeded in the lab. The finding is the raw material; the report is the deliverable.</a:t>
            </a:r>
            <a:endParaRPr/>
          </a:p>
        </p:txBody>
      </p:sp>
      <p:sp>
        <p:nvSpPr>
          <p:cNvPr id="25" name="Google Shape;2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order matters: first we hunt so we have something to tell, then we learn how to tell it. Most of the time goes to block 6. All the material (queries, template, exercise and rubric) is in the repo, so there is no need to copy anything from the slides.</a:t>
            </a:r>
            <a:endParaRPr/>
          </a:p>
        </p:txBody>
      </p:sp>
      <p:sp>
        <p:nvSpPr>
          <p:cNvPr id="36" name="Google Shape;3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quick introduction. What matters for this workshop: I come from intelligence analysis, where a badly written report is a report nobody uses. That discipline (separating facts from assessments, saying how sure you are) is what we are bringing into threat hunting.</a:t>
            </a:r>
            <a:endParaRPr/>
          </a:p>
        </p:txBody>
      </p:sp>
      <p:sp>
        <p:nvSpPr>
          <p:cNvPr id="75" name="Google Shape;7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central idea of the workshop. You can find the most interesting intrusion of the year: if you don’t write it up so someone else can understand and use it, for the organization it never happened. The query stays in your history; the report is what gets approved, audited and inherited.</a:t>
            </a:r>
            <a:endParaRPr/>
          </a:p>
        </p:txBody>
      </p:sp>
      <p:sp>
        <p:nvSpPr>
          <p:cNvPr id="103" name="Google Shape;10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report has four readers with different needs. The most common mistake is writing only for the SOC: queries and screenshots with no conclusion. The decision-maker reads the executive summary and nothing else; everything else lives in the appendices. That is why the order of the report matters as much as its content.</a:t>
            </a:r>
            <a:endParaRPr/>
          </a:p>
        </p:txBody>
      </p:sp>
      <p:sp>
        <p:nvSpPr>
          <p:cNvPr id="113" name="Google Shape;11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three questions are the skeleton of the report, and they still apply when the hunt finds nothing. The second one is the most often skipped: what you could not see is information for the decision-maker, because it tells them how much to trust the rest.</a:t>
            </a:r>
            <a:endParaRPr/>
          </a:p>
        </p:txBody>
      </p:sp>
      <p:sp>
        <p:nvSpPr>
          <p:cNvPr id="143" name="Google Shape;14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defining it, let’s clear up the confusion. The four things above are necessary in a SOC, but none of them is hunting. The definition has three parts we will see in the case: we assume something got past the controls, we start from a concrete question and we finish with something we did not have before (a detection, visibility or containment).</a:t>
            </a:r>
            <a:endParaRPr/>
          </a:p>
        </p:txBody>
      </p:sp>
      <p:sp>
        <p:nvSpPr>
          <p:cNvPr id="164" name="Google Shape;16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three are valid and they combine. Today we use the first: an intelligence data point (ClickFix dominates initial access) becomes a question the telemetry can answer. The key is translating TTPs, not IOCs: the IOCs in a report are already dead by the time you read it.</a:t>
            </a:r>
            <a:endParaRPr/>
          </a:p>
        </p:txBody>
      </p:sp>
      <p:sp>
        <p:nvSpPr>
          <p:cNvPr id="189" name="Google Shape;18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higher you detect, the more it costs the attacker to change. We saw it while preparing this workshop: the stage-1 domain stopped resolving within days and the script changed its hash on every download. The only stable thing was the behavior. That is why the hypothesis is written at the TTP level.</a:t>
            </a:r>
            <a:endParaRPr/>
          </a:p>
        </p:txBody>
      </p:sp>
      <p:sp>
        <p:nvSpPr>
          <p:cNvPr id="216" name="Google Shape;21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steps in three phases. Notice that the report is a step in the cycle, not paperwork at the end: it is what turns a hunt into a detection, a documented gap or a new hypothesis. In the case, the browser extension we found gave us the next hunt.</a:t>
            </a:r>
            <a:endParaRPr/>
          </a:p>
        </p:txBody>
      </p:sp>
      <p:sp>
        <p:nvSpPr>
          <p:cNvPr id="238" name="Google Shape;23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ClickFix and not something else: it is the leading initial access vector of the past year and it arrives through search engines, so the email gateway never sees it. The EDR does record it, but as user activity, with Microsoft-signed binaries and informational risk. That is exactly the kind of thing you have to go looking for.</a:t>
            </a:r>
            <a:endParaRPr/>
          </a:p>
        </p:txBody>
      </p:sp>
      <p:sp>
        <p:nvSpPr>
          <p:cNvPr id="282" name="Google Shape;28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what the victim sees. The fake page copies the command to the clipboard and gives three instructions. What appears in the Run dialog looks like a verification code, but the start of the line is PowerShell. Key point for the report: the clipboard leaves no trace, so the paste has to be shown with indirect evidence. We will see how with ACH.</a:t>
            </a:r>
            <a:endParaRPr/>
          </a:p>
        </p:txBody>
      </p:sp>
      <p:sp>
        <p:nvSpPr>
          <p:cNvPr id="316" name="Google Shape;31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same campaign, days later, no longer asked for Win+R: it asked for Win+X and Terminal. That breaks a detection built only on the RunMRU key, because that key only stores what is typed into the Run dialog. And because the command is pasted into an already open PowerShell, it does not show up as a new process either: Script Block Logging sees it. That is why the hunt combines lineage, RunMRU and 4104: each source covers a gap in another. The infrastructure is public: Muhammad Hasan Ali documented it in his analysis of the campaign.</a:t>
            </a:r>
            <a:endParaRPr/>
          </a:p>
        </p:txBody>
      </p:sp>
      <p:sp>
        <p:nvSpPr>
          <p:cNvPr id="331" name="Google Shape;33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timeline of the real case behind the model report. Five steps were recorded as informational, with no alert. The alert arrived almost five minutes later, and only because one of the attacker’s three IPs was on a list. Had that IP not been listed, the attack would have generated no alert at all. That blind window is the case for hunting.</a:t>
            </a:r>
            <a:endParaRPr/>
          </a:p>
        </p:txBody>
      </p:sp>
      <p:sp>
        <p:nvSpPr>
          <p:cNvPr id="346" name="Google Shape;34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detonated it in ANY.RUN while preparing the workshop. The verdict was clean, but the three behavior rules fired: it is the classic preamble of a loader. On the second run the payload detected the environment and showed a mocking message instead of executing. For the report this is gold: it proves why the verdict alone is not enough, and it is a limitation you have to declare.</a:t>
            </a:r>
            <a:endParaRPr/>
          </a:p>
        </p:txBody>
      </p:sp>
      <p:sp>
        <p:nvSpPr>
          <p:cNvPr id="392" name="Google Shape;39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hypothesis is written so the data can confirm or refute it, which is why we define up front what confirms it, what refutes it and what we will not be able to see. This table goes straight into the report: it is the hypothesis section of the template. Notice that the known gap is written before hunting, not as an excuse afterwards.</a:t>
            </a:r>
            <a:endParaRPr/>
          </a:p>
        </p:txBody>
      </p:sp>
      <p:sp>
        <p:nvSpPr>
          <p:cNvPr id="416" name="Google Shape;41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really happened while preparing the lab, and it is the best lesson of the workshop. Had we written the report from those nine empty queries, we would have concluded there was nothing there, or that the platform does not capture the event. Both conclusions would have been false. The positive control is not a formality: it is what separates “there is nothing” from “I am not looking right”.</a:t>
            </a:r>
            <a:endParaRPr/>
          </a:p>
        </p:txBody>
      </p:sp>
      <p:sp>
        <p:nvSpPr>
          <p:cNvPr id="428" name="Google Shape;42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queries are not run in isolation: each result raises the next question. If the first one finds a host, the second explains why the user retried, the third shows what was installed, and so on up to persistence. The seventh is planned: it is the new hypothesis this hunt leaves behind. They are all in the repo, ready to paste into Sentinel.</a:t>
            </a:r>
            <a:endParaRPr/>
          </a:p>
        </p:txBody>
      </p:sp>
      <p:sp>
        <p:nvSpPr>
          <p:cNvPr id="454" name="Google Shape;45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seed query that opens the hunt. It looks for interpreters launched by Explorer (Win+R) or by the browser (FileFix) with something that smells like a download. It is deliberately broad: it will bring back noise, and classifying it is part of the exercise; the PowerShell the sensor itself launches stays out because its parent is SenseIR. What it does not see is a paste into an already open console, like the Win+X Terminal variant: there the command runs inside an interactive PowerShell and only Script Block Logging records it. Before using it, run the positive control on a lab host that sends telemetry.</a:t>
            </a:r>
            <a:endParaRPr/>
          </a:p>
        </p:txBody>
      </p:sp>
      <p:sp>
        <p:nvSpPr>
          <p:cNvPr id="464" name="Google Shape;46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really found the first three rows in the lab while running the queries. They all look malicious at first glance: PowerShell with bypass, encoded commands, downloads. None of them is. The lab is shared, so you will see activity from other workshops: classify it, do not ignore it. A well-documented false positive is an exclusion the next analyst does not have to investigate again.</a:t>
            </a:r>
            <a:endParaRPr/>
          </a:p>
        </p:txBody>
      </p:sp>
      <p:sp>
        <p:nvSpPr>
          <p:cNvPr id="492" name="Google Shape;49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New block. So far we have findings: query results, screenshots, a timeline. That is not a report yet. In this block we cover the structure, how to write the executive summary, how to separate facts from assessments and how to say how sure you are.</a:t>
            </a:r>
            <a:endParaRPr/>
          </a:p>
        </p:txBody>
      </p:sp>
      <p:sp>
        <p:nvSpPr>
          <p:cNvPr id="503" name="Google Shape;50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Ten sections, in this order. The order is not cosmetic: it runs from what the decision-maker needs (at the top) to what whoever repeats the hunt needs (the appendices). The executive summary is highlighted because it is the only thing many readers will read, and it is what we look at next.</a:t>
            </a:r>
            <a:endParaRPr/>
          </a:p>
        </p:txBody>
      </p:sp>
      <p:sp>
        <p:nvSpPr>
          <p:cNvPr id="513" name="Google Shape;51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BLUF: bottom line up front. The version on the left is not badly written, but it says nothing: no verdict, no scope, no impact, and it ends by asking for more work. The one on the right makes sense without knowing what KQL is: what happened, where, how long it took and why it matters. If the decision-maker only reads the first paragraph, they already have what they need.</a:t>
            </a:r>
            <a:endParaRPr/>
          </a:p>
        </p:txBody>
      </p:sp>
      <p:sp>
        <p:nvSpPr>
          <p:cNvPr id="562" name="Google Shape;56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most expensive mistake in a report is mixing what you observed with what you inferred. “The injected csc.exe modified the profile” sounds like a fact, but the injection is an assessment: what you saw is a csc.exe with no arguments writing a Chrome file. Write them in separate sentences. That way, if new evidence shows up tomorrow, the assessment gets revised and the fact still stands.</a:t>
            </a:r>
            <a:endParaRPr/>
          </a:p>
        </p:txBody>
      </p:sp>
      <p:sp>
        <p:nvSpPr>
          <p:cNvPr id="580" name="Google Shape;58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intelligence tools that threat hunting rarely adopts. With ICD 203, “likely” stops being an opinion and becomes a range the reader can understand. Confidence is something else: it says how much independent evidence you have. With Admiralty you grade each intelligence source you cite: a vendor report with a good track record might be B2. Apply it per finding, not once for the whole report.</a:t>
            </a:r>
            <a:endParaRPr/>
          </a:p>
        </p:txBody>
      </p:sp>
      <p:sp>
        <p:nvSpPr>
          <p:cNvPr id="592" name="Google Shape;59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clipboard is not logged, so you will never have direct proof that the command was pasted. ACH forces you to list the possible explanations and look for the evidence that contradicts them, not the evidence that supports them. What matters in the report is this table: it shows why you discarded the alternatives, and it lets another analyst challenge your conclusion with the same data.</a:t>
            </a:r>
            <a:endParaRPr/>
          </a:p>
        </p:txBody>
      </p:sp>
      <p:sp>
        <p:nvSpPr>
          <p:cNvPr id="641" name="Google Shape;64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 hunts find nothing, and that is normal. The mistake is not writing them up, or writing only “no indicators were found”. Without coverage and a positive control, that silence is worth nothing. With them, it is evidence that a technique is not happening in your fleet, and the list of gaps tells the organization where to invest in visibility.</a:t>
            </a:r>
            <a:endParaRPr/>
          </a:p>
        </p:txBody>
      </p:sp>
      <p:sp>
        <p:nvSpPr>
          <p:cNvPr id="653" name="Google Shape;653;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Eight checks before sending a report. They are not about style: each one answers one of the readers we saw at the start. This list is the rubric for the exercise, so use it to review your own report before sharing it on Discord.</a:t>
            </a:r>
            <a:endParaRPr/>
          </a:p>
        </p:txBody>
      </p:sp>
      <p:sp>
        <p:nvSpPr>
          <p:cNvPr id="680" name="Google Shape;68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it is your turn. The repo README has the step-by-step guide, the queries ready to copy and the brief. You don’t need to find everything: an honest report about what you found and what you could not see is worth more than a list of screenshots. Share it on Discord and we will give you feedback with the same rubric you just saw.</a:t>
            </a:r>
            <a:endParaRPr/>
          </a:p>
        </p:txBody>
      </p:sp>
      <p:sp>
        <p:nvSpPr>
          <p:cNvPr id="706" name="Google Shape;70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Closing. What you take away: a hunt without a report never happened, the positive control separates “there is nothing” from “I am not looking properly”, and a good report keeps facts apart from assessments and says how sure you are. All the material stays in the repo. See you on Discord.</a:t>
            </a:r>
            <a:endParaRPr/>
          </a:p>
        </p:txBody>
      </p:sp>
      <p:sp>
        <p:nvSpPr>
          <p:cNvPr id="732" name="Google Shape;73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background 1">
  <p:cSld name="Slide background 1">
    <p:bg>
      <p:bgPr>
        <a:blipFill>
          <a:blip r:embed="rId2">
            <a:alphaModFix/>
          </a:blip>
          <a:stretch>
            <a:fillRect/>
          </a:stretch>
        </a:blipFill>
      </p:bgPr>
    </p:bg>
    <p:spTree>
      <p:nvGrpSpPr>
        <p:cNvPr id="12" name="Shape 12"/>
        <p:cNvGrpSpPr/>
        <p:nvPr/>
      </p:nvGrpSpPr>
      <p:grpSpPr>
        <a:xfrm>
          <a:off x="0" y="0"/>
          <a:ext cx="0" cy="0"/>
          <a:chOff x="0" y="0"/>
          <a:chExt cx="0" cy="0"/>
        </a:xfrm>
      </p:grpSpPr>
      <p:sp>
        <p:nvSpPr>
          <p:cNvPr id="13" name="Google Shape;13;p32"/>
          <p:cNvSpPr txBox="1"/>
          <p:nvPr>
            <p:ph type="title"/>
          </p:nvPr>
        </p:nvSpPr>
        <p:spPr>
          <a:xfrm>
            <a:off x="812800" y="1127720"/>
            <a:ext cx="10566400" cy="44703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F1EEF7"/>
              </a:buClr>
              <a:buSzPts val="3200"/>
              <a:buFont typeface="Montserrat"/>
              <a:buNone/>
              <a:defRPr sz="3200">
                <a:solidFill>
                  <a:srgbClr val="F1EEF7"/>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32"/>
          <p:cNvSpPr txBox="1"/>
          <p:nvPr>
            <p:ph idx="1" type="body"/>
          </p:nvPr>
        </p:nvSpPr>
        <p:spPr>
          <a:xfrm>
            <a:off x="812800" y="1879550"/>
            <a:ext cx="10566400" cy="416565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F1EEF7"/>
              </a:buClr>
              <a:buSzPts val="1600"/>
              <a:buNone/>
              <a:defRPr sz="1600">
                <a:solidFill>
                  <a:srgbClr val="F1EEF7"/>
                </a:solidFill>
                <a:latin typeface="Montserrat"/>
                <a:ea typeface="Montserrat"/>
                <a:cs typeface="Montserrat"/>
                <a:sym typeface="Montserrat"/>
              </a:defRPr>
            </a:lvl1pPr>
            <a:lvl2pPr indent="-342900" lvl="1" marL="914400" algn="l">
              <a:spcBef>
                <a:spcPts val="360"/>
              </a:spcBef>
              <a:spcAft>
                <a:spcPts val="0"/>
              </a:spcAft>
              <a:buClr>
                <a:schemeClr val="lt1"/>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0C0B12"/>
        </a:solidFill>
      </p:bgPr>
    </p:bg>
    <p:spTree>
      <p:nvGrpSpPr>
        <p:cNvPr id="15" name="Shape 15"/>
        <p:cNvGrpSpPr/>
        <p:nvPr/>
      </p:nvGrpSpPr>
      <p:grpSpPr>
        <a:xfrm>
          <a:off x="0" y="0"/>
          <a:ext cx="0" cy="0"/>
          <a:chOff x="0" y="0"/>
          <a:chExt cx="0" cy="0"/>
        </a:xfrm>
      </p:grpSpPr>
      <p:sp>
        <p:nvSpPr>
          <p:cNvPr id="16" name="Google Shape;16;p33"/>
          <p:cNvSpPr txBox="1"/>
          <p:nvPr>
            <p:ph type="title"/>
          </p:nvPr>
        </p:nvSpPr>
        <p:spPr>
          <a:xfrm>
            <a:off x="812800" y="1127720"/>
            <a:ext cx="10566400" cy="44703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F1EEF7"/>
              </a:buClr>
              <a:buSzPts val="3200"/>
              <a:buFont typeface="Montserrat"/>
              <a:buNone/>
              <a:defRPr sz="3200">
                <a:solidFill>
                  <a:srgbClr val="F1EEF7"/>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3"/>
          <p:cNvSpPr txBox="1"/>
          <p:nvPr>
            <p:ph idx="1" type="body"/>
          </p:nvPr>
        </p:nvSpPr>
        <p:spPr>
          <a:xfrm>
            <a:off x="812800" y="1879550"/>
            <a:ext cx="10566400" cy="416565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F1EEF7"/>
              </a:buClr>
              <a:buSzPts val="1600"/>
              <a:buNone/>
              <a:defRPr sz="1600">
                <a:solidFill>
                  <a:srgbClr val="F1EEF7"/>
                </a:solidFill>
                <a:latin typeface="Montserrat"/>
                <a:ea typeface="Montserrat"/>
                <a:cs typeface="Montserrat"/>
                <a:sym typeface="Montserrat"/>
              </a:defRPr>
            </a:lvl1pPr>
            <a:lvl2pPr indent="-342900" lvl="1" marL="914400" algn="l">
              <a:spcBef>
                <a:spcPts val="360"/>
              </a:spcBef>
              <a:spcAft>
                <a:spcPts val="0"/>
              </a:spcAft>
              <a:buClr>
                <a:schemeClr val="lt1"/>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background 2">
  <p:cSld name="Slide background 2">
    <p:bg>
      <p:bgPr>
        <a:blipFill>
          <a:blip r:embed="rId2">
            <a:alphaModFix/>
          </a:blip>
          <a:stretch>
            <a:fillRect/>
          </a:stretch>
        </a:blipFill>
      </p:bgPr>
    </p:bg>
    <p:spTree>
      <p:nvGrpSpPr>
        <p:cNvPr id="18" name="Shape 18"/>
        <p:cNvGrpSpPr/>
        <p:nvPr/>
      </p:nvGrpSpPr>
      <p:grpSpPr>
        <a:xfrm>
          <a:off x="0" y="0"/>
          <a:ext cx="0" cy="0"/>
          <a:chOff x="0" y="0"/>
          <a:chExt cx="0" cy="0"/>
        </a:xfrm>
      </p:grpSpPr>
      <p:sp>
        <p:nvSpPr>
          <p:cNvPr id="19" name="Google Shape;19;p34"/>
          <p:cNvSpPr txBox="1"/>
          <p:nvPr>
            <p:ph type="title"/>
          </p:nvPr>
        </p:nvSpPr>
        <p:spPr>
          <a:xfrm>
            <a:off x="812800" y="1127720"/>
            <a:ext cx="10566400" cy="44703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F1EEF7"/>
              </a:buClr>
              <a:buSzPts val="3200"/>
              <a:buFont typeface="Montserrat"/>
              <a:buNone/>
              <a:defRPr sz="3200">
                <a:solidFill>
                  <a:srgbClr val="F1EEF7"/>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4"/>
          <p:cNvSpPr txBox="1"/>
          <p:nvPr>
            <p:ph idx="1" type="body"/>
          </p:nvPr>
        </p:nvSpPr>
        <p:spPr>
          <a:xfrm>
            <a:off x="812800" y="1879550"/>
            <a:ext cx="10566400" cy="416565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F1EEF7"/>
              </a:buClr>
              <a:buSzPts val="1600"/>
              <a:buNone/>
              <a:defRPr sz="1600">
                <a:solidFill>
                  <a:srgbClr val="F1EEF7"/>
                </a:solidFill>
                <a:latin typeface="Montserrat"/>
                <a:ea typeface="Montserrat"/>
                <a:cs typeface="Montserrat"/>
                <a:sym typeface="Montserrat"/>
              </a:defRPr>
            </a:lvl1pPr>
            <a:lvl2pPr indent="-342900" lvl="1" marL="914400" algn="l">
              <a:spcBef>
                <a:spcPts val="360"/>
              </a:spcBef>
              <a:spcAft>
                <a:spcPts val="0"/>
              </a:spcAft>
              <a:buClr>
                <a:schemeClr val="lt1"/>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dk1"/>
        </a:solidFill>
      </p:bgPr>
    </p:bg>
    <p:spTree>
      <p:nvGrpSpPr>
        <p:cNvPr id="21" name="Shape 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812800" y="1127720"/>
            <a:ext cx="10566400" cy="44703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F1EEF7"/>
              </a:buClr>
              <a:buSzPts val="3200"/>
              <a:buFont typeface="Montserrat"/>
              <a:buNone/>
              <a:defRPr b="0" i="0" sz="3200" u="none" cap="none" strike="noStrike">
                <a:solidFill>
                  <a:srgbClr val="F1EEF7"/>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1"/>
          <p:cNvSpPr txBox="1"/>
          <p:nvPr>
            <p:ph idx="1" type="body"/>
          </p:nvPr>
        </p:nvSpPr>
        <p:spPr>
          <a:xfrm>
            <a:off x="812800" y="1879550"/>
            <a:ext cx="10566400" cy="416565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F1EEF7"/>
              </a:buClr>
              <a:buSzPts val="1600"/>
              <a:buFont typeface="Arial"/>
              <a:buNone/>
              <a:defRPr b="0" i="0" sz="1600" u="none" cap="none" strike="noStrike">
                <a:solidFill>
                  <a:srgbClr val="F1EEF7"/>
                </a:solidFill>
                <a:latin typeface="Montserrat"/>
                <a:ea typeface="Montserrat"/>
                <a:cs typeface="Montserrat"/>
                <a:sym typeface="Montserrat"/>
              </a:defRPr>
            </a:lvl1pPr>
            <a:lvl2pPr indent="-406400" lvl="1" marL="914400" marR="0" rtl="0" algn="l">
              <a:spcBef>
                <a:spcPts val="560"/>
              </a:spcBef>
              <a:spcAft>
                <a:spcPts val="0"/>
              </a:spcAft>
              <a:buClr>
                <a:schemeClr val="lt1"/>
              </a:buClr>
              <a:buSzPts val="2800"/>
              <a:buFont typeface="Arial"/>
              <a:buChar char="–"/>
              <a:defRPr b="0" i="0" sz="2800" u="none" cap="none" strike="noStrike">
                <a:solidFill>
                  <a:schemeClr val="lt1"/>
                </a:solidFill>
                <a:latin typeface="Montserrat"/>
                <a:ea typeface="Montserrat"/>
                <a:cs typeface="Montserrat"/>
                <a:sym typeface="Montserrat"/>
              </a:defRPr>
            </a:lvl2pPr>
            <a:lvl3pPr indent="-381000" lvl="2" marL="1371600" marR="0" rtl="0" algn="l">
              <a:spcBef>
                <a:spcPts val="480"/>
              </a:spcBef>
              <a:spcAft>
                <a:spcPts val="0"/>
              </a:spcAft>
              <a:buClr>
                <a:schemeClr val="lt1"/>
              </a:buClr>
              <a:buSzPts val="2400"/>
              <a:buFont typeface="Arial"/>
              <a:buChar char="•"/>
              <a:defRPr b="0" i="0" sz="2400" u="none" cap="none" strike="noStrike">
                <a:solidFill>
                  <a:schemeClr val="lt1"/>
                </a:solidFill>
                <a:latin typeface="Montserrat"/>
                <a:ea typeface="Montserrat"/>
                <a:cs typeface="Montserrat"/>
                <a:sym typeface="Montserrat"/>
              </a:defRPr>
            </a:lvl3pPr>
            <a:lvl4pPr indent="-355600" lvl="3" marL="1828800" marR="0" rtl="0" algn="l">
              <a:spcBef>
                <a:spcPts val="400"/>
              </a:spcBef>
              <a:spcAft>
                <a:spcPts val="0"/>
              </a:spcAft>
              <a:buClr>
                <a:schemeClr val="lt1"/>
              </a:buClr>
              <a:buSzPts val="2000"/>
              <a:buFont typeface="Arial"/>
              <a:buChar char="–"/>
              <a:defRPr b="0" i="0" sz="2000" u="none" cap="none" strike="noStrike">
                <a:solidFill>
                  <a:schemeClr val="lt1"/>
                </a:solidFill>
                <a:latin typeface="Montserrat"/>
                <a:ea typeface="Montserrat"/>
                <a:cs typeface="Montserrat"/>
                <a:sym typeface="Montserrat"/>
              </a:defRPr>
            </a:lvl4pPr>
            <a:lvl5pPr indent="-355600" lvl="4" marL="2286000" marR="0" rtl="0" algn="l">
              <a:spcBef>
                <a:spcPts val="400"/>
              </a:spcBef>
              <a:spcAft>
                <a:spcPts val="0"/>
              </a:spcAft>
              <a:buClr>
                <a:schemeClr val="lt1"/>
              </a:buClr>
              <a:buSzPts val="2000"/>
              <a:buFont typeface="Arial"/>
              <a:buChar char="»"/>
              <a:defRPr b="0" i="0" sz="2000" u="none" cap="none" strike="noStrike">
                <a:solidFill>
                  <a:schemeClr val="lt1"/>
                </a:solidFill>
                <a:latin typeface="Montserrat"/>
                <a:ea typeface="Montserrat"/>
                <a:cs typeface="Montserrat"/>
                <a:sym typeface="Montserrat"/>
              </a:defRPr>
            </a:lvl5pPr>
            <a:lvl6pPr indent="-355600" lvl="5" marL="2743200" marR="0" rtl="0" algn="l">
              <a:spcBef>
                <a:spcPts val="400"/>
              </a:spcBef>
              <a:spcAft>
                <a:spcPts val="0"/>
              </a:spcAft>
              <a:buClr>
                <a:schemeClr val="lt1"/>
              </a:buClr>
              <a:buSzPts val="2000"/>
              <a:buFont typeface="Arial"/>
              <a:buChar char="•"/>
              <a:defRPr b="0" i="0" sz="2000" u="none" cap="none" strike="noStrike">
                <a:solidFill>
                  <a:schemeClr val="lt1"/>
                </a:solidFill>
                <a:latin typeface="Montserrat"/>
                <a:ea typeface="Montserrat"/>
                <a:cs typeface="Montserrat"/>
                <a:sym typeface="Montserrat"/>
              </a:defRPr>
            </a:lvl6pPr>
            <a:lvl7pPr indent="-355600" lvl="6" marL="3200400" marR="0" rtl="0" algn="l">
              <a:spcBef>
                <a:spcPts val="400"/>
              </a:spcBef>
              <a:spcAft>
                <a:spcPts val="0"/>
              </a:spcAft>
              <a:buClr>
                <a:schemeClr val="lt1"/>
              </a:buClr>
              <a:buSzPts val="2000"/>
              <a:buFont typeface="Arial"/>
              <a:buChar char="•"/>
              <a:defRPr b="0" i="0" sz="2000" u="none" cap="none" strike="noStrike">
                <a:solidFill>
                  <a:schemeClr val="lt1"/>
                </a:solidFill>
                <a:latin typeface="Montserrat"/>
                <a:ea typeface="Montserrat"/>
                <a:cs typeface="Montserrat"/>
                <a:sym typeface="Montserrat"/>
              </a:defRPr>
            </a:lvl7pPr>
            <a:lvl8pPr indent="-355600" lvl="7" marL="3657600" marR="0" rtl="0" algn="l">
              <a:spcBef>
                <a:spcPts val="400"/>
              </a:spcBef>
              <a:spcAft>
                <a:spcPts val="0"/>
              </a:spcAft>
              <a:buClr>
                <a:schemeClr val="lt1"/>
              </a:buClr>
              <a:buSzPts val="2000"/>
              <a:buFont typeface="Arial"/>
              <a:buChar char="•"/>
              <a:defRPr b="0" i="0" sz="2000" u="none" cap="none" strike="noStrike">
                <a:solidFill>
                  <a:schemeClr val="lt1"/>
                </a:solidFill>
                <a:latin typeface="Montserrat"/>
                <a:ea typeface="Montserrat"/>
                <a:cs typeface="Montserrat"/>
                <a:sym typeface="Montserrat"/>
              </a:defRPr>
            </a:lvl8pPr>
            <a:lvl9pPr indent="-355600" lvl="8" marL="4114800" marR="0" rtl="0" algn="l">
              <a:spcBef>
                <a:spcPts val="400"/>
              </a:spcBef>
              <a:spcAft>
                <a:spcPts val="0"/>
              </a:spcAft>
              <a:buClr>
                <a:schemeClr val="lt1"/>
              </a:buClr>
              <a:buSzPts val="2000"/>
              <a:buFont typeface="Arial"/>
              <a:buChar char="•"/>
              <a:defRPr b="0" i="0" sz="2000" u="none" cap="none" strike="noStrike">
                <a:solidFill>
                  <a:schemeClr val="lt1"/>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jpg"/><Relationship Id="rId4" Type="http://schemas.openxmlformats.org/officeDocument/2006/relationships/image" Target="../media/image10.png"/><Relationship Id="rId9"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12.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0.png"/><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7.png"/><Relationship Id="rId4" Type="http://schemas.openxmlformats.org/officeDocument/2006/relationships/image" Target="../media/image26.png"/><Relationship Id="rId5" Type="http://schemas.openxmlformats.org/officeDocument/2006/relationships/image" Target="../media/image34.png"/><Relationship Id="rId6"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6.png"/><Relationship Id="rId4" Type="http://schemas.openxmlformats.org/officeDocument/2006/relationships/image" Target="../media/image35.png"/><Relationship Id="rId5" Type="http://schemas.openxmlformats.org/officeDocument/2006/relationships/image" Target="../media/image33.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1"/>
          <p:cNvSpPr/>
          <p:nvPr/>
        </p:nvSpPr>
        <p:spPr>
          <a:xfrm>
            <a:off x="812800" y="134243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JetBrains Mono"/>
              <a:buNone/>
            </a:pPr>
            <a:r>
              <a:rPr b="0" i="0" lang="en-US" sz="1200" u="none" cap="none" strike="noStrike">
                <a:solidFill>
                  <a:srgbClr val="F59E42"/>
                </a:solidFill>
                <a:latin typeface="JetBrains Mono"/>
                <a:ea typeface="JetBrains Mono"/>
                <a:cs typeface="JetBrains Mono"/>
                <a:sym typeface="JetBrains Mono"/>
              </a:rPr>
              <a:t>$ ./hunt --hypothesis clickfix &amp;&amp; ./write --report</a:t>
            </a:r>
            <a:endParaRPr b="0" i="0" sz="1200" u="none" cap="none" strike="noStrike">
              <a:solidFill>
                <a:schemeClr val="lt1"/>
              </a:solidFill>
              <a:latin typeface="Montserrat"/>
              <a:ea typeface="Montserrat"/>
              <a:cs typeface="Montserrat"/>
              <a:sym typeface="Montserrat"/>
            </a:endParaRPr>
          </a:p>
        </p:txBody>
      </p:sp>
      <p:sp>
        <p:nvSpPr>
          <p:cNvPr id="28" name="Google Shape;28;p1"/>
          <p:cNvSpPr txBox="1"/>
          <p:nvPr>
            <p:ph type="title"/>
          </p:nvPr>
        </p:nvSpPr>
        <p:spPr>
          <a:xfrm>
            <a:off x="812800" y="1758950"/>
            <a:ext cx="6802120" cy="23114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F1EEF7"/>
              </a:buClr>
              <a:buSzPts val="6000"/>
              <a:buFont typeface="Montserrat"/>
              <a:buNone/>
            </a:pPr>
            <a:r>
              <a:rPr b="1" i="0" lang="en-US" sz="6000">
                <a:solidFill>
                  <a:srgbClr val="F1EEF7"/>
                </a:solidFill>
                <a:latin typeface="Montserrat"/>
                <a:ea typeface="Montserrat"/>
                <a:cs typeface="Montserrat"/>
                <a:sym typeface="Montserrat"/>
              </a:rPr>
              <a:t>WRITING THE</a:t>
            </a:r>
            <a:endParaRPr sz="6000"/>
          </a:p>
          <a:p>
            <a:pPr indent="0" lvl="0" marL="0" rtl="0" algn="l">
              <a:lnSpc>
                <a:spcPct val="100000"/>
              </a:lnSpc>
              <a:spcBef>
                <a:spcPts val="0"/>
              </a:spcBef>
              <a:spcAft>
                <a:spcPts val="0"/>
              </a:spcAft>
              <a:buClr>
                <a:srgbClr val="F1EEF7"/>
              </a:buClr>
              <a:buSzPts val="6000"/>
              <a:buFont typeface="Montserrat"/>
              <a:buNone/>
            </a:pPr>
            <a:r>
              <a:rPr b="1" i="0" lang="en-US" sz="6000">
                <a:solidFill>
                  <a:srgbClr val="F1EEF7"/>
                </a:solidFill>
                <a:latin typeface="Montserrat"/>
                <a:ea typeface="Montserrat"/>
                <a:cs typeface="Montserrat"/>
                <a:sym typeface="Montserrat"/>
              </a:rPr>
              <a:t>INCIDENT</a:t>
            </a:r>
            <a:endParaRPr sz="6000"/>
          </a:p>
          <a:p>
            <a:pPr indent="0" lvl="0" marL="0" rtl="0" algn="l">
              <a:lnSpc>
                <a:spcPct val="100000"/>
              </a:lnSpc>
              <a:spcBef>
                <a:spcPts val="0"/>
              </a:spcBef>
              <a:spcAft>
                <a:spcPts val="0"/>
              </a:spcAft>
              <a:buClr>
                <a:srgbClr val="F1EEF7"/>
              </a:buClr>
              <a:buSzPts val="6000"/>
              <a:buFont typeface="Montserrat"/>
              <a:buNone/>
            </a:pPr>
            <a:r>
              <a:rPr b="1" i="0" lang="en-US" sz="6000">
                <a:solidFill>
                  <a:srgbClr val="F1EEF7"/>
                </a:solidFill>
                <a:latin typeface="Montserrat"/>
                <a:ea typeface="Montserrat"/>
                <a:cs typeface="Montserrat"/>
                <a:sym typeface="Montserrat"/>
              </a:rPr>
              <a:t>STORY</a:t>
            </a:r>
            <a:endParaRPr sz="6000"/>
          </a:p>
        </p:txBody>
      </p:sp>
      <p:sp>
        <p:nvSpPr>
          <p:cNvPr id="29" name="Google Shape;29;p1"/>
          <p:cNvSpPr/>
          <p:nvPr/>
        </p:nvSpPr>
        <p:spPr>
          <a:xfrm>
            <a:off x="812800" y="4984750"/>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David Pérez</a:t>
            </a:r>
            <a:endParaRPr b="0" i="0" sz="1500" u="none" cap="none" strike="noStrike">
              <a:solidFill>
                <a:schemeClr val="lt1"/>
              </a:solidFill>
              <a:latin typeface="Montserrat"/>
              <a:ea typeface="Montserrat"/>
              <a:cs typeface="Montserrat"/>
              <a:sym typeface="Montserrat"/>
            </a:endParaRPr>
          </a:p>
        </p:txBody>
      </p:sp>
      <p:sp>
        <p:nvSpPr>
          <p:cNvPr id="30" name="Google Shape;30;p1"/>
          <p:cNvSpPr/>
          <p:nvPr/>
        </p:nvSpPr>
        <p:spPr>
          <a:xfrm>
            <a:off x="812800" y="530225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Threat Intelligence &amp; Threat Hunting</a:t>
            </a:r>
            <a:endParaRPr b="0" i="0" sz="1200" u="none" cap="none" strike="noStrike">
              <a:solidFill>
                <a:schemeClr val="lt1"/>
              </a:solidFill>
              <a:latin typeface="Montserrat"/>
              <a:ea typeface="Montserrat"/>
              <a:cs typeface="Montserrat"/>
              <a:sym typeface="Montserrat"/>
            </a:endParaRPr>
          </a:p>
        </p:txBody>
      </p:sp>
      <p:sp>
        <p:nvSpPr>
          <p:cNvPr id="31" name="Google Shape;31;p1"/>
          <p:cNvSpPr/>
          <p:nvPr/>
        </p:nvSpPr>
        <p:spPr>
          <a:xfrm>
            <a:off x="812800" y="6238280"/>
            <a:ext cx="719455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DEATHCON 2026 · WORKSHOP · NOVEMBER 13–14</a:t>
            </a:r>
            <a:endParaRPr b="0" i="0" sz="1200" u="none" cap="none" strike="noStrike">
              <a:solidFill>
                <a:schemeClr val="lt1"/>
              </a:solidFill>
              <a:latin typeface="Montserrat"/>
              <a:ea typeface="Montserrat"/>
              <a:cs typeface="Montserrat"/>
              <a:sym typeface="Montserrat"/>
            </a:endParaRPr>
          </a:p>
        </p:txBody>
      </p:sp>
      <p:pic>
        <p:nvPicPr>
          <p:cNvPr descr="DEATHCon 2026 logo" id="32" name="Google Shape;32;p1"/>
          <p:cNvPicPr preferRelativeResize="0"/>
          <p:nvPr/>
        </p:nvPicPr>
        <p:blipFill rotWithShape="1">
          <a:blip r:embed="rId3">
            <a:alphaModFix/>
          </a:blip>
          <a:srcRect b="0" l="0" r="0" t="0"/>
          <a:stretch/>
        </p:blipFill>
        <p:spPr>
          <a:xfrm>
            <a:off x="7823200" y="1651000"/>
            <a:ext cx="3556000" cy="3556000"/>
          </a:xfrm>
          <a:prstGeom prst="roundRect">
            <a:avLst>
              <a:gd fmla="val 45714"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37" name="Shape 37"/>
        <p:cNvGrpSpPr/>
        <p:nvPr/>
      </p:nvGrpSpPr>
      <p:grpSpPr>
        <a:xfrm>
          <a:off x="0" y="0"/>
          <a:ext cx="0" cy="0"/>
          <a:chOff x="0" y="0"/>
          <a:chExt cx="0" cy="0"/>
        </a:xfrm>
      </p:grpSpPr>
      <p:sp>
        <p:nvSpPr>
          <p:cNvPr id="38" name="Google Shape;38;p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OPENING</a:t>
            </a:r>
            <a:endParaRPr b="0" i="0" sz="1200" u="none" cap="none" strike="noStrike">
              <a:solidFill>
                <a:schemeClr val="lt1"/>
              </a:solidFill>
              <a:latin typeface="Montserrat"/>
              <a:ea typeface="Montserrat"/>
              <a:cs typeface="Montserrat"/>
              <a:sym typeface="Montserrat"/>
            </a:endParaRPr>
          </a:p>
        </p:txBody>
      </p:sp>
      <p:sp>
        <p:nvSpPr>
          <p:cNvPr id="39" name="Google Shape;39;p2"/>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The workshop in one hour</a:t>
            </a:r>
            <a:endParaRPr sz="3200"/>
          </a:p>
        </p:txBody>
      </p:sp>
      <p:cxnSp>
        <p:nvCxnSpPr>
          <p:cNvPr id="40" name="Google Shape;40;p2"/>
          <p:cNvCxnSpPr/>
          <p:nvPr/>
        </p:nvCxnSpPr>
        <p:spPr>
          <a:xfrm>
            <a:off x="812800" y="1882725"/>
            <a:ext cx="10566400" cy="0"/>
          </a:xfrm>
          <a:prstGeom prst="straightConnector1">
            <a:avLst/>
          </a:prstGeom>
          <a:noFill/>
          <a:ln cap="flat" cmpd="sng" w="9525">
            <a:solidFill>
              <a:srgbClr val="2D2740"/>
            </a:solidFill>
            <a:prstDash val="solid"/>
            <a:round/>
            <a:headEnd len="sm" w="sm" type="none"/>
            <a:tailEnd len="sm" w="sm" type="none"/>
          </a:ln>
        </p:spPr>
      </p:cxnSp>
      <p:sp>
        <p:nvSpPr>
          <p:cNvPr id="41" name="Google Shape;41;p2"/>
          <p:cNvSpPr/>
          <p:nvPr/>
        </p:nvSpPr>
        <p:spPr>
          <a:xfrm>
            <a:off x="812800" y="1974800"/>
            <a:ext cx="5080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01</a:t>
            </a:r>
            <a:endParaRPr b="0" i="0" sz="1500" u="none" cap="none" strike="noStrike">
              <a:solidFill>
                <a:schemeClr val="lt1"/>
              </a:solidFill>
              <a:latin typeface="Montserrat"/>
              <a:ea typeface="Montserrat"/>
              <a:cs typeface="Montserrat"/>
              <a:sym typeface="Montserrat"/>
            </a:endParaRPr>
          </a:p>
        </p:txBody>
      </p:sp>
      <p:sp>
        <p:nvSpPr>
          <p:cNvPr id="42" name="Google Shape;42;p2"/>
          <p:cNvSpPr/>
          <p:nvPr/>
        </p:nvSpPr>
        <p:spPr>
          <a:xfrm>
            <a:off x="1473200" y="1974800"/>
            <a:ext cx="954913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Opening</a:t>
            </a:r>
            <a:endParaRPr b="0" i="0" sz="1500" u="none" cap="none" strike="noStrike">
              <a:solidFill>
                <a:schemeClr val="lt1"/>
              </a:solidFill>
              <a:latin typeface="Montserrat"/>
              <a:ea typeface="Montserrat"/>
              <a:cs typeface="Montserrat"/>
              <a:sym typeface="Montserrat"/>
            </a:endParaRPr>
          </a:p>
        </p:txBody>
      </p:sp>
      <p:sp>
        <p:nvSpPr>
          <p:cNvPr id="43" name="Google Shape;43;p2"/>
          <p:cNvSpPr/>
          <p:nvPr/>
        </p:nvSpPr>
        <p:spPr>
          <a:xfrm>
            <a:off x="10947400" y="2001490"/>
            <a:ext cx="4826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3 min</a:t>
            </a:r>
            <a:endParaRPr b="0" i="0" sz="1200" u="none" cap="none" strike="noStrike">
              <a:solidFill>
                <a:schemeClr val="lt1"/>
              </a:solidFill>
              <a:latin typeface="Montserrat"/>
              <a:ea typeface="Montserrat"/>
              <a:cs typeface="Montserrat"/>
              <a:sym typeface="Montserrat"/>
            </a:endParaRPr>
          </a:p>
        </p:txBody>
      </p:sp>
      <p:cxnSp>
        <p:nvCxnSpPr>
          <p:cNvPr id="44" name="Google Shape;44;p2"/>
          <p:cNvCxnSpPr/>
          <p:nvPr/>
        </p:nvCxnSpPr>
        <p:spPr>
          <a:xfrm>
            <a:off x="812800" y="2333575"/>
            <a:ext cx="10566400" cy="0"/>
          </a:xfrm>
          <a:prstGeom prst="straightConnector1">
            <a:avLst/>
          </a:prstGeom>
          <a:noFill/>
          <a:ln cap="flat" cmpd="sng" w="9525">
            <a:solidFill>
              <a:srgbClr val="2D2740"/>
            </a:solidFill>
            <a:prstDash val="solid"/>
            <a:round/>
            <a:headEnd len="sm" w="sm" type="none"/>
            <a:tailEnd len="sm" w="sm" type="none"/>
          </a:ln>
        </p:spPr>
      </p:cxnSp>
      <p:sp>
        <p:nvSpPr>
          <p:cNvPr id="45" name="Google Shape;45;p2"/>
          <p:cNvSpPr/>
          <p:nvPr/>
        </p:nvSpPr>
        <p:spPr>
          <a:xfrm>
            <a:off x="812800" y="2425650"/>
            <a:ext cx="5080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02</a:t>
            </a:r>
            <a:endParaRPr b="0" i="0" sz="1500" u="none" cap="none" strike="noStrike">
              <a:solidFill>
                <a:schemeClr val="lt1"/>
              </a:solidFill>
              <a:latin typeface="Montserrat"/>
              <a:ea typeface="Montserrat"/>
              <a:cs typeface="Montserrat"/>
              <a:sym typeface="Montserrat"/>
            </a:endParaRPr>
          </a:p>
        </p:txBody>
      </p:sp>
      <p:sp>
        <p:nvSpPr>
          <p:cNvPr id="46" name="Google Shape;46;p2"/>
          <p:cNvSpPr/>
          <p:nvPr/>
        </p:nvSpPr>
        <p:spPr>
          <a:xfrm>
            <a:off x="1473200" y="2425650"/>
            <a:ext cx="9548926"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Why the report matters</a:t>
            </a:r>
            <a:endParaRPr b="0" i="0" sz="1500" u="none" cap="none" strike="noStrike">
              <a:solidFill>
                <a:schemeClr val="lt1"/>
              </a:solidFill>
              <a:latin typeface="Montserrat"/>
              <a:ea typeface="Montserrat"/>
              <a:cs typeface="Montserrat"/>
              <a:sym typeface="Montserrat"/>
            </a:endParaRPr>
          </a:p>
        </p:txBody>
      </p:sp>
      <p:sp>
        <p:nvSpPr>
          <p:cNvPr id="47" name="Google Shape;47;p2"/>
          <p:cNvSpPr/>
          <p:nvPr/>
        </p:nvSpPr>
        <p:spPr>
          <a:xfrm>
            <a:off x="10947202" y="2452340"/>
            <a:ext cx="48279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5 min</a:t>
            </a:r>
            <a:endParaRPr b="0" i="0" sz="1200" u="none" cap="none" strike="noStrike">
              <a:solidFill>
                <a:schemeClr val="lt1"/>
              </a:solidFill>
              <a:latin typeface="Montserrat"/>
              <a:ea typeface="Montserrat"/>
              <a:cs typeface="Montserrat"/>
              <a:sym typeface="Montserrat"/>
            </a:endParaRPr>
          </a:p>
        </p:txBody>
      </p:sp>
      <p:cxnSp>
        <p:nvCxnSpPr>
          <p:cNvPr id="48" name="Google Shape;48;p2"/>
          <p:cNvCxnSpPr/>
          <p:nvPr/>
        </p:nvCxnSpPr>
        <p:spPr>
          <a:xfrm>
            <a:off x="812800" y="2784425"/>
            <a:ext cx="10566400" cy="0"/>
          </a:xfrm>
          <a:prstGeom prst="straightConnector1">
            <a:avLst/>
          </a:prstGeom>
          <a:noFill/>
          <a:ln cap="flat" cmpd="sng" w="9525">
            <a:solidFill>
              <a:srgbClr val="2D2740"/>
            </a:solidFill>
            <a:prstDash val="solid"/>
            <a:round/>
            <a:headEnd len="sm" w="sm" type="none"/>
            <a:tailEnd len="sm" w="sm" type="none"/>
          </a:ln>
        </p:spPr>
      </p:cxnSp>
      <p:sp>
        <p:nvSpPr>
          <p:cNvPr id="49" name="Google Shape;49;p2"/>
          <p:cNvSpPr/>
          <p:nvPr/>
        </p:nvSpPr>
        <p:spPr>
          <a:xfrm>
            <a:off x="812800" y="2876500"/>
            <a:ext cx="5080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03</a:t>
            </a:r>
            <a:endParaRPr b="0" i="0" sz="1500" u="none" cap="none" strike="noStrike">
              <a:solidFill>
                <a:schemeClr val="lt1"/>
              </a:solidFill>
              <a:latin typeface="Montserrat"/>
              <a:ea typeface="Montserrat"/>
              <a:cs typeface="Montserrat"/>
              <a:sym typeface="Montserrat"/>
            </a:endParaRPr>
          </a:p>
        </p:txBody>
      </p:sp>
      <p:sp>
        <p:nvSpPr>
          <p:cNvPr id="50" name="Google Shape;50;p2"/>
          <p:cNvSpPr/>
          <p:nvPr/>
        </p:nvSpPr>
        <p:spPr>
          <a:xfrm>
            <a:off x="1473200" y="2876500"/>
            <a:ext cx="9477133"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Threat hunting in ten minutes</a:t>
            </a:r>
            <a:endParaRPr b="0" i="0" sz="1500" u="none" cap="none" strike="noStrike">
              <a:solidFill>
                <a:schemeClr val="lt1"/>
              </a:solidFill>
              <a:latin typeface="Montserrat"/>
              <a:ea typeface="Montserrat"/>
              <a:cs typeface="Montserrat"/>
              <a:sym typeface="Montserrat"/>
            </a:endParaRPr>
          </a:p>
        </p:txBody>
      </p:sp>
      <p:sp>
        <p:nvSpPr>
          <p:cNvPr id="51" name="Google Shape;51;p2"/>
          <p:cNvSpPr/>
          <p:nvPr/>
        </p:nvSpPr>
        <p:spPr>
          <a:xfrm>
            <a:off x="10877500" y="2903190"/>
            <a:ext cx="552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10 min</a:t>
            </a:r>
            <a:endParaRPr b="0" i="0" sz="1200" u="none" cap="none" strike="noStrike">
              <a:solidFill>
                <a:schemeClr val="lt1"/>
              </a:solidFill>
              <a:latin typeface="Montserrat"/>
              <a:ea typeface="Montserrat"/>
              <a:cs typeface="Montserrat"/>
              <a:sym typeface="Montserrat"/>
            </a:endParaRPr>
          </a:p>
        </p:txBody>
      </p:sp>
      <p:cxnSp>
        <p:nvCxnSpPr>
          <p:cNvPr id="52" name="Google Shape;52;p2"/>
          <p:cNvCxnSpPr/>
          <p:nvPr/>
        </p:nvCxnSpPr>
        <p:spPr>
          <a:xfrm>
            <a:off x="812800" y="3235275"/>
            <a:ext cx="10566400" cy="0"/>
          </a:xfrm>
          <a:prstGeom prst="straightConnector1">
            <a:avLst/>
          </a:prstGeom>
          <a:noFill/>
          <a:ln cap="flat" cmpd="sng" w="9525">
            <a:solidFill>
              <a:srgbClr val="2D2740"/>
            </a:solidFill>
            <a:prstDash val="solid"/>
            <a:round/>
            <a:headEnd len="sm" w="sm" type="none"/>
            <a:tailEnd len="sm" w="sm" type="none"/>
          </a:ln>
        </p:spPr>
      </p:cxnSp>
      <p:sp>
        <p:nvSpPr>
          <p:cNvPr id="53" name="Google Shape;53;p2"/>
          <p:cNvSpPr/>
          <p:nvPr/>
        </p:nvSpPr>
        <p:spPr>
          <a:xfrm>
            <a:off x="812800" y="3327350"/>
            <a:ext cx="5080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04</a:t>
            </a:r>
            <a:endParaRPr b="0" i="0" sz="1500" u="none" cap="none" strike="noStrike">
              <a:solidFill>
                <a:schemeClr val="lt1"/>
              </a:solidFill>
              <a:latin typeface="Montserrat"/>
              <a:ea typeface="Montserrat"/>
              <a:cs typeface="Montserrat"/>
              <a:sym typeface="Montserrat"/>
            </a:endParaRPr>
          </a:p>
        </p:txBody>
      </p:sp>
      <p:sp>
        <p:nvSpPr>
          <p:cNvPr id="54" name="Google Shape;54;p2"/>
          <p:cNvSpPr/>
          <p:nvPr/>
        </p:nvSpPr>
        <p:spPr>
          <a:xfrm>
            <a:off x="1473200" y="3327350"/>
            <a:ext cx="9477133"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The ClickFix case: from the lure to the only alert</a:t>
            </a:r>
            <a:endParaRPr b="0" i="0" sz="1500" u="none" cap="none" strike="noStrike">
              <a:solidFill>
                <a:schemeClr val="lt1"/>
              </a:solidFill>
              <a:latin typeface="Montserrat"/>
              <a:ea typeface="Montserrat"/>
              <a:cs typeface="Montserrat"/>
              <a:sym typeface="Montserrat"/>
            </a:endParaRPr>
          </a:p>
        </p:txBody>
      </p:sp>
      <p:sp>
        <p:nvSpPr>
          <p:cNvPr id="55" name="Google Shape;55;p2"/>
          <p:cNvSpPr/>
          <p:nvPr/>
        </p:nvSpPr>
        <p:spPr>
          <a:xfrm>
            <a:off x="10877500" y="3354040"/>
            <a:ext cx="552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10 min</a:t>
            </a:r>
            <a:endParaRPr b="0" i="0" sz="1200" u="none" cap="none" strike="noStrike">
              <a:solidFill>
                <a:schemeClr val="lt1"/>
              </a:solidFill>
              <a:latin typeface="Montserrat"/>
              <a:ea typeface="Montserrat"/>
              <a:cs typeface="Montserrat"/>
              <a:sym typeface="Montserrat"/>
            </a:endParaRPr>
          </a:p>
        </p:txBody>
      </p:sp>
      <p:cxnSp>
        <p:nvCxnSpPr>
          <p:cNvPr id="56" name="Google Shape;56;p2"/>
          <p:cNvCxnSpPr/>
          <p:nvPr/>
        </p:nvCxnSpPr>
        <p:spPr>
          <a:xfrm>
            <a:off x="812800" y="3686125"/>
            <a:ext cx="10566400" cy="0"/>
          </a:xfrm>
          <a:prstGeom prst="straightConnector1">
            <a:avLst/>
          </a:prstGeom>
          <a:noFill/>
          <a:ln cap="flat" cmpd="sng" w="9525">
            <a:solidFill>
              <a:srgbClr val="2D2740"/>
            </a:solidFill>
            <a:prstDash val="solid"/>
            <a:round/>
            <a:headEnd len="sm" w="sm" type="none"/>
            <a:tailEnd len="sm" w="sm" type="none"/>
          </a:ln>
        </p:spPr>
      </p:cxnSp>
      <p:sp>
        <p:nvSpPr>
          <p:cNvPr id="57" name="Google Shape;57;p2"/>
          <p:cNvSpPr/>
          <p:nvPr/>
        </p:nvSpPr>
        <p:spPr>
          <a:xfrm>
            <a:off x="812800" y="3778200"/>
            <a:ext cx="5080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05</a:t>
            </a:r>
            <a:endParaRPr b="0" i="0" sz="1500" u="none" cap="none" strike="noStrike">
              <a:solidFill>
                <a:schemeClr val="lt1"/>
              </a:solidFill>
              <a:latin typeface="Montserrat"/>
              <a:ea typeface="Montserrat"/>
              <a:cs typeface="Montserrat"/>
              <a:sym typeface="Montserrat"/>
            </a:endParaRPr>
          </a:p>
        </p:txBody>
      </p:sp>
      <p:sp>
        <p:nvSpPr>
          <p:cNvPr id="58" name="Google Shape;58;p2"/>
          <p:cNvSpPr/>
          <p:nvPr/>
        </p:nvSpPr>
        <p:spPr>
          <a:xfrm>
            <a:off x="1473200" y="3778200"/>
            <a:ext cx="9491901"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The hunt in Microsoft Sentinel</a:t>
            </a:r>
            <a:endParaRPr b="0" i="0" sz="1500" u="none" cap="none" strike="noStrike">
              <a:solidFill>
                <a:schemeClr val="lt1"/>
              </a:solidFill>
              <a:latin typeface="Montserrat"/>
              <a:ea typeface="Montserrat"/>
              <a:cs typeface="Montserrat"/>
              <a:sym typeface="Montserrat"/>
            </a:endParaRPr>
          </a:p>
        </p:txBody>
      </p:sp>
      <p:sp>
        <p:nvSpPr>
          <p:cNvPr id="59" name="Google Shape;59;p2"/>
          <p:cNvSpPr/>
          <p:nvPr/>
        </p:nvSpPr>
        <p:spPr>
          <a:xfrm>
            <a:off x="10891838" y="3804890"/>
            <a:ext cx="53816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12 min</a:t>
            </a:r>
            <a:endParaRPr b="0" i="0" sz="1200" u="none" cap="none" strike="noStrike">
              <a:solidFill>
                <a:schemeClr val="lt1"/>
              </a:solidFill>
              <a:latin typeface="Montserrat"/>
              <a:ea typeface="Montserrat"/>
              <a:cs typeface="Montserrat"/>
              <a:sym typeface="Montserrat"/>
            </a:endParaRPr>
          </a:p>
        </p:txBody>
      </p:sp>
      <p:sp>
        <p:nvSpPr>
          <p:cNvPr id="60" name="Google Shape;60;p2"/>
          <p:cNvSpPr/>
          <p:nvPr/>
        </p:nvSpPr>
        <p:spPr>
          <a:xfrm>
            <a:off x="812800" y="4133800"/>
            <a:ext cx="10566400" cy="450850"/>
          </a:xfrm>
          <a:prstGeom prst="rect">
            <a:avLst/>
          </a:prstGeom>
          <a:solidFill>
            <a:srgbClr val="1B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2"/>
          <p:cNvCxnSpPr/>
          <p:nvPr/>
        </p:nvCxnSpPr>
        <p:spPr>
          <a:xfrm>
            <a:off x="812800" y="4136975"/>
            <a:ext cx="10566400" cy="0"/>
          </a:xfrm>
          <a:prstGeom prst="straightConnector1">
            <a:avLst/>
          </a:prstGeom>
          <a:noFill/>
          <a:ln cap="flat" cmpd="sng" w="9525">
            <a:solidFill>
              <a:srgbClr val="2D2740"/>
            </a:solidFill>
            <a:prstDash val="solid"/>
            <a:round/>
            <a:headEnd len="sm" w="sm" type="none"/>
            <a:tailEnd len="sm" w="sm" type="none"/>
          </a:ln>
        </p:spPr>
      </p:cxnSp>
      <p:sp>
        <p:nvSpPr>
          <p:cNvPr id="62" name="Google Shape;62;p2"/>
          <p:cNvSpPr/>
          <p:nvPr/>
        </p:nvSpPr>
        <p:spPr>
          <a:xfrm>
            <a:off x="965200" y="4229050"/>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06</a:t>
            </a:r>
            <a:endParaRPr b="0" i="0" sz="1500" u="none" cap="none" strike="noStrike">
              <a:solidFill>
                <a:schemeClr val="lt1"/>
              </a:solidFill>
              <a:latin typeface="Montserrat"/>
              <a:ea typeface="Montserrat"/>
              <a:cs typeface="Montserrat"/>
              <a:sym typeface="Montserrat"/>
            </a:endParaRPr>
          </a:p>
        </p:txBody>
      </p:sp>
      <p:sp>
        <p:nvSpPr>
          <p:cNvPr id="63" name="Google Shape;63;p2"/>
          <p:cNvSpPr/>
          <p:nvPr/>
        </p:nvSpPr>
        <p:spPr>
          <a:xfrm>
            <a:off x="1473200" y="4229050"/>
            <a:ext cx="7179834"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Writing the story</a:t>
            </a:r>
            <a:endParaRPr b="0" i="0" sz="1500" u="none" cap="none" strike="noStrike">
              <a:solidFill>
                <a:schemeClr val="lt1"/>
              </a:solidFill>
              <a:latin typeface="Montserrat"/>
              <a:ea typeface="Montserrat"/>
              <a:cs typeface="Montserrat"/>
              <a:sym typeface="Montserrat"/>
            </a:endParaRPr>
          </a:p>
        </p:txBody>
      </p:sp>
      <p:sp>
        <p:nvSpPr>
          <p:cNvPr id="64" name="Google Shape;64;p2"/>
          <p:cNvSpPr/>
          <p:nvPr/>
        </p:nvSpPr>
        <p:spPr>
          <a:xfrm>
            <a:off x="8647113" y="4255740"/>
            <a:ext cx="273208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15 min · the heart of the workshop</a:t>
            </a:r>
            <a:endParaRPr b="0" i="0" sz="1200" u="none" cap="none" strike="noStrike">
              <a:solidFill>
                <a:schemeClr val="lt1"/>
              </a:solidFill>
              <a:latin typeface="Montserrat"/>
              <a:ea typeface="Montserrat"/>
              <a:cs typeface="Montserrat"/>
              <a:sym typeface="Montserrat"/>
            </a:endParaRPr>
          </a:p>
        </p:txBody>
      </p:sp>
      <p:cxnSp>
        <p:nvCxnSpPr>
          <p:cNvPr id="65" name="Google Shape;65;p2"/>
          <p:cNvCxnSpPr/>
          <p:nvPr/>
        </p:nvCxnSpPr>
        <p:spPr>
          <a:xfrm>
            <a:off x="812800" y="4587825"/>
            <a:ext cx="10566400" cy="0"/>
          </a:xfrm>
          <a:prstGeom prst="straightConnector1">
            <a:avLst/>
          </a:prstGeom>
          <a:noFill/>
          <a:ln cap="flat" cmpd="sng" w="9525">
            <a:solidFill>
              <a:srgbClr val="2D2740"/>
            </a:solidFill>
            <a:prstDash val="solid"/>
            <a:round/>
            <a:headEnd len="sm" w="sm" type="none"/>
            <a:tailEnd len="sm" w="sm" type="none"/>
          </a:ln>
        </p:spPr>
      </p:cxnSp>
      <p:cxnSp>
        <p:nvCxnSpPr>
          <p:cNvPr id="66" name="Google Shape;66;p2"/>
          <p:cNvCxnSpPr/>
          <p:nvPr/>
        </p:nvCxnSpPr>
        <p:spPr>
          <a:xfrm>
            <a:off x="812800" y="5038675"/>
            <a:ext cx="10566400" cy="0"/>
          </a:xfrm>
          <a:prstGeom prst="straightConnector1">
            <a:avLst/>
          </a:prstGeom>
          <a:noFill/>
          <a:ln cap="flat" cmpd="sng" w="9525">
            <a:solidFill>
              <a:srgbClr val="2D2740"/>
            </a:solidFill>
            <a:prstDash val="solid"/>
            <a:round/>
            <a:headEnd len="sm" w="sm" type="none"/>
            <a:tailEnd len="sm" w="sm" type="none"/>
          </a:ln>
        </p:spPr>
      </p:cxnSp>
      <p:sp>
        <p:nvSpPr>
          <p:cNvPr id="67" name="Google Shape;67;p2"/>
          <p:cNvSpPr/>
          <p:nvPr/>
        </p:nvSpPr>
        <p:spPr>
          <a:xfrm>
            <a:off x="812800" y="4679900"/>
            <a:ext cx="5080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07</a:t>
            </a:r>
            <a:endParaRPr b="0" i="0" sz="1500" u="none" cap="none" strike="noStrike">
              <a:solidFill>
                <a:schemeClr val="lt1"/>
              </a:solidFill>
              <a:latin typeface="Montserrat"/>
              <a:ea typeface="Montserrat"/>
              <a:cs typeface="Montserrat"/>
              <a:sym typeface="Montserrat"/>
            </a:endParaRPr>
          </a:p>
        </p:txBody>
      </p:sp>
      <p:sp>
        <p:nvSpPr>
          <p:cNvPr id="68" name="Google Shape;68;p2"/>
          <p:cNvSpPr/>
          <p:nvPr/>
        </p:nvSpPr>
        <p:spPr>
          <a:xfrm>
            <a:off x="1473200" y="4679900"/>
            <a:ext cx="9548926"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Your turn: the exercise</a:t>
            </a:r>
            <a:endParaRPr b="0" i="0" sz="1500" u="none" cap="none" strike="noStrike">
              <a:solidFill>
                <a:schemeClr val="lt1"/>
              </a:solidFill>
              <a:latin typeface="Montserrat"/>
              <a:ea typeface="Montserrat"/>
              <a:cs typeface="Montserrat"/>
              <a:sym typeface="Montserrat"/>
            </a:endParaRPr>
          </a:p>
        </p:txBody>
      </p:sp>
      <p:sp>
        <p:nvSpPr>
          <p:cNvPr id="69" name="Google Shape;69;p2"/>
          <p:cNvSpPr/>
          <p:nvPr/>
        </p:nvSpPr>
        <p:spPr>
          <a:xfrm>
            <a:off x="10947202" y="4706590"/>
            <a:ext cx="48279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5 min</a:t>
            </a:r>
            <a:endParaRPr b="0" i="0" sz="1200" u="none" cap="none" strike="noStrike">
              <a:solidFill>
                <a:schemeClr val="lt1"/>
              </a:solidFill>
              <a:latin typeface="Montserrat"/>
              <a:ea typeface="Montserrat"/>
              <a:cs typeface="Montserrat"/>
              <a:sym typeface="Montserrat"/>
            </a:endParaRPr>
          </a:p>
        </p:txBody>
      </p:sp>
      <p:sp>
        <p:nvSpPr>
          <p:cNvPr id="70" name="Google Shape;70;p2"/>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71" name="Google Shape;71;p2"/>
          <p:cNvSpPr/>
          <p:nvPr/>
        </p:nvSpPr>
        <p:spPr>
          <a:xfrm>
            <a:off x="11241832" y="6238280"/>
            <a:ext cx="137368"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76" name="Shape 76"/>
        <p:cNvGrpSpPr/>
        <p:nvPr/>
      </p:nvGrpSpPr>
      <p:grpSpPr>
        <a:xfrm>
          <a:off x="0" y="0"/>
          <a:ext cx="0" cy="0"/>
          <a:chOff x="0" y="0"/>
          <a:chExt cx="0" cy="0"/>
        </a:xfrm>
      </p:grpSpPr>
      <p:sp>
        <p:nvSpPr>
          <p:cNvPr id="77" name="Google Shape;77;p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OPENING</a:t>
            </a:r>
            <a:endParaRPr b="0" i="0" sz="1200" u="none" cap="none" strike="noStrike">
              <a:solidFill>
                <a:schemeClr val="lt1"/>
              </a:solidFill>
              <a:latin typeface="Montserrat"/>
              <a:ea typeface="Montserrat"/>
              <a:cs typeface="Montserrat"/>
              <a:sym typeface="Montserrat"/>
            </a:endParaRPr>
          </a:p>
        </p:txBody>
      </p:sp>
      <p:sp>
        <p:nvSpPr>
          <p:cNvPr id="78" name="Google Shape;78;p3"/>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Who am I?</a:t>
            </a:r>
            <a:endParaRPr sz="3200"/>
          </a:p>
        </p:txBody>
      </p:sp>
      <p:pic>
        <p:nvPicPr>
          <p:cNvPr descr="David Pérez (Anakin) with a Darth Vader cosplayer at Black Hat USA 2023" id="79" name="Google Shape;79;p3"/>
          <p:cNvPicPr preferRelativeResize="0"/>
          <p:nvPr/>
        </p:nvPicPr>
        <p:blipFill rotWithShape="1">
          <a:blip r:embed="rId3">
            <a:alphaModFix/>
          </a:blip>
          <a:srcRect b="0" l="0" r="0" t="0"/>
          <a:stretch/>
        </p:blipFill>
        <p:spPr>
          <a:xfrm>
            <a:off x="939800" y="1828750"/>
            <a:ext cx="2794000" cy="2794000"/>
          </a:xfrm>
          <a:prstGeom prst="ellipse">
            <a:avLst/>
          </a:prstGeom>
          <a:noFill/>
          <a:ln>
            <a:noFill/>
          </a:ln>
        </p:spPr>
      </p:pic>
      <p:sp>
        <p:nvSpPr>
          <p:cNvPr id="80" name="Google Shape;80;p3"/>
          <p:cNvSpPr/>
          <p:nvPr/>
        </p:nvSpPr>
        <p:spPr>
          <a:xfrm>
            <a:off x="1097841" y="4724350"/>
            <a:ext cx="2477869" cy="29210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David Pérez · Anakin</a:t>
            </a:r>
            <a:endParaRPr b="0" i="0" sz="1500" u="none" cap="none" strike="noStrike">
              <a:solidFill>
                <a:schemeClr val="lt1"/>
              </a:solidFill>
              <a:latin typeface="Montserrat"/>
              <a:ea typeface="Montserrat"/>
              <a:cs typeface="Montserrat"/>
              <a:sym typeface="Montserrat"/>
            </a:endParaRPr>
          </a:p>
        </p:txBody>
      </p:sp>
      <p:sp>
        <p:nvSpPr>
          <p:cNvPr id="81" name="Google Shape;81;p3"/>
          <p:cNvSpPr/>
          <p:nvPr/>
        </p:nvSpPr>
        <p:spPr>
          <a:xfrm>
            <a:off x="767080" y="5092650"/>
            <a:ext cx="3139440" cy="4165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C2C2F4"/>
              </a:buClr>
              <a:buSzPts val="1100"/>
              <a:buFont typeface="Montserrat"/>
              <a:buNone/>
            </a:pPr>
            <a:r>
              <a:rPr b="0" i="0" lang="en-US" sz="1100" u="none" cap="none" strike="noStrike">
                <a:solidFill>
                  <a:srgbClr val="C2C2F4"/>
                </a:solidFill>
                <a:latin typeface="Montserrat"/>
                <a:ea typeface="Montserrat"/>
                <a:cs typeface="Montserrat"/>
                <a:sym typeface="Montserrat"/>
              </a:rPr>
              <a:t>Threat Intelligence &amp; Threat Hunting</a:t>
            </a:r>
            <a:endParaRPr b="0" i="0" sz="1100" u="none" cap="none" strike="noStrike">
              <a:solidFill>
                <a:schemeClr val="lt1"/>
              </a:solidFill>
              <a:latin typeface="Montserrat"/>
              <a:ea typeface="Montserrat"/>
              <a:cs typeface="Montserrat"/>
              <a:sym typeface="Montserrat"/>
            </a:endParaRPr>
          </a:p>
        </p:txBody>
      </p:sp>
      <p:sp>
        <p:nvSpPr>
          <p:cNvPr id="82" name="Google Shape;82;p3"/>
          <p:cNvSpPr/>
          <p:nvPr/>
        </p:nvSpPr>
        <p:spPr>
          <a:xfrm>
            <a:off x="4267200" y="2044700"/>
            <a:ext cx="1574800" cy="2209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100"/>
              <a:buFont typeface="Montserrat"/>
              <a:buNone/>
            </a:pPr>
            <a:r>
              <a:rPr b="1" i="0" lang="en-US" sz="1100" u="none" cap="none" strike="noStrike">
                <a:solidFill>
                  <a:srgbClr val="C2C2F4"/>
                </a:solidFill>
                <a:latin typeface="Montserrat"/>
                <a:ea typeface="Montserrat"/>
                <a:cs typeface="Montserrat"/>
                <a:sym typeface="Montserrat"/>
              </a:rPr>
              <a:t>CAREER</a:t>
            </a:r>
            <a:endParaRPr b="0" i="0" sz="1100" u="none" cap="none" strike="noStrike">
              <a:solidFill>
                <a:schemeClr val="lt1"/>
              </a:solidFill>
              <a:latin typeface="Montserrat"/>
              <a:ea typeface="Montserrat"/>
              <a:cs typeface="Montserrat"/>
              <a:sym typeface="Montserrat"/>
            </a:endParaRPr>
          </a:p>
        </p:txBody>
      </p:sp>
      <p:sp>
        <p:nvSpPr>
          <p:cNvPr id="83" name="Google Shape;83;p3"/>
          <p:cNvSpPr/>
          <p:nvPr/>
        </p:nvSpPr>
        <p:spPr>
          <a:xfrm>
            <a:off x="5791200" y="2006600"/>
            <a:ext cx="5755640" cy="7187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300"/>
              <a:buFont typeface="Montserrat"/>
              <a:buNone/>
            </a:pPr>
            <a:r>
              <a:rPr b="0" i="0" lang="en-US" sz="1300" u="none" cap="none" strike="noStrike">
                <a:solidFill>
                  <a:srgbClr val="F1EEF7"/>
                </a:solidFill>
                <a:latin typeface="Montserrat"/>
                <a:ea typeface="Montserrat"/>
                <a:cs typeface="Montserrat"/>
                <a:sym typeface="Montserrat"/>
              </a:rPr>
              <a:t>SOC Analyst (L1, L2) → Phishing Analyst → Threat Intelligence, Threat Hunter and Incident Response. Today, SOC and IR lead.</a:t>
            </a:r>
            <a:r>
              <a:rPr lang="en-US" sz="1300">
                <a:solidFill>
                  <a:srgbClr val="F1EEF7"/>
                </a:solidFill>
                <a:latin typeface="Montserrat"/>
                <a:ea typeface="Montserrat"/>
                <a:cs typeface="Montserrat"/>
                <a:sym typeface="Montserrat"/>
              </a:rPr>
              <a:t/>
            </a:r>
            <a:endParaRPr b="0" i="0" sz="1300" u="none" cap="none" strike="noStrike">
              <a:solidFill>
                <a:schemeClr val="lt1"/>
              </a:solidFill>
              <a:latin typeface="Montserrat"/>
              <a:ea typeface="Montserrat"/>
              <a:cs typeface="Montserrat"/>
              <a:sym typeface="Montserrat"/>
            </a:endParaRPr>
          </a:p>
        </p:txBody>
      </p:sp>
      <p:sp>
        <p:nvSpPr>
          <p:cNvPr id="84" name="Google Shape;84;p3"/>
          <p:cNvSpPr/>
          <p:nvPr/>
        </p:nvSpPr>
        <p:spPr>
          <a:xfrm>
            <a:off x="4267200" y="2738090"/>
            <a:ext cx="1574800" cy="2209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100"/>
              <a:buFont typeface="Montserrat"/>
              <a:buNone/>
            </a:pPr>
            <a:r>
              <a:rPr b="1" i="0" lang="en-US" sz="1100" u="none" cap="none" strike="noStrike">
                <a:solidFill>
                  <a:srgbClr val="C2C2F4"/>
                </a:solidFill>
                <a:latin typeface="Montserrat"/>
                <a:ea typeface="Montserrat"/>
                <a:cs typeface="Montserrat"/>
                <a:sym typeface="Montserrat"/>
              </a:rPr>
              <a:t>GOVERNMENT</a:t>
            </a:r>
            <a:endParaRPr b="0" i="0" sz="1100" u="none" cap="none" strike="noStrike">
              <a:solidFill>
                <a:schemeClr val="lt1"/>
              </a:solidFill>
              <a:latin typeface="Montserrat"/>
              <a:ea typeface="Montserrat"/>
              <a:cs typeface="Montserrat"/>
              <a:sym typeface="Montserrat"/>
            </a:endParaRPr>
          </a:p>
        </p:txBody>
      </p:sp>
      <p:sp>
        <p:nvSpPr>
          <p:cNvPr id="85" name="Google Shape;85;p3"/>
          <p:cNvSpPr/>
          <p:nvPr/>
        </p:nvSpPr>
        <p:spPr>
          <a:xfrm>
            <a:off x="5791200" y="2699990"/>
            <a:ext cx="5755640" cy="7187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300"/>
              <a:buFont typeface="Montserrat"/>
              <a:buNone/>
            </a:pPr>
            <a:r>
              <a:rPr b="0" i="0" lang="en-US" sz="1300" u="none" cap="none" strike="noStrike">
                <a:solidFill>
                  <a:srgbClr val="F1EEF7"/>
                </a:solidFill>
                <a:latin typeface="Montserrat"/>
                <a:ea typeface="Montserrat"/>
                <a:cs typeface="Montserrat"/>
                <a:sym typeface="Montserrat"/>
              </a:rPr>
              <a:t>Criminal intelligence (Information Collection Area) and Analysis and Counterintelligence Dept., Ministry of Justice of Buenos Aires.</a:t>
            </a:r>
            <a:r>
              <a:rPr lang="en-US" sz="1300">
                <a:solidFill>
                  <a:srgbClr val="F1EEF7"/>
                </a:solidFill>
                <a:latin typeface="Montserrat"/>
                <a:ea typeface="Montserrat"/>
                <a:cs typeface="Montserrat"/>
                <a:sym typeface="Montserrat"/>
              </a:rPr>
              <a:t/>
            </a:r>
            <a:r>
              <a:rPr b="0" i="0" lang="en-US" sz="1300" u="none" cap="none" strike="noStrike">
                <a:solidFill>
                  <a:srgbClr val="F1EEF7"/>
                </a:solidFill>
                <a:latin typeface="Montserrat"/>
                <a:ea typeface="Montserrat"/>
                <a:cs typeface="Montserrat"/>
                <a:sym typeface="Montserrat"/>
              </a:rPr>
              <a:t/>
            </a:r>
            <a:endParaRPr b="0" i="0" sz="1300" u="none" cap="none" strike="noStrike">
              <a:solidFill>
                <a:schemeClr val="lt1"/>
              </a:solidFill>
              <a:latin typeface="Montserrat"/>
              <a:ea typeface="Montserrat"/>
              <a:cs typeface="Montserrat"/>
              <a:sym typeface="Montserrat"/>
            </a:endParaRPr>
          </a:p>
        </p:txBody>
      </p:sp>
      <p:sp>
        <p:nvSpPr>
          <p:cNvPr id="86" name="Google Shape;86;p3"/>
          <p:cNvSpPr/>
          <p:nvPr/>
        </p:nvSpPr>
        <p:spPr>
          <a:xfrm>
            <a:off x="4267200" y="3431480"/>
            <a:ext cx="1574800" cy="2209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100"/>
              <a:buFont typeface="Montserrat"/>
              <a:buNone/>
            </a:pPr>
            <a:r>
              <a:rPr b="1" i="0" lang="en-US" sz="1100" u="none" cap="none" strike="noStrike">
                <a:solidFill>
                  <a:srgbClr val="C2C2F4"/>
                </a:solidFill>
                <a:latin typeface="Montserrat"/>
                <a:ea typeface="Montserrat"/>
                <a:cs typeface="Montserrat"/>
                <a:sym typeface="Montserrat"/>
              </a:rPr>
              <a:t>TOPICS I FOLLOW</a:t>
            </a:r>
            <a:endParaRPr b="0" i="0" sz="1100" u="none" cap="none" strike="noStrike">
              <a:solidFill>
                <a:schemeClr val="lt1"/>
              </a:solidFill>
              <a:latin typeface="Montserrat"/>
              <a:ea typeface="Montserrat"/>
              <a:cs typeface="Montserrat"/>
              <a:sym typeface="Montserrat"/>
            </a:endParaRPr>
          </a:p>
        </p:txBody>
      </p:sp>
      <p:sp>
        <p:nvSpPr>
          <p:cNvPr id="87" name="Google Shape;87;p3"/>
          <p:cNvSpPr/>
          <p:nvPr/>
        </p:nvSpPr>
        <p:spPr>
          <a:xfrm>
            <a:off x="5791200" y="3393380"/>
            <a:ext cx="5755640" cy="4876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300"/>
              <a:buFont typeface="Montserrat"/>
              <a:buNone/>
            </a:pPr>
            <a:r>
              <a:rPr b="0" i="0" lang="en-US" sz="1300" u="none" cap="none" strike="noStrike">
                <a:solidFill>
                  <a:srgbClr val="F1EEF7"/>
                </a:solidFill>
                <a:latin typeface="Montserrat"/>
                <a:ea typeface="Montserrat"/>
                <a:cs typeface="Montserrat"/>
                <a:sym typeface="Montserrat"/>
              </a:rPr>
              <a:t>Threat intelligence, ransomware, the initial access ecosystem and leaks in LATAM.</a:t>
            </a:r>
            <a:endParaRPr b="0" i="0" sz="1300" u="none" cap="none" strike="noStrike">
              <a:solidFill>
                <a:schemeClr val="lt1"/>
              </a:solidFill>
              <a:latin typeface="Montserrat"/>
              <a:ea typeface="Montserrat"/>
              <a:cs typeface="Montserrat"/>
              <a:sym typeface="Montserrat"/>
            </a:endParaRPr>
          </a:p>
        </p:txBody>
      </p:sp>
      <p:sp>
        <p:nvSpPr>
          <p:cNvPr id="88" name="Google Shape;88;p3"/>
          <p:cNvSpPr/>
          <p:nvPr/>
        </p:nvSpPr>
        <p:spPr>
          <a:xfrm>
            <a:off x="4267200" y="3893741"/>
            <a:ext cx="1574800" cy="2209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100"/>
              <a:buFont typeface="Montserrat"/>
              <a:buNone/>
            </a:pPr>
            <a:r>
              <a:rPr b="1" i="0" lang="en-US" sz="1100" u="none" cap="none" strike="noStrike">
                <a:solidFill>
                  <a:srgbClr val="C2C2F4"/>
                </a:solidFill>
                <a:latin typeface="Montserrat"/>
                <a:ea typeface="Montserrat"/>
                <a:cs typeface="Montserrat"/>
                <a:sym typeface="Montserrat"/>
              </a:rPr>
              <a:t>CERTIFICATIONS</a:t>
            </a:r>
            <a:endParaRPr b="0" i="0" sz="1100" u="none" cap="none" strike="noStrike">
              <a:solidFill>
                <a:schemeClr val="lt1"/>
              </a:solidFill>
              <a:latin typeface="Montserrat"/>
              <a:ea typeface="Montserrat"/>
              <a:cs typeface="Montserrat"/>
              <a:sym typeface="Montserrat"/>
            </a:endParaRPr>
          </a:p>
        </p:txBody>
      </p:sp>
      <p:pic>
        <p:nvPicPr>
          <p:cNvPr descr="eCIR" id="89" name="Google Shape;89;p3"/>
          <p:cNvPicPr preferRelativeResize="0"/>
          <p:nvPr/>
        </p:nvPicPr>
        <p:blipFill rotWithShape="1">
          <a:blip r:embed="rId4">
            <a:alphaModFix/>
          </a:blip>
          <a:srcRect b="0" l="0" r="0" t="0"/>
          <a:stretch/>
        </p:blipFill>
        <p:spPr>
          <a:xfrm>
            <a:off x="5791200" y="3855641"/>
            <a:ext cx="533400" cy="533400"/>
          </a:xfrm>
          <a:prstGeom prst="rect">
            <a:avLst/>
          </a:prstGeom>
          <a:noFill/>
          <a:ln>
            <a:noFill/>
          </a:ln>
        </p:spPr>
      </p:pic>
      <p:pic>
        <p:nvPicPr>
          <p:cNvPr descr="eCTHP" id="90" name="Google Shape;90;p3"/>
          <p:cNvPicPr preferRelativeResize="0"/>
          <p:nvPr/>
        </p:nvPicPr>
        <p:blipFill rotWithShape="1">
          <a:blip r:embed="rId5">
            <a:alphaModFix/>
          </a:blip>
          <a:srcRect b="-7" l="0" r="0" t="-7"/>
          <a:stretch/>
        </p:blipFill>
        <p:spPr>
          <a:xfrm>
            <a:off x="6438900" y="3855641"/>
            <a:ext cx="330250" cy="533400"/>
          </a:xfrm>
          <a:prstGeom prst="rect">
            <a:avLst/>
          </a:prstGeom>
          <a:noFill/>
          <a:ln>
            <a:noFill/>
          </a:ln>
        </p:spPr>
      </p:pic>
      <p:pic>
        <p:nvPicPr>
          <p:cNvPr descr="CTIA" id="91" name="Google Shape;91;p3"/>
          <p:cNvPicPr preferRelativeResize="0"/>
          <p:nvPr/>
        </p:nvPicPr>
        <p:blipFill rotWithShape="1">
          <a:blip r:embed="rId6">
            <a:alphaModFix/>
          </a:blip>
          <a:srcRect b="0" l="0" r="0" t="0"/>
          <a:stretch/>
        </p:blipFill>
        <p:spPr>
          <a:xfrm>
            <a:off x="6883450" y="3855641"/>
            <a:ext cx="533400" cy="533400"/>
          </a:xfrm>
          <a:prstGeom prst="rect">
            <a:avLst/>
          </a:prstGeom>
          <a:noFill/>
          <a:ln>
            <a:noFill/>
          </a:ln>
        </p:spPr>
      </p:pic>
      <p:pic>
        <p:nvPicPr>
          <p:cNvPr descr="ECIH" id="92" name="Google Shape;92;p3"/>
          <p:cNvPicPr preferRelativeResize="0"/>
          <p:nvPr/>
        </p:nvPicPr>
        <p:blipFill rotWithShape="1">
          <a:blip r:embed="rId7">
            <a:alphaModFix/>
          </a:blip>
          <a:srcRect b="0" l="0" r="0" t="0"/>
          <a:stretch/>
        </p:blipFill>
        <p:spPr>
          <a:xfrm>
            <a:off x="7531150" y="3855641"/>
            <a:ext cx="533400" cy="533400"/>
          </a:xfrm>
          <a:prstGeom prst="rect">
            <a:avLst/>
          </a:prstGeom>
          <a:noFill/>
          <a:ln>
            <a:noFill/>
          </a:ln>
        </p:spPr>
      </p:pic>
      <p:pic>
        <p:nvPicPr>
          <p:cNvPr descr="CCFA" id="93" name="Google Shape;93;p3"/>
          <p:cNvPicPr preferRelativeResize="0"/>
          <p:nvPr/>
        </p:nvPicPr>
        <p:blipFill rotWithShape="1">
          <a:blip r:embed="rId8">
            <a:alphaModFix/>
          </a:blip>
          <a:srcRect b="0" l="0" r="0" t="0"/>
          <a:stretch/>
        </p:blipFill>
        <p:spPr>
          <a:xfrm>
            <a:off x="8178850" y="3855641"/>
            <a:ext cx="533400" cy="533400"/>
          </a:xfrm>
          <a:prstGeom prst="rect">
            <a:avLst/>
          </a:prstGeom>
          <a:noFill/>
          <a:ln>
            <a:noFill/>
          </a:ln>
        </p:spPr>
      </p:pic>
      <p:pic>
        <p:nvPicPr>
          <p:cNvPr descr="Microsoft Certified Associate (SC-200)" id="94" name="Google Shape;94;p3"/>
          <p:cNvPicPr preferRelativeResize="0"/>
          <p:nvPr/>
        </p:nvPicPr>
        <p:blipFill rotWithShape="1">
          <a:blip r:embed="rId9">
            <a:alphaModFix/>
          </a:blip>
          <a:srcRect b="0" l="0" r="0" t="0"/>
          <a:stretch/>
        </p:blipFill>
        <p:spPr>
          <a:xfrm>
            <a:off x="8826550" y="3855641"/>
            <a:ext cx="533400" cy="533400"/>
          </a:xfrm>
          <a:prstGeom prst="rect">
            <a:avLst/>
          </a:prstGeom>
          <a:noFill/>
          <a:ln>
            <a:noFill/>
          </a:ln>
        </p:spPr>
      </p:pic>
      <p:sp>
        <p:nvSpPr>
          <p:cNvPr id="95" name="Google Shape;95;p3"/>
          <p:cNvSpPr/>
          <p:nvPr/>
        </p:nvSpPr>
        <p:spPr>
          <a:xfrm>
            <a:off x="5791200" y="4452541"/>
            <a:ext cx="5755640" cy="4165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100"/>
              <a:buFont typeface="Montserrat"/>
              <a:buNone/>
            </a:pPr>
            <a:r>
              <a:rPr b="0" i="0" lang="en-US" sz="1100" u="none" cap="none" strike="noStrike">
                <a:solidFill>
                  <a:srgbClr val="8F8AA6"/>
                </a:solidFill>
                <a:latin typeface="Montserrat"/>
                <a:ea typeface="Montserrat"/>
                <a:cs typeface="Montserrat"/>
                <a:sym typeface="Montserrat"/>
              </a:rPr>
              <a:t>eCIR · eCTHP (INE Security) · CTIA · ECIH (EC-Council) · CCFA (CrowdStrike) · SC-200 (Microsoft) · CC (ISC²)</a:t>
            </a:r>
            <a:endParaRPr b="0" i="0" sz="1100" u="none" cap="none" strike="noStrike">
              <a:solidFill>
                <a:schemeClr val="lt1"/>
              </a:solidFill>
              <a:latin typeface="Montserrat"/>
              <a:ea typeface="Montserrat"/>
              <a:cs typeface="Montserrat"/>
              <a:sym typeface="Montserrat"/>
            </a:endParaRPr>
          </a:p>
        </p:txBody>
      </p:sp>
      <p:sp>
        <p:nvSpPr>
          <p:cNvPr id="96" name="Google Shape;96;p3"/>
          <p:cNvSpPr/>
          <p:nvPr/>
        </p:nvSpPr>
        <p:spPr>
          <a:xfrm>
            <a:off x="4267200" y="4881761"/>
            <a:ext cx="1574800" cy="2209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100"/>
              <a:buFont typeface="Montserrat"/>
              <a:buNone/>
            </a:pPr>
            <a:r>
              <a:rPr b="1" i="0" lang="en-US" sz="1100" u="none" cap="none" strike="noStrike">
                <a:solidFill>
                  <a:srgbClr val="C2C2F4"/>
                </a:solidFill>
                <a:latin typeface="Montserrat"/>
                <a:ea typeface="Montserrat"/>
                <a:cs typeface="Montserrat"/>
                <a:sym typeface="Montserrat"/>
              </a:rPr>
              <a:t>CONTACT</a:t>
            </a:r>
            <a:endParaRPr b="0" i="0" sz="1100" u="none" cap="none" strike="noStrike">
              <a:solidFill>
                <a:schemeClr val="lt1"/>
              </a:solidFill>
              <a:latin typeface="Montserrat"/>
              <a:ea typeface="Montserrat"/>
              <a:cs typeface="Montserrat"/>
              <a:sym typeface="Montserrat"/>
            </a:endParaRPr>
          </a:p>
        </p:txBody>
      </p:sp>
      <p:sp>
        <p:nvSpPr>
          <p:cNvPr id="97" name="Google Shape;97;p3"/>
          <p:cNvSpPr/>
          <p:nvPr/>
        </p:nvSpPr>
        <p:spPr>
          <a:xfrm>
            <a:off x="5791200" y="4843661"/>
            <a:ext cx="5755640" cy="4876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300"/>
              <a:buFont typeface="Montserrat"/>
              <a:buNone/>
            </a:pPr>
            <a:r>
              <a:rPr b="0" i="0" lang="en-US" sz="1300" u="none" cap="none" strike="noStrike">
                <a:solidFill>
                  <a:srgbClr val="F59E42"/>
                </a:solidFill>
                <a:latin typeface="Montserrat"/>
                <a:ea typeface="Montserrat"/>
                <a:cs typeface="Montserrat"/>
                <a:sym typeface="Montserrat"/>
              </a:rPr>
              <a:t>@anakinswal · github.com/Ank1nskywalker/talks · perez.edav@gmail.com</a:t>
            </a:r>
            <a:endParaRPr b="0" i="0" sz="1300" u="none" cap="none" strike="noStrike">
              <a:solidFill>
                <a:schemeClr val="lt1"/>
              </a:solidFill>
              <a:latin typeface="Montserrat"/>
              <a:ea typeface="Montserrat"/>
              <a:cs typeface="Montserrat"/>
              <a:sym typeface="Montserrat"/>
            </a:endParaRPr>
          </a:p>
        </p:txBody>
      </p:sp>
      <p:sp>
        <p:nvSpPr>
          <p:cNvPr id="98" name="Google Shape;98;p3"/>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99" name="Google Shape;99;p3"/>
          <p:cNvSpPr/>
          <p:nvPr/>
        </p:nvSpPr>
        <p:spPr>
          <a:xfrm>
            <a:off x="11242377" y="6238280"/>
            <a:ext cx="136823"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3</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9E42"/>
        </a:solidFill>
      </p:bgPr>
    </p:bg>
    <p:spTree>
      <p:nvGrpSpPr>
        <p:cNvPr id="104" name="Shape 104"/>
        <p:cNvGrpSpPr/>
        <p:nvPr/>
      </p:nvGrpSpPr>
      <p:grpSpPr>
        <a:xfrm>
          <a:off x="0" y="0"/>
          <a:ext cx="0" cy="0"/>
          <a:chOff x="0" y="0"/>
          <a:chExt cx="0" cy="0"/>
        </a:xfrm>
      </p:grpSpPr>
      <p:sp>
        <p:nvSpPr>
          <p:cNvPr id="105" name="Google Shape;105;p4"/>
          <p:cNvSpPr/>
          <p:nvPr/>
        </p:nvSpPr>
        <p:spPr>
          <a:xfrm>
            <a:off x="812800" y="198884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A2208"/>
              </a:buClr>
              <a:buSzPts val="1200"/>
              <a:buFont typeface="Montserrat"/>
              <a:buNone/>
            </a:pPr>
            <a:r>
              <a:rPr b="1" i="0" lang="en-US" sz="1200" u="none" cap="none" strike="noStrike">
                <a:solidFill>
                  <a:srgbClr val="3A2208"/>
                </a:solidFill>
                <a:latin typeface="Montserrat"/>
                <a:ea typeface="Montserrat"/>
                <a:cs typeface="Montserrat"/>
                <a:sym typeface="Montserrat"/>
              </a:rPr>
              <a:t>WHY WE ARE HERE</a:t>
            </a:r>
            <a:endParaRPr b="0" i="0" sz="1200" u="none" cap="none" strike="noStrike">
              <a:solidFill>
                <a:schemeClr val="lt1"/>
              </a:solidFill>
              <a:latin typeface="Montserrat"/>
              <a:ea typeface="Montserrat"/>
              <a:cs typeface="Montserrat"/>
              <a:sym typeface="Montserrat"/>
            </a:endParaRPr>
          </a:p>
        </p:txBody>
      </p:sp>
      <p:sp>
        <p:nvSpPr>
          <p:cNvPr id="106" name="Google Shape;106;p4"/>
          <p:cNvSpPr txBox="1"/>
          <p:nvPr>
            <p:ph type="title"/>
          </p:nvPr>
        </p:nvSpPr>
        <p:spPr>
          <a:xfrm>
            <a:off x="812800" y="2456160"/>
            <a:ext cx="9810750" cy="162560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0C0B12"/>
              </a:buClr>
              <a:buSzPts val="6000"/>
              <a:buFont typeface="Montserrat"/>
              <a:buNone/>
            </a:pPr>
            <a:r>
              <a:rPr b="1" i="0" lang="en-US" sz="6000">
                <a:solidFill>
                  <a:srgbClr val="0C0B12"/>
                </a:solidFill>
                <a:latin typeface="Montserrat"/>
                <a:ea typeface="Montserrat"/>
                <a:cs typeface="Montserrat"/>
                <a:sym typeface="Montserrat"/>
              </a:rPr>
              <a:t>A hunt without a report never happened.</a:t>
            </a:r>
            <a:endParaRPr sz="6000"/>
          </a:p>
        </p:txBody>
      </p:sp>
      <p:sp>
        <p:nvSpPr>
          <p:cNvPr id="107" name="Google Shape;107;p4"/>
          <p:cNvSpPr/>
          <p:nvPr/>
        </p:nvSpPr>
        <p:spPr>
          <a:xfrm>
            <a:off x="812800" y="4310360"/>
            <a:ext cx="10883392"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A1A08"/>
              </a:buClr>
              <a:buSzPts val="2000"/>
              <a:buFont typeface="Montserrat"/>
              <a:buNone/>
            </a:pPr>
            <a:r>
              <a:rPr b="0" i="0" lang="en-US" sz="2000" u="none" cap="none" strike="noStrike">
                <a:solidFill>
                  <a:srgbClr val="2A1A08"/>
                </a:solidFill>
                <a:latin typeface="Montserrat"/>
                <a:ea typeface="Montserrat"/>
                <a:cs typeface="Montserrat"/>
                <a:sym typeface="Montserrat"/>
              </a:rPr>
              <a:t>The query gets lost. The report stays.</a:t>
            </a:r>
            <a:endParaRPr b="0" i="0" sz="2000" u="none" cap="none" strike="noStrike">
              <a:solidFill>
                <a:schemeClr val="lt1"/>
              </a:solidFill>
              <a:latin typeface="Montserrat"/>
              <a:ea typeface="Montserrat"/>
              <a:cs typeface="Montserrat"/>
              <a:sym typeface="Montserrat"/>
            </a:endParaRPr>
          </a:p>
        </p:txBody>
      </p:sp>
      <p:sp>
        <p:nvSpPr>
          <p:cNvPr id="108" name="Google Shape;108;p4"/>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A2208"/>
              </a:buClr>
              <a:buSzPts val="1200"/>
              <a:buFont typeface="Montserrat"/>
              <a:buNone/>
            </a:pPr>
            <a:r>
              <a:rPr b="0" i="0" lang="en-US" sz="1200" u="none" cap="none" strike="noStrike">
                <a:solidFill>
                  <a:srgbClr val="3A2208"/>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109" name="Google Shape;109;p4"/>
          <p:cNvSpPr/>
          <p:nvPr/>
        </p:nvSpPr>
        <p:spPr>
          <a:xfrm>
            <a:off x="11227643" y="6238280"/>
            <a:ext cx="151557"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3A2208"/>
              </a:buClr>
              <a:buSzPts val="1200"/>
              <a:buFont typeface="Montserrat"/>
              <a:buNone/>
            </a:pPr>
            <a:r>
              <a:rPr b="0" i="0" lang="en-US" sz="1200" u="none" cap="none" strike="noStrike">
                <a:solidFill>
                  <a:srgbClr val="3A2208"/>
                </a:solidFill>
                <a:latin typeface="Montserrat"/>
                <a:ea typeface="Montserrat"/>
                <a:cs typeface="Montserrat"/>
                <a:sym typeface="Montserrat"/>
              </a:rPr>
              <a:t>4</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114" name="Shape 114"/>
        <p:cNvGrpSpPr/>
        <p:nvPr/>
      </p:nvGrpSpPr>
      <p:grpSpPr>
        <a:xfrm>
          <a:off x="0" y="0"/>
          <a:ext cx="0" cy="0"/>
          <a:chOff x="0" y="0"/>
          <a:chExt cx="0" cy="0"/>
        </a:xfrm>
      </p:grpSpPr>
      <p:sp>
        <p:nvSpPr>
          <p:cNvPr id="115" name="Google Shape;115;p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WHY THE REPORT MATTERS</a:t>
            </a:r>
            <a:endParaRPr b="0" i="0" sz="1200" u="none" cap="none" strike="noStrike">
              <a:solidFill>
                <a:schemeClr val="lt1"/>
              </a:solidFill>
              <a:latin typeface="Montserrat"/>
              <a:ea typeface="Montserrat"/>
              <a:cs typeface="Montserrat"/>
              <a:sym typeface="Montserrat"/>
            </a:endParaRPr>
          </a:p>
        </p:txBody>
      </p:sp>
      <p:sp>
        <p:nvSpPr>
          <p:cNvPr id="116" name="Google Shape;116;p5"/>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Who reads your report?</a:t>
            </a:r>
            <a:endParaRPr sz="3200"/>
          </a:p>
        </p:txBody>
      </p:sp>
      <p:sp>
        <p:nvSpPr>
          <p:cNvPr id="117" name="Google Shape;117;p5"/>
          <p:cNvSpPr/>
          <p:nvPr/>
        </p:nvSpPr>
        <p:spPr>
          <a:xfrm>
            <a:off x="815975" y="1882725"/>
            <a:ext cx="2482850" cy="2205831"/>
          </a:xfrm>
          <a:prstGeom prst="roundRect">
            <a:avLst>
              <a:gd fmla="val 446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d="118" name="Google Shape;118;p5"/>
          <p:cNvPicPr preferRelativeResize="0"/>
          <p:nvPr/>
        </p:nvPicPr>
        <p:blipFill rotWithShape="1">
          <a:blip r:embed="rId3">
            <a:alphaModFix/>
          </a:blip>
          <a:srcRect b="0" l="0" r="0" t="0"/>
          <a:stretch/>
        </p:blipFill>
        <p:spPr>
          <a:xfrm>
            <a:off x="1073150" y="2139900"/>
            <a:ext cx="304800" cy="304800"/>
          </a:xfrm>
          <a:prstGeom prst="rect">
            <a:avLst/>
          </a:prstGeom>
          <a:noFill/>
          <a:ln>
            <a:noFill/>
          </a:ln>
        </p:spPr>
      </p:pic>
      <p:sp>
        <p:nvSpPr>
          <p:cNvPr id="119" name="Google Shape;119;p5"/>
          <p:cNvSpPr/>
          <p:nvPr/>
        </p:nvSpPr>
        <p:spPr>
          <a:xfrm>
            <a:off x="1073150" y="2546300"/>
            <a:ext cx="2027555"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The decision-maker</a:t>
            </a:r>
            <a:endParaRPr b="0" i="0" sz="1500" u="none" cap="none" strike="noStrike">
              <a:solidFill>
                <a:schemeClr val="lt1"/>
              </a:solidFill>
              <a:latin typeface="Montserrat"/>
              <a:ea typeface="Montserrat"/>
              <a:cs typeface="Montserrat"/>
              <a:sym typeface="Montserrat"/>
            </a:endParaRPr>
          </a:p>
        </p:txBody>
      </p:sp>
      <p:sp>
        <p:nvSpPr>
          <p:cNvPr id="120" name="Google Shape;120;p5"/>
          <p:cNvSpPr/>
          <p:nvPr/>
        </p:nvSpPr>
        <p:spPr>
          <a:xfrm>
            <a:off x="1073150" y="2876500"/>
            <a:ext cx="202755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Management or CISO</a:t>
            </a:r>
            <a:endParaRPr b="0" i="0" sz="1200" u="none" cap="none" strike="noStrike">
              <a:solidFill>
                <a:schemeClr val="lt1"/>
              </a:solidFill>
              <a:latin typeface="Montserrat"/>
              <a:ea typeface="Montserrat"/>
              <a:cs typeface="Montserrat"/>
              <a:sym typeface="Montserrat"/>
            </a:endParaRPr>
          </a:p>
        </p:txBody>
      </p:sp>
      <p:sp>
        <p:nvSpPr>
          <p:cNvPr id="121" name="Google Shape;121;p5"/>
          <p:cNvSpPr/>
          <p:nvPr/>
        </p:nvSpPr>
        <p:spPr>
          <a:xfrm>
            <a:off x="1073150" y="3191421"/>
            <a:ext cx="2027555"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What happened, what the risk is and what they need to approve. Reads one page.</a:t>
            </a:r>
            <a:endParaRPr b="0" i="0" sz="1200" u="none" cap="none" strike="noStrike">
              <a:solidFill>
                <a:schemeClr val="lt1"/>
              </a:solidFill>
              <a:latin typeface="Montserrat"/>
              <a:ea typeface="Montserrat"/>
              <a:cs typeface="Montserrat"/>
              <a:sym typeface="Montserrat"/>
            </a:endParaRPr>
          </a:p>
        </p:txBody>
      </p:sp>
      <p:sp>
        <p:nvSpPr>
          <p:cNvPr id="122" name="Google Shape;122;p5"/>
          <p:cNvSpPr/>
          <p:nvPr/>
        </p:nvSpPr>
        <p:spPr>
          <a:xfrm>
            <a:off x="3508375" y="1882725"/>
            <a:ext cx="2482850" cy="2205831"/>
          </a:xfrm>
          <a:prstGeom prst="roundRect">
            <a:avLst>
              <a:gd fmla="val 446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123" name="Google Shape;123;p5"/>
          <p:cNvPicPr preferRelativeResize="0"/>
          <p:nvPr/>
        </p:nvPicPr>
        <p:blipFill rotWithShape="1">
          <a:blip r:embed="rId4">
            <a:alphaModFix/>
          </a:blip>
          <a:srcRect b="0" l="0" r="0" t="0"/>
          <a:stretch/>
        </p:blipFill>
        <p:spPr>
          <a:xfrm>
            <a:off x="3765550" y="2139900"/>
            <a:ext cx="304800" cy="304800"/>
          </a:xfrm>
          <a:prstGeom prst="rect">
            <a:avLst/>
          </a:prstGeom>
          <a:noFill/>
          <a:ln>
            <a:noFill/>
          </a:ln>
        </p:spPr>
      </p:pic>
      <p:sp>
        <p:nvSpPr>
          <p:cNvPr id="124" name="Google Shape;124;p5"/>
          <p:cNvSpPr/>
          <p:nvPr/>
        </p:nvSpPr>
        <p:spPr>
          <a:xfrm>
            <a:off x="3765550" y="2546300"/>
            <a:ext cx="2027555"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The SOC</a:t>
            </a:r>
            <a:endParaRPr b="0" i="0" sz="1500" u="none" cap="none" strike="noStrike">
              <a:solidFill>
                <a:schemeClr val="lt1"/>
              </a:solidFill>
              <a:latin typeface="Montserrat"/>
              <a:ea typeface="Montserrat"/>
              <a:cs typeface="Montserrat"/>
              <a:sym typeface="Montserrat"/>
            </a:endParaRPr>
          </a:p>
        </p:txBody>
      </p:sp>
      <p:sp>
        <p:nvSpPr>
          <p:cNvPr id="125" name="Google Shape;125;p5"/>
          <p:cNvSpPr/>
          <p:nvPr/>
        </p:nvSpPr>
        <p:spPr>
          <a:xfrm>
            <a:off x="3765550" y="2876500"/>
            <a:ext cx="2027555"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Analysts and detection engineering</a:t>
            </a:r>
            <a:endParaRPr b="0" i="0" sz="1200" u="none" cap="none" strike="noStrike">
              <a:solidFill>
                <a:schemeClr val="lt1"/>
              </a:solidFill>
              <a:latin typeface="Montserrat"/>
              <a:ea typeface="Montserrat"/>
              <a:cs typeface="Montserrat"/>
              <a:sym typeface="Montserrat"/>
            </a:endParaRPr>
          </a:p>
        </p:txBody>
      </p:sp>
      <p:sp>
        <p:nvSpPr>
          <p:cNvPr id="126" name="Google Shape;126;p5"/>
          <p:cNvSpPr/>
          <p:nvPr/>
        </p:nvSpPr>
        <p:spPr>
          <a:xfrm>
            <a:off x="3765550" y="3404741"/>
            <a:ext cx="2027555"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The queries, the IOCs and the rules that remain.</a:t>
            </a:r>
            <a:endParaRPr b="0" i="0" sz="1200" u="none" cap="none" strike="noStrike">
              <a:solidFill>
                <a:schemeClr val="lt1"/>
              </a:solidFill>
              <a:latin typeface="Montserrat"/>
              <a:ea typeface="Montserrat"/>
              <a:cs typeface="Montserrat"/>
              <a:sym typeface="Montserrat"/>
            </a:endParaRPr>
          </a:p>
        </p:txBody>
      </p:sp>
      <p:sp>
        <p:nvSpPr>
          <p:cNvPr id="127" name="Google Shape;127;p5"/>
          <p:cNvSpPr/>
          <p:nvPr/>
        </p:nvSpPr>
        <p:spPr>
          <a:xfrm>
            <a:off x="6200775" y="1882725"/>
            <a:ext cx="2482850" cy="2205831"/>
          </a:xfrm>
          <a:prstGeom prst="roundRect">
            <a:avLst>
              <a:gd fmla="val 446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lock" id="128" name="Google Shape;128;p5"/>
          <p:cNvPicPr preferRelativeResize="0"/>
          <p:nvPr/>
        </p:nvPicPr>
        <p:blipFill rotWithShape="1">
          <a:blip r:embed="rId5">
            <a:alphaModFix/>
          </a:blip>
          <a:srcRect b="0" l="0" r="0" t="0"/>
          <a:stretch/>
        </p:blipFill>
        <p:spPr>
          <a:xfrm>
            <a:off x="6457950" y="2139900"/>
            <a:ext cx="304800" cy="304800"/>
          </a:xfrm>
          <a:prstGeom prst="rect">
            <a:avLst/>
          </a:prstGeom>
          <a:noFill/>
          <a:ln>
            <a:noFill/>
          </a:ln>
        </p:spPr>
      </p:pic>
      <p:sp>
        <p:nvSpPr>
          <p:cNvPr id="129" name="Google Shape;129;p5"/>
          <p:cNvSpPr/>
          <p:nvPr/>
        </p:nvSpPr>
        <p:spPr>
          <a:xfrm>
            <a:off x="6457950" y="2546300"/>
            <a:ext cx="2027555"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The next hunter</a:t>
            </a:r>
            <a:endParaRPr b="0" i="0" sz="1500" u="none" cap="none" strike="noStrike">
              <a:solidFill>
                <a:schemeClr val="lt1"/>
              </a:solidFill>
              <a:latin typeface="Montserrat"/>
              <a:ea typeface="Montserrat"/>
              <a:cs typeface="Montserrat"/>
              <a:sym typeface="Montserrat"/>
            </a:endParaRPr>
          </a:p>
        </p:txBody>
      </p:sp>
      <p:sp>
        <p:nvSpPr>
          <p:cNvPr id="130" name="Google Shape;130;p5"/>
          <p:cNvSpPr/>
          <p:nvPr/>
        </p:nvSpPr>
        <p:spPr>
          <a:xfrm>
            <a:off x="6457950" y="2876500"/>
            <a:ext cx="2027555"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Whoever repeats the hunt in six months</a:t>
            </a:r>
            <a:endParaRPr b="0" i="0" sz="1200" u="none" cap="none" strike="noStrike">
              <a:solidFill>
                <a:schemeClr val="lt1"/>
              </a:solidFill>
              <a:latin typeface="Montserrat"/>
              <a:ea typeface="Montserrat"/>
              <a:cs typeface="Montserrat"/>
              <a:sym typeface="Montserrat"/>
            </a:endParaRPr>
          </a:p>
        </p:txBody>
      </p:sp>
      <p:sp>
        <p:nvSpPr>
          <p:cNvPr id="131" name="Google Shape;131;p5"/>
          <p:cNvSpPr/>
          <p:nvPr/>
        </p:nvSpPr>
        <p:spPr>
          <a:xfrm>
            <a:off x="6457950" y="3404741"/>
            <a:ext cx="2027555"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What was searched, how, and what could not be seen.</a:t>
            </a:r>
            <a:endParaRPr b="0" i="0" sz="1200" u="none" cap="none" strike="noStrike">
              <a:solidFill>
                <a:schemeClr val="lt1"/>
              </a:solidFill>
              <a:latin typeface="Montserrat"/>
              <a:ea typeface="Montserrat"/>
              <a:cs typeface="Montserrat"/>
              <a:sym typeface="Montserrat"/>
            </a:endParaRPr>
          </a:p>
        </p:txBody>
      </p:sp>
      <p:sp>
        <p:nvSpPr>
          <p:cNvPr id="132" name="Google Shape;132;p5"/>
          <p:cNvSpPr/>
          <p:nvPr/>
        </p:nvSpPr>
        <p:spPr>
          <a:xfrm>
            <a:off x="8893175" y="1882725"/>
            <a:ext cx="2482850" cy="2205831"/>
          </a:xfrm>
          <a:prstGeom prst="roundRect">
            <a:avLst>
              <a:gd fmla="val 446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Verified" id="133" name="Google Shape;133;p5"/>
          <p:cNvPicPr preferRelativeResize="0"/>
          <p:nvPr/>
        </p:nvPicPr>
        <p:blipFill rotWithShape="1">
          <a:blip r:embed="rId6">
            <a:alphaModFix/>
          </a:blip>
          <a:srcRect b="0" l="0" r="0" t="0"/>
          <a:stretch/>
        </p:blipFill>
        <p:spPr>
          <a:xfrm>
            <a:off x="9150350" y="2139900"/>
            <a:ext cx="304800" cy="304800"/>
          </a:xfrm>
          <a:prstGeom prst="rect">
            <a:avLst/>
          </a:prstGeom>
          <a:noFill/>
          <a:ln>
            <a:noFill/>
          </a:ln>
        </p:spPr>
      </p:pic>
      <p:sp>
        <p:nvSpPr>
          <p:cNvPr id="134" name="Google Shape;134;p5"/>
          <p:cNvSpPr/>
          <p:nvPr/>
        </p:nvSpPr>
        <p:spPr>
          <a:xfrm>
            <a:off x="9150350" y="2546300"/>
            <a:ext cx="2027555"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The auditor</a:t>
            </a:r>
            <a:endParaRPr b="0" i="0" sz="1500" u="none" cap="none" strike="noStrike">
              <a:solidFill>
                <a:schemeClr val="lt1"/>
              </a:solidFill>
              <a:latin typeface="Montserrat"/>
              <a:ea typeface="Montserrat"/>
              <a:cs typeface="Montserrat"/>
              <a:sym typeface="Montserrat"/>
            </a:endParaRPr>
          </a:p>
        </p:txBody>
      </p:sp>
      <p:sp>
        <p:nvSpPr>
          <p:cNvPr id="135" name="Google Shape;135;p5"/>
          <p:cNvSpPr/>
          <p:nvPr/>
        </p:nvSpPr>
        <p:spPr>
          <a:xfrm>
            <a:off x="9150350" y="2876500"/>
            <a:ext cx="202755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Client or compliance</a:t>
            </a:r>
            <a:endParaRPr b="0" i="0" sz="1200" u="none" cap="none" strike="noStrike">
              <a:solidFill>
                <a:schemeClr val="lt1"/>
              </a:solidFill>
              <a:latin typeface="Montserrat"/>
              <a:ea typeface="Montserrat"/>
              <a:cs typeface="Montserrat"/>
              <a:sym typeface="Montserrat"/>
            </a:endParaRPr>
          </a:p>
        </p:txBody>
      </p:sp>
      <p:sp>
        <p:nvSpPr>
          <p:cNvPr id="136" name="Google Shape;136;p5"/>
          <p:cNvSpPr/>
          <p:nvPr/>
        </p:nvSpPr>
        <p:spPr>
          <a:xfrm>
            <a:off x="9150350" y="3191421"/>
            <a:ext cx="2027555"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Proof that you looked, even if nothing was found.</a:t>
            </a:r>
            <a:endParaRPr b="0" i="0" sz="1200" u="none" cap="none" strike="noStrike">
              <a:solidFill>
                <a:schemeClr val="lt1"/>
              </a:solidFill>
              <a:latin typeface="Montserrat"/>
              <a:ea typeface="Montserrat"/>
              <a:cs typeface="Montserrat"/>
              <a:sym typeface="Montserrat"/>
            </a:endParaRPr>
          </a:p>
        </p:txBody>
      </p:sp>
      <p:sp>
        <p:nvSpPr>
          <p:cNvPr id="137" name="Google Shape;137;p5"/>
          <p:cNvSpPr/>
          <p:nvPr/>
        </p:nvSpPr>
        <p:spPr>
          <a:xfrm>
            <a:off x="812800" y="4396532"/>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Write for the decision-maker; document for the other three.</a:t>
            </a:r>
            <a:endParaRPr b="0" i="0" sz="1500" u="none" cap="none" strike="noStrike">
              <a:solidFill>
                <a:schemeClr val="lt1"/>
              </a:solidFill>
              <a:latin typeface="Montserrat"/>
              <a:ea typeface="Montserrat"/>
              <a:cs typeface="Montserrat"/>
              <a:sym typeface="Montserrat"/>
            </a:endParaRPr>
          </a:p>
        </p:txBody>
      </p:sp>
      <p:sp>
        <p:nvSpPr>
          <p:cNvPr id="138" name="Google Shape;138;p5"/>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139" name="Google Shape;139;p5"/>
          <p:cNvSpPr/>
          <p:nvPr/>
        </p:nvSpPr>
        <p:spPr>
          <a:xfrm>
            <a:off x="11242179" y="6238280"/>
            <a:ext cx="137021"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5</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144" name="Shape 144"/>
        <p:cNvGrpSpPr/>
        <p:nvPr/>
      </p:nvGrpSpPr>
      <p:grpSpPr>
        <a:xfrm>
          <a:off x="0" y="0"/>
          <a:ext cx="0" cy="0"/>
          <a:chOff x="0" y="0"/>
          <a:chExt cx="0" cy="0"/>
        </a:xfrm>
      </p:grpSpPr>
      <p:sp>
        <p:nvSpPr>
          <p:cNvPr id="145" name="Google Shape;145;p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WHY THE REPORT MATTERS</a:t>
            </a:r>
            <a:endParaRPr b="0" i="0" sz="1200" u="none" cap="none" strike="noStrike">
              <a:solidFill>
                <a:schemeClr val="lt1"/>
              </a:solidFill>
              <a:latin typeface="Montserrat"/>
              <a:ea typeface="Montserrat"/>
              <a:cs typeface="Montserrat"/>
              <a:sym typeface="Montserrat"/>
            </a:endParaRPr>
          </a:p>
        </p:txBody>
      </p:sp>
      <p:sp>
        <p:nvSpPr>
          <p:cNvPr id="146" name="Google Shape;146;p6"/>
          <p:cNvSpPr txBox="1"/>
          <p:nvPr>
            <p:ph type="title"/>
          </p:nvPr>
        </p:nvSpPr>
        <p:spPr>
          <a:xfrm>
            <a:off x="812800" y="1127720"/>
            <a:ext cx="9810750" cy="91946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A report answers three questions, whether you find something or not</a:t>
            </a:r>
            <a:endParaRPr sz="3200"/>
          </a:p>
        </p:txBody>
      </p:sp>
      <p:cxnSp>
        <p:nvCxnSpPr>
          <p:cNvPr id="147" name="Google Shape;147;p6"/>
          <p:cNvCxnSpPr/>
          <p:nvPr/>
        </p:nvCxnSpPr>
        <p:spPr>
          <a:xfrm>
            <a:off x="812800" y="2440880"/>
            <a:ext cx="3386634" cy="0"/>
          </a:xfrm>
          <a:prstGeom prst="straightConnector1">
            <a:avLst/>
          </a:prstGeom>
          <a:noFill/>
          <a:ln cap="flat" cmpd="sng" w="25400">
            <a:solidFill>
              <a:srgbClr val="F59E42"/>
            </a:solidFill>
            <a:prstDash val="solid"/>
            <a:round/>
            <a:headEnd len="sm" w="sm" type="none"/>
            <a:tailEnd len="sm" w="sm" type="none"/>
          </a:ln>
        </p:spPr>
      </p:cxnSp>
      <p:sp>
        <p:nvSpPr>
          <p:cNvPr id="148" name="Google Shape;148;p6"/>
          <p:cNvSpPr/>
          <p:nvPr/>
        </p:nvSpPr>
        <p:spPr>
          <a:xfrm>
            <a:off x="812800" y="2656780"/>
            <a:ext cx="3488233"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What happened?</a:t>
            </a:r>
            <a:endParaRPr b="0" i="0" sz="2000" u="none" cap="none" strike="noStrike">
              <a:solidFill>
                <a:schemeClr val="lt1"/>
              </a:solidFill>
              <a:latin typeface="Montserrat"/>
              <a:ea typeface="Montserrat"/>
              <a:cs typeface="Montserrat"/>
              <a:sym typeface="Montserrat"/>
            </a:endParaRPr>
          </a:p>
        </p:txBody>
      </p:sp>
      <p:sp>
        <p:nvSpPr>
          <p:cNvPr id="149" name="Google Shape;149;p6"/>
          <p:cNvSpPr/>
          <p:nvPr/>
        </p:nvSpPr>
        <p:spPr>
          <a:xfrm>
            <a:off x="812800" y="3088580"/>
            <a:ext cx="3488233"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Findings with a verdict and evidence.</a:t>
            </a:r>
            <a:endParaRPr b="0" i="0" sz="1500" u="none" cap="none" strike="noStrike">
              <a:solidFill>
                <a:schemeClr val="lt1"/>
              </a:solidFill>
              <a:latin typeface="Montserrat"/>
              <a:ea typeface="Montserrat"/>
              <a:cs typeface="Montserrat"/>
              <a:sym typeface="Montserrat"/>
            </a:endParaRPr>
          </a:p>
        </p:txBody>
      </p:sp>
      <p:sp>
        <p:nvSpPr>
          <p:cNvPr id="150" name="Google Shape;150;p6"/>
          <p:cNvSpPr/>
          <p:nvPr/>
        </p:nvSpPr>
        <p:spPr>
          <a:xfrm>
            <a:off x="812800" y="3748980"/>
            <a:ext cx="348823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 Findings and executive summary</a:t>
            </a:r>
            <a:endParaRPr b="0" i="0" sz="1200" u="none" cap="none" strike="noStrike">
              <a:solidFill>
                <a:schemeClr val="lt1"/>
              </a:solidFill>
              <a:latin typeface="Montserrat"/>
              <a:ea typeface="Montserrat"/>
              <a:cs typeface="Montserrat"/>
              <a:sym typeface="Montserrat"/>
            </a:endParaRPr>
          </a:p>
        </p:txBody>
      </p:sp>
      <p:cxnSp>
        <p:nvCxnSpPr>
          <p:cNvPr id="151" name="Google Shape;151;p6"/>
          <p:cNvCxnSpPr/>
          <p:nvPr/>
        </p:nvCxnSpPr>
        <p:spPr>
          <a:xfrm>
            <a:off x="4402634" y="2440880"/>
            <a:ext cx="3386683" cy="0"/>
          </a:xfrm>
          <a:prstGeom prst="straightConnector1">
            <a:avLst/>
          </a:prstGeom>
          <a:noFill/>
          <a:ln cap="flat" cmpd="sng" w="25400">
            <a:solidFill>
              <a:srgbClr val="F59E42"/>
            </a:solidFill>
            <a:prstDash val="solid"/>
            <a:round/>
            <a:headEnd len="sm" w="sm" type="none"/>
            <a:tailEnd len="sm" w="sm" type="none"/>
          </a:ln>
        </p:spPr>
      </p:cxnSp>
      <p:sp>
        <p:nvSpPr>
          <p:cNvPr id="152" name="Google Shape;152;p6"/>
          <p:cNvSpPr/>
          <p:nvPr/>
        </p:nvSpPr>
        <p:spPr>
          <a:xfrm>
            <a:off x="4402634" y="2656780"/>
            <a:ext cx="3488284"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What didn’t we see?</a:t>
            </a:r>
            <a:endParaRPr b="0" i="0" sz="2000" u="none" cap="none" strike="noStrike">
              <a:solidFill>
                <a:schemeClr val="lt1"/>
              </a:solidFill>
              <a:latin typeface="Montserrat"/>
              <a:ea typeface="Montserrat"/>
              <a:cs typeface="Montserrat"/>
              <a:sym typeface="Montserrat"/>
            </a:endParaRPr>
          </a:p>
        </p:txBody>
      </p:sp>
      <p:sp>
        <p:nvSpPr>
          <p:cNvPr id="153" name="Google Shape;153;p6"/>
          <p:cNvSpPr/>
          <p:nvPr/>
        </p:nvSpPr>
        <p:spPr>
          <a:xfrm>
            <a:off x="4402634" y="3088580"/>
            <a:ext cx="3488284"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Scope, limitations and confidence level.</a:t>
            </a:r>
            <a:endParaRPr b="0" i="0" sz="1500" u="none" cap="none" strike="noStrike">
              <a:solidFill>
                <a:schemeClr val="lt1"/>
              </a:solidFill>
              <a:latin typeface="Montserrat"/>
              <a:ea typeface="Montserrat"/>
              <a:cs typeface="Montserrat"/>
              <a:sym typeface="Montserrat"/>
            </a:endParaRPr>
          </a:p>
        </p:txBody>
      </p:sp>
      <p:sp>
        <p:nvSpPr>
          <p:cNvPr id="154" name="Google Shape;154;p6"/>
          <p:cNvSpPr/>
          <p:nvPr/>
        </p:nvSpPr>
        <p:spPr>
          <a:xfrm>
            <a:off x="4402634" y="3748980"/>
            <a:ext cx="348828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 Scope and limitations</a:t>
            </a:r>
            <a:endParaRPr b="0" i="0" sz="1200" u="none" cap="none" strike="noStrike">
              <a:solidFill>
                <a:schemeClr val="lt1"/>
              </a:solidFill>
              <a:latin typeface="Montserrat"/>
              <a:ea typeface="Montserrat"/>
              <a:cs typeface="Montserrat"/>
              <a:sym typeface="Montserrat"/>
            </a:endParaRPr>
          </a:p>
        </p:txBody>
      </p:sp>
      <p:cxnSp>
        <p:nvCxnSpPr>
          <p:cNvPr id="155" name="Google Shape;155;p6"/>
          <p:cNvCxnSpPr/>
          <p:nvPr/>
        </p:nvCxnSpPr>
        <p:spPr>
          <a:xfrm>
            <a:off x="7992517" y="2440880"/>
            <a:ext cx="3386683" cy="0"/>
          </a:xfrm>
          <a:prstGeom prst="straightConnector1">
            <a:avLst/>
          </a:prstGeom>
          <a:noFill/>
          <a:ln cap="flat" cmpd="sng" w="25400">
            <a:solidFill>
              <a:srgbClr val="F59E42"/>
            </a:solidFill>
            <a:prstDash val="solid"/>
            <a:round/>
            <a:headEnd len="sm" w="sm" type="none"/>
            <a:tailEnd len="sm" w="sm" type="none"/>
          </a:ln>
        </p:spPr>
      </p:cxnSp>
      <p:sp>
        <p:nvSpPr>
          <p:cNvPr id="156" name="Google Shape;156;p6"/>
          <p:cNvSpPr/>
          <p:nvPr/>
        </p:nvSpPr>
        <p:spPr>
          <a:xfrm>
            <a:off x="7992517" y="2656780"/>
            <a:ext cx="3488284" cy="3302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What changes tomorrow?</a:t>
            </a:r>
            <a:endParaRPr b="0" i="0" sz="2000" u="none" cap="none" strike="noStrike">
              <a:solidFill>
                <a:schemeClr val="lt1"/>
              </a:solidFill>
              <a:latin typeface="Montserrat"/>
              <a:ea typeface="Montserrat"/>
              <a:cs typeface="Montserrat"/>
              <a:sym typeface="Montserrat"/>
            </a:endParaRPr>
          </a:p>
        </p:txBody>
      </p:sp>
      <p:sp>
        <p:nvSpPr>
          <p:cNvPr id="157" name="Google Shape;157;p6"/>
          <p:cNvSpPr/>
          <p:nvPr/>
        </p:nvSpPr>
        <p:spPr>
          <a:xfrm>
            <a:off x="7992517" y="3088580"/>
            <a:ext cx="3488284"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Detections, actions with an owner and the next hypothesis.</a:t>
            </a:r>
            <a:endParaRPr b="0" i="0" sz="1500" u="none" cap="none" strike="noStrike">
              <a:solidFill>
                <a:schemeClr val="lt1"/>
              </a:solidFill>
              <a:latin typeface="Montserrat"/>
              <a:ea typeface="Montserrat"/>
              <a:cs typeface="Montserrat"/>
              <a:sym typeface="Montserrat"/>
            </a:endParaRPr>
          </a:p>
        </p:txBody>
      </p:sp>
      <p:sp>
        <p:nvSpPr>
          <p:cNvPr id="158" name="Google Shape;158;p6"/>
          <p:cNvSpPr/>
          <p:nvPr/>
        </p:nvSpPr>
        <p:spPr>
          <a:xfrm>
            <a:off x="7992517" y="3748980"/>
            <a:ext cx="348828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 Recommendations and action plan</a:t>
            </a:r>
            <a:endParaRPr b="0" i="0" sz="1200" u="none" cap="none" strike="noStrike">
              <a:solidFill>
                <a:schemeClr val="lt1"/>
              </a:solidFill>
              <a:latin typeface="Montserrat"/>
              <a:ea typeface="Montserrat"/>
              <a:cs typeface="Montserrat"/>
              <a:sym typeface="Montserrat"/>
            </a:endParaRPr>
          </a:p>
        </p:txBody>
      </p:sp>
      <p:sp>
        <p:nvSpPr>
          <p:cNvPr id="159" name="Google Shape;159;p6"/>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160" name="Google Shape;160;p6"/>
          <p:cNvSpPr/>
          <p:nvPr/>
        </p:nvSpPr>
        <p:spPr>
          <a:xfrm>
            <a:off x="11235581" y="6238280"/>
            <a:ext cx="143619"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6</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165" name="Shape 165"/>
        <p:cNvGrpSpPr/>
        <p:nvPr/>
      </p:nvGrpSpPr>
      <p:grpSpPr>
        <a:xfrm>
          <a:off x="0" y="0"/>
          <a:ext cx="0" cy="0"/>
          <a:chOff x="0" y="0"/>
          <a:chExt cx="0" cy="0"/>
        </a:xfrm>
      </p:grpSpPr>
      <p:sp>
        <p:nvSpPr>
          <p:cNvPr id="166" name="Google Shape;166;p7"/>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THREAT HUNTING IN TEN MINUTES</a:t>
            </a:r>
            <a:endParaRPr b="0" i="0" sz="1200" u="none" cap="none" strike="noStrike">
              <a:solidFill>
                <a:schemeClr val="lt1"/>
              </a:solidFill>
              <a:latin typeface="Montserrat"/>
              <a:ea typeface="Montserrat"/>
              <a:cs typeface="Montserrat"/>
              <a:sym typeface="Montserrat"/>
            </a:endParaRPr>
          </a:p>
        </p:txBody>
      </p:sp>
      <p:sp>
        <p:nvSpPr>
          <p:cNvPr id="167" name="Google Shape;167;p7"/>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What threat hunting is not</a:t>
            </a:r>
            <a:endParaRPr sz="3200"/>
          </a:p>
        </p:txBody>
      </p:sp>
      <p:sp>
        <p:nvSpPr>
          <p:cNvPr id="168" name="Google Shape;168;p7"/>
          <p:cNvSpPr/>
          <p:nvPr/>
        </p:nvSpPr>
        <p:spPr>
          <a:xfrm>
            <a:off x="815975" y="1831925"/>
            <a:ext cx="2520950" cy="1586111"/>
          </a:xfrm>
          <a:prstGeom prst="roundRect">
            <a:avLst>
              <a:gd fmla="val 6205"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p:nvPr/>
        </p:nvSpPr>
        <p:spPr>
          <a:xfrm>
            <a:off x="1022350" y="2038300"/>
            <a:ext cx="2171446" cy="4826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Not waiting for the alert</a:t>
            </a:r>
            <a:endParaRPr b="0" i="0" sz="1500" u="none" cap="none" strike="noStrike">
              <a:solidFill>
                <a:schemeClr val="lt1"/>
              </a:solidFill>
              <a:latin typeface="Montserrat"/>
              <a:ea typeface="Montserrat"/>
              <a:cs typeface="Montserrat"/>
              <a:sym typeface="Montserrat"/>
            </a:endParaRPr>
          </a:p>
        </p:txBody>
      </p:sp>
      <p:sp>
        <p:nvSpPr>
          <p:cNvPr id="170" name="Google Shape;170;p7"/>
          <p:cNvSpPr/>
          <p:nvPr/>
        </p:nvSpPr>
        <p:spPr>
          <a:xfrm>
            <a:off x="1022350" y="2571700"/>
            <a:ext cx="2171446"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If you start when the alarm goes off, you are responding, not hunting.</a:t>
            </a:r>
            <a:endParaRPr b="0" i="0" sz="1200" u="none" cap="none" strike="noStrike">
              <a:solidFill>
                <a:schemeClr val="lt1"/>
              </a:solidFill>
              <a:latin typeface="Montserrat"/>
              <a:ea typeface="Montserrat"/>
              <a:cs typeface="Montserrat"/>
              <a:sym typeface="Montserrat"/>
            </a:endParaRPr>
          </a:p>
        </p:txBody>
      </p:sp>
      <p:sp>
        <p:nvSpPr>
          <p:cNvPr id="171" name="Google Shape;171;p7"/>
          <p:cNvSpPr/>
          <p:nvPr/>
        </p:nvSpPr>
        <p:spPr>
          <a:xfrm>
            <a:off x="3495675" y="1831925"/>
            <a:ext cx="2520950" cy="1586111"/>
          </a:xfrm>
          <a:prstGeom prst="roundRect">
            <a:avLst>
              <a:gd fmla="val 6205"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3702050" y="2038300"/>
            <a:ext cx="2171446"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Not triage</a:t>
            </a:r>
            <a:endParaRPr b="0" i="0" sz="1500" u="none" cap="none" strike="noStrike">
              <a:solidFill>
                <a:schemeClr val="lt1"/>
              </a:solidFill>
              <a:latin typeface="Montserrat"/>
              <a:ea typeface="Montserrat"/>
              <a:cs typeface="Montserrat"/>
              <a:sym typeface="Montserrat"/>
            </a:endParaRPr>
          </a:p>
        </p:txBody>
      </p:sp>
      <p:sp>
        <p:nvSpPr>
          <p:cNvPr id="173" name="Google Shape;173;p7"/>
          <p:cNvSpPr/>
          <p:nvPr/>
        </p:nvSpPr>
        <p:spPr>
          <a:xfrm>
            <a:off x="3702050" y="2343100"/>
            <a:ext cx="2171446"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Working the SIEM queue is necessary, but those are alerts someone already wrote.</a:t>
            </a:r>
            <a:endParaRPr b="0" i="0" sz="1200" u="none" cap="none" strike="noStrike">
              <a:solidFill>
                <a:schemeClr val="lt1"/>
              </a:solidFill>
              <a:latin typeface="Montserrat"/>
              <a:ea typeface="Montserrat"/>
              <a:cs typeface="Montserrat"/>
              <a:sym typeface="Montserrat"/>
            </a:endParaRPr>
          </a:p>
        </p:txBody>
      </p:sp>
      <p:sp>
        <p:nvSpPr>
          <p:cNvPr id="174" name="Google Shape;174;p7"/>
          <p:cNvSpPr/>
          <p:nvPr/>
        </p:nvSpPr>
        <p:spPr>
          <a:xfrm>
            <a:off x="6175375" y="1831925"/>
            <a:ext cx="2520950" cy="1586111"/>
          </a:xfrm>
          <a:prstGeom prst="roundRect">
            <a:avLst>
              <a:gd fmla="val 6205"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p:nvPr/>
        </p:nvSpPr>
        <p:spPr>
          <a:xfrm>
            <a:off x="6381750" y="2038300"/>
            <a:ext cx="2171446"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Not sweeping IOCs</a:t>
            </a:r>
            <a:endParaRPr b="0" i="0" sz="1500" u="none" cap="none" strike="noStrike">
              <a:solidFill>
                <a:schemeClr val="lt1"/>
              </a:solidFill>
              <a:latin typeface="Montserrat"/>
              <a:ea typeface="Montserrat"/>
              <a:cs typeface="Montserrat"/>
              <a:sym typeface="Montserrat"/>
            </a:endParaRPr>
          </a:p>
        </p:txBody>
      </p:sp>
      <p:sp>
        <p:nvSpPr>
          <p:cNvPr id="176" name="Google Shape;176;p7"/>
          <p:cNvSpPr/>
          <p:nvPr/>
        </p:nvSpPr>
        <p:spPr>
          <a:xfrm>
            <a:off x="6381750" y="2343100"/>
            <a:ext cx="2171446"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Searching a feed’s hashes is useful, short-lived and needs no hypothesis.</a:t>
            </a:r>
            <a:endParaRPr b="0" i="0" sz="1200" u="none" cap="none" strike="noStrike">
              <a:solidFill>
                <a:schemeClr val="lt1"/>
              </a:solidFill>
              <a:latin typeface="Montserrat"/>
              <a:ea typeface="Montserrat"/>
              <a:cs typeface="Montserrat"/>
              <a:sym typeface="Montserrat"/>
            </a:endParaRPr>
          </a:p>
        </p:txBody>
      </p:sp>
      <p:sp>
        <p:nvSpPr>
          <p:cNvPr id="177" name="Google Shape;177;p7"/>
          <p:cNvSpPr/>
          <p:nvPr/>
        </p:nvSpPr>
        <p:spPr>
          <a:xfrm>
            <a:off x="8855075" y="1831925"/>
            <a:ext cx="2520950" cy="1586111"/>
          </a:xfrm>
          <a:prstGeom prst="roundRect">
            <a:avLst>
              <a:gd fmla="val 6205"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
          <p:cNvSpPr/>
          <p:nvPr/>
        </p:nvSpPr>
        <p:spPr>
          <a:xfrm>
            <a:off x="9061450" y="2038300"/>
            <a:ext cx="2171446" cy="4826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Not incident response</a:t>
            </a:r>
            <a:endParaRPr b="0" i="0" sz="1500" u="none" cap="none" strike="noStrike">
              <a:solidFill>
                <a:schemeClr val="lt1"/>
              </a:solidFill>
              <a:latin typeface="Montserrat"/>
              <a:ea typeface="Montserrat"/>
              <a:cs typeface="Montserrat"/>
              <a:sym typeface="Montserrat"/>
            </a:endParaRPr>
          </a:p>
        </p:txBody>
      </p:sp>
      <p:sp>
        <p:nvSpPr>
          <p:cNvPr id="179" name="Google Shape;179;p7"/>
          <p:cNvSpPr/>
          <p:nvPr/>
        </p:nvSpPr>
        <p:spPr>
          <a:xfrm>
            <a:off x="9061450" y="2571700"/>
            <a:ext cx="2171446"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IR starts from a certainty: something happened. Hunting starts from a doubt.</a:t>
            </a:r>
            <a:endParaRPr b="0" i="0" sz="1200" u="none" cap="none" strike="noStrike">
              <a:solidFill>
                <a:schemeClr val="lt1"/>
              </a:solidFill>
              <a:latin typeface="Montserrat"/>
              <a:ea typeface="Montserrat"/>
              <a:cs typeface="Montserrat"/>
              <a:sym typeface="Montserrat"/>
            </a:endParaRPr>
          </a:p>
        </p:txBody>
      </p:sp>
      <p:sp>
        <p:nvSpPr>
          <p:cNvPr id="180" name="Google Shape;180;p7"/>
          <p:cNvSpPr/>
          <p:nvPr/>
        </p:nvSpPr>
        <p:spPr>
          <a:xfrm>
            <a:off x="812800" y="3675211"/>
            <a:ext cx="10566400" cy="1254720"/>
          </a:xfrm>
          <a:prstGeom prst="roundRect">
            <a:avLst>
              <a:gd fmla="val 8097" name="adj"/>
            </a:avLst>
          </a:prstGeom>
          <a:solidFill>
            <a:srgbClr val="1B17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
          <p:cNvSpPr/>
          <p:nvPr/>
        </p:nvSpPr>
        <p:spPr>
          <a:xfrm>
            <a:off x="812800" y="3675211"/>
            <a:ext cx="10566400" cy="1254720"/>
          </a:xfrm>
          <a:custGeom>
            <a:rect b="b" l="l" r="r" t="t"/>
            <a:pathLst>
              <a:path extrusionOk="0" h="1254720" w="10566400">
                <a:moveTo>
                  <a:pt x="101600" y="1254720"/>
                </a:moveTo>
                <a:lnTo>
                  <a:pt x="101600" y="1254720"/>
                </a:lnTo>
                <a:cubicBezTo>
                  <a:pt x="45488" y="1254720"/>
                  <a:pt x="0" y="1209232"/>
                  <a:pt x="0" y="1153120"/>
                </a:cubicBezTo>
                <a:lnTo>
                  <a:pt x="0" y="101600"/>
                </a:lnTo>
                <a:cubicBezTo>
                  <a:pt x="0" y="45488"/>
                  <a:pt x="45488" y="0"/>
                  <a:pt x="101600" y="0"/>
                </a:cubicBezTo>
                <a:lnTo>
                  <a:pt x="101600" y="0"/>
                </a:lnTo>
                <a:cubicBezTo>
                  <a:pt x="66530" y="0"/>
                  <a:pt x="38100" y="45488"/>
                  <a:pt x="38100" y="101600"/>
                </a:cubicBezTo>
                <a:lnTo>
                  <a:pt x="38100" y="1153120"/>
                </a:lnTo>
                <a:cubicBezTo>
                  <a:pt x="38100" y="1209232"/>
                  <a:pt x="66530" y="1254720"/>
                  <a:pt x="101600" y="1254720"/>
                </a:cubicBezTo>
                <a:close/>
              </a:path>
            </a:pathLst>
          </a:custGeom>
          <a:solidFill>
            <a:srgbClr val="F59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1104900" y="3878411"/>
            <a:ext cx="10320909"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Threat hunting is the </a:t>
            </a:r>
            <a:r>
              <a:rPr b="1" i="0" lang="en-US" sz="1500" u="none" cap="none" strike="noStrike">
                <a:solidFill>
                  <a:srgbClr val="F1EEF7"/>
                </a:solidFill>
                <a:latin typeface="Montserrat"/>
                <a:ea typeface="Montserrat"/>
                <a:cs typeface="Montserrat"/>
                <a:sym typeface="Montserrat"/>
              </a:rPr>
              <a:t>proactive, iterative</a:t>
            </a:r>
            <a:r>
              <a:rPr b="0" i="0" lang="en-US" sz="1500" u="none" cap="none" strike="noStrike">
                <a:solidFill>
                  <a:srgbClr val="F1EEF7"/>
                </a:solidFill>
                <a:latin typeface="Montserrat"/>
                <a:ea typeface="Montserrat"/>
                <a:cs typeface="Montserrat"/>
                <a:sym typeface="Montserrat"/>
              </a:rPr>
              <a:t> search for threats that </a:t>
            </a:r>
            <a:r>
              <a:rPr b="1" i="0" lang="en-US" sz="1500" u="none" cap="none" strike="noStrike">
                <a:solidFill>
                  <a:srgbClr val="F1EEF7"/>
                </a:solidFill>
                <a:latin typeface="Montserrat"/>
                <a:ea typeface="Montserrat"/>
                <a:cs typeface="Montserrat"/>
                <a:sym typeface="Montserrat"/>
              </a:rPr>
              <a:t>evaded existing controls</a:t>
            </a:r>
            <a:r>
              <a:rPr b="0" i="0" lang="en-US" sz="1500" u="none" cap="none" strike="noStrike">
                <a:solidFill>
                  <a:srgbClr val="F1EEF7"/>
                </a:solidFill>
                <a:latin typeface="Montserrat"/>
                <a:ea typeface="Montserrat"/>
                <a:cs typeface="Montserrat"/>
                <a:sym typeface="Montserrat"/>
              </a:rPr>
              <a:t>.</a:t>
            </a:r>
            <a:endParaRPr b="0" i="0" sz="1500" u="none" cap="none" strike="noStrike">
              <a:solidFill>
                <a:schemeClr val="lt1"/>
              </a:solidFill>
              <a:latin typeface="Montserrat"/>
              <a:ea typeface="Montserrat"/>
              <a:cs typeface="Montserrat"/>
              <a:sym typeface="Montserrat"/>
            </a:endParaRPr>
          </a:p>
        </p:txBody>
      </p:sp>
      <p:sp>
        <p:nvSpPr>
          <p:cNvPr id="183" name="Google Shape;183;p7"/>
          <p:cNvSpPr/>
          <p:nvPr/>
        </p:nvSpPr>
        <p:spPr>
          <a:xfrm>
            <a:off x="1104900" y="4513411"/>
            <a:ext cx="1032090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Assume breach · Start from a hypothesis · End with something new</a:t>
            </a:r>
            <a:endParaRPr b="0" i="0" sz="1200" u="none" cap="none" strike="noStrike">
              <a:solidFill>
                <a:schemeClr val="lt1"/>
              </a:solidFill>
              <a:latin typeface="Montserrat"/>
              <a:ea typeface="Montserrat"/>
              <a:cs typeface="Montserrat"/>
              <a:sym typeface="Montserrat"/>
            </a:endParaRPr>
          </a:p>
        </p:txBody>
      </p:sp>
      <p:sp>
        <p:nvSpPr>
          <p:cNvPr id="184" name="Google Shape;184;p7"/>
          <p:cNvSpPr/>
          <p:nvPr/>
        </p:nvSpPr>
        <p:spPr>
          <a:xfrm>
            <a:off x="812800" y="6238280"/>
            <a:ext cx="881651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Source: Sqrrl, “A Framework for Cyber Threat Hunting” · Bianco et al., PEAK (Splunk SURGe, 2023)</a:t>
            </a:r>
            <a:endParaRPr b="0" i="0" sz="1200" u="none" cap="none" strike="noStrike">
              <a:solidFill>
                <a:schemeClr val="lt1"/>
              </a:solidFill>
              <a:latin typeface="Montserrat"/>
              <a:ea typeface="Montserrat"/>
              <a:cs typeface="Montserrat"/>
              <a:sym typeface="Montserrat"/>
            </a:endParaRPr>
          </a:p>
        </p:txBody>
      </p:sp>
      <p:sp>
        <p:nvSpPr>
          <p:cNvPr id="185" name="Google Shape;185;p7"/>
          <p:cNvSpPr/>
          <p:nvPr/>
        </p:nvSpPr>
        <p:spPr>
          <a:xfrm>
            <a:off x="11238657" y="6238280"/>
            <a:ext cx="140543"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7</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190" name="Shape 190"/>
        <p:cNvGrpSpPr/>
        <p:nvPr/>
      </p:nvGrpSpPr>
      <p:grpSpPr>
        <a:xfrm>
          <a:off x="0" y="0"/>
          <a:ext cx="0" cy="0"/>
          <a:chOff x="0" y="0"/>
          <a:chExt cx="0" cy="0"/>
        </a:xfrm>
      </p:grpSpPr>
      <p:sp>
        <p:nvSpPr>
          <p:cNvPr id="191" name="Google Shape;191;p8"/>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THREAT HUNTING IN TEN MINUTES</a:t>
            </a:r>
            <a:endParaRPr b="0" i="0" sz="1200" u="none" cap="none" strike="noStrike">
              <a:solidFill>
                <a:schemeClr val="lt1"/>
              </a:solidFill>
              <a:latin typeface="Montserrat"/>
              <a:ea typeface="Montserrat"/>
              <a:cs typeface="Montserrat"/>
              <a:sym typeface="Montserrat"/>
            </a:endParaRPr>
          </a:p>
        </p:txBody>
      </p:sp>
      <p:sp>
        <p:nvSpPr>
          <p:cNvPr id="192" name="Google Shape;192;p8"/>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Three ways to hunt</a:t>
            </a:r>
            <a:endParaRPr sz="3200"/>
          </a:p>
        </p:txBody>
      </p:sp>
      <p:sp>
        <p:nvSpPr>
          <p:cNvPr id="193" name="Google Shape;193;p8"/>
          <p:cNvSpPr/>
          <p:nvPr/>
        </p:nvSpPr>
        <p:spPr>
          <a:xfrm>
            <a:off x="819150" y="1835100"/>
            <a:ext cx="3382417" cy="2868613"/>
          </a:xfrm>
          <a:prstGeom prst="roundRect">
            <a:avLst>
              <a:gd fmla="val 3320" name="adj"/>
            </a:avLst>
          </a:prstGeom>
          <a:solidFill>
            <a:srgbClr val="1B1726"/>
          </a:solidFill>
          <a:ln cap="flat" cmpd="sng" w="12700">
            <a:solidFill>
              <a:srgbClr val="F59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
          <p:cNvSpPr/>
          <p:nvPr/>
        </p:nvSpPr>
        <p:spPr>
          <a:xfrm>
            <a:off x="1079500" y="2095450"/>
            <a:ext cx="294756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TODAY’S</a:t>
            </a:r>
            <a:endParaRPr b="0" i="0" sz="1200" u="none" cap="none" strike="noStrike">
              <a:solidFill>
                <a:schemeClr val="lt1"/>
              </a:solidFill>
              <a:latin typeface="Montserrat"/>
              <a:ea typeface="Montserrat"/>
              <a:cs typeface="Montserrat"/>
              <a:sym typeface="Montserrat"/>
            </a:endParaRPr>
          </a:p>
        </p:txBody>
      </p:sp>
      <p:sp>
        <p:nvSpPr>
          <p:cNvPr id="195" name="Google Shape;195;p8"/>
          <p:cNvSpPr/>
          <p:nvPr/>
        </p:nvSpPr>
        <p:spPr>
          <a:xfrm>
            <a:off x="1079500" y="2410371"/>
            <a:ext cx="2947568"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Intelligence-driven</a:t>
            </a:r>
            <a:endParaRPr b="0" i="0" sz="1500" u="none" cap="none" strike="noStrike">
              <a:solidFill>
                <a:schemeClr val="lt1"/>
              </a:solidFill>
              <a:latin typeface="Montserrat"/>
              <a:ea typeface="Montserrat"/>
              <a:cs typeface="Montserrat"/>
              <a:sym typeface="Montserrat"/>
            </a:endParaRPr>
          </a:p>
        </p:txBody>
      </p:sp>
      <p:sp>
        <p:nvSpPr>
          <p:cNvPr id="196" name="Google Shape;196;p8"/>
          <p:cNvSpPr/>
          <p:nvPr/>
        </p:nvSpPr>
        <p:spPr>
          <a:xfrm>
            <a:off x="1079500" y="2740571"/>
            <a:ext cx="2947568" cy="8786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Starts from outside. A report, a feed or a PIR tells you what is happening, and you translate its TTPs, not its IOCs, into a question for your fleet.</a:t>
            </a:r>
            <a:endParaRPr b="0" i="0" sz="1200" u="none" cap="none" strike="noStrike">
              <a:solidFill>
                <a:schemeClr val="lt1"/>
              </a:solidFill>
              <a:latin typeface="Montserrat"/>
              <a:ea typeface="Montserrat"/>
              <a:cs typeface="Montserrat"/>
              <a:sym typeface="Montserrat"/>
            </a:endParaRPr>
          </a:p>
        </p:txBody>
      </p:sp>
      <p:pic>
        <p:nvPicPr>
          <p:cNvPr descr="line" id="197" name="Google Shape;197;p8"/>
          <p:cNvPicPr preferRelativeResize="0"/>
          <p:nvPr/>
        </p:nvPicPr>
        <p:blipFill rotWithShape="1">
          <a:blip r:embed="rId3">
            <a:alphaModFix/>
          </a:blip>
          <a:srcRect b="-39" l="0" r="0" t="-39"/>
          <a:stretch/>
        </p:blipFill>
        <p:spPr>
          <a:xfrm>
            <a:off x="1079500" y="3695452"/>
            <a:ext cx="2861717" cy="6350"/>
          </a:xfrm>
          <a:prstGeom prst="rect">
            <a:avLst/>
          </a:prstGeom>
          <a:noFill/>
          <a:ln>
            <a:noFill/>
          </a:ln>
        </p:spPr>
      </p:pic>
      <p:sp>
        <p:nvSpPr>
          <p:cNvPr id="198" name="Google Shape;198;p8"/>
          <p:cNvSpPr/>
          <p:nvPr/>
        </p:nvSpPr>
        <p:spPr>
          <a:xfrm>
            <a:off x="1079500" y="3803402"/>
            <a:ext cx="2947568"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Example:</a:t>
            </a:r>
            <a:r>
              <a:rPr b="0" i="0" lang="en-US" sz="1200" u="none" cap="none" strike="noStrike">
                <a:solidFill>
                  <a:srgbClr val="F1EEF7"/>
                </a:solidFill>
                <a:latin typeface="Montserrat"/>
                <a:ea typeface="Montserrat"/>
                <a:cs typeface="Montserrat"/>
                <a:sym typeface="Montserrat"/>
              </a:rPr>
              <a:t> ClickFix was 47% of initial access. Did anyone in the fleet paste a command?</a:t>
            </a:r>
            <a:endParaRPr b="0" i="0" sz="1200" u="none" cap="none" strike="noStrike">
              <a:solidFill>
                <a:schemeClr val="lt1"/>
              </a:solidFill>
              <a:latin typeface="Montserrat"/>
              <a:ea typeface="Montserrat"/>
              <a:cs typeface="Montserrat"/>
              <a:sym typeface="Montserrat"/>
            </a:endParaRPr>
          </a:p>
        </p:txBody>
      </p:sp>
      <p:sp>
        <p:nvSpPr>
          <p:cNvPr id="199" name="Google Shape;199;p8"/>
          <p:cNvSpPr/>
          <p:nvPr/>
        </p:nvSpPr>
        <p:spPr>
          <a:xfrm>
            <a:off x="4414292" y="1831925"/>
            <a:ext cx="3376116" cy="2874963"/>
          </a:xfrm>
          <a:prstGeom prst="roundRect">
            <a:avLst>
              <a:gd fmla="val 3424"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p:nvPr/>
        </p:nvSpPr>
        <p:spPr>
          <a:xfrm>
            <a:off x="4671467" y="2089100"/>
            <a:ext cx="294761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1" i="0" lang="en-US" sz="1200" u="none" cap="none" strike="noStrike">
                <a:solidFill>
                  <a:srgbClr val="8F8AA6"/>
                </a:solidFill>
                <a:latin typeface="Montserrat"/>
                <a:ea typeface="Montserrat"/>
                <a:cs typeface="Montserrat"/>
                <a:sym typeface="Montserrat"/>
              </a:rPr>
              <a:t>ATT&amp;CK</a:t>
            </a:r>
            <a:endParaRPr b="0" i="0" sz="1200" u="none" cap="none" strike="noStrike">
              <a:solidFill>
                <a:schemeClr val="lt1"/>
              </a:solidFill>
              <a:latin typeface="Montserrat"/>
              <a:ea typeface="Montserrat"/>
              <a:cs typeface="Montserrat"/>
              <a:sym typeface="Montserrat"/>
            </a:endParaRPr>
          </a:p>
        </p:txBody>
      </p:sp>
      <p:sp>
        <p:nvSpPr>
          <p:cNvPr id="201" name="Google Shape;201;p8"/>
          <p:cNvSpPr/>
          <p:nvPr/>
        </p:nvSpPr>
        <p:spPr>
          <a:xfrm>
            <a:off x="4671467" y="2404021"/>
            <a:ext cx="2947619"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Hypothesis-driven</a:t>
            </a:r>
            <a:endParaRPr b="0" i="0" sz="1500" u="none" cap="none" strike="noStrike">
              <a:solidFill>
                <a:schemeClr val="lt1"/>
              </a:solidFill>
              <a:latin typeface="Montserrat"/>
              <a:ea typeface="Montserrat"/>
              <a:cs typeface="Montserrat"/>
              <a:sym typeface="Montserrat"/>
            </a:endParaRPr>
          </a:p>
        </p:txBody>
      </p:sp>
      <p:sp>
        <p:nvSpPr>
          <p:cNvPr id="202" name="Google Shape;202;p8"/>
          <p:cNvSpPr/>
          <p:nvPr/>
        </p:nvSpPr>
        <p:spPr>
          <a:xfrm>
            <a:off x="4671467" y="2734221"/>
            <a:ext cx="2947619" cy="8786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Starts from an idea, with no report to trigger it: you start from ATT&amp;CK or your own experience. “If the adversary did X, I would see it in Y.”</a:t>
            </a:r>
            <a:endParaRPr b="0" i="0" sz="1200" u="none" cap="none" strike="noStrike">
              <a:solidFill>
                <a:schemeClr val="lt1"/>
              </a:solidFill>
              <a:latin typeface="Montserrat"/>
              <a:ea typeface="Montserrat"/>
              <a:cs typeface="Montserrat"/>
              <a:sym typeface="Montserrat"/>
            </a:endParaRPr>
          </a:p>
        </p:txBody>
      </p:sp>
      <p:pic>
        <p:nvPicPr>
          <p:cNvPr descr="line" id="203" name="Google Shape;203;p8"/>
          <p:cNvPicPr preferRelativeResize="0"/>
          <p:nvPr/>
        </p:nvPicPr>
        <p:blipFill rotWithShape="1">
          <a:blip r:embed="rId3">
            <a:alphaModFix/>
          </a:blip>
          <a:srcRect b="-39" l="0" r="0" t="-39"/>
          <a:stretch/>
        </p:blipFill>
        <p:spPr>
          <a:xfrm>
            <a:off x="4671467" y="3689102"/>
            <a:ext cx="2861766" cy="6350"/>
          </a:xfrm>
          <a:prstGeom prst="rect">
            <a:avLst/>
          </a:prstGeom>
          <a:noFill/>
          <a:ln>
            <a:noFill/>
          </a:ln>
        </p:spPr>
      </p:pic>
      <p:sp>
        <p:nvSpPr>
          <p:cNvPr id="204" name="Google Shape;204;p8"/>
          <p:cNvSpPr/>
          <p:nvPr/>
        </p:nvSpPr>
        <p:spPr>
          <a:xfrm>
            <a:off x="4671467" y="3797052"/>
            <a:ext cx="2947619"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Example:</a:t>
            </a:r>
            <a:r>
              <a:rPr b="0" i="0" lang="en-US" sz="1200" u="none" cap="none" strike="noStrike">
                <a:solidFill>
                  <a:srgbClr val="F1EEF7"/>
                </a:solidFill>
                <a:latin typeface="Montserrat"/>
                <a:ea typeface="Montserrat"/>
                <a:cs typeface="Montserrat"/>
                <a:sym typeface="Montserrat"/>
              </a:rPr>
              <a:t> if someone persists in the browser, a process that is not Chrome will write its profile.</a:t>
            </a:r>
            <a:endParaRPr b="0" i="0" sz="1200" u="none" cap="none" strike="noStrike">
              <a:solidFill>
                <a:schemeClr val="lt1"/>
              </a:solidFill>
              <a:latin typeface="Montserrat"/>
              <a:ea typeface="Montserrat"/>
              <a:cs typeface="Montserrat"/>
              <a:sym typeface="Montserrat"/>
            </a:endParaRPr>
          </a:p>
        </p:txBody>
      </p:sp>
      <p:sp>
        <p:nvSpPr>
          <p:cNvPr id="205" name="Google Shape;205;p8"/>
          <p:cNvSpPr/>
          <p:nvPr/>
        </p:nvSpPr>
        <p:spPr>
          <a:xfrm>
            <a:off x="7999958" y="1831925"/>
            <a:ext cx="3376067" cy="2874963"/>
          </a:xfrm>
          <a:prstGeom prst="roundRect">
            <a:avLst>
              <a:gd fmla="val 3424"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8257133" y="2089100"/>
            <a:ext cx="294756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1" i="0" lang="en-US" sz="1200" u="none" cap="none" strike="noStrike">
                <a:solidFill>
                  <a:srgbClr val="8F8AA6"/>
                </a:solidFill>
                <a:latin typeface="Montserrat"/>
                <a:ea typeface="Montserrat"/>
                <a:cs typeface="Montserrat"/>
                <a:sym typeface="Montserrat"/>
              </a:rPr>
              <a:t>EXPLORATORY</a:t>
            </a:r>
            <a:endParaRPr b="0" i="0" sz="1200" u="none" cap="none" strike="noStrike">
              <a:solidFill>
                <a:schemeClr val="lt1"/>
              </a:solidFill>
              <a:latin typeface="Montserrat"/>
              <a:ea typeface="Montserrat"/>
              <a:cs typeface="Montserrat"/>
              <a:sym typeface="Montserrat"/>
            </a:endParaRPr>
          </a:p>
        </p:txBody>
      </p:sp>
      <p:sp>
        <p:nvSpPr>
          <p:cNvPr id="207" name="Google Shape;207;p8"/>
          <p:cNvSpPr/>
          <p:nvPr/>
        </p:nvSpPr>
        <p:spPr>
          <a:xfrm>
            <a:off x="8257133" y="2404021"/>
            <a:ext cx="2947568"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Baseline</a:t>
            </a:r>
            <a:endParaRPr b="0" i="0" sz="1500" u="none" cap="none" strike="noStrike">
              <a:solidFill>
                <a:schemeClr val="lt1"/>
              </a:solidFill>
              <a:latin typeface="Montserrat"/>
              <a:ea typeface="Montserrat"/>
              <a:cs typeface="Montserrat"/>
              <a:sym typeface="Montserrat"/>
            </a:endParaRPr>
          </a:p>
        </p:txBody>
      </p:sp>
      <p:sp>
        <p:nvSpPr>
          <p:cNvPr id="208" name="Google Shape;208;p8"/>
          <p:cNvSpPr/>
          <p:nvPr/>
        </p:nvSpPr>
        <p:spPr>
          <a:xfrm>
            <a:off x="8257133" y="2734221"/>
            <a:ext cx="2947568" cy="8786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Starts from the data. You define normal and hunt the odd: stack counting, rarity across the fleet, things seen only once.</a:t>
            </a:r>
            <a:endParaRPr b="0" i="0" sz="1200" u="none" cap="none" strike="noStrike">
              <a:solidFill>
                <a:schemeClr val="lt1"/>
              </a:solidFill>
              <a:latin typeface="Montserrat"/>
              <a:ea typeface="Montserrat"/>
              <a:cs typeface="Montserrat"/>
              <a:sym typeface="Montserrat"/>
            </a:endParaRPr>
          </a:p>
        </p:txBody>
      </p:sp>
      <p:pic>
        <p:nvPicPr>
          <p:cNvPr descr="line" id="209" name="Google Shape;209;p8"/>
          <p:cNvPicPr preferRelativeResize="0"/>
          <p:nvPr/>
        </p:nvPicPr>
        <p:blipFill rotWithShape="1">
          <a:blip r:embed="rId3">
            <a:alphaModFix/>
          </a:blip>
          <a:srcRect b="-39" l="0" r="0" t="-39"/>
          <a:stretch/>
        </p:blipFill>
        <p:spPr>
          <a:xfrm>
            <a:off x="8257133" y="3689102"/>
            <a:ext cx="2861717" cy="6350"/>
          </a:xfrm>
          <a:prstGeom prst="rect">
            <a:avLst/>
          </a:prstGeom>
          <a:noFill/>
          <a:ln>
            <a:noFill/>
          </a:ln>
        </p:spPr>
      </p:pic>
      <p:sp>
        <p:nvSpPr>
          <p:cNvPr id="210" name="Google Shape;210;p8"/>
          <p:cNvSpPr/>
          <p:nvPr/>
        </p:nvSpPr>
        <p:spPr>
          <a:xfrm>
            <a:off x="8257133" y="3797052"/>
            <a:ext cx="2947568"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Example:</a:t>
            </a:r>
            <a:r>
              <a:rPr b="0" i="0" lang="en-US" sz="1200" u="none" cap="none" strike="noStrike">
                <a:solidFill>
                  <a:srgbClr val="F1EEF7"/>
                </a:solidFill>
                <a:latin typeface="Montserrat"/>
                <a:ea typeface="Montserrat"/>
                <a:cs typeface="Montserrat"/>
                <a:sym typeface="Montserrat"/>
              </a:rPr>
              <a:t> how many times a month does csc.exe run with no arguments across 3,000 hosts?</a:t>
            </a:r>
            <a:endParaRPr b="0" i="0" sz="1200" u="none" cap="none" strike="noStrike">
              <a:solidFill>
                <a:schemeClr val="lt1"/>
              </a:solidFill>
              <a:latin typeface="Montserrat"/>
              <a:ea typeface="Montserrat"/>
              <a:cs typeface="Montserrat"/>
              <a:sym typeface="Montserrat"/>
            </a:endParaRPr>
          </a:p>
        </p:txBody>
      </p:sp>
      <p:sp>
        <p:nvSpPr>
          <p:cNvPr id="211" name="Google Shape;211;p8"/>
          <p:cNvSpPr/>
          <p:nvPr/>
        </p:nvSpPr>
        <p:spPr>
          <a:xfrm>
            <a:off x="812800" y="6238280"/>
            <a:ext cx="49627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Adapted from PEAK (Bianco et al., Splunk SURGe, 2023)</a:t>
            </a:r>
            <a:endParaRPr b="0" i="0" sz="1200" u="none" cap="none" strike="noStrike">
              <a:solidFill>
                <a:schemeClr val="lt1"/>
              </a:solidFill>
              <a:latin typeface="Montserrat"/>
              <a:ea typeface="Montserrat"/>
              <a:cs typeface="Montserrat"/>
              <a:sym typeface="Montserrat"/>
            </a:endParaRPr>
          </a:p>
        </p:txBody>
      </p:sp>
      <p:sp>
        <p:nvSpPr>
          <p:cNvPr id="212" name="Google Shape;212;p8"/>
          <p:cNvSpPr/>
          <p:nvPr/>
        </p:nvSpPr>
        <p:spPr>
          <a:xfrm>
            <a:off x="11231215" y="6238280"/>
            <a:ext cx="147985"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8</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217" name="Shape 217"/>
        <p:cNvGrpSpPr/>
        <p:nvPr/>
      </p:nvGrpSpPr>
      <p:grpSpPr>
        <a:xfrm>
          <a:off x="0" y="0"/>
          <a:ext cx="0" cy="0"/>
          <a:chOff x="0" y="0"/>
          <a:chExt cx="0" cy="0"/>
        </a:xfrm>
      </p:grpSpPr>
      <p:sp>
        <p:nvSpPr>
          <p:cNvPr id="218" name="Google Shape;218;p9"/>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THREAT HUNTING IN TEN MINUTES</a:t>
            </a:r>
            <a:endParaRPr b="0" i="0" sz="1200" u="none" cap="none" strike="noStrike">
              <a:solidFill>
                <a:schemeClr val="lt1"/>
              </a:solidFill>
              <a:latin typeface="Montserrat"/>
              <a:ea typeface="Montserrat"/>
              <a:cs typeface="Montserrat"/>
              <a:sym typeface="Montserrat"/>
            </a:endParaRPr>
          </a:p>
        </p:txBody>
      </p:sp>
      <p:sp>
        <p:nvSpPr>
          <p:cNvPr id="219" name="Google Shape;219;p9"/>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The Pyramid of Pain</a:t>
            </a:r>
            <a:endParaRPr sz="3200"/>
          </a:p>
        </p:txBody>
      </p:sp>
      <p:sp>
        <p:nvSpPr>
          <p:cNvPr id="220" name="Google Shape;220;p9"/>
          <p:cNvSpPr/>
          <p:nvPr/>
        </p:nvSpPr>
        <p:spPr>
          <a:xfrm>
            <a:off x="2781300" y="1879550"/>
            <a:ext cx="1905000" cy="411460"/>
          </a:xfrm>
          <a:prstGeom prst="roundRect">
            <a:avLst>
              <a:gd fmla="val 12346" name="adj"/>
            </a:avLst>
          </a:prstGeom>
          <a:solidFill>
            <a:srgbClr val="F59E42"/>
          </a:solidFill>
          <a:ln>
            <a:noFill/>
          </a:ln>
        </p:spPr>
        <p:txBody>
          <a:bodyPr anchorCtr="0" anchor="t" bIns="74000" lIns="112100" spcFirstLastPara="1" rIns="112100" wrap="square" tIns="99400">
            <a:normAutofit/>
          </a:bodyPr>
          <a:lstStyle/>
          <a:p>
            <a:pPr indent="0" lvl="0" marL="0" marR="0" rtl="0" algn="ctr">
              <a:lnSpc>
                <a:spcPct val="120000"/>
              </a:lnSpc>
              <a:spcBef>
                <a:spcPts val="0"/>
              </a:spcBef>
              <a:spcAft>
                <a:spcPts val="0"/>
              </a:spcAft>
              <a:buClr>
                <a:srgbClr val="0C0B12"/>
              </a:buClr>
              <a:buSzPts val="1200"/>
              <a:buFont typeface="Montserrat"/>
              <a:buNone/>
            </a:pPr>
            <a:r>
              <a:rPr b="1" i="0" lang="en-US" sz="1200" u="none" cap="none" strike="noStrike">
                <a:solidFill>
                  <a:srgbClr val="0C0B12"/>
                </a:solidFill>
                <a:latin typeface="Montserrat"/>
                <a:ea typeface="Montserrat"/>
                <a:cs typeface="Montserrat"/>
                <a:sym typeface="Montserrat"/>
              </a:rPr>
              <a:t>TTPs</a:t>
            </a:r>
            <a:r>
              <a:rPr b="0" i="0" lang="en-US" sz="1200" u="none" cap="none" strike="noStrike">
                <a:solidFill>
                  <a:srgbClr val="0C0B12"/>
                </a:solidFill>
                <a:latin typeface="Montserrat"/>
                <a:ea typeface="Montserrat"/>
                <a:cs typeface="Montserrat"/>
                <a:sym typeface="Montserrat"/>
              </a:rPr>
              <a:t> · Tough!</a:t>
            </a:r>
            <a:endParaRPr b="0" i="0" sz="1200" u="none" cap="none" strike="noStrike">
              <a:solidFill>
                <a:schemeClr val="lt1"/>
              </a:solidFill>
              <a:latin typeface="Montserrat"/>
              <a:ea typeface="Montserrat"/>
              <a:cs typeface="Montserrat"/>
              <a:sym typeface="Montserrat"/>
            </a:endParaRPr>
          </a:p>
        </p:txBody>
      </p:sp>
      <p:sp>
        <p:nvSpPr>
          <p:cNvPr id="221" name="Google Shape;221;p9"/>
          <p:cNvSpPr/>
          <p:nvPr/>
        </p:nvSpPr>
        <p:spPr>
          <a:xfrm>
            <a:off x="2403475" y="2344986"/>
            <a:ext cx="2660650" cy="417810"/>
          </a:xfrm>
          <a:prstGeom prst="roundRect">
            <a:avLst>
              <a:gd fmla="val 11399" name="adj"/>
            </a:avLst>
          </a:prstGeom>
          <a:solidFill>
            <a:srgbClr val="1B1726"/>
          </a:solidFill>
          <a:ln cap="flat" cmpd="sng" w="9525">
            <a:solidFill>
              <a:srgbClr val="2D2740"/>
            </a:solidFill>
            <a:prstDash val="solid"/>
            <a:round/>
            <a:headEnd len="sm" w="sm" type="none"/>
            <a:tailEnd len="sm" w="sm" type="none"/>
          </a:ln>
        </p:spPr>
        <p:txBody>
          <a:bodyPr anchorCtr="0" anchor="t" bIns="78125" lIns="106375" spcFirstLastPara="1" rIns="106375" wrap="square" tIns="103525">
            <a:normAutofit/>
          </a:bodyPr>
          <a:lstStyle/>
          <a:p>
            <a:pPr indent="0" lvl="0" marL="0" marR="0" rtl="0" algn="ctr">
              <a:lnSpc>
                <a:spcPct val="12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Tools</a:t>
            </a:r>
            <a:r>
              <a:rPr b="0" i="0" lang="en-US" sz="1200" u="none" cap="none" strike="noStrike">
                <a:solidFill>
                  <a:srgbClr val="F1EEF7"/>
                </a:solidFill>
                <a:latin typeface="Montserrat"/>
                <a:ea typeface="Montserrat"/>
                <a:cs typeface="Montserrat"/>
                <a:sym typeface="Montserrat"/>
              </a:rPr>
              <a:t> · Challenging</a:t>
            </a:r>
            <a:endParaRPr b="0" i="0" sz="1200" u="none" cap="none" strike="noStrike">
              <a:solidFill>
                <a:schemeClr val="lt1"/>
              </a:solidFill>
              <a:latin typeface="Montserrat"/>
              <a:ea typeface="Montserrat"/>
              <a:cs typeface="Montserrat"/>
              <a:sym typeface="Montserrat"/>
            </a:endParaRPr>
          </a:p>
        </p:txBody>
      </p:sp>
      <p:sp>
        <p:nvSpPr>
          <p:cNvPr id="222" name="Google Shape;222;p9"/>
          <p:cNvSpPr/>
          <p:nvPr/>
        </p:nvSpPr>
        <p:spPr>
          <a:xfrm>
            <a:off x="1958975" y="2819946"/>
            <a:ext cx="3549650" cy="417810"/>
          </a:xfrm>
          <a:prstGeom prst="roundRect">
            <a:avLst>
              <a:gd fmla="val 11399" name="adj"/>
            </a:avLst>
          </a:prstGeom>
          <a:solidFill>
            <a:srgbClr val="1B1726"/>
          </a:solidFill>
          <a:ln cap="flat" cmpd="sng" w="9525">
            <a:solidFill>
              <a:srgbClr val="2D2740"/>
            </a:solidFill>
            <a:prstDash val="solid"/>
            <a:round/>
            <a:headEnd len="sm" w="sm" type="none"/>
            <a:tailEnd len="sm" w="sm" type="none"/>
          </a:ln>
        </p:spPr>
        <p:txBody>
          <a:bodyPr anchorCtr="0" anchor="t" bIns="78125" lIns="93025" spcFirstLastPara="1" rIns="93025" wrap="square" tIns="103525">
            <a:normAutofit/>
          </a:bodyPr>
          <a:lstStyle/>
          <a:p>
            <a:pPr indent="0" lvl="0" marL="0" marR="0" rtl="0" algn="ctr">
              <a:lnSpc>
                <a:spcPct val="12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Network/Host Artifacts</a:t>
            </a:r>
            <a:r>
              <a:rPr b="0" i="0" lang="en-US" sz="1200" u="none" cap="none" strike="noStrike">
                <a:solidFill>
                  <a:srgbClr val="F1EEF7"/>
                </a:solidFill>
                <a:latin typeface="Montserrat"/>
                <a:ea typeface="Montserrat"/>
                <a:cs typeface="Montserrat"/>
                <a:sym typeface="Montserrat"/>
              </a:rPr>
              <a:t> · Annoying</a:t>
            </a:r>
            <a:endParaRPr b="0" i="0" sz="1200" u="none" cap="none" strike="noStrike">
              <a:solidFill>
                <a:schemeClr val="lt1"/>
              </a:solidFill>
              <a:latin typeface="Montserrat"/>
              <a:ea typeface="Montserrat"/>
              <a:cs typeface="Montserrat"/>
              <a:sym typeface="Montserrat"/>
            </a:endParaRPr>
          </a:p>
        </p:txBody>
      </p:sp>
      <p:sp>
        <p:nvSpPr>
          <p:cNvPr id="223" name="Google Shape;223;p9"/>
          <p:cNvSpPr/>
          <p:nvPr/>
        </p:nvSpPr>
        <p:spPr>
          <a:xfrm>
            <a:off x="1577975" y="3294906"/>
            <a:ext cx="4311650" cy="417810"/>
          </a:xfrm>
          <a:prstGeom prst="roundRect">
            <a:avLst>
              <a:gd fmla="val 11399" name="adj"/>
            </a:avLst>
          </a:prstGeom>
          <a:solidFill>
            <a:srgbClr val="1B1726"/>
          </a:solidFill>
          <a:ln cap="flat" cmpd="sng" w="9525">
            <a:solidFill>
              <a:srgbClr val="2D2740"/>
            </a:solidFill>
            <a:prstDash val="solid"/>
            <a:round/>
            <a:headEnd len="sm" w="sm" type="none"/>
            <a:tailEnd len="sm" w="sm" type="none"/>
          </a:ln>
        </p:spPr>
        <p:txBody>
          <a:bodyPr anchorCtr="0" anchor="t" bIns="78125" lIns="81600" spcFirstLastPara="1" rIns="81600" wrap="square" tIns="103525">
            <a:normAutofit/>
          </a:bodyPr>
          <a:lstStyle/>
          <a:p>
            <a:pPr indent="0" lvl="0" marL="0" marR="0" rtl="0" algn="ctr">
              <a:lnSpc>
                <a:spcPct val="12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Domain Names</a:t>
            </a:r>
            <a:r>
              <a:rPr b="0" i="0" lang="en-US" sz="1200" u="none" cap="none" strike="noStrike">
                <a:solidFill>
                  <a:srgbClr val="F1EEF7"/>
                </a:solidFill>
                <a:latin typeface="Montserrat"/>
                <a:ea typeface="Montserrat"/>
                <a:cs typeface="Montserrat"/>
                <a:sym typeface="Montserrat"/>
              </a:rPr>
              <a:t> · Simple</a:t>
            </a:r>
            <a:endParaRPr b="0" i="0" sz="1200" u="none" cap="none" strike="noStrike">
              <a:solidFill>
                <a:schemeClr val="lt1"/>
              </a:solidFill>
              <a:latin typeface="Montserrat"/>
              <a:ea typeface="Montserrat"/>
              <a:cs typeface="Montserrat"/>
              <a:sym typeface="Montserrat"/>
            </a:endParaRPr>
          </a:p>
        </p:txBody>
      </p:sp>
      <p:sp>
        <p:nvSpPr>
          <p:cNvPr id="224" name="Google Shape;224;p9"/>
          <p:cNvSpPr/>
          <p:nvPr/>
        </p:nvSpPr>
        <p:spPr>
          <a:xfrm>
            <a:off x="1196975" y="3769866"/>
            <a:ext cx="5073650" cy="417810"/>
          </a:xfrm>
          <a:prstGeom prst="roundRect">
            <a:avLst>
              <a:gd fmla="val 11399" name="adj"/>
            </a:avLst>
          </a:prstGeom>
          <a:solidFill>
            <a:srgbClr val="1B1726"/>
          </a:solidFill>
          <a:ln cap="flat" cmpd="sng" w="9525">
            <a:solidFill>
              <a:srgbClr val="2D2740"/>
            </a:solidFill>
            <a:prstDash val="solid"/>
            <a:round/>
            <a:headEnd len="sm" w="sm" type="none"/>
            <a:tailEnd len="sm" w="sm" type="none"/>
          </a:ln>
        </p:spPr>
        <p:txBody>
          <a:bodyPr anchorCtr="0" anchor="t" bIns="78125" lIns="70175" spcFirstLastPara="1" rIns="70175" wrap="square" tIns="103525">
            <a:normAutofit/>
          </a:bodyPr>
          <a:lstStyle/>
          <a:p>
            <a:pPr indent="0" lvl="0" marL="0" marR="0" rtl="0" algn="ctr">
              <a:lnSpc>
                <a:spcPct val="12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IP Addresses</a:t>
            </a:r>
            <a:r>
              <a:rPr b="0" i="0" lang="en-US" sz="1200" u="none" cap="none" strike="noStrike">
                <a:solidFill>
                  <a:srgbClr val="F1EEF7"/>
                </a:solidFill>
                <a:latin typeface="Montserrat"/>
                <a:ea typeface="Montserrat"/>
                <a:cs typeface="Montserrat"/>
                <a:sym typeface="Montserrat"/>
              </a:rPr>
              <a:t> · Easy</a:t>
            </a:r>
            <a:endParaRPr b="0" i="0" sz="1200" u="none" cap="none" strike="noStrike">
              <a:solidFill>
                <a:schemeClr val="lt1"/>
              </a:solidFill>
              <a:latin typeface="Montserrat"/>
              <a:ea typeface="Montserrat"/>
              <a:cs typeface="Montserrat"/>
              <a:sym typeface="Montserrat"/>
            </a:endParaRPr>
          </a:p>
        </p:txBody>
      </p:sp>
      <p:sp>
        <p:nvSpPr>
          <p:cNvPr id="225" name="Google Shape;225;p9"/>
          <p:cNvSpPr/>
          <p:nvPr/>
        </p:nvSpPr>
        <p:spPr>
          <a:xfrm>
            <a:off x="815975" y="4244826"/>
            <a:ext cx="5835650" cy="417810"/>
          </a:xfrm>
          <a:prstGeom prst="roundRect">
            <a:avLst>
              <a:gd fmla="val 11399" name="adj"/>
            </a:avLst>
          </a:prstGeom>
          <a:solidFill>
            <a:srgbClr val="1B1726"/>
          </a:solidFill>
          <a:ln cap="flat" cmpd="sng" w="9525">
            <a:solidFill>
              <a:srgbClr val="2D2740"/>
            </a:solidFill>
            <a:prstDash val="solid"/>
            <a:round/>
            <a:headEnd len="sm" w="sm" type="none"/>
            <a:tailEnd len="sm" w="sm" type="none"/>
          </a:ln>
        </p:spPr>
        <p:txBody>
          <a:bodyPr anchorCtr="0" anchor="t" bIns="78125" lIns="58750" spcFirstLastPara="1" rIns="58750" wrap="square" tIns="103525">
            <a:normAutofit/>
          </a:bodyPr>
          <a:lstStyle/>
          <a:p>
            <a:pPr indent="0" lvl="0" marL="0" marR="0" rtl="0" algn="ctr">
              <a:lnSpc>
                <a:spcPct val="12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Hash Values</a:t>
            </a:r>
            <a:r>
              <a:rPr b="0" i="0" lang="en-US" sz="1200" u="none" cap="none" strike="noStrike">
                <a:solidFill>
                  <a:srgbClr val="F1EEF7"/>
                </a:solidFill>
                <a:latin typeface="Montserrat"/>
                <a:ea typeface="Montserrat"/>
                <a:cs typeface="Montserrat"/>
                <a:sym typeface="Montserrat"/>
              </a:rPr>
              <a:t> · Trivial</a:t>
            </a:r>
            <a:endParaRPr b="0" i="0" sz="1200" u="none" cap="none" strike="noStrike">
              <a:solidFill>
                <a:schemeClr val="lt1"/>
              </a:solidFill>
              <a:latin typeface="Montserrat"/>
              <a:ea typeface="Montserrat"/>
              <a:cs typeface="Montserrat"/>
              <a:sym typeface="Montserrat"/>
            </a:endParaRPr>
          </a:p>
        </p:txBody>
      </p:sp>
      <p:sp>
        <p:nvSpPr>
          <p:cNvPr id="226" name="Google Shape;226;p9"/>
          <p:cNvSpPr/>
          <p:nvPr/>
        </p:nvSpPr>
        <p:spPr>
          <a:xfrm>
            <a:off x="7061200" y="1981250"/>
            <a:ext cx="444754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C2C2F4"/>
              </a:buClr>
              <a:buSzPts val="1500"/>
              <a:buFont typeface="Montserrat"/>
              <a:buNone/>
            </a:pPr>
            <a:r>
              <a:rPr b="1" i="0" lang="en-US" sz="1500" u="none" cap="none" strike="noStrike">
                <a:solidFill>
                  <a:srgbClr val="C2C2F4"/>
                </a:solidFill>
                <a:latin typeface="Montserrat"/>
                <a:ea typeface="Montserrat"/>
                <a:cs typeface="Montserrat"/>
                <a:sym typeface="Montserrat"/>
              </a:rPr>
              <a:t>In this case</a:t>
            </a:r>
            <a:endParaRPr b="0" i="0" sz="1500" u="none" cap="none" strike="noStrike">
              <a:solidFill>
                <a:schemeClr val="lt1"/>
              </a:solidFill>
              <a:latin typeface="Montserrat"/>
              <a:ea typeface="Montserrat"/>
              <a:cs typeface="Montserrat"/>
              <a:sym typeface="Montserrat"/>
            </a:endParaRPr>
          </a:p>
        </p:txBody>
      </p:sp>
      <p:sp>
        <p:nvSpPr>
          <p:cNvPr id="227" name="Google Shape;227;p9"/>
          <p:cNvSpPr/>
          <p:nvPr/>
        </p:nvSpPr>
        <p:spPr>
          <a:xfrm>
            <a:off x="7061200" y="2387650"/>
            <a:ext cx="44475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1" i="0" lang="en-US" sz="1200" u="none" cap="none" strike="noStrike">
                <a:solidFill>
                  <a:srgbClr val="8F8AA6"/>
                </a:solidFill>
                <a:latin typeface="Montserrat"/>
                <a:ea typeface="Montserrat"/>
                <a:cs typeface="Montserrat"/>
                <a:sym typeface="Montserrat"/>
              </a:rPr>
              <a:t>Hash · trivial</a:t>
            </a:r>
            <a:endParaRPr b="0" i="0" sz="1200" u="none" cap="none" strike="noStrike">
              <a:solidFill>
                <a:schemeClr val="lt1"/>
              </a:solidFill>
              <a:latin typeface="Montserrat"/>
              <a:ea typeface="Montserrat"/>
              <a:cs typeface="Montserrat"/>
              <a:sym typeface="Montserrat"/>
            </a:endParaRPr>
          </a:p>
        </p:txBody>
      </p:sp>
      <p:sp>
        <p:nvSpPr>
          <p:cNvPr id="228" name="Google Shape;228;p9"/>
          <p:cNvSpPr/>
          <p:nvPr/>
        </p:nvSpPr>
        <p:spPr>
          <a:xfrm>
            <a:off x="7061200" y="2639070"/>
            <a:ext cx="44475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The script’s hash changed on every download.</a:t>
            </a:r>
            <a:endParaRPr b="0" i="0" sz="1200" u="none" cap="none" strike="noStrike">
              <a:solidFill>
                <a:schemeClr val="lt1"/>
              </a:solidFill>
              <a:latin typeface="Montserrat"/>
              <a:ea typeface="Montserrat"/>
              <a:cs typeface="Montserrat"/>
              <a:sym typeface="Montserrat"/>
            </a:endParaRPr>
          </a:p>
        </p:txBody>
      </p:sp>
      <p:sp>
        <p:nvSpPr>
          <p:cNvPr id="229" name="Google Shape;229;p9"/>
          <p:cNvSpPr/>
          <p:nvPr/>
        </p:nvSpPr>
        <p:spPr>
          <a:xfrm>
            <a:off x="7061200" y="3030190"/>
            <a:ext cx="44475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1" i="0" lang="en-US" sz="1200" u="none" cap="none" strike="noStrike">
                <a:solidFill>
                  <a:srgbClr val="8F8AA6"/>
                </a:solidFill>
                <a:latin typeface="Montserrat"/>
                <a:ea typeface="Montserrat"/>
                <a:cs typeface="Montserrat"/>
                <a:sym typeface="Montserrat"/>
              </a:rPr>
              <a:t>Domain · simple</a:t>
            </a:r>
            <a:endParaRPr b="0" i="0" sz="1200" u="none" cap="none" strike="noStrike">
              <a:solidFill>
                <a:schemeClr val="lt1"/>
              </a:solidFill>
              <a:latin typeface="Montserrat"/>
              <a:ea typeface="Montserrat"/>
              <a:cs typeface="Montserrat"/>
              <a:sym typeface="Montserrat"/>
            </a:endParaRPr>
          </a:p>
        </p:txBody>
      </p:sp>
      <p:sp>
        <p:nvSpPr>
          <p:cNvPr id="230" name="Google Shape;230;p9"/>
          <p:cNvSpPr/>
          <p:nvPr/>
        </p:nvSpPr>
        <p:spPr>
          <a:xfrm>
            <a:off x="7061200" y="3281611"/>
            <a:ext cx="444754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The stage-1 domain no longer resolved days after we captured it.</a:t>
            </a:r>
            <a:endParaRPr b="0" i="0" sz="1200" u="none" cap="none" strike="noStrike">
              <a:solidFill>
                <a:schemeClr val="lt1"/>
              </a:solidFill>
              <a:latin typeface="Montserrat"/>
              <a:ea typeface="Montserrat"/>
              <a:cs typeface="Montserrat"/>
              <a:sym typeface="Montserrat"/>
            </a:endParaRPr>
          </a:p>
        </p:txBody>
      </p:sp>
      <p:sp>
        <p:nvSpPr>
          <p:cNvPr id="231" name="Google Shape;231;p9"/>
          <p:cNvSpPr/>
          <p:nvPr/>
        </p:nvSpPr>
        <p:spPr>
          <a:xfrm>
            <a:off x="7061200" y="3886051"/>
            <a:ext cx="44475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TTP · tough</a:t>
            </a:r>
            <a:endParaRPr b="0" i="0" sz="1200" u="none" cap="none" strike="noStrike">
              <a:solidFill>
                <a:schemeClr val="lt1"/>
              </a:solidFill>
              <a:latin typeface="Montserrat"/>
              <a:ea typeface="Montserrat"/>
              <a:cs typeface="Montserrat"/>
              <a:sym typeface="Montserrat"/>
            </a:endParaRPr>
          </a:p>
        </p:txBody>
      </p:sp>
      <p:sp>
        <p:nvSpPr>
          <p:cNvPr id="232" name="Google Shape;232;p9"/>
          <p:cNvSpPr/>
          <p:nvPr/>
        </p:nvSpPr>
        <p:spPr>
          <a:xfrm>
            <a:off x="7061200" y="4137471"/>
            <a:ext cx="444754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The behavior did not change: paste, hide the console, inject into .NET and persist in the browser.</a:t>
            </a:r>
            <a:endParaRPr b="0" i="0" sz="1200" u="none" cap="none" strike="noStrike">
              <a:solidFill>
                <a:schemeClr val="lt1"/>
              </a:solidFill>
              <a:latin typeface="Montserrat"/>
              <a:ea typeface="Montserrat"/>
              <a:cs typeface="Montserrat"/>
              <a:sym typeface="Montserrat"/>
            </a:endParaRPr>
          </a:p>
        </p:txBody>
      </p:sp>
      <p:sp>
        <p:nvSpPr>
          <p:cNvPr id="233" name="Google Shape;233;p9"/>
          <p:cNvSpPr/>
          <p:nvPr/>
        </p:nvSpPr>
        <p:spPr>
          <a:xfrm>
            <a:off x="812800" y="6238280"/>
            <a:ext cx="441352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Source: D. J. Bianco, “The Pyramid of Pain” (2013)</a:t>
            </a:r>
            <a:endParaRPr b="0" i="0" sz="1200" u="none" cap="none" strike="noStrike">
              <a:solidFill>
                <a:schemeClr val="lt1"/>
              </a:solidFill>
              <a:latin typeface="Montserrat"/>
              <a:ea typeface="Montserrat"/>
              <a:cs typeface="Montserrat"/>
              <a:sym typeface="Montserrat"/>
            </a:endParaRPr>
          </a:p>
        </p:txBody>
      </p:sp>
      <p:sp>
        <p:nvSpPr>
          <p:cNvPr id="234" name="Google Shape;234;p9"/>
          <p:cNvSpPr/>
          <p:nvPr/>
        </p:nvSpPr>
        <p:spPr>
          <a:xfrm>
            <a:off x="11235581" y="6238280"/>
            <a:ext cx="143619"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9</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239" name="Shape 239"/>
        <p:cNvGrpSpPr/>
        <p:nvPr/>
      </p:nvGrpSpPr>
      <p:grpSpPr>
        <a:xfrm>
          <a:off x="0" y="0"/>
          <a:ext cx="0" cy="0"/>
          <a:chOff x="0" y="0"/>
          <a:chExt cx="0" cy="0"/>
        </a:xfrm>
      </p:grpSpPr>
      <p:sp>
        <p:nvSpPr>
          <p:cNvPr id="240" name="Google Shape;240;p10"/>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THREAT HUNTING IN TEN MINUTES</a:t>
            </a:r>
            <a:endParaRPr b="0" i="0" sz="1200" u="none" cap="none" strike="noStrike">
              <a:solidFill>
                <a:schemeClr val="lt1"/>
              </a:solidFill>
              <a:latin typeface="Montserrat"/>
              <a:ea typeface="Montserrat"/>
              <a:cs typeface="Montserrat"/>
              <a:sym typeface="Montserrat"/>
            </a:endParaRPr>
          </a:p>
        </p:txBody>
      </p:sp>
      <p:sp>
        <p:nvSpPr>
          <p:cNvPr id="241" name="Google Shape;241;p10"/>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The hunt cycle</a:t>
            </a:r>
            <a:endParaRPr sz="3200"/>
          </a:p>
        </p:txBody>
      </p:sp>
      <p:sp>
        <p:nvSpPr>
          <p:cNvPr id="242" name="Google Shape;242;p10"/>
          <p:cNvSpPr/>
          <p:nvPr/>
        </p:nvSpPr>
        <p:spPr>
          <a:xfrm>
            <a:off x="812800" y="1828750"/>
            <a:ext cx="4133850" cy="365720"/>
          </a:xfrm>
          <a:custGeom>
            <a:rect b="b" l="l" r="r" t="t"/>
            <a:pathLst>
              <a:path extrusionOk="0" h="365720" w="4133850">
                <a:moveTo>
                  <a:pt x="50800" y="0"/>
                </a:moveTo>
                <a:lnTo>
                  <a:pt x="4083050" y="0"/>
                </a:lnTo>
                <a:cubicBezTo>
                  <a:pt x="4096523" y="0"/>
                  <a:pt x="4109444" y="5352"/>
                  <a:pt x="4118971" y="14879"/>
                </a:cubicBezTo>
                <a:cubicBezTo>
                  <a:pt x="4128498" y="24406"/>
                  <a:pt x="4133850" y="37327"/>
                  <a:pt x="4133850" y="50800"/>
                </a:cubicBezTo>
                <a:lnTo>
                  <a:pt x="4133850" y="314920"/>
                </a:lnTo>
                <a:cubicBezTo>
                  <a:pt x="4133850" y="342976"/>
                  <a:pt x="4111106" y="365720"/>
                  <a:pt x="4083050" y="365720"/>
                </a:cubicBezTo>
                <a:lnTo>
                  <a:pt x="50800" y="365720"/>
                </a:lnTo>
                <a:cubicBezTo>
                  <a:pt x="22744" y="365720"/>
                  <a:pt x="0" y="342976"/>
                  <a:pt x="0" y="314920"/>
                </a:cubicBezTo>
                <a:lnTo>
                  <a:pt x="0" y="50800"/>
                </a:lnTo>
                <a:cubicBezTo>
                  <a:pt x="0" y="22744"/>
                  <a:pt x="22744" y="0"/>
                  <a:pt x="50800" y="0"/>
                </a:cubicBezTo>
                <a:close/>
              </a:path>
            </a:pathLst>
          </a:custGeom>
          <a:solidFill>
            <a:srgbClr val="2A1438"/>
          </a:solidFill>
          <a:ln>
            <a:noFill/>
          </a:ln>
        </p:spPr>
        <p:txBody>
          <a:bodyPr anchorCtr="0" anchor="t" bIns="50800" lIns="0" spcFirstLastPara="1" rIns="0" wrap="square" tIns="76200">
            <a:normAutofit/>
          </a:bodyPr>
          <a:lstStyle/>
          <a:p>
            <a:pPr indent="0" lvl="0" marL="0" marR="0" rtl="0" algn="ctr">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PREPARE</a:t>
            </a:r>
            <a:endParaRPr b="0" i="0" sz="1200" u="none" cap="none" strike="noStrike">
              <a:solidFill>
                <a:schemeClr val="lt1"/>
              </a:solidFill>
              <a:latin typeface="Montserrat"/>
              <a:ea typeface="Montserrat"/>
              <a:cs typeface="Montserrat"/>
              <a:sym typeface="Montserrat"/>
            </a:endParaRPr>
          </a:p>
        </p:txBody>
      </p:sp>
      <p:sp>
        <p:nvSpPr>
          <p:cNvPr id="243" name="Google Shape;243;p10"/>
          <p:cNvSpPr/>
          <p:nvPr/>
        </p:nvSpPr>
        <p:spPr>
          <a:xfrm>
            <a:off x="5099050" y="1828750"/>
            <a:ext cx="4133850" cy="365720"/>
          </a:xfrm>
          <a:custGeom>
            <a:rect b="b" l="l" r="r" t="t"/>
            <a:pathLst>
              <a:path extrusionOk="0" h="365720" w="4133850">
                <a:moveTo>
                  <a:pt x="50800" y="0"/>
                </a:moveTo>
                <a:lnTo>
                  <a:pt x="4083050" y="0"/>
                </a:lnTo>
                <a:cubicBezTo>
                  <a:pt x="4096523" y="0"/>
                  <a:pt x="4109444" y="5352"/>
                  <a:pt x="4118971" y="14879"/>
                </a:cubicBezTo>
                <a:cubicBezTo>
                  <a:pt x="4128498" y="24406"/>
                  <a:pt x="4133850" y="37327"/>
                  <a:pt x="4133850" y="50800"/>
                </a:cubicBezTo>
                <a:lnTo>
                  <a:pt x="4133850" y="314920"/>
                </a:lnTo>
                <a:cubicBezTo>
                  <a:pt x="4133850" y="342976"/>
                  <a:pt x="4111106" y="365720"/>
                  <a:pt x="4083050" y="365720"/>
                </a:cubicBezTo>
                <a:lnTo>
                  <a:pt x="50800" y="365720"/>
                </a:lnTo>
                <a:cubicBezTo>
                  <a:pt x="22744" y="365720"/>
                  <a:pt x="0" y="342976"/>
                  <a:pt x="0" y="314920"/>
                </a:cubicBezTo>
                <a:lnTo>
                  <a:pt x="0" y="50800"/>
                </a:lnTo>
                <a:cubicBezTo>
                  <a:pt x="0" y="22744"/>
                  <a:pt x="22744" y="0"/>
                  <a:pt x="50800" y="0"/>
                </a:cubicBezTo>
                <a:close/>
              </a:path>
            </a:pathLst>
          </a:custGeom>
          <a:solidFill>
            <a:srgbClr val="2A1438"/>
          </a:solidFill>
          <a:ln>
            <a:noFill/>
          </a:ln>
        </p:spPr>
        <p:txBody>
          <a:bodyPr anchorCtr="0" anchor="t" bIns="50800" lIns="0" spcFirstLastPara="1" rIns="0" wrap="square" tIns="76200">
            <a:normAutofit/>
          </a:bodyPr>
          <a:lstStyle/>
          <a:p>
            <a:pPr indent="0" lvl="0" marL="0" marR="0" rtl="0" algn="ctr">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EXECUTE</a:t>
            </a:r>
            <a:endParaRPr b="0" i="0" sz="1200" u="none" cap="none" strike="noStrike">
              <a:solidFill>
                <a:schemeClr val="lt1"/>
              </a:solidFill>
              <a:latin typeface="Montserrat"/>
              <a:ea typeface="Montserrat"/>
              <a:cs typeface="Montserrat"/>
              <a:sym typeface="Montserrat"/>
            </a:endParaRPr>
          </a:p>
        </p:txBody>
      </p:sp>
      <p:sp>
        <p:nvSpPr>
          <p:cNvPr id="244" name="Google Shape;244;p10"/>
          <p:cNvSpPr/>
          <p:nvPr/>
        </p:nvSpPr>
        <p:spPr>
          <a:xfrm>
            <a:off x="9385300" y="1828750"/>
            <a:ext cx="1993900" cy="365720"/>
          </a:xfrm>
          <a:custGeom>
            <a:rect b="b" l="l" r="r" t="t"/>
            <a:pathLst>
              <a:path extrusionOk="0" h="365720" w="1993900">
                <a:moveTo>
                  <a:pt x="50800" y="0"/>
                </a:moveTo>
                <a:lnTo>
                  <a:pt x="1943100" y="0"/>
                </a:lnTo>
                <a:cubicBezTo>
                  <a:pt x="1956573" y="0"/>
                  <a:pt x="1969494" y="5352"/>
                  <a:pt x="1979021" y="14879"/>
                </a:cubicBezTo>
                <a:cubicBezTo>
                  <a:pt x="1988548" y="24406"/>
                  <a:pt x="1993900" y="37327"/>
                  <a:pt x="1993900" y="50800"/>
                </a:cubicBezTo>
                <a:lnTo>
                  <a:pt x="1993900" y="314920"/>
                </a:lnTo>
                <a:cubicBezTo>
                  <a:pt x="1993900" y="342976"/>
                  <a:pt x="1971156" y="365720"/>
                  <a:pt x="1943100" y="365720"/>
                </a:cubicBezTo>
                <a:lnTo>
                  <a:pt x="50800" y="365720"/>
                </a:lnTo>
                <a:cubicBezTo>
                  <a:pt x="22744" y="365720"/>
                  <a:pt x="0" y="342976"/>
                  <a:pt x="0" y="314920"/>
                </a:cubicBezTo>
                <a:lnTo>
                  <a:pt x="0" y="50800"/>
                </a:lnTo>
                <a:cubicBezTo>
                  <a:pt x="0" y="22744"/>
                  <a:pt x="22744" y="0"/>
                  <a:pt x="50800" y="0"/>
                </a:cubicBezTo>
                <a:close/>
              </a:path>
            </a:pathLst>
          </a:custGeom>
          <a:solidFill>
            <a:srgbClr val="2A1438"/>
          </a:solidFill>
          <a:ln>
            <a:noFill/>
          </a:ln>
        </p:spPr>
        <p:txBody>
          <a:bodyPr anchorCtr="0" anchor="t" bIns="50800" lIns="0" spcFirstLastPara="1" rIns="0" wrap="square" tIns="76200">
            <a:normAutofit/>
          </a:bodyPr>
          <a:lstStyle/>
          <a:p>
            <a:pPr indent="0" lvl="0" marL="0" marR="0" rtl="0" algn="ctr">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ACT</a:t>
            </a:r>
            <a:endParaRPr b="0" i="0" sz="1200" u="none" cap="none" strike="noStrike">
              <a:solidFill>
                <a:schemeClr val="lt1"/>
              </a:solidFill>
              <a:latin typeface="Montserrat"/>
              <a:ea typeface="Montserrat"/>
              <a:cs typeface="Montserrat"/>
              <a:sym typeface="Montserrat"/>
            </a:endParaRPr>
          </a:p>
        </p:txBody>
      </p:sp>
      <p:sp>
        <p:nvSpPr>
          <p:cNvPr id="245" name="Google Shape;245;p10"/>
          <p:cNvSpPr/>
          <p:nvPr/>
        </p:nvSpPr>
        <p:spPr>
          <a:xfrm>
            <a:off x="815975" y="2299246"/>
            <a:ext cx="1982440" cy="2693392"/>
          </a:xfrm>
          <a:prstGeom prst="roundRect">
            <a:avLst>
              <a:gd fmla="val 4965"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0"/>
          <p:cNvSpPr/>
          <p:nvPr/>
        </p:nvSpPr>
        <p:spPr>
          <a:xfrm>
            <a:off x="996950" y="2480221"/>
            <a:ext cx="1671290"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1</a:t>
            </a:r>
            <a:endParaRPr b="0" i="0" sz="2000" u="none" cap="none" strike="noStrike">
              <a:solidFill>
                <a:schemeClr val="lt1"/>
              </a:solidFill>
              <a:latin typeface="Montserrat"/>
              <a:ea typeface="Montserrat"/>
              <a:cs typeface="Montserrat"/>
              <a:sym typeface="Montserrat"/>
            </a:endParaRPr>
          </a:p>
        </p:txBody>
      </p:sp>
      <p:sp>
        <p:nvSpPr>
          <p:cNvPr id="247" name="Google Shape;247;p10"/>
          <p:cNvSpPr/>
          <p:nvPr/>
        </p:nvSpPr>
        <p:spPr>
          <a:xfrm>
            <a:off x="996950" y="2899321"/>
            <a:ext cx="167129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Hypothesis</a:t>
            </a:r>
            <a:endParaRPr b="0" i="0" sz="1500" u="none" cap="none" strike="noStrike">
              <a:solidFill>
                <a:schemeClr val="lt1"/>
              </a:solidFill>
              <a:latin typeface="Montserrat"/>
              <a:ea typeface="Montserrat"/>
              <a:cs typeface="Montserrat"/>
              <a:sym typeface="Montserrat"/>
            </a:endParaRPr>
          </a:p>
        </p:txBody>
      </p:sp>
      <p:sp>
        <p:nvSpPr>
          <p:cNvPr id="248" name="Google Shape;248;p10"/>
          <p:cNvSpPr/>
          <p:nvPr/>
        </p:nvSpPr>
        <p:spPr>
          <a:xfrm>
            <a:off x="996950" y="3191421"/>
            <a:ext cx="1671290"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What would the adversary do, and where would I see it?</a:t>
            </a:r>
            <a:endParaRPr b="0" i="0" sz="1200" u="none" cap="none" strike="noStrike">
              <a:solidFill>
                <a:schemeClr val="lt1"/>
              </a:solidFill>
              <a:latin typeface="Montserrat"/>
              <a:ea typeface="Montserrat"/>
              <a:cs typeface="Montserrat"/>
              <a:sym typeface="Montserrat"/>
            </a:endParaRPr>
          </a:p>
        </p:txBody>
      </p:sp>
      <p:sp>
        <p:nvSpPr>
          <p:cNvPr id="249" name="Google Shape;249;p10"/>
          <p:cNvSpPr/>
          <p:nvPr/>
        </p:nvSpPr>
        <p:spPr>
          <a:xfrm>
            <a:off x="996950" y="3894882"/>
            <a:ext cx="167129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In the case</a:t>
            </a:r>
            <a:endParaRPr b="0" i="0" sz="1200" u="none" cap="none" strike="noStrike">
              <a:solidFill>
                <a:schemeClr val="lt1"/>
              </a:solidFill>
              <a:latin typeface="Montserrat"/>
              <a:ea typeface="Montserrat"/>
              <a:cs typeface="Montserrat"/>
              <a:sym typeface="Montserrat"/>
            </a:endParaRPr>
          </a:p>
        </p:txBody>
      </p:sp>
      <p:sp>
        <p:nvSpPr>
          <p:cNvPr id="250" name="Google Shape;250;p10"/>
          <p:cNvSpPr/>
          <p:nvPr/>
        </p:nvSpPr>
        <p:spPr>
          <a:xfrm>
            <a:off x="996950" y="4171702"/>
            <a:ext cx="167129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1" lang="en-US" sz="1200" u="none" cap="none" strike="noStrike">
                <a:solidFill>
                  <a:srgbClr val="F1EEF7"/>
                </a:solidFill>
                <a:latin typeface="Montserrat"/>
                <a:ea typeface="Montserrat"/>
                <a:cs typeface="Montserrat"/>
                <a:sym typeface="Montserrat"/>
              </a:rPr>
              <a:t>A user pasted a ClickFix command.</a:t>
            </a:r>
            <a:endParaRPr b="0" i="0" sz="1200" u="none" cap="none" strike="noStrike">
              <a:solidFill>
                <a:schemeClr val="lt1"/>
              </a:solidFill>
              <a:latin typeface="Montserrat"/>
              <a:ea typeface="Montserrat"/>
              <a:cs typeface="Montserrat"/>
              <a:sym typeface="Montserrat"/>
            </a:endParaRPr>
          </a:p>
        </p:txBody>
      </p:sp>
      <p:sp>
        <p:nvSpPr>
          <p:cNvPr id="251" name="Google Shape;251;p10"/>
          <p:cNvSpPr/>
          <p:nvPr/>
        </p:nvSpPr>
        <p:spPr>
          <a:xfrm>
            <a:off x="2957165" y="2299246"/>
            <a:ext cx="1982490" cy="2693392"/>
          </a:xfrm>
          <a:prstGeom prst="roundRect">
            <a:avLst>
              <a:gd fmla="val 4965"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0"/>
          <p:cNvSpPr/>
          <p:nvPr/>
        </p:nvSpPr>
        <p:spPr>
          <a:xfrm>
            <a:off x="3138140" y="2480221"/>
            <a:ext cx="1671340"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2</a:t>
            </a:r>
            <a:endParaRPr b="0" i="0" sz="2000" u="none" cap="none" strike="noStrike">
              <a:solidFill>
                <a:schemeClr val="lt1"/>
              </a:solidFill>
              <a:latin typeface="Montserrat"/>
              <a:ea typeface="Montserrat"/>
              <a:cs typeface="Montserrat"/>
              <a:sym typeface="Montserrat"/>
            </a:endParaRPr>
          </a:p>
        </p:txBody>
      </p:sp>
      <p:sp>
        <p:nvSpPr>
          <p:cNvPr id="253" name="Google Shape;253;p10"/>
          <p:cNvSpPr/>
          <p:nvPr/>
        </p:nvSpPr>
        <p:spPr>
          <a:xfrm>
            <a:off x="3138140" y="2899321"/>
            <a:ext cx="167134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Data</a:t>
            </a:r>
            <a:endParaRPr b="0" i="0" sz="1500" u="none" cap="none" strike="noStrike">
              <a:solidFill>
                <a:schemeClr val="lt1"/>
              </a:solidFill>
              <a:latin typeface="Montserrat"/>
              <a:ea typeface="Montserrat"/>
              <a:cs typeface="Montserrat"/>
              <a:sym typeface="Montserrat"/>
            </a:endParaRPr>
          </a:p>
        </p:txBody>
      </p:sp>
      <p:sp>
        <p:nvSpPr>
          <p:cNvPr id="254" name="Google Shape;254;p10"/>
          <p:cNvSpPr/>
          <p:nvPr/>
        </p:nvSpPr>
        <p:spPr>
          <a:xfrm>
            <a:off x="3138140" y="3191421"/>
            <a:ext cx="1671340"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Do I have the telemetry? What can’t I see?</a:t>
            </a:r>
            <a:endParaRPr b="0" i="0" sz="1200" u="none" cap="none" strike="noStrike">
              <a:solidFill>
                <a:schemeClr val="lt1"/>
              </a:solidFill>
              <a:latin typeface="Montserrat"/>
              <a:ea typeface="Montserrat"/>
              <a:cs typeface="Montserrat"/>
              <a:sym typeface="Montserrat"/>
            </a:endParaRPr>
          </a:p>
        </p:txBody>
      </p:sp>
      <p:sp>
        <p:nvSpPr>
          <p:cNvPr id="255" name="Google Shape;255;p10"/>
          <p:cNvSpPr/>
          <p:nvPr/>
        </p:nvSpPr>
        <p:spPr>
          <a:xfrm>
            <a:off x="3138140" y="3894882"/>
            <a:ext cx="16713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In the case</a:t>
            </a:r>
            <a:endParaRPr b="0" i="0" sz="1200" u="none" cap="none" strike="noStrike">
              <a:solidFill>
                <a:schemeClr val="lt1"/>
              </a:solidFill>
              <a:latin typeface="Montserrat"/>
              <a:ea typeface="Montserrat"/>
              <a:cs typeface="Montserrat"/>
              <a:sym typeface="Montserrat"/>
            </a:endParaRPr>
          </a:p>
        </p:txBody>
      </p:sp>
      <p:sp>
        <p:nvSpPr>
          <p:cNvPr id="256" name="Google Shape;256;p10"/>
          <p:cNvSpPr/>
          <p:nvPr/>
        </p:nvSpPr>
        <p:spPr>
          <a:xfrm>
            <a:off x="3138140" y="4171702"/>
            <a:ext cx="1671340"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1" lang="en-US" sz="1200" u="none" cap="none" strike="noStrike">
                <a:solidFill>
                  <a:srgbClr val="F1EEF7"/>
                </a:solidFill>
                <a:latin typeface="Montserrat"/>
                <a:ea typeface="Montserrat"/>
                <a:cs typeface="Montserrat"/>
                <a:sym typeface="Montserrat"/>
              </a:rPr>
              <a:t>Processes, network, files and registry. Not the clipboard.</a:t>
            </a:r>
            <a:endParaRPr b="0" i="0" sz="1200" u="none" cap="none" strike="noStrike">
              <a:solidFill>
                <a:schemeClr val="lt1"/>
              </a:solidFill>
              <a:latin typeface="Montserrat"/>
              <a:ea typeface="Montserrat"/>
              <a:cs typeface="Montserrat"/>
              <a:sym typeface="Montserrat"/>
            </a:endParaRPr>
          </a:p>
        </p:txBody>
      </p:sp>
      <p:sp>
        <p:nvSpPr>
          <p:cNvPr id="257" name="Google Shape;257;p10"/>
          <p:cNvSpPr/>
          <p:nvPr/>
        </p:nvSpPr>
        <p:spPr>
          <a:xfrm>
            <a:off x="5098405" y="2299246"/>
            <a:ext cx="1982440" cy="2693392"/>
          </a:xfrm>
          <a:prstGeom prst="roundRect">
            <a:avLst>
              <a:gd fmla="val 4965"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0"/>
          <p:cNvSpPr/>
          <p:nvPr/>
        </p:nvSpPr>
        <p:spPr>
          <a:xfrm>
            <a:off x="5279380" y="2480221"/>
            <a:ext cx="1671290"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3</a:t>
            </a:r>
            <a:endParaRPr b="0" i="0" sz="2000" u="none" cap="none" strike="noStrike">
              <a:solidFill>
                <a:schemeClr val="lt1"/>
              </a:solidFill>
              <a:latin typeface="Montserrat"/>
              <a:ea typeface="Montserrat"/>
              <a:cs typeface="Montserrat"/>
              <a:sym typeface="Montserrat"/>
            </a:endParaRPr>
          </a:p>
        </p:txBody>
      </p:sp>
      <p:sp>
        <p:nvSpPr>
          <p:cNvPr id="259" name="Google Shape;259;p10"/>
          <p:cNvSpPr/>
          <p:nvPr/>
        </p:nvSpPr>
        <p:spPr>
          <a:xfrm>
            <a:off x="5279380" y="2899321"/>
            <a:ext cx="167129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Query</a:t>
            </a:r>
            <a:endParaRPr b="0" i="0" sz="1500" u="none" cap="none" strike="noStrike">
              <a:solidFill>
                <a:schemeClr val="lt1"/>
              </a:solidFill>
              <a:latin typeface="Montserrat"/>
              <a:ea typeface="Montserrat"/>
              <a:cs typeface="Montserrat"/>
              <a:sym typeface="Montserrat"/>
            </a:endParaRPr>
          </a:p>
        </p:txBody>
      </p:sp>
      <p:sp>
        <p:nvSpPr>
          <p:cNvPr id="260" name="Google Shape;260;p10"/>
          <p:cNvSpPr/>
          <p:nvPr/>
        </p:nvSpPr>
        <p:spPr>
          <a:xfrm>
            <a:off x="5279380" y="3191421"/>
            <a:ext cx="167129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Does it find what I know exists?</a:t>
            </a:r>
            <a:endParaRPr b="0" i="0" sz="1200" u="none" cap="none" strike="noStrike">
              <a:solidFill>
                <a:schemeClr val="lt1"/>
              </a:solidFill>
              <a:latin typeface="Montserrat"/>
              <a:ea typeface="Montserrat"/>
              <a:cs typeface="Montserrat"/>
              <a:sym typeface="Montserrat"/>
            </a:endParaRPr>
          </a:p>
        </p:txBody>
      </p:sp>
      <p:sp>
        <p:nvSpPr>
          <p:cNvPr id="261" name="Google Shape;261;p10"/>
          <p:cNvSpPr/>
          <p:nvPr/>
        </p:nvSpPr>
        <p:spPr>
          <a:xfrm>
            <a:off x="5279380" y="3681561"/>
            <a:ext cx="167129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In the case</a:t>
            </a:r>
            <a:endParaRPr b="0" i="0" sz="1200" u="none" cap="none" strike="noStrike">
              <a:solidFill>
                <a:schemeClr val="lt1"/>
              </a:solidFill>
              <a:latin typeface="Montserrat"/>
              <a:ea typeface="Montserrat"/>
              <a:cs typeface="Montserrat"/>
              <a:sym typeface="Montserrat"/>
            </a:endParaRPr>
          </a:p>
        </p:txBody>
      </p:sp>
      <p:sp>
        <p:nvSpPr>
          <p:cNvPr id="262" name="Google Shape;262;p10"/>
          <p:cNvSpPr/>
          <p:nvPr/>
        </p:nvSpPr>
        <p:spPr>
          <a:xfrm>
            <a:off x="5279380" y="3958382"/>
            <a:ext cx="167129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1" lang="en-US" sz="1200" u="none" cap="none" strike="noStrike">
                <a:solidFill>
                  <a:srgbClr val="F1EEF7"/>
                </a:solidFill>
                <a:latin typeface="Montserrat"/>
                <a:ea typeface="Montserrat"/>
                <a:cs typeface="Montserrat"/>
                <a:sym typeface="Montserrat"/>
              </a:rPr>
              <a:t>Tested against a positive control.</a:t>
            </a:r>
            <a:endParaRPr b="0" i="0" sz="1200" u="none" cap="none" strike="noStrike">
              <a:solidFill>
                <a:schemeClr val="lt1"/>
              </a:solidFill>
              <a:latin typeface="Montserrat"/>
              <a:ea typeface="Montserrat"/>
              <a:cs typeface="Montserrat"/>
              <a:sym typeface="Montserrat"/>
            </a:endParaRPr>
          </a:p>
        </p:txBody>
      </p:sp>
      <p:sp>
        <p:nvSpPr>
          <p:cNvPr id="263" name="Google Shape;263;p10"/>
          <p:cNvSpPr/>
          <p:nvPr/>
        </p:nvSpPr>
        <p:spPr>
          <a:xfrm>
            <a:off x="7239595" y="2299246"/>
            <a:ext cx="1982490" cy="2693392"/>
          </a:xfrm>
          <a:prstGeom prst="roundRect">
            <a:avLst>
              <a:gd fmla="val 4965"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0"/>
          <p:cNvSpPr/>
          <p:nvPr/>
        </p:nvSpPr>
        <p:spPr>
          <a:xfrm>
            <a:off x="7420570" y="2480221"/>
            <a:ext cx="1671340"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4</a:t>
            </a:r>
            <a:endParaRPr b="0" i="0" sz="2000" u="none" cap="none" strike="noStrike">
              <a:solidFill>
                <a:schemeClr val="lt1"/>
              </a:solidFill>
              <a:latin typeface="Montserrat"/>
              <a:ea typeface="Montserrat"/>
              <a:cs typeface="Montserrat"/>
              <a:sym typeface="Montserrat"/>
            </a:endParaRPr>
          </a:p>
        </p:txBody>
      </p:sp>
      <p:sp>
        <p:nvSpPr>
          <p:cNvPr id="265" name="Google Shape;265;p10"/>
          <p:cNvSpPr/>
          <p:nvPr/>
        </p:nvSpPr>
        <p:spPr>
          <a:xfrm>
            <a:off x="7420570" y="2899321"/>
            <a:ext cx="167134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Analysis</a:t>
            </a:r>
            <a:endParaRPr b="0" i="0" sz="1500" u="none" cap="none" strike="noStrike">
              <a:solidFill>
                <a:schemeClr val="lt1"/>
              </a:solidFill>
              <a:latin typeface="Montserrat"/>
              <a:ea typeface="Montserrat"/>
              <a:cs typeface="Montserrat"/>
              <a:sym typeface="Montserrat"/>
            </a:endParaRPr>
          </a:p>
        </p:txBody>
      </p:sp>
      <p:sp>
        <p:nvSpPr>
          <p:cNvPr id="266" name="Google Shape;266;p10"/>
          <p:cNvSpPr/>
          <p:nvPr/>
        </p:nvSpPr>
        <p:spPr>
          <a:xfrm>
            <a:off x="7420570" y="3191421"/>
            <a:ext cx="167134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Malicious, benign or inconclusive?</a:t>
            </a:r>
            <a:endParaRPr b="0" i="0" sz="1200" u="none" cap="none" strike="noStrike">
              <a:solidFill>
                <a:schemeClr val="lt1"/>
              </a:solidFill>
              <a:latin typeface="Montserrat"/>
              <a:ea typeface="Montserrat"/>
              <a:cs typeface="Montserrat"/>
              <a:sym typeface="Montserrat"/>
            </a:endParaRPr>
          </a:p>
        </p:txBody>
      </p:sp>
      <p:sp>
        <p:nvSpPr>
          <p:cNvPr id="267" name="Google Shape;267;p10"/>
          <p:cNvSpPr/>
          <p:nvPr/>
        </p:nvSpPr>
        <p:spPr>
          <a:xfrm>
            <a:off x="7420570" y="3681561"/>
            <a:ext cx="16713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In the case</a:t>
            </a:r>
            <a:endParaRPr b="0" i="0" sz="1200" u="none" cap="none" strike="noStrike">
              <a:solidFill>
                <a:schemeClr val="lt1"/>
              </a:solidFill>
              <a:latin typeface="Montserrat"/>
              <a:ea typeface="Montserrat"/>
              <a:cs typeface="Montserrat"/>
              <a:sym typeface="Montserrat"/>
            </a:endParaRPr>
          </a:p>
        </p:txBody>
      </p:sp>
      <p:sp>
        <p:nvSpPr>
          <p:cNvPr id="268" name="Google Shape;268;p10"/>
          <p:cNvSpPr/>
          <p:nvPr/>
        </p:nvSpPr>
        <p:spPr>
          <a:xfrm>
            <a:off x="7420570" y="3958382"/>
            <a:ext cx="167134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1" lang="en-US" sz="1200" u="none" cap="none" strike="noStrike">
                <a:solidFill>
                  <a:srgbClr val="F1EEF7"/>
                </a:solidFill>
                <a:latin typeface="Montserrat"/>
                <a:ea typeface="Montserrat"/>
                <a:cs typeface="Montserrat"/>
                <a:sym typeface="Montserrat"/>
              </a:rPr>
              <a:t>Every result, with its verdict.</a:t>
            </a:r>
            <a:endParaRPr b="0" i="0" sz="1200" u="none" cap="none" strike="noStrike">
              <a:solidFill>
                <a:schemeClr val="lt1"/>
              </a:solidFill>
              <a:latin typeface="Montserrat"/>
              <a:ea typeface="Montserrat"/>
              <a:cs typeface="Montserrat"/>
              <a:sym typeface="Montserrat"/>
            </a:endParaRPr>
          </a:p>
        </p:txBody>
      </p:sp>
      <p:sp>
        <p:nvSpPr>
          <p:cNvPr id="269" name="Google Shape;269;p10"/>
          <p:cNvSpPr/>
          <p:nvPr/>
        </p:nvSpPr>
        <p:spPr>
          <a:xfrm>
            <a:off x="9384010" y="2302421"/>
            <a:ext cx="1988840" cy="2687042"/>
          </a:xfrm>
          <a:prstGeom prst="roundRect">
            <a:avLst>
              <a:gd fmla="val 4789" name="adj"/>
            </a:avLst>
          </a:prstGeom>
          <a:solidFill>
            <a:srgbClr val="1B1726"/>
          </a:solidFill>
          <a:ln cap="flat" cmpd="sng" w="12700">
            <a:solidFill>
              <a:srgbClr val="F59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0"/>
          <p:cNvSpPr/>
          <p:nvPr/>
        </p:nvSpPr>
        <p:spPr>
          <a:xfrm>
            <a:off x="9568160" y="2486571"/>
            <a:ext cx="1671340"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5</a:t>
            </a:r>
            <a:endParaRPr b="0" i="0" sz="2000" u="none" cap="none" strike="noStrike">
              <a:solidFill>
                <a:schemeClr val="lt1"/>
              </a:solidFill>
              <a:latin typeface="Montserrat"/>
              <a:ea typeface="Montserrat"/>
              <a:cs typeface="Montserrat"/>
              <a:sym typeface="Montserrat"/>
            </a:endParaRPr>
          </a:p>
        </p:txBody>
      </p:sp>
      <p:sp>
        <p:nvSpPr>
          <p:cNvPr id="271" name="Google Shape;271;p10"/>
          <p:cNvSpPr/>
          <p:nvPr/>
        </p:nvSpPr>
        <p:spPr>
          <a:xfrm>
            <a:off x="9568160" y="2905671"/>
            <a:ext cx="167134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Report</a:t>
            </a:r>
            <a:endParaRPr b="0" i="0" sz="1500" u="none" cap="none" strike="noStrike">
              <a:solidFill>
                <a:schemeClr val="lt1"/>
              </a:solidFill>
              <a:latin typeface="Montserrat"/>
              <a:ea typeface="Montserrat"/>
              <a:cs typeface="Montserrat"/>
              <a:sym typeface="Montserrat"/>
            </a:endParaRPr>
          </a:p>
        </p:txBody>
      </p:sp>
      <p:sp>
        <p:nvSpPr>
          <p:cNvPr id="272" name="Google Shape;272;p10"/>
          <p:cNvSpPr/>
          <p:nvPr/>
        </p:nvSpPr>
        <p:spPr>
          <a:xfrm>
            <a:off x="9568160" y="3197771"/>
            <a:ext cx="167134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What changes tomorrow?</a:t>
            </a:r>
            <a:endParaRPr b="0" i="0" sz="1200" u="none" cap="none" strike="noStrike">
              <a:solidFill>
                <a:schemeClr val="lt1"/>
              </a:solidFill>
              <a:latin typeface="Montserrat"/>
              <a:ea typeface="Montserrat"/>
              <a:cs typeface="Montserrat"/>
              <a:sym typeface="Montserrat"/>
            </a:endParaRPr>
          </a:p>
        </p:txBody>
      </p:sp>
      <p:sp>
        <p:nvSpPr>
          <p:cNvPr id="273" name="Google Shape;273;p10"/>
          <p:cNvSpPr/>
          <p:nvPr/>
        </p:nvSpPr>
        <p:spPr>
          <a:xfrm>
            <a:off x="9568160" y="3687911"/>
            <a:ext cx="167134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In the case</a:t>
            </a:r>
            <a:endParaRPr b="0" i="0" sz="1200" u="none" cap="none" strike="noStrike">
              <a:solidFill>
                <a:schemeClr val="lt1"/>
              </a:solidFill>
              <a:latin typeface="Montserrat"/>
              <a:ea typeface="Montserrat"/>
              <a:cs typeface="Montserrat"/>
              <a:sym typeface="Montserrat"/>
            </a:endParaRPr>
          </a:p>
        </p:txBody>
      </p:sp>
      <p:sp>
        <p:nvSpPr>
          <p:cNvPr id="274" name="Google Shape;274;p10"/>
          <p:cNvSpPr/>
          <p:nvPr/>
        </p:nvSpPr>
        <p:spPr>
          <a:xfrm>
            <a:off x="9568160" y="3964732"/>
            <a:ext cx="1671340"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1" lang="en-US" sz="1200" u="none" cap="none" strike="noStrike">
                <a:solidFill>
                  <a:srgbClr val="F1EEF7"/>
                </a:solidFill>
                <a:latin typeface="Montserrat"/>
                <a:ea typeface="Montserrat"/>
                <a:cs typeface="Montserrat"/>
                <a:sym typeface="Montserrat"/>
              </a:rPr>
              <a:t>Detections, gaps and the next hypothesis.</a:t>
            </a:r>
            <a:endParaRPr b="0" i="0" sz="1200" u="none" cap="none" strike="noStrike">
              <a:solidFill>
                <a:schemeClr val="lt1"/>
              </a:solidFill>
              <a:latin typeface="Montserrat"/>
              <a:ea typeface="Montserrat"/>
              <a:cs typeface="Montserrat"/>
              <a:sym typeface="Montserrat"/>
            </a:endParaRPr>
          </a:p>
        </p:txBody>
      </p:sp>
      <p:sp>
        <p:nvSpPr>
          <p:cNvPr id="275" name="Google Shape;275;p10"/>
          <p:cNvSpPr/>
          <p:nvPr/>
        </p:nvSpPr>
        <p:spPr>
          <a:xfrm>
            <a:off x="812800" y="5249813"/>
            <a:ext cx="10566400" cy="467320"/>
          </a:xfrm>
          <a:prstGeom prst="roundRect">
            <a:avLst>
              <a:gd fmla="val 21741" name="adj"/>
            </a:avLst>
          </a:prstGeom>
          <a:solidFill>
            <a:srgbClr val="1B1726"/>
          </a:solidFill>
          <a:ln>
            <a:noFill/>
          </a:ln>
        </p:spPr>
        <p:txBody>
          <a:bodyPr anchorCtr="0" anchor="t" bIns="71825" lIns="211525" spcFirstLastPara="1" rIns="0" wrap="square" tIns="97225">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 The report feeds step 1:</a:t>
            </a:r>
            <a:r>
              <a:rPr b="0" i="0" lang="en-US" sz="1200" u="none" cap="none" strike="noStrike">
                <a:solidFill>
                  <a:srgbClr val="F1EEF7"/>
                </a:solidFill>
                <a:latin typeface="Montserrat"/>
                <a:ea typeface="Montserrat"/>
                <a:cs typeface="Montserrat"/>
                <a:sym typeface="Montserrat"/>
              </a:rPr>
              <a:t> every hunt leaves the next hypothesis.</a:t>
            </a:r>
            <a:endParaRPr b="0" i="0" sz="1200" u="none" cap="none" strike="noStrike">
              <a:solidFill>
                <a:schemeClr val="lt1"/>
              </a:solidFill>
              <a:latin typeface="Montserrat"/>
              <a:ea typeface="Montserrat"/>
              <a:cs typeface="Montserrat"/>
              <a:sym typeface="Montserrat"/>
            </a:endParaRPr>
          </a:p>
        </p:txBody>
      </p:sp>
      <p:sp>
        <p:nvSpPr>
          <p:cNvPr id="276" name="Google Shape;276;p10"/>
          <p:cNvSpPr/>
          <p:nvPr/>
        </p:nvSpPr>
        <p:spPr>
          <a:xfrm>
            <a:off x="812800" y="5249813"/>
            <a:ext cx="10566400" cy="467320"/>
          </a:xfrm>
          <a:custGeom>
            <a:rect b="b" l="l" r="r" t="t"/>
            <a:pathLst>
              <a:path extrusionOk="0" h="467320" w="10566400">
                <a:moveTo>
                  <a:pt x="101600" y="467320"/>
                </a:moveTo>
                <a:lnTo>
                  <a:pt x="101600" y="467320"/>
                </a:lnTo>
                <a:cubicBezTo>
                  <a:pt x="45488" y="467320"/>
                  <a:pt x="0" y="421832"/>
                  <a:pt x="0" y="365720"/>
                </a:cubicBezTo>
                <a:lnTo>
                  <a:pt x="0" y="101600"/>
                </a:lnTo>
                <a:cubicBezTo>
                  <a:pt x="0" y="45488"/>
                  <a:pt x="45488" y="0"/>
                  <a:pt x="101600" y="0"/>
                </a:cubicBezTo>
                <a:lnTo>
                  <a:pt x="101600" y="0"/>
                </a:lnTo>
                <a:cubicBezTo>
                  <a:pt x="66530" y="0"/>
                  <a:pt x="38100" y="45488"/>
                  <a:pt x="38100" y="101600"/>
                </a:cubicBezTo>
                <a:lnTo>
                  <a:pt x="38100" y="365720"/>
                </a:lnTo>
                <a:cubicBezTo>
                  <a:pt x="38100" y="421832"/>
                  <a:pt x="66530" y="467320"/>
                  <a:pt x="101600" y="467320"/>
                </a:cubicBezTo>
                <a:close/>
              </a:path>
            </a:pathLst>
          </a:custGeom>
          <a:solidFill>
            <a:srgbClr val="F59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0"/>
          <p:cNvSpPr/>
          <p:nvPr/>
        </p:nvSpPr>
        <p:spPr>
          <a:xfrm>
            <a:off x="812800" y="6238280"/>
            <a:ext cx="698253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Prepare / Execute / Act phases of the PEAK framework (Splunk SURGe, 2023)</a:t>
            </a:r>
            <a:endParaRPr b="0" i="0" sz="1200" u="none" cap="none" strike="noStrike">
              <a:solidFill>
                <a:schemeClr val="lt1"/>
              </a:solidFill>
              <a:latin typeface="Montserrat"/>
              <a:ea typeface="Montserrat"/>
              <a:cs typeface="Montserrat"/>
              <a:sym typeface="Montserrat"/>
            </a:endParaRPr>
          </a:p>
        </p:txBody>
      </p:sp>
      <p:sp>
        <p:nvSpPr>
          <p:cNvPr id="278" name="Google Shape;278;p10"/>
          <p:cNvSpPr/>
          <p:nvPr/>
        </p:nvSpPr>
        <p:spPr>
          <a:xfrm>
            <a:off x="11172478" y="6238280"/>
            <a:ext cx="20672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10</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283" name="Shape 283"/>
        <p:cNvGrpSpPr/>
        <p:nvPr/>
      </p:nvGrpSpPr>
      <p:grpSpPr>
        <a:xfrm>
          <a:off x="0" y="0"/>
          <a:ext cx="0" cy="0"/>
          <a:chOff x="0" y="0"/>
          <a:chExt cx="0" cy="0"/>
        </a:xfrm>
      </p:grpSpPr>
      <p:sp>
        <p:nvSpPr>
          <p:cNvPr id="284" name="Google Shape;284;p11"/>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THE CLICKFIX CASE</a:t>
            </a:r>
            <a:endParaRPr b="0" i="0" sz="1200" u="none" cap="none" strike="noStrike">
              <a:solidFill>
                <a:schemeClr val="lt1"/>
              </a:solidFill>
              <a:latin typeface="Montserrat"/>
              <a:ea typeface="Montserrat"/>
              <a:cs typeface="Montserrat"/>
              <a:sym typeface="Montserrat"/>
            </a:endParaRPr>
          </a:p>
        </p:txBody>
      </p:sp>
      <p:sp>
        <p:nvSpPr>
          <p:cNvPr id="285" name="Google Shape;285;p11"/>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ClickFix: why it is the hypothesis</a:t>
            </a:r>
            <a:endParaRPr sz="3200"/>
          </a:p>
        </p:txBody>
      </p:sp>
      <p:sp>
        <p:nvSpPr>
          <p:cNvPr id="286" name="Google Shape;286;p11"/>
          <p:cNvSpPr/>
          <p:nvPr/>
        </p:nvSpPr>
        <p:spPr>
          <a:xfrm>
            <a:off x="812800" y="1828750"/>
            <a:ext cx="2563876" cy="47243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3200"/>
              <a:buFont typeface="Montserrat"/>
              <a:buNone/>
            </a:pPr>
            <a:r>
              <a:rPr b="1" i="0" lang="en-US" sz="3200" u="none" cap="none" strike="noStrike">
                <a:solidFill>
                  <a:srgbClr val="F59E42"/>
                </a:solidFill>
                <a:latin typeface="Montserrat"/>
                <a:ea typeface="Montserrat"/>
                <a:cs typeface="Montserrat"/>
                <a:sym typeface="Montserrat"/>
              </a:rPr>
              <a:t>47%</a:t>
            </a:r>
            <a:endParaRPr b="0" i="0" sz="3200" u="none" cap="none" strike="noStrike">
              <a:solidFill>
                <a:schemeClr val="lt1"/>
              </a:solidFill>
              <a:latin typeface="Montserrat"/>
              <a:ea typeface="Montserrat"/>
              <a:cs typeface="Montserrat"/>
              <a:sym typeface="Montserrat"/>
            </a:endParaRPr>
          </a:p>
        </p:txBody>
      </p:sp>
      <p:sp>
        <p:nvSpPr>
          <p:cNvPr id="287" name="Google Shape;287;p11"/>
          <p:cNvSpPr/>
          <p:nvPr/>
        </p:nvSpPr>
        <p:spPr>
          <a:xfrm>
            <a:off x="812800" y="2326580"/>
            <a:ext cx="2563876"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of the initial access cases seen by Microsoft Defender Experts were ClickFix. Phishing: 35%.</a:t>
            </a:r>
            <a:endParaRPr b="0" i="0" sz="1200" u="none" cap="none" strike="noStrike">
              <a:solidFill>
                <a:schemeClr val="lt1"/>
              </a:solidFill>
              <a:latin typeface="Montserrat"/>
              <a:ea typeface="Montserrat"/>
              <a:cs typeface="Montserrat"/>
              <a:sym typeface="Montserrat"/>
            </a:endParaRPr>
          </a:p>
        </p:txBody>
      </p:sp>
      <p:sp>
        <p:nvSpPr>
          <p:cNvPr id="288" name="Google Shape;288;p11"/>
          <p:cNvSpPr/>
          <p:nvPr/>
        </p:nvSpPr>
        <p:spPr>
          <a:xfrm>
            <a:off x="812800" y="3017341"/>
            <a:ext cx="256387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Microsoft, DDR 2025</a:t>
            </a:r>
            <a:endParaRPr b="0" i="0" sz="1200" u="none" cap="none" strike="noStrike">
              <a:solidFill>
                <a:schemeClr val="lt1"/>
              </a:solidFill>
              <a:latin typeface="Montserrat"/>
              <a:ea typeface="Montserrat"/>
              <a:cs typeface="Montserrat"/>
              <a:sym typeface="Montserrat"/>
            </a:endParaRPr>
          </a:p>
        </p:txBody>
      </p:sp>
      <p:sp>
        <p:nvSpPr>
          <p:cNvPr id="289" name="Google Shape;289;p11"/>
          <p:cNvSpPr/>
          <p:nvPr/>
        </p:nvSpPr>
        <p:spPr>
          <a:xfrm>
            <a:off x="3505200" y="1828750"/>
            <a:ext cx="2563876" cy="47243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3200"/>
              <a:buFont typeface="Montserrat"/>
              <a:buNone/>
            </a:pPr>
            <a:r>
              <a:rPr b="1" i="0" lang="en-US" sz="3200" u="none" cap="none" strike="noStrike">
                <a:solidFill>
                  <a:srgbClr val="F59E42"/>
                </a:solidFill>
                <a:latin typeface="Montserrat"/>
                <a:ea typeface="Montserrat"/>
                <a:cs typeface="Montserrat"/>
                <a:sym typeface="Montserrat"/>
              </a:rPr>
              <a:t>+517%</a:t>
            </a:r>
            <a:endParaRPr b="0" i="0" sz="3200" u="none" cap="none" strike="noStrike">
              <a:solidFill>
                <a:schemeClr val="lt1"/>
              </a:solidFill>
              <a:latin typeface="Montserrat"/>
              <a:ea typeface="Montserrat"/>
              <a:cs typeface="Montserrat"/>
              <a:sym typeface="Montserrat"/>
            </a:endParaRPr>
          </a:p>
        </p:txBody>
      </p:sp>
      <p:sp>
        <p:nvSpPr>
          <p:cNvPr id="290" name="Google Shape;290;p11"/>
          <p:cNvSpPr/>
          <p:nvPr/>
        </p:nvSpPr>
        <p:spPr>
          <a:xfrm>
            <a:off x="3505200" y="2326580"/>
            <a:ext cx="2563876"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between H2 2024 and H1 2025: the second vector, behind phishing.</a:t>
            </a:r>
            <a:endParaRPr b="0" i="0" sz="1200" u="none" cap="none" strike="noStrike">
              <a:solidFill>
                <a:schemeClr val="lt1"/>
              </a:solidFill>
              <a:latin typeface="Montserrat"/>
              <a:ea typeface="Montserrat"/>
              <a:cs typeface="Montserrat"/>
              <a:sym typeface="Montserrat"/>
            </a:endParaRPr>
          </a:p>
        </p:txBody>
      </p:sp>
      <p:sp>
        <p:nvSpPr>
          <p:cNvPr id="291" name="Google Shape;291;p11"/>
          <p:cNvSpPr/>
          <p:nvPr/>
        </p:nvSpPr>
        <p:spPr>
          <a:xfrm>
            <a:off x="3505200" y="3017341"/>
            <a:ext cx="256387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ESET, H1 2025</a:t>
            </a:r>
            <a:endParaRPr b="0" i="0" sz="1200" u="none" cap="none" strike="noStrike">
              <a:solidFill>
                <a:schemeClr val="lt1"/>
              </a:solidFill>
              <a:latin typeface="Montserrat"/>
              <a:ea typeface="Montserrat"/>
              <a:cs typeface="Montserrat"/>
              <a:sym typeface="Montserrat"/>
            </a:endParaRPr>
          </a:p>
        </p:txBody>
      </p:sp>
      <p:sp>
        <p:nvSpPr>
          <p:cNvPr id="292" name="Google Shape;292;p11"/>
          <p:cNvSpPr/>
          <p:nvPr/>
        </p:nvSpPr>
        <p:spPr>
          <a:xfrm>
            <a:off x="6197600" y="1828750"/>
            <a:ext cx="2563876" cy="47243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3200"/>
              <a:buFont typeface="Montserrat"/>
              <a:buNone/>
            </a:pPr>
            <a:r>
              <a:rPr b="1" i="0" lang="en-US" sz="3200" u="none" cap="none" strike="noStrike">
                <a:solidFill>
                  <a:srgbClr val="F59E42"/>
                </a:solidFill>
                <a:latin typeface="Montserrat"/>
                <a:ea typeface="Montserrat"/>
                <a:cs typeface="Montserrat"/>
                <a:sym typeface="Montserrat"/>
              </a:rPr>
              <a:t>4 in 5</a:t>
            </a:r>
            <a:endParaRPr b="0" i="0" sz="3200" u="none" cap="none" strike="noStrike">
              <a:solidFill>
                <a:schemeClr val="lt1"/>
              </a:solidFill>
              <a:latin typeface="Montserrat"/>
              <a:ea typeface="Montserrat"/>
              <a:cs typeface="Montserrat"/>
              <a:sym typeface="Montserrat"/>
            </a:endParaRPr>
          </a:p>
        </p:txBody>
      </p:sp>
      <p:sp>
        <p:nvSpPr>
          <p:cNvPr id="293" name="Google Shape;293;p11"/>
          <p:cNvSpPr/>
          <p:nvPr/>
        </p:nvSpPr>
        <p:spPr>
          <a:xfrm>
            <a:off x="6197600" y="2326580"/>
            <a:ext cx="2563876"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payloads intercepted in 2026 arrived from a search engine, not from email.</a:t>
            </a:r>
            <a:endParaRPr b="0" i="0" sz="1200" u="none" cap="none" strike="noStrike">
              <a:solidFill>
                <a:schemeClr val="lt1"/>
              </a:solidFill>
              <a:latin typeface="Montserrat"/>
              <a:ea typeface="Montserrat"/>
              <a:cs typeface="Montserrat"/>
              <a:sym typeface="Montserrat"/>
            </a:endParaRPr>
          </a:p>
        </p:txBody>
      </p:sp>
      <p:sp>
        <p:nvSpPr>
          <p:cNvPr id="294" name="Google Shape;294;p11"/>
          <p:cNvSpPr/>
          <p:nvPr/>
        </p:nvSpPr>
        <p:spPr>
          <a:xfrm>
            <a:off x="6197600" y="3017341"/>
            <a:ext cx="256387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Push Security, 2026</a:t>
            </a:r>
            <a:endParaRPr b="0" i="0" sz="1200" u="none" cap="none" strike="noStrike">
              <a:solidFill>
                <a:schemeClr val="lt1"/>
              </a:solidFill>
              <a:latin typeface="Montserrat"/>
              <a:ea typeface="Montserrat"/>
              <a:cs typeface="Montserrat"/>
              <a:sym typeface="Montserrat"/>
            </a:endParaRPr>
          </a:p>
        </p:txBody>
      </p:sp>
      <p:sp>
        <p:nvSpPr>
          <p:cNvPr id="295" name="Google Shape;295;p11"/>
          <p:cNvSpPr/>
          <p:nvPr/>
        </p:nvSpPr>
        <p:spPr>
          <a:xfrm>
            <a:off x="8890000" y="1828750"/>
            <a:ext cx="2563876" cy="47243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3200"/>
              <a:buFont typeface="Montserrat"/>
              <a:buNone/>
            </a:pPr>
            <a:r>
              <a:rPr b="1" i="0" lang="en-US" sz="3200" u="none" cap="none" strike="noStrike">
                <a:solidFill>
                  <a:srgbClr val="F59E42"/>
                </a:solidFill>
                <a:latin typeface="Montserrat"/>
                <a:ea typeface="Montserrat"/>
                <a:cs typeface="Montserrat"/>
                <a:sym typeface="Montserrat"/>
              </a:rPr>
              <a:t>17,000+</a:t>
            </a:r>
            <a:endParaRPr b="0" i="0" sz="3200" u="none" cap="none" strike="noStrike">
              <a:solidFill>
                <a:schemeClr val="lt1"/>
              </a:solidFill>
              <a:latin typeface="Montserrat"/>
              <a:ea typeface="Montserrat"/>
              <a:cs typeface="Montserrat"/>
              <a:sym typeface="Montserrat"/>
            </a:endParaRPr>
          </a:p>
        </p:txBody>
      </p:sp>
      <p:sp>
        <p:nvSpPr>
          <p:cNvPr id="296" name="Google Shape;296;p11"/>
          <p:cNvSpPr/>
          <p:nvPr/>
        </p:nvSpPr>
        <p:spPr>
          <a:xfrm>
            <a:off x="8890000" y="2326580"/>
            <a:ext cx="2563876"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URLs with fake verification pages analyzed; about 3,000 active.</a:t>
            </a:r>
            <a:endParaRPr b="0" i="0" sz="1200" u="none" cap="none" strike="noStrike">
              <a:solidFill>
                <a:schemeClr val="lt1"/>
              </a:solidFill>
              <a:latin typeface="Montserrat"/>
              <a:ea typeface="Montserrat"/>
              <a:cs typeface="Montserrat"/>
              <a:sym typeface="Montserrat"/>
            </a:endParaRPr>
          </a:p>
        </p:txBody>
      </p:sp>
      <p:sp>
        <p:nvSpPr>
          <p:cNvPr id="297" name="Google Shape;297;p11"/>
          <p:cNvSpPr/>
          <p:nvPr/>
        </p:nvSpPr>
        <p:spPr>
          <a:xfrm>
            <a:off x="8890000" y="3017341"/>
            <a:ext cx="256387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CTM360, Sep 2026</a:t>
            </a:r>
            <a:endParaRPr b="0" i="0" sz="1200" u="none" cap="none" strike="noStrike">
              <a:solidFill>
                <a:schemeClr val="lt1"/>
              </a:solidFill>
              <a:latin typeface="Montserrat"/>
              <a:ea typeface="Montserrat"/>
              <a:cs typeface="Montserrat"/>
              <a:sym typeface="Montserrat"/>
            </a:endParaRPr>
          </a:p>
        </p:txBody>
      </p:sp>
      <p:sp>
        <p:nvSpPr>
          <p:cNvPr id="298" name="Google Shape;298;p11"/>
          <p:cNvSpPr/>
          <p:nvPr/>
        </p:nvSpPr>
        <p:spPr>
          <a:xfrm>
            <a:off x="812800" y="3484662"/>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HOW IT WORKS</a:t>
            </a:r>
            <a:endParaRPr b="0" i="0" sz="1200" u="none" cap="none" strike="noStrike">
              <a:solidFill>
                <a:schemeClr val="lt1"/>
              </a:solidFill>
              <a:latin typeface="Montserrat"/>
              <a:ea typeface="Montserrat"/>
              <a:cs typeface="Montserrat"/>
              <a:sym typeface="Montserrat"/>
            </a:endParaRPr>
          </a:p>
        </p:txBody>
      </p:sp>
      <p:sp>
        <p:nvSpPr>
          <p:cNvPr id="299" name="Google Shape;299;p11"/>
          <p:cNvSpPr/>
          <p:nvPr/>
        </p:nvSpPr>
        <p:spPr>
          <a:xfrm>
            <a:off x="815975" y="3802757"/>
            <a:ext cx="2517775" cy="1245791"/>
          </a:xfrm>
          <a:prstGeom prst="roundRect">
            <a:avLst>
              <a:gd fmla="val 7901"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a:off x="996950" y="3958332"/>
            <a:ext cx="222050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1 · You search</a:t>
            </a:r>
            <a:endParaRPr b="0" i="0" sz="1500" u="none" cap="none" strike="noStrike">
              <a:solidFill>
                <a:schemeClr val="lt1"/>
              </a:solidFill>
              <a:latin typeface="Montserrat"/>
              <a:ea typeface="Montserrat"/>
              <a:cs typeface="Montserrat"/>
              <a:sym typeface="Montserrat"/>
            </a:endParaRPr>
          </a:p>
        </p:txBody>
      </p:sp>
      <p:sp>
        <p:nvSpPr>
          <p:cNvPr id="301" name="Google Shape;301;p11"/>
          <p:cNvSpPr/>
          <p:nvPr/>
        </p:nvSpPr>
        <p:spPr>
          <a:xfrm>
            <a:off x="996950" y="4237732"/>
            <a:ext cx="233362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Music, software, a “fix”.</a:t>
            </a:r>
            <a:endParaRPr b="0" i="0" sz="1200" u="none" cap="none" strike="noStrike">
              <a:solidFill>
                <a:schemeClr val="lt1"/>
              </a:solidFill>
              <a:latin typeface="Montserrat"/>
              <a:ea typeface="Montserrat"/>
              <a:cs typeface="Montserrat"/>
              <a:sym typeface="Montserrat"/>
            </a:endParaRPr>
          </a:p>
        </p:txBody>
      </p:sp>
      <p:sp>
        <p:nvSpPr>
          <p:cNvPr id="302" name="Google Shape;302;p11"/>
          <p:cNvSpPr/>
          <p:nvPr/>
        </p:nvSpPr>
        <p:spPr>
          <a:xfrm>
            <a:off x="3492500" y="3802757"/>
            <a:ext cx="2517775" cy="1245791"/>
          </a:xfrm>
          <a:prstGeom prst="roundRect">
            <a:avLst>
              <a:gd fmla="val 7901"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3673475" y="3958332"/>
            <a:ext cx="222050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2 · A fake error</a:t>
            </a:r>
            <a:endParaRPr b="0" i="0" sz="1500" u="none" cap="none" strike="noStrike">
              <a:solidFill>
                <a:schemeClr val="lt1"/>
              </a:solidFill>
              <a:latin typeface="Montserrat"/>
              <a:ea typeface="Montserrat"/>
              <a:cs typeface="Montserrat"/>
              <a:sym typeface="Montserrat"/>
            </a:endParaRPr>
          </a:p>
        </p:txBody>
      </p:sp>
      <p:sp>
        <p:nvSpPr>
          <p:cNvPr id="304" name="Google Shape;304;p11"/>
          <p:cNvSpPr/>
          <p:nvPr/>
        </p:nvSpPr>
        <p:spPr>
          <a:xfrm>
            <a:off x="3673475" y="4237732"/>
            <a:ext cx="222050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A CAPTCHA, “verify you are human”.</a:t>
            </a:r>
            <a:endParaRPr b="0" i="0" sz="1200" u="none" cap="none" strike="noStrike">
              <a:solidFill>
                <a:schemeClr val="lt1"/>
              </a:solidFill>
              <a:latin typeface="Montserrat"/>
              <a:ea typeface="Montserrat"/>
              <a:cs typeface="Montserrat"/>
              <a:sym typeface="Montserrat"/>
            </a:endParaRPr>
          </a:p>
        </p:txBody>
      </p:sp>
      <p:sp>
        <p:nvSpPr>
          <p:cNvPr id="305" name="Google Shape;305;p11"/>
          <p:cNvSpPr/>
          <p:nvPr/>
        </p:nvSpPr>
        <p:spPr>
          <a:xfrm>
            <a:off x="6169025" y="3802757"/>
            <a:ext cx="2517775" cy="1245791"/>
          </a:xfrm>
          <a:prstGeom prst="roundRect">
            <a:avLst>
              <a:gd fmla="val 7901"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6350000" y="3958332"/>
            <a:ext cx="2220500" cy="4826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3 · It copies a command</a:t>
            </a:r>
            <a:endParaRPr b="0" i="0" sz="1500" u="none" cap="none" strike="noStrike">
              <a:solidFill>
                <a:schemeClr val="lt1"/>
              </a:solidFill>
              <a:latin typeface="Montserrat"/>
              <a:ea typeface="Montserrat"/>
              <a:cs typeface="Montserrat"/>
              <a:sym typeface="Montserrat"/>
            </a:endParaRPr>
          </a:p>
        </p:txBody>
      </p:sp>
      <p:sp>
        <p:nvSpPr>
          <p:cNvPr id="307" name="Google Shape;307;p11"/>
          <p:cNvSpPr/>
          <p:nvPr/>
        </p:nvSpPr>
        <p:spPr>
          <a:xfrm>
            <a:off x="6350000" y="4466332"/>
            <a:ext cx="222050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The page leaves it on the clipboard.</a:t>
            </a:r>
            <a:endParaRPr b="0" i="0" sz="1200" u="none" cap="none" strike="noStrike">
              <a:solidFill>
                <a:schemeClr val="lt1"/>
              </a:solidFill>
              <a:latin typeface="Montserrat"/>
              <a:ea typeface="Montserrat"/>
              <a:cs typeface="Montserrat"/>
              <a:sym typeface="Montserrat"/>
            </a:endParaRPr>
          </a:p>
        </p:txBody>
      </p:sp>
      <p:sp>
        <p:nvSpPr>
          <p:cNvPr id="308" name="Google Shape;308;p11"/>
          <p:cNvSpPr/>
          <p:nvPr/>
        </p:nvSpPr>
        <p:spPr>
          <a:xfrm>
            <a:off x="8848725" y="3805932"/>
            <a:ext cx="2524125" cy="1239441"/>
          </a:xfrm>
          <a:prstGeom prst="roundRect">
            <a:avLst>
              <a:gd fmla="val 7685" name="adj"/>
            </a:avLst>
          </a:prstGeom>
          <a:solidFill>
            <a:srgbClr val="1B1726"/>
          </a:solidFill>
          <a:ln cap="flat" cmpd="sng" w="12700">
            <a:solidFill>
              <a:srgbClr val="F59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9032875" y="3964682"/>
            <a:ext cx="222050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4 · Paste and Enter</a:t>
            </a:r>
            <a:endParaRPr b="0" i="0" sz="1500" u="none" cap="none" strike="noStrike">
              <a:solidFill>
                <a:schemeClr val="lt1"/>
              </a:solidFill>
              <a:latin typeface="Montserrat"/>
              <a:ea typeface="Montserrat"/>
              <a:cs typeface="Montserrat"/>
              <a:sym typeface="Montserrat"/>
            </a:endParaRPr>
          </a:p>
        </p:txBody>
      </p:sp>
      <p:sp>
        <p:nvSpPr>
          <p:cNvPr id="310" name="Google Shape;310;p11"/>
          <p:cNvSpPr/>
          <p:nvPr/>
        </p:nvSpPr>
        <p:spPr>
          <a:xfrm>
            <a:off x="9032875" y="4244082"/>
            <a:ext cx="222050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The victim runs it. No attachment, no exploit.</a:t>
            </a:r>
            <a:endParaRPr b="0" i="0" sz="1200" u="none" cap="none" strike="noStrike">
              <a:solidFill>
                <a:schemeClr val="lt1"/>
              </a:solidFill>
              <a:latin typeface="Montserrat"/>
              <a:ea typeface="Montserrat"/>
              <a:cs typeface="Montserrat"/>
              <a:sym typeface="Montserrat"/>
            </a:endParaRPr>
          </a:p>
        </p:txBody>
      </p:sp>
      <p:sp>
        <p:nvSpPr>
          <p:cNvPr id="311" name="Google Shape;311;p11"/>
          <p:cNvSpPr/>
          <p:nvPr/>
        </p:nvSpPr>
        <p:spPr>
          <a:xfrm>
            <a:off x="812800" y="6238280"/>
            <a:ext cx="906425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Sources: Microsoft DDR 2025 · ESET Threat Report H1 2025 · Push Security (2026) · CTM360 (Sep 2026)</a:t>
            </a:r>
            <a:endParaRPr b="0" i="0" sz="1200" u="none" cap="none" strike="noStrike">
              <a:solidFill>
                <a:schemeClr val="lt1"/>
              </a:solidFill>
              <a:latin typeface="Montserrat"/>
              <a:ea typeface="Montserrat"/>
              <a:cs typeface="Montserrat"/>
              <a:sym typeface="Montserrat"/>
            </a:endParaRPr>
          </a:p>
        </p:txBody>
      </p:sp>
      <p:sp>
        <p:nvSpPr>
          <p:cNvPr id="312" name="Google Shape;312;p11"/>
          <p:cNvSpPr/>
          <p:nvPr/>
        </p:nvSpPr>
        <p:spPr>
          <a:xfrm>
            <a:off x="11218416" y="6238280"/>
            <a:ext cx="160784"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11</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317" name="Shape 317"/>
        <p:cNvGrpSpPr/>
        <p:nvPr/>
      </p:nvGrpSpPr>
      <p:grpSpPr>
        <a:xfrm>
          <a:off x="0" y="0"/>
          <a:ext cx="0" cy="0"/>
          <a:chOff x="0" y="0"/>
          <a:chExt cx="0" cy="0"/>
        </a:xfrm>
      </p:grpSpPr>
      <p:sp>
        <p:nvSpPr>
          <p:cNvPr id="318" name="Google Shape;318;p1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THE CLICKFIX CASE</a:t>
            </a:r>
            <a:endParaRPr b="0" i="0" sz="1200" u="none" cap="none" strike="noStrike">
              <a:solidFill>
                <a:schemeClr val="lt1"/>
              </a:solidFill>
              <a:latin typeface="Montserrat"/>
              <a:ea typeface="Montserrat"/>
              <a:cs typeface="Montserrat"/>
              <a:sym typeface="Montserrat"/>
            </a:endParaRPr>
          </a:p>
        </p:txBody>
      </p:sp>
      <p:sp>
        <p:nvSpPr>
          <p:cNvPr id="319" name="Google Shape;319;p12"/>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The lure: Win+R, Ctrl+V, Enter</a:t>
            </a:r>
            <a:endParaRPr sz="3200"/>
          </a:p>
        </p:txBody>
      </p:sp>
      <p:pic>
        <p:nvPicPr>
          <p:cNvPr descr="Fake verification page on third-party[.]com with the instructions Win+R, Ctrl+V and Enter, and a fake reCAPTCHA Verification ID" id="320" name="Google Shape;320;p12"/>
          <p:cNvPicPr preferRelativeResize="0"/>
          <p:nvPr/>
        </p:nvPicPr>
        <p:blipFill rotWithShape="1">
          <a:blip r:embed="rId3">
            <a:alphaModFix/>
          </a:blip>
          <a:srcRect b="0" l="-53" r="-53" t="0"/>
          <a:stretch/>
        </p:blipFill>
        <p:spPr>
          <a:xfrm>
            <a:off x="819150" y="1784300"/>
            <a:ext cx="3467100" cy="2781300"/>
          </a:xfrm>
          <a:prstGeom prst="roundRect">
            <a:avLst>
              <a:gd fmla="val 2511" name="adj"/>
            </a:avLst>
          </a:prstGeom>
          <a:noFill/>
          <a:ln>
            <a:noFill/>
          </a:ln>
        </p:spPr>
      </p:pic>
      <p:sp>
        <p:nvSpPr>
          <p:cNvPr id="321" name="Google Shape;321;p12"/>
          <p:cNvSpPr/>
          <p:nvPr/>
        </p:nvSpPr>
        <p:spPr>
          <a:xfrm>
            <a:off x="815975" y="1781125"/>
            <a:ext cx="3473450" cy="2787650"/>
          </a:xfrm>
          <a:prstGeom prst="roundRect">
            <a:avLst>
              <a:gd fmla="val 2620" name="adj"/>
            </a:avLst>
          </a:prstGeom>
          <a:no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he Windows Run dialog with the pasted command, disguised as a Security check and Verification ID" id="322" name="Google Shape;322;p12"/>
          <p:cNvPicPr preferRelativeResize="0"/>
          <p:nvPr/>
        </p:nvPicPr>
        <p:blipFill rotWithShape="1">
          <a:blip r:embed="rId4">
            <a:alphaModFix/>
          </a:blip>
          <a:srcRect b="0" l="-129" r="-129" t="0"/>
          <a:stretch/>
        </p:blipFill>
        <p:spPr>
          <a:xfrm>
            <a:off x="4502150" y="1784300"/>
            <a:ext cx="5168900" cy="2781300"/>
          </a:xfrm>
          <a:prstGeom prst="roundRect">
            <a:avLst>
              <a:gd fmla="val 2511" name="adj"/>
            </a:avLst>
          </a:prstGeom>
          <a:noFill/>
          <a:ln>
            <a:noFill/>
          </a:ln>
        </p:spPr>
      </p:pic>
      <p:sp>
        <p:nvSpPr>
          <p:cNvPr id="323" name="Google Shape;323;p12"/>
          <p:cNvSpPr/>
          <p:nvPr/>
        </p:nvSpPr>
        <p:spPr>
          <a:xfrm>
            <a:off x="4498975" y="1781125"/>
            <a:ext cx="5175250" cy="2787650"/>
          </a:xfrm>
          <a:prstGeom prst="roundRect">
            <a:avLst>
              <a:gd fmla="val 2620" name="adj"/>
            </a:avLst>
          </a:prstGeom>
          <a:no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2"/>
          <p:cNvSpPr/>
          <p:nvPr/>
        </p:nvSpPr>
        <p:spPr>
          <a:xfrm>
            <a:off x="812800" y="4775150"/>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The “Verification ID” is the disguise: what the victim pastes is a command.</a:t>
            </a:r>
            <a:endParaRPr b="0" i="0" sz="1500" u="none" cap="none" strike="noStrike">
              <a:solidFill>
                <a:schemeClr val="lt1"/>
              </a:solidFill>
              <a:latin typeface="Montserrat"/>
              <a:ea typeface="Montserrat"/>
              <a:cs typeface="Montserrat"/>
              <a:sym typeface="Montserrat"/>
            </a:endParaRPr>
          </a:p>
        </p:txBody>
      </p:sp>
      <p:sp>
        <p:nvSpPr>
          <p:cNvPr id="325" name="Google Shape;325;p12"/>
          <p:cNvSpPr/>
          <p:nvPr/>
        </p:nvSpPr>
        <p:spPr>
          <a:xfrm>
            <a:off x="812800" y="5092650"/>
            <a:ext cx="113792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third-party[.]com, captured on 2026-10-12 in our own sandbox. The clipboard is not logged: telemetry sees the paste, never the page.</a:t>
            </a:r>
            <a:endParaRPr b="0" i="0" sz="1200" u="none" cap="none" strike="noStrike">
              <a:solidFill>
                <a:schemeClr val="lt1"/>
              </a:solidFill>
              <a:latin typeface="Montserrat"/>
              <a:ea typeface="Montserrat"/>
              <a:cs typeface="Montserrat"/>
              <a:sym typeface="Montserrat"/>
            </a:endParaRPr>
          </a:p>
        </p:txBody>
      </p:sp>
      <p:sp>
        <p:nvSpPr>
          <p:cNvPr id="326" name="Google Shape;326;p12"/>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327" name="Google Shape;327;p12"/>
          <p:cNvSpPr/>
          <p:nvPr/>
        </p:nvSpPr>
        <p:spPr>
          <a:xfrm>
            <a:off x="11186815" y="6238280"/>
            <a:ext cx="192385"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12</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332" name="Shape 332"/>
        <p:cNvGrpSpPr/>
        <p:nvPr/>
      </p:nvGrpSpPr>
      <p:grpSpPr>
        <a:xfrm>
          <a:off x="0" y="0"/>
          <a:ext cx="0" cy="0"/>
          <a:chOff x="0" y="0"/>
          <a:chExt cx="0" cy="0"/>
        </a:xfrm>
      </p:grpSpPr>
      <p:sp>
        <p:nvSpPr>
          <p:cNvPr id="333" name="Google Shape;333;p1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THE CLICKFIX CASE</a:t>
            </a:r>
            <a:endParaRPr b="0" i="0" sz="1200" u="none" cap="none" strike="noStrike">
              <a:solidFill>
                <a:schemeClr val="lt1"/>
              </a:solidFill>
              <a:latin typeface="Montserrat"/>
              <a:ea typeface="Montserrat"/>
              <a:cs typeface="Montserrat"/>
              <a:sym typeface="Montserrat"/>
            </a:endParaRPr>
          </a:p>
        </p:txBody>
      </p:sp>
      <p:sp>
        <p:nvSpPr>
          <p:cNvPr id="334" name="Google Shape;334;p13"/>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The variant: Win+X → Terminal</a:t>
            </a:r>
            <a:endParaRPr sz="3200"/>
          </a:p>
        </p:txBody>
      </p:sp>
      <p:pic>
        <p:nvPicPr>
          <p:cNvPr descr="Fake Cloudflare verification on cloudflare[.]vc telling the user to press Win+X, choose Terminal, Ctrl+V and Enter, with a countdown" id="335" name="Google Shape;335;p13"/>
          <p:cNvPicPr preferRelativeResize="0"/>
          <p:nvPr/>
        </p:nvPicPr>
        <p:blipFill rotWithShape="1">
          <a:blip r:embed="rId3">
            <a:alphaModFix/>
          </a:blip>
          <a:srcRect b="0" l="-23" r="-23" t="0"/>
          <a:stretch/>
        </p:blipFill>
        <p:spPr>
          <a:xfrm>
            <a:off x="819150" y="1784300"/>
            <a:ext cx="2336800" cy="2654300"/>
          </a:xfrm>
          <a:prstGeom prst="roundRect">
            <a:avLst>
              <a:gd fmla="val 2989" name="adj"/>
            </a:avLst>
          </a:prstGeom>
          <a:noFill/>
          <a:ln>
            <a:noFill/>
          </a:ln>
        </p:spPr>
      </p:pic>
      <p:sp>
        <p:nvSpPr>
          <p:cNvPr id="336" name="Google Shape;336;p13"/>
          <p:cNvSpPr/>
          <p:nvPr/>
        </p:nvSpPr>
        <p:spPr>
          <a:xfrm>
            <a:off x="815975" y="1781125"/>
            <a:ext cx="2343150" cy="2660650"/>
          </a:xfrm>
          <a:prstGeom prst="roundRect">
            <a:avLst>
              <a:gd fmla="val 3117" name="adj"/>
            </a:avLst>
          </a:prstGeom>
          <a:no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indows PowerShell as administrator with the pasted command: irm to cosmical2049[.]com with a User-Agent and X-WUA header, piped to iex" id="337" name="Google Shape;337;p13"/>
          <p:cNvPicPr preferRelativeResize="0"/>
          <p:nvPr/>
        </p:nvPicPr>
        <p:blipFill rotWithShape="1">
          <a:blip r:embed="rId4">
            <a:alphaModFix/>
          </a:blip>
          <a:srcRect b="0" l="-109" r="-109" t="0"/>
          <a:stretch/>
        </p:blipFill>
        <p:spPr>
          <a:xfrm>
            <a:off x="3371850" y="1784300"/>
            <a:ext cx="5340350" cy="2654300"/>
          </a:xfrm>
          <a:prstGeom prst="roundRect">
            <a:avLst>
              <a:gd fmla="val 2632" name="adj"/>
            </a:avLst>
          </a:prstGeom>
          <a:noFill/>
          <a:ln>
            <a:noFill/>
          </a:ln>
        </p:spPr>
      </p:pic>
      <p:sp>
        <p:nvSpPr>
          <p:cNvPr id="338" name="Google Shape;338;p13"/>
          <p:cNvSpPr/>
          <p:nvPr/>
        </p:nvSpPr>
        <p:spPr>
          <a:xfrm>
            <a:off x="3368675" y="1781125"/>
            <a:ext cx="5346700" cy="2660650"/>
          </a:xfrm>
          <a:prstGeom prst="roundRect">
            <a:avLst>
              <a:gd fmla="val 2745" name="adj"/>
            </a:avLst>
          </a:prstGeom>
          <a:no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3"/>
          <p:cNvSpPr/>
          <p:nvPr/>
        </p:nvSpPr>
        <p:spPr>
          <a:xfrm>
            <a:off x="812800" y="4648150"/>
            <a:ext cx="10883392"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Win+X → Terminal skips the Run dialog: nothing lands in RunMRU and, if the command runs inside PowerShell, not as a command line either.</a:t>
            </a:r>
            <a:endParaRPr b="0" i="0" sz="1500" u="none" cap="none" strike="noStrike">
              <a:solidFill>
                <a:schemeClr val="lt1"/>
              </a:solidFill>
              <a:latin typeface="Montserrat"/>
              <a:ea typeface="Montserrat"/>
              <a:cs typeface="Montserrat"/>
              <a:sym typeface="Montserrat"/>
            </a:endParaRPr>
          </a:p>
        </p:txBody>
      </p:sp>
      <p:sp>
        <p:nvSpPr>
          <p:cNvPr id="340" name="Google Shape;340;p13"/>
          <p:cNvSpPr/>
          <p:nvPr/>
        </p:nvSpPr>
        <p:spPr>
          <a:xfrm>
            <a:off x="812800" y="5232350"/>
            <a:ext cx="10883392"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cloudflare[.]vc, 2026-10-12. The command fetches stage 1 from cosmical2049[.]com and only works with the right User-Agent and X-WUA header.</a:t>
            </a:r>
            <a:endParaRPr b="0" i="0" sz="1200" u="none" cap="none" strike="noStrike">
              <a:solidFill>
                <a:schemeClr val="lt1"/>
              </a:solidFill>
              <a:latin typeface="Montserrat"/>
              <a:ea typeface="Montserrat"/>
              <a:cs typeface="Montserrat"/>
              <a:sym typeface="Montserrat"/>
            </a:endParaRPr>
          </a:p>
        </p:txBody>
      </p:sp>
      <p:sp>
        <p:nvSpPr>
          <p:cNvPr id="341" name="Google Shape;341;p13"/>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342" name="Google Shape;342;p13"/>
          <p:cNvSpPr/>
          <p:nvPr/>
        </p:nvSpPr>
        <p:spPr>
          <a:xfrm>
            <a:off x="11187361" y="6238280"/>
            <a:ext cx="191839"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13</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347" name="Shape 347"/>
        <p:cNvGrpSpPr/>
        <p:nvPr/>
      </p:nvGrpSpPr>
      <p:grpSpPr>
        <a:xfrm>
          <a:off x="0" y="0"/>
          <a:ext cx="0" cy="0"/>
          <a:chOff x="0" y="0"/>
          <a:chExt cx="0" cy="0"/>
        </a:xfrm>
      </p:grpSpPr>
      <p:sp>
        <p:nvSpPr>
          <p:cNvPr id="348" name="Google Shape;348;p14"/>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THE CLICKFIX CASE</a:t>
            </a:r>
            <a:endParaRPr b="0" i="0" sz="1200" u="none" cap="none" strike="noStrike">
              <a:solidFill>
                <a:schemeClr val="lt1"/>
              </a:solidFill>
              <a:latin typeface="Montserrat"/>
              <a:ea typeface="Montserrat"/>
              <a:cs typeface="Montserrat"/>
              <a:sym typeface="Montserrat"/>
            </a:endParaRPr>
          </a:p>
        </p:txBody>
      </p:sp>
      <p:sp>
        <p:nvSpPr>
          <p:cNvPr id="349" name="Google Shape;349;p14"/>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The reality: the alert came at step 7</a:t>
            </a:r>
            <a:endParaRPr sz="3200"/>
          </a:p>
        </p:txBody>
      </p:sp>
      <p:cxnSp>
        <p:nvCxnSpPr>
          <p:cNvPr id="350" name="Google Shape;350;p14"/>
          <p:cNvCxnSpPr/>
          <p:nvPr/>
        </p:nvCxnSpPr>
        <p:spPr>
          <a:xfrm>
            <a:off x="812800" y="1781125"/>
            <a:ext cx="10566400" cy="0"/>
          </a:xfrm>
          <a:prstGeom prst="straightConnector1">
            <a:avLst/>
          </a:prstGeom>
          <a:noFill/>
          <a:ln cap="flat" cmpd="sng" w="9525">
            <a:solidFill>
              <a:srgbClr val="2D2740"/>
            </a:solidFill>
            <a:prstDash val="solid"/>
            <a:round/>
            <a:headEnd len="sm" w="sm" type="none"/>
            <a:tailEnd len="sm" w="sm" type="none"/>
          </a:ln>
        </p:spPr>
      </p:cxnSp>
      <p:sp>
        <p:nvSpPr>
          <p:cNvPr id="351" name="Google Shape;351;p14"/>
          <p:cNvSpPr/>
          <p:nvPr/>
        </p:nvSpPr>
        <p:spPr>
          <a:xfrm>
            <a:off x="812800" y="1873200"/>
            <a:ext cx="876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JetBrains Mono"/>
              <a:buNone/>
            </a:pPr>
            <a:r>
              <a:rPr b="1" i="0" lang="en-US" sz="1200" u="none" cap="none" strike="noStrike">
                <a:solidFill>
                  <a:srgbClr val="F59E42"/>
                </a:solidFill>
                <a:latin typeface="JetBrains Mono"/>
                <a:ea typeface="JetBrains Mono"/>
                <a:cs typeface="JetBrains Mono"/>
                <a:sym typeface="JetBrains Mono"/>
              </a:rPr>
              <a:t>T+0:00</a:t>
            </a:r>
            <a:endParaRPr b="0" i="0" sz="1200" u="none" cap="none" strike="noStrike">
              <a:solidFill>
                <a:schemeClr val="lt1"/>
              </a:solidFill>
              <a:latin typeface="Montserrat"/>
              <a:ea typeface="Montserrat"/>
              <a:cs typeface="Montserrat"/>
              <a:sym typeface="Montserrat"/>
            </a:endParaRPr>
          </a:p>
        </p:txBody>
      </p:sp>
      <p:sp>
        <p:nvSpPr>
          <p:cNvPr id="352" name="Google Shape;352;p14"/>
          <p:cNvSpPr/>
          <p:nvPr/>
        </p:nvSpPr>
        <p:spPr>
          <a:xfrm>
            <a:off x="1790700" y="1873200"/>
            <a:ext cx="21583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Pastes the command</a:t>
            </a:r>
            <a:endParaRPr b="0" i="0" sz="1200" u="none" cap="none" strike="noStrike">
              <a:solidFill>
                <a:schemeClr val="lt1"/>
              </a:solidFill>
              <a:latin typeface="Montserrat"/>
              <a:ea typeface="Montserrat"/>
              <a:cs typeface="Montserrat"/>
              <a:sym typeface="Montserrat"/>
            </a:endParaRPr>
          </a:p>
        </p:txBody>
      </p:sp>
      <p:sp>
        <p:nvSpPr>
          <p:cNvPr id="353" name="Google Shape;353;p14"/>
          <p:cNvSpPr/>
          <p:nvPr/>
        </p:nvSpPr>
        <p:spPr>
          <a:xfrm>
            <a:off x="4038600" y="1880791"/>
            <a:ext cx="6732065" cy="22349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PowerShell downloads a script from an IP written in decimal notation.</a:t>
            </a:r>
            <a:endParaRPr b="0" i="0" sz="1200" u="none" cap="none" strike="noStrike">
              <a:solidFill>
                <a:schemeClr val="lt1"/>
              </a:solidFill>
              <a:latin typeface="Montserrat"/>
              <a:ea typeface="Montserrat"/>
              <a:cs typeface="Montserrat"/>
              <a:sym typeface="Montserrat"/>
            </a:endParaRPr>
          </a:p>
        </p:txBody>
      </p:sp>
      <p:sp>
        <p:nvSpPr>
          <p:cNvPr id="354" name="Google Shape;354;p14"/>
          <p:cNvSpPr/>
          <p:nvPr/>
        </p:nvSpPr>
        <p:spPr>
          <a:xfrm>
            <a:off x="10726986" y="1847800"/>
            <a:ext cx="652214" cy="264120"/>
          </a:xfrm>
          <a:custGeom>
            <a:rect b="b" l="l" r="r" t="t"/>
            <a:pathLst>
              <a:path extrusionOk="0" h="264120" w="652214">
                <a:moveTo>
                  <a:pt x="132060" y="0"/>
                </a:moveTo>
                <a:lnTo>
                  <a:pt x="520154" y="0"/>
                </a:lnTo>
                <a:cubicBezTo>
                  <a:pt x="555178" y="0"/>
                  <a:pt x="588768" y="13913"/>
                  <a:pt x="613535" y="38679"/>
                </a:cubicBezTo>
                <a:cubicBezTo>
                  <a:pt x="638301" y="63446"/>
                  <a:pt x="652214" y="97036"/>
                  <a:pt x="652214" y="132060"/>
                </a:cubicBezTo>
                <a:lnTo>
                  <a:pt x="652214" y="132060"/>
                </a:lnTo>
                <a:cubicBezTo>
                  <a:pt x="652214" y="204995"/>
                  <a:pt x="593089" y="264120"/>
                  <a:pt x="520154" y="264120"/>
                </a:cubicBezTo>
                <a:lnTo>
                  <a:pt x="132060" y="264120"/>
                </a:lnTo>
                <a:cubicBezTo>
                  <a:pt x="59125" y="264120"/>
                  <a:pt x="0" y="204995"/>
                  <a:pt x="0" y="132060"/>
                </a:cubicBezTo>
                <a:lnTo>
                  <a:pt x="0" y="132060"/>
                </a:lnTo>
                <a:cubicBezTo>
                  <a:pt x="0" y="59125"/>
                  <a:pt x="59125" y="0"/>
                  <a:pt x="132060" y="0"/>
                </a:cubicBezTo>
                <a:close/>
              </a:path>
            </a:pathLst>
          </a:custGeom>
          <a:solidFill>
            <a:srgbClr val="2D274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INFO</a:t>
            </a:r>
            <a:endParaRPr b="0" i="0" sz="1200" u="none" cap="none" strike="noStrike">
              <a:solidFill>
                <a:schemeClr val="lt1"/>
              </a:solidFill>
              <a:latin typeface="Montserrat"/>
              <a:ea typeface="Montserrat"/>
              <a:cs typeface="Montserrat"/>
              <a:sym typeface="Montserrat"/>
            </a:endParaRPr>
          </a:p>
        </p:txBody>
      </p:sp>
      <p:cxnSp>
        <p:nvCxnSpPr>
          <p:cNvPr id="355" name="Google Shape;355;p14"/>
          <p:cNvCxnSpPr/>
          <p:nvPr/>
        </p:nvCxnSpPr>
        <p:spPr>
          <a:xfrm>
            <a:off x="812800" y="2178596"/>
            <a:ext cx="10566400" cy="0"/>
          </a:xfrm>
          <a:prstGeom prst="straightConnector1">
            <a:avLst/>
          </a:prstGeom>
          <a:noFill/>
          <a:ln cap="flat" cmpd="sng" w="9525">
            <a:solidFill>
              <a:srgbClr val="2D2740"/>
            </a:solidFill>
            <a:prstDash val="solid"/>
            <a:round/>
            <a:headEnd len="sm" w="sm" type="none"/>
            <a:tailEnd len="sm" w="sm" type="none"/>
          </a:ln>
        </p:spPr>
      </p:cxnSp>
      <p:sp>
        <p:nvSpPr>
          <p:cNvPr id="356" name="Google Shape;356;p14"/>
          <p:cNvSpPr/>
          <p:nvPr/>
        </p:nvSpPr>
        <p:spPr>
          <a:xfrm>
            <a:off x="812800" y="2270671"/>
            <a:ext cx="876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JetBrains Mono"/>
              <a:buNone/>
            </a:pPr>
            <a:r>
              <a:rPr b="1" i="0" lang="en-US" sz="1200" u="none" cap="none" strike="noStrike">
                <a:solidFill>
                  <a:srgbClr val="F59E42"/>
                </a:solidFill>
                <a:latin typeface="JetBrains Mono"/>
                <a:ea typeface="JetBrains Mono"/>
                <a:cs typeface="JetBrains Mono"/>
                <a:sym typeface="JetBrains Mono"/>
              </a:rPr>
              <a:t>T+0:03</a:t>
            </a:r>
            <a:endParaRPr b="0" i="0" sz="1200" u="none" cap="none" strike="noStrike">
              <a:solidFill>
                <a:schemeClr val="lt1"/>
              </a:solidFill>
              <a:latin typeface="Montserrat"/>
              <a:ea typeface="Montserrat"/>
              <a:cs typeface="Montserrat"/>
              <a:sym typeface="Montserrat"/>
            </a:endParaRPr>
          </a:p>
        </p:txBody>
      </p:sp>
      <p:sp>
        <p:nvSpPr>
          <p:cNvPr id="357" name="Google Shape;357;p14"/>
          <p:cNvSpPr/>
          <p:nvPr/>
        </p:nvSpPr>
        <p:spPr>
          <a:xfrm>
            <a:off x="1790700" y="2270671"/>
            <a:ext cx="21583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Hidden console</a:t>
            </a:r>
            <a:endParaRPr b="0" i="0" sz="1200" u="none" cap="none" strike="noStrike">
              <a:solidFill>
                <a:schemeClr val="lt1"/>
              </a:solidFill>
              <a:latin typeface="Montserrat"/>
              <a:ea typeface="Montserrat"/>
              <a:cs typeface="Montserrat"/>
              <a:sym typeface="Montserrat"/>
            </a:endParaRPr>
          </a:p>
        </p:txBody>
      </p:sp>
      <p:sp>
        <p:nvSpPr>
          <p:cNvPr id="358" name="Google Shape;358;p14"/>
          <p:cNvSpPr/>
          <p:nvPr/>
        </p:nvSpPr>
        <p:spPr>
          <a:xfrm>
            <a:off x="4038600" y="2278261"/>
            <a:ext cx="6732065" cy="22349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The window disappears: the user thinks it failed and retries.</a:t>
            </a:r>
            <a:endParaRPr b="0" i="0" sz="1200" u="none" cap="none" strike="noStrike">
              <a:solidFill>
                <a:schemeClr val="lt1"/>
              </a:solidFill>
              <a:latin typeface="Montserrat"/>
              <a:ea typeface="Montserrat"/>
              <a:cs typeface="Montserrat"/>
              <a:sym typeface="Montserrat"/>
            </a:endParaRPr>
          </a:p>
        </p:txBody>
      </p:sp>
      <p:sp>
        <p:nvSpPr>
          <p:cNvPr id="359" name="Google Shape;359;p14"/>
          <p:cNvSpPr/>
          <p:nvPr/>
        </p:nvSpPr>
        <p:spPr>
          <a:xfrm>
            <a:off x="10726986" y="2245271"/>
            <a:ext cx="652214" cy="264120"/>
          </a:xfrm>
          <a:custGeom>
            <a:rect b="b" l="l" r="r" t="t"/>
            <a:pathLst>
              <a:path extrusionOk="0" h="264120" w="652214">
                <a:moveTo>
                  <a:pt x="132060" y="0"/>
                </a:moveTo>
                <a:lnTo>
                  <a:pt x="520154" y="0"/>
                </a:lnTo>
                <a:cubicBezTo>
                  <a:pt x="555178" y="0"/>
                  <a:pt x="588768" y="13913"/>
                  <a:pt x="613535" y="38679"/>
                </a:cubicBezTo>
                <a:cubicBezTo>
                  <a:pt x="638301" y="63446"/>
                  <a:pt x="652214" y="97036"/>
                  <a:pt x="652214" y="132060"/>
                </a:cubicBezTo>
                <a:lnTo>
                  <a:pt x="652214" y="132060"/>
                </a:lnTo>
                <a:cubicBezTo>
                  <a:pt x="652214" y="204995"/>
                  <a:pt x="593089" y="264120"/>
                  <a:pt x="520154" y="264120"/>
                </a:cubicBezTo>
                <a:lnTo>
                  <a:pt x="132060" y="264120"/>
                </a:lnTo>
                <a:cubicBezTo>
                  <a:pt x="59125" y="264120"/>
                  <a:pt x="0" y="204995"/>
                  <a:pt x="0" y="132060"/>
                </a:cubicBezTo>
                <a:lnTo>
                  <a:pt x="0" y="132060"/>
                </a:lnTo>
                <a:cubicBezTo>
                  <a:pt x="0" y="59125"/>
                  <a:pt x="59125" y="0"/>
                  <a:pt x="132060" y="0"/>
                </a:cubicBezTo>
                <a:close/>
              </a:path>
            </a:pathLst>
          </a:custGeom>
          <a:solidFill>
            <a:srgbClr val="2D274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INFO</a:t>
            </a:r>
            <a:endParaRPr b="0" i="0" sz="1200" u="none" cap="none" strike="noStrike">
              <a:solidFill>
                <a:schemeClr val="lt1"/>
              </a:solidFill>
              <a:latin typeface="Montserrat"/>
              <a:ea typeface="Montserrat"/>
              <a:cs typeface="Montserrat"/>
              <a:sym typeface="Montserrat"/>
            </a:endParaRPr>
          </a:p>
        </p:txBody>
      </p:sp>
      <p:cxnSp>
        <p:nvCxnSpPr>
          <p:cNvPr id="360" name="Google Shape;360;p14"/>
          <p:cNvCxnSpPr/>
          <p:nvPr/>
        </p:nvCxnSpPr>
        <p:spPr>
          <a:xfrm>
            <a:off x="812800" y="2576066"/>
            <a:ext cx="10566400" cy="0"/>
          </a:xfrm>
          <a:prstGeom prst="straightConnector1">
            <a:avLst/>
          </a:prstGeom>
          <a:noFill/>
          <a:ln cap="flat" cmpd="sng" w="9525">
            <a:solidFill>
              <a:srgbClr val="2D2740"/>
            </a:solidFill>
            <a:prstDash val="solid"/>
            <a:round/>
            <a:headEnd len="sm" w="sm" type="none"/>
            <a:tailEnd len="sm" w="sm" type="none"/>
          </a:ln>
        </p:spPr>
      </p:cxnSp>
      <p:sp>
        <p:nvSpPr>
          <p:cNvPr id="361" name="Google Shape;361;p14"/>
          <p:cNvSpPr/>
          <p:nvPr/>
        </p:nvSpPr>
        <p:spPr>
          <a:xfrm>
            <a:off x="812800" y="2668141"/>
            <a:ext cx="876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JetBrains Mono"/>
              <a:buNone/>
            </a:pPr>
            <a:r>
              <a:rPr b="1" i="0" lang="en-US" sz="1200" u="none" cap="none" strike="noStrike">
                <a:solidFill>
                  <a:srgbClr val="F59E42"/>
                </a:solidFill>
                <a:latin typeface="JetBrains Mono"/>
                <a:ea typeface="JetBrains Mono"/>
                <a:cs typeface="JetBrains Mono"/>
                <a:sym typeface="JetBrains Mono"/>
              </a:rPr>
              <a:t>T+0:05</a:t>
            </a:r>
            <a:endParaRPr b="0" i="0" sz="1200" u="none" cap="none" strike="noStrike">
              <a:solidFill>
                <a:schemeClr val="lt1"/>
              </a:solidFill>
              <a:latin typeface="Montserrat"/>
              <a:ea typeface="Montserrat"/>
              <a:cs typeface="Montserrat"/>
              <a:sym typeface="Montserrat"/>
            </a:endParaRPr>
          </a:p>
        </p:txBody>
      </p:sp>
      <p:sp>
        <p:nvSpPr>
          <p:cNvPr id="362" name="Google Shape;362;p14"/>
          <p:cNvSpPr/>
          <p:nvPr/>
        </p:nvSpPr>
        <p:spPr>
          <a:xfrm>
            <a:off x="1790700" y="2668141"/>
            <a:ext cx="21583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Silent MSI</a:t>
            </a:r>
            <a:endParaRPr b="0" i="0" sz="1200" u="none" cap="none" strike="noStrike">
              <a:solidFill>
                <a:schemeClr val="lt1"/>
              </a:solidFill>
              <a:latin typeface="Montserrat"/>
              <a:ea typeface="Montserrat"/>
              <a:cs typeface="Montserrat"/>
              <a:sym typeface="Montserrat"/>
            </a:endParaRPr>
          </a:p>
        </p:txBody>
      </p:sp>
      <p:sp>
        <p:nvSpPr>
          <p:cNvPr id="363" name="Google Shape;363;p14"/>
          <p:cNvSpPr/>
          <p:nvPr/>
        </p:nvSpPr>
        <p:spPr>
          <a:xfrm>
            <a:off x="4038600" y="2675731"/>
            <a:ext cx="6732065" cy="22349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An installer from %TEMP%, with no windows.</a:t>
            </a:r>
            <a:endParaRPr b="0" i="0" sz="1200" u="none" cap="none" strike="noStrike">
              <a:solidFill>
                <a:schemeClr val="lt1"/>
              </a:solidFill>
              <a:latin typeface="Montserrat"/>
              <a:ea typeface="Montserrat"/>
              <a:cs typeface="Montserrat"/>
              <a:sym typeface="Montserrat"/>
            </a:endParaRPr>
          </a:p>
        </p:txBody>
      </p:sp>
      <p:sp>
        <p:nvSpPr>
          <p:cNvPr id="364" name="Google Shape;364;p14"/>
          <p:cNvSpPr/>
          <p:nvPr/>
        </p:nvSpPr>
        <p:spPr>
          <a:xfrm>
            <a:off x="10726986" y="2642741"/>
            <a:ext cx="652214" cy="264120"/>
          </a:xfrm>
          <a:custGeom>
            <a:rect b="b" l="l" r="r" t="t"/>
            <a:pathLst>
              <a:path extrusionOk="0" h="264120" w="652214">
                <a:moveTo>
                  <a:pt x="132060" y="0"/>
                </a:moveTo>
                <a:lnTo>
                  <a:pt x="520154" y="0"/>
                </a:lnTo>
                <a:cubicBezTo>
                  <a:pt x="555178" y="0"/>
                  <a:pt x="588768" y="13913"/>
                  <a:pt x="613535" y="38679"/>
                </a:cubicBezTo>
                <a:cubicBezTo>
                  <a:pt x="638301" y="63446"/>
                  <a:pt x="652214" y="97036"/>
                  <a:pt x="652214" y="132060"/>
                </a:cubicBezTo>
                <a:lnTo>
                  <a:pt x="652214" y="132060"/>
                </a:lnTo>
                <a:cubicBezTo>
                  <a:pt x="652214" y="204995"/>
                  <a:pt x="593089" y="264120"/>
                  <a:pt x="520154" y="264120"/>
                </a:cubicBezTo>
                <a:lnTo>
                  <a:pt x="132060" y="264120"/>
                </a:lnTo>
                <a:cubicBezTo>
                  <a:pt x="59125" y="264120"/>
                  <a:pt x="0" y="204995"/>
                  <a:pt x="0" y="132060"/>
                </a:cubicBezTo>
                <a:lnTo>
                  <a:pt x="0" y="132060"/>
                </a:lnTo>
                <a:cubicBezTo>
                  <a:pt x="0" y="59125"/>
                  <a:pt x="59125" y="0"/>
                  <a:pt x="132060" y="0"/>
                </a:cubicBezTo>
                <a:close/>
              </a:path>
            </a:pathLst>
          </a:custGeom>
          <a:solidFill>
            <a:srgbClr val="2D274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INFO</a:t>
            </a:r>
            <a:endParaRPr b="0" i="0" sz="1200" u="none" cap="none" strike="noStrike">
              <a:solidFill>
                <a:schemeClr val="lt1"/>
              </a:solidFill>
              <a:latin typeface="Montserrat"/>
              <a:ea typeface="Montserrat"/>
              <a:cs typeface="Montserrat"/>
              <a:sym typeface="Montserrat"/>
            </a:endParaRPr>
          </a:p>
        </p:txBody>
      </p:sp>
      <p:cxnSp>
        <p:nvCxnSpPr>
          <p:cNvPr id="365" name="Google Shape;365;p14"/>
          <p:cNvCxnSpPr/>
          <p:nvPr/>
        </p:nvCxnSpPr>
        <p:spPr>
          <a:xfrm>
            <a:off x="812800" y="2973536"/>
            <a:ext cx="10566400" cy="0"/>
          </a:xfrm>
          <a:prstGeom prst="straightConnector1">
            <a:avLst/>
          </a:prstGeom>
          <a:noFill/>
          <a:ln cap="flat" cmpd="sng" w="9525">
            <a:solidFill>
              <a:srgbClr val="2D2740"/>
            </a:solidFill>
            <a:prstDash val="solid"/>
            <a:round/>
            <a:headEnd len="sm" w="sm" type="none"/>
            <a:tailEnd len="sm" w="sm" type="none"/>
          </a:ln>
        </p:spPr>
      </p:cxnSp>
      <p:sp>
        <p:nvSpPr>
          <p:cNvPr id="366" name="Google Shape;366;p14"/>
          <p:cNvSpPr/>
          <p:nvPr/>
        </p:nvSpPr>
        <p:spPr>
          <a:xfrm>
            <a:off x="812800" y="3065611"/>
            <a:ext cx="876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JetBrains Mono"/>
              <a:buNone/>
            </a:pPr>
            <a:r>
              <a:rPr b="1" i="0" lang="en-US" sz="1200" u="none" cap="none" strike="noStrike">
                <a:solidFill>
                  <a:srgbClr val="F59E42"/>
                </a:solidFill>
                <a:latin typeface="JetBrains Mono"/>
                <a:ea typeface="JetBrains Mono"/>
                <a:cs typeface="JetBrains Mono"/>
                <a:sym typeface="JetBrains Mono"/>
              </a:rPr>
              <a:t>T+0:07</a:t>
            </a:r>
            <a:endParaRPr b="0" i="0" sz="1200" u="none" cap="none" strike="noStrike">
              <a:solidFill>
                <a:schemeClr val="lt1"/>
              </a:solidFill>
              <a:latin typeface="Montserrat"/>
              <a:ea typeface="Montserrat"/>
              <a:cs typeface="Montserrat"/>
              <a:sym typeface="Montserrat"/>
            </a:endParaRPr>
          </a:p>
        </p:txBody>
      </p:sp>
      <p:sp>
        <p:nvSpPr>
          <p:cNvPr id="367" name="Google Shape;367;p14"/>
          <p:cNvSpPr/>
          <p:nvPr/>
        </p:nvSpPr>
        <p:spPr>
          <a:xfrm>
            <a:off x="1790700" y="3065611"/>
            <a:ext cx="21583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Hidden PowerShell</a:t>
            </a:r>
            <a:endParaRPr b="0" i="0" sz="1200" u="none" cap="none" strike="noStrike">
              <a:solidFill>
                <a:schemeClr val="lt1"/>
              </a:solidFill>
              <a:latin typeface="Montserrat"/>
              <a:ea typeface="Montserrat"/>
              <a:cs typeface="Montserrat"/>
              <a:sym typeface="Montserrat"/>
            </a:endParaRPr>
          </a:p>
        </p:txBody>
      </p:sp>
      <p:sp>
        <p:nvSpPr>
          <p:cNvPr id="368" name="Google Shape;368;p14"/>
          <p:cNvSpPr/>
          <p:nvPr/>
        </p:nvSpPr>
        <p:spPr>
          <a:xfrm>
            <a:off x="4038600" y="3073202"/>
            <a:ext cx="6732065" cy="22349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Launched by the installer itself (msiexec).</a:t>
            </a:r>
            <a:endParaRPr b="0" i="0" sz="1200" u="none" cap="none" strike="noStrike">
              <a:solidFill>
                <a:schemeClr val="lt1"/>
              </a:solidFill>
              <a:latin typeface="Montserrat"/>
              <a:ea typeface="Montserrat"/>
              <a:cs typeface="Montserrat"/>
              <a:sym typeface="Montserrat"/>
            </a:endParaRPr>
          </a:p>
        </p:txBody>
      </p:sp>
      <p:sp>
        <p:nvSpPr>
          <p:cNvPr id="369" name="Google Shape;369;p14"/>
          <p:cNvSpPr/>
          <p:nvPr/>
        </p:nvSpPr>
        <p:spPr>
          <a:xfrm>
            <a:off x="10726986" y="3040211"/>
            <a:ext cx="652214" cy="264120"/>
          </a:xfrm>
          <a:custGeom>
            <a:rect b="b" l="l" r="r" t="t"/>
            <a:pathLst>
              <a:path extrusionOk="0" h="264120" w="652214">
                <a:moveTo>
                  <a:pt x="132060" y="0"/>
                </a:moveTo>
                <a:lnTo>
                  <a:pt x="520154" y="0"/>
                </a:lnTo>
                <a:cubicBezTo>
                  <a:pt x="555178" y="0"/>
                  <a:pt x="588768" y="13913"/>
                  <a:pt x="613535" y="38679"/>
                </a:cubicBezTo>
                <a:cubicBezTo>
                  <a:pt x="638301" y="63446"/>
                  <a:pt x="652214" y="97036"/>
                  <a:pt x="652214" y="132060"/>
                </a:cubicBezTo>
                <a:lnTo>
                  <a:pt x="652214" y="132060"/>
                </a:lnTo>
                <a:cubicBezTo>
                  <a:pt x="652214" y="204995"/>
                  <a:pt x="593089" y="264120"/>
                  <a:pt x="520154" y="264120"/>
                </a:cubicBezTo>
                <a:lnTo>
                  <a:pt x="132060" y="264120"/>
                </a:lnTo>
                <a:cubicBezTo>
                  <a:pt x="59125" y="264120"/>
                  <a:pt x="0" y="204995"/>
                  <a:pt x="0" y="132060"/>
                </a:cubicBezTo>
                <a:lnTo>
                  <a:pt x="0" y="132060"/>
                </a:lnTo>
                <a:cubicBezTo>
                  <a:pt x="0" y="59125"/>
                  <a:pt x="59125" y="0"/>
                  <a:pt x="132060" y="0"/>
                </a:cubicBezTo>
                <a:close/>
              </a:path>
            </a:pathLst>
          </a:custGeom>
          <a:solidFill>
            <a:srgbClr val="2D274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INFO</a:t>
            </a:r>
            <a:endParaRPr b="0" i="0" sz="1200" u="none" cap="none" strike="noStrike">
              <a:solidFill>
                <a:schemeClr val="lt1"/>
              </a:solidFill>
              <a:latin typeface="Montserrat"/>
              <a:ea typeface="Montserrat"/>
              <a:cs typeface="Montserrat"/>
              <a:sym typeface="Montserrat"/>
            </a:endParaRPr>
          </a:p>
        </p:txBody>
      </p:sp>
      <p:cxnSp>
        <p:nvCxnSpPr>
          <p:cNvPr id="370" name="Google Shape;370;p14"/>
          <p:cNvCxnSpPr/>
          <p:nvPr/>
        </p:nvCxnSpPr>
        <p:spPr>
          <a:xfrm>
            <a:off x="812800" y="3371007"/>
            <a:ext cx="10566400" cy="0"/>
          </a:xfrm>
          <a:prstGeom prst="straightConnector1">
            <a:avLst/>
          </a:prstGeom>
          <a:noFill/>
          <a:ln cap="flat" cmpd="sng" w="9525">
            <a:solidFill>
              <a:srgbClr val="2D2740"/>
            </a:solidFill>
            <a:prstDash val="solid"/>
            <a:round/>
            <a:headEnd len="sm" w="sm" type="none"/>
            <a:tailEnd len="sm" w="sm" type="none"/>
          </a:ln>
        </p:spPr>
      </p:cxnSp>
      <p:sp>
        <p:nvSpPr>
          <p:cNvPr id="371" name="Google Shape;371;p14"/>
          <p:cNvSpPr/>
          <p:nvPr/>
        </p:nvSpPr>
        <p:spPr>
          <a:xfrm>
            <a:off x="812800" y="3463082"/>
            <a:ext cx="876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JetBrains Mono"/>
              <a:buNone/>
            </a:pPr>
            <a:r>
              <a:rPr b="1" i="0" lang="en-US" sz="1200" u="none" cap="none" strike="noStrike">
                <a:solidFill>
                  <a:srgbClr val="F59E42"/>
                </a:solidFill>
                <a:latin typeface="JetBrains Mono"/>
                <a:ea typeface="JetBrains Mono"/>
                <a:cs typeface="JetBrains Mono"/>
                <a:sym typeface="JetBrains Mono"/>
              </a:rPr>
              <a:t>T+0:22</a:t>
            </a:r>
            <a:endParaRPr b="0" i="0" sz="1200" u="none" cap="none" strike="noStrike">
              <a:solidFill>
                <a:schemeClr val="lt1"/>
              </a:solidFill>
              <a:latin typeface="Montserrat"/>
              <a:ea typeface="Montserrat"/>
              <a:cs typeface="Montserrat"/>
              <a:sym typeface="Montserrat"/>
            </a:endParaRPr>
          </a:p>
        </p:txBody>
      </p:sp>
      <p:sp>
        <p:nvSpPr>
          <p:cNvPr id="372" name="Google Shape;372;p14"/>
          <p:cNvSpPr/>
          <p:nvPr/>
        </p:nvSpPr>
        <p:spPr>
          <a:xfrm>
            <a:off x="1790700" y="3463082"/>
            <a:ext cx="21583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Persistence</a:t>
            </a:r>
            <a:endParaRPr b="0" i="0" sz="1200" u="none" cap="none" strike="noStrike">
              <a:solidFill>
                <a:schemeClr val="lt1"/>
              </a:solidFill>
              <a:latin typeface="Montserrat"/>
              <a:ea typeface="Montserrat"/>
              <a:cs typeface="Montserrat"/>
              <a:sym typeface="Montserrat"/>
            </a:endParaRPr>
          </a:p>
        </p:txBody>
      </p:sp>
      <p:sp>
        <p:nvSpPr>
          <p:cNvPr id="373" name="Google Shape;373;p14"/>
          <p:cNvSpPr/>
          <p:nvPr/>
        </p:nvSpPr>
        <p:spPr>
          <a:xfrm>
            <a:off x="4038600" y="3470672"/>
            <a:ext cx="6732065" cy="22349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An injected .NET binary registers a fake Chrome extension.</a:t>
            </a:r>
            <a:endParaRPr b="0" i="0" sz="1200" u="none" cap="none" strike="noStrike">
              <a:solidFill>
                <a:schemeClr val="lt1"/>
              </a:solidFill>
              <a:latin typeface="Montserrat"/>
              <a:ea typeface="Montserrat"/>
              <a:cs typeface="Montserrat"/>
              <a:sym typeface="Montserrat"/>
            </a:endParaRPr>
          </a:p>
        </p:txBody>
      </p:sp>
      <p:sp>
        <p:nvSpPr>
          <p:cNvPr id="374" name="Google Shape;374;p14"/>
          <p:cNvSpPr/>
          <p:nvPr/>
        </p:nvSpPr>
        <p:spPr>
          <a:xfrm>
            <a:off x="10726986" y="3437682"/>
            <a:ext cx="652214" cy="264120"/>
          </a:xfrm>
          <a:custGeom>
            <a:rect b="b" l="l" r="r" t="t"/>
            <a:pathLst>
              <a:path extrusionOk="0" h="264120" w="652214">
                <a:moveTo>
                  <a:pt x="132060" y="0"/>
                </a:moveTo>
                <a:lnTo>
                  <a:pt x="520154" y="0"/>
                </a:lnTo>
                <a:cubicBezTo>
                  <a:pt x="555178" y="0"/>
                  <a:pt x="588768" y="13913"/>
                  <a:pt x="613535" y="38679"/>
                </a:cubicBezTo>
                <a:cubicBezTo>
                  <a:pt x="638301" y="63446"/>
                  <a:pt x="652214" y="97036"/>
                  <a:pt x="652214" y="132060"/>
                </a:cubicBezTo>
                <a:lnTo>
                  <a:pt x="652214" y="132060"/>
                </a:lnTo>
                <a:cubicBezTo>
                  <a:pt x="652214" y="204995"/>
                  <a:pt x="593089" y="264120"/>
                  <a:pt x="520154" y="264120"/>
                </a:cubicBezTo>
                <a:lnTo>
                  <a:pt x="132060" y="264120"/>
                </a:lnTo>
                <a:cubicBezTo>
                  <a:pt x="59125" y="264120"/>
                  <a:pt x="0" y="204995"/>
                  <a:pt x="0" y="132060"/>
                </a:cubicBezTo>
                <a:lnTo>
                  <a:pt x="0" y="132060"/>
                </a:lnTo>
                <a:cubicBezTo>
                  <a:pt x="0" y="59125"/>
                  <a:pt x="59125" y="0"/>
                  <a:pt x="132060" y="0"/>
                </a:cubicBezTo>
                <a:close/>
              </a:path>
            </a:pathLst>
          </a:custGeom>
          <a:solidFill>
            <a:srgbClr val="2D274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INFO</a:t>
            </a:r>
            <a:endParaRPr b="0" i="0" sz="1200" u="none" cap="none" strike="noStrike">
              <a:solidFill>
                <a:schemeClr val="lt1"/>
              </a:solidFill>
              <a:latin typeface="Montserrat"/>
              <a:ea typeface="Montserrat"/>
              <a:cs typeface="Montserrat"/>
              <a:sym typeface="Montserrat"/>
            </a:endParaRPr>
          </a:p>
        </p:txBody>
      </p:sp>
      <p:cxnSp>
        <p:nvCxnSpPr>
          <p:cNvPr id="375" name="Google Shape;375;p14"/>
          <p:cNvCxnSpPr/>
          <p:nvPr/>
        </p:nvCxnSpPr>
        <p:spPr>
          <a:xfrm>
            <a:off x="812800" y="3768477"/>
            <a:ext cx="10566400" cy="0"/>
          </a:xfrm>
          <a:prstGeom prst="straightConnector1">
            <a:avLst/>
          </a:prstGeom>
          <a:noFill/>
          <a:ln cap="flat" cmpd="sng" w="9525">
            <a:solidFill>
              <a:srgbClr val="2D2740"/>
            </a:solidFill>
            <a:prstDash val="solid"/>
            <a:round/>
            <a:headEnd len="sm" w="sm" type="none"/>
            <a:tailEnd len="sm" w="sm" type="none"/>
          </a:ln>
        </p:spPr>
      </p:cxnSp>
      <p:sp>
        <p:nvSpPr>
          <p:cNvPr id="376" name="Google Shape;376;p14"/>
          <p:cNvSpPr/>
          <p:nvPr/>
        </p:nvSpPr>
        <p:spPr>
          <a:xfrm>
            <a:off x="812800" y="3860552"/>
            <a:ext cx="876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JetBrains Mono"/>
              <a:buNone/>
            </a:pPr>
            <a:r>
              <a:rPr b="1" i="0" lang="en-US" sz="1200" u="none" cap="none" strike="noStrike">
                <a:solidFill>
                  <a:srgbClr val="F59E42"/>
                </a:solidFill>
                <a:latin typeface="JetBrains Mono"/>
                <a:ea typeface="JetBrains Mono"/>
                <a:cs typeface="JetBrains Mono"/>
                <a:sym typeface="JetBrains Mono"/>
              </a:rPr>
              <a:t>T+0:26</a:t>
            </a:r>
            <a:endParaRPr b="0" i="0" sz="1200" u="none" cap="none" strike="noStrike">
              <a:solidFill>
                <a:schemeClr val="lt1"/>
              </a:solidFill>
              <a:latin typeface="Montserrat"/>
              <a:ea typeface="Montserrat"/>
              <a:cs typeface="Montserrat"/>
              <a:sym typeface="Montserrat"/>
            </a:endParaRPr>
          </a:p>
        </p:txBody>
      </p:sp>
      <p:sp>
        <p:nvSpPr>
          <p:cNvPr id="377" name="Google Shape;377;p14"/>
          <p:cNvSpPr/>
          <p:nvPr/>
        </p:nvSpPr>
        <p:spPr>
          <a:xfrm>
            <a:off x="1790700" y="3860552"/>
            <a:ext cx="21583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C2 connection</a:t>
            </a:r>
            <a:endParaRPr b="0" i="0" sz="1200" u="none" cap="none" strike="noStrike">
              <a:solidFill>
                <a:schemeClr val="lt1"/>
              </a:solidFill>
              <a:latin typeface="Montserrat"/>
              <a:ea typeface="Montserrat"/>
              <a:cs typeface="Montserrat"/>
              <a:sym typeface="Montserrat"/>
            </a:endParaRPr>
          </a:p>
        </p:txBody>
      </p:sp>
      <p:sp>
        <p:nvSpPr>
          <p:cNvPr id="378" name="Google Shape;378;p14"/>
          <p:cNvSpPr/>
          <p:nvPr/>
        </p:nvSpPr>
        <p:spPr>
          <a:xfrm>
            <a:off x="4038600" y="3868142"/>
            <a:ext cx="6302845" cy="22349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Another .NET binary goes out over HTTP. The IP was on a reputation list.</a:t>
            </a:r>
            <a:endParaRPr b="0" i="0" sz="1200" u="none" cap="none" strike="noStrike">
              <a:solidFill>
                <a:schemeClr val="lt1"/>
              </a:solidFill>
              <a:latin typeface="Montserrat"/>
              <a:ea typeface="Montserrat"/>
              <a:cs typeface="Montserrat"/>
              <a:sym typeface="Montserrat"/>
            </a:endParaRPr>
          </a:p>
        </p:txBody>
      </p:sp>
      <p:sp>
        <p:nvSpPr>
          <p:cNvPr id="379" name="Google Shape;379;p14"/>
          <p:cNvSpPr/>
          <p:nvPr/>
        </p:nvSpPr>
        <p:spPr>
          <a:xfrm>
            <a:off x="10316617" y="3841502"/>
            <a:ext cx="1056233" cy="251420"/>
          </a:xfrm>
          <a:custGeom>
            <a:rect b="b" l="l" r="r" t="t"/>
            <a:pathLst>
              <a:path extrusionOk="0" h="251420" w="1056233">
                <a:moveTo>
                  <a:pt x="125710" y="0"/>
                </a:moveTo>
                <a:lnTo>
                  <a:pt x="930523" y="0"/>
                </a:lnTo>
                <a:cubicBezTo>
                  <a:pt x="963863" y="0"/>
                  <a:pt x="995838" y="13244"/>
                  <a:pt x="1019413" y="36820"/>
                </a:cubicBezTo>
                <a:cubicBezTo>
                  <a:pt x="1042989" y="60395"/>
                  <a:pt x="1056233" y="92370"/>
                  <a:pt x="1056233" y="125710"/>
                </a:cubicBezTo>
                <a:lnTo>
                  <a:pt x="1056233" y="125710"/>
                </a:lnTo>
                <a:cubicBezTo>
                  <a:pt x="1056233" y="195138"/>
                  <a:pt x="999951" y="251420"/>
                  <a:pt x="930523" y="251420"/>
                </a:cubicBezTo>
                <a:lnTo>
                  <a:pt x="125710" y="251420"/>
                </a:lnTo>
                <a:cubicBezTo>
                  <a:pt x="56282" y="251420"/>
                  <a:pt x="0" y="195138"/>
                  <a:pt x="0" y="125710"/>
                </a:cubicBezTo>
                <a:lnTo>
                  <a:pt x="0" y="125710"/>
                </a:lnTo>
                <a:cubicBezTo>
                  <a:pt x="0" y="56282"/>
                  <a:pt x="56282" y="0"/>
                  <a:pt x="125710" y="0"/>
                </a:cubicBezTo>
                <a:close/>
              </a:path>
            </a:pathLst>
          </a:custGeom>
          <a:noFill/>
          <a:ln cap="flat" cmpd="sng" w="12700">
            <a:solidFill>
              <a:srgbClr val="F59E42"/>
            </a:solidFill>
            <a:prstDash val="solid"/>
            <a:round/>
            <a:headEnd len="sm" w="sm" type="none"/>
            <a:tailEnd len="sm" w="sm" type="none"/>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BLOCKED</a:t>
            </a:r>
            <a:endParaRPr b="0" i="0" sz="1200" u="none" cap="none" strike="noStrike">
              <a:solidFill>
                <a:schemeClr val="lt1"/>
              </a:solidFill>
              <a:latin typeface="Montserrat"/>
              <a:ea typeface="Montserrat"/>
              <a:cs typeface="Montserrat"/>
              <a:sym typeface="Montserrat"/>
            </a:endParaRPr>
          </a:p>
        </p:txBody>
      </p:sp>
      <p:cxnSp>
        <p:nvCxnSpPr>
          <p:cNvPr id="380" name="Google Shape;380;p14"/>
          <p:cNvCxnSpPr/>
          <p:nvPr/>
        </p:nvCxnSpPr>
        <p:spPr>
          <a:xfrm>
            <a:off x="812800" y="4165947"/>
            <a:ext cx="10566400" cy="0"/>
          </a:xfrm>
          <a:prstGeom prst="straightConnector1">
            <a:avLst/>
          </a:prstGeom>
          <a:noFill/>
          <a:ln cap="flat" cmpd="sng" w="9525">
            <a:solidFill>
              <a:srgbClr val="2D2740"/>
            </a:solidFill>
            <a:prstDash val="solid"/>
            <a:round/>
            <a:headEnd len="sm" w="sm" type="none"/>
            <a:tailEnd len="sm" w="sm" type="none"/>
          </a:ln>
        </p:spPr>
      </p:cxnSp>
      <p:cxnSp>
        <p:nvCxnSpPr>
          <p:cNvPr id="381" name="Google Shape;381;p14"/>
          <p:cNvCxnSpPr/>
          <p:nvPr/>
        </p:nvCxnSpPr>
        <p:spPr>
          <a:xfrm>
            <a:off x="812800" y="4563418"/>
            <a:ext cx="10566400" cy="0"/>
          </a:xfrm>
          <a:prstGeom prst="straightConnector1">
            <a:avLst/>
          </a:prstGeom>
          <a:noFill/>
          <a:ln cap="flat" cmpd="sng" w="9525">
            <a:solidFill>
              <a:srgbClr val="2D2740"/>
            </a:solidFill>
            <a:prstDash val="solid"/>
            <a:round/>
            <a:headEnd len="sm" w="sm" type="none"/>
            <a:tailEnd len="sm" w="sm" type="none"/>
          </a:ln>
        </p:spPr>
      </p:cxnSp>
      <p:sp>
        <p:nvSpPr>
          <p:cNvPr id="382" name="Google Shape;382;p14"/>
          <p:cNvSpPr/>
          <p:nvPr/>
        </p:nvSpPr>
        <p:spPr>
          <a:xfrm>
            <a:off x="812800" y="4258022"/>
            <a:ext cx="8763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JetBrains Mono"/>
              <a:buNone/>
            </a:pPr>
            <a:r>
              <a:rPr b="1" i="0" lang="en-US" sz="1200" u="none" cap="none" strike="noStrike">
                <a:solidFill>
                  <a:srgbClr val="F59E42"/>
                </a:solidFill>
                <a:latin typeface="JetBrains Mono"/>
                <a:ea typeface="JetBrains Mono"/>
                <a:cs typeface="JetBrains Mono"/>
                <a:sym typeface="JetBrains Mono"/>
              </a:rPr>
              <a:t>T+4:51</a:t>
            </a:r>
            <a:endParaRPr b="0" i="0" sz="1200" u="none" cap="none" strike="noStrike">
              <a:solidFill>
                <a:schemeClr val="lt1"/>
              </a:solidFill>
              <a:latin typeface="Montserrat"/>
              <a:ea typeface="Montserrat"/>
              <a:cs typeface="Montserrat"/>
              <a:sym typeface="Montserrat"/>
            </a:endParaRPr>
          </a:p>
        </p:txBody>
      </p:sp>
      <p:sp>
        <p:nvSpPr>
          <p:cNvPr id="383" name="Google Shape;383;p14"/>
          <p:cNvSpPr/>
          <p:nvPr/>
        </p:nvSpPr>
        <p:spPr>
          <a:xfrm>
            <a:off x="1790700" y="4258022"/>
            <a:ext cx="21583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The alert</a:t>
            </a:r>
            <a:endParaRPr b="0" i="0" sz="1200" u="none" cap="none" strike="noStrike">
              <a:solidFill>
                <a:schemeClr val="lt1"/>
              </a:solidFill>
              <a:latin typeface="Montserrat"/>
              <a:ea typeface="Montserrat"/>
              <a:cs typeface="Montserrat"/>
              <a:sym typeface="Montserrat"/>
            </a:endParaRPr>
          </a:p>
        </p:txBody>
      </p:sp>
      <p:sp>
        <p:nvSpPr>
          <p:cNvPr id="384" name="Google Shape;384;p14"/>
          <p:cNvSpPr/>
          <p:nvPr/>
        </p:nvSpPr>
        <p:spPr>
          <a:xfrm>
            <a:off x="4038600" y="4265613"/>
            <a:ext cx="6496096" cy="22349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Reaches the SOC console.</a:t>
            </a:r>
            <a:endParaRPr b="0" i="0" sz="1200" u="none" cap="none" strike="noStrike">
              <a:solidFill>
                <a:schemeClr val="lt1"/>
              </a:solidFill>
              <a:latin typeface="Montserrat"/>
              <a:ea typeface="Montserrat"/>
              <a:cs typeface="Montserrat"/>
              <a:sym typeface="Montserrat"/>
            </a:endParaRPr>
          </a:p>
        </p:txBody>
      </p:sp>
      <p:sp>
        <p:nvSpPr>
          <p:cNvPr id="385" name="Google Shape;385;p14"/>
          <p:cNvSpPr/>
          <p:nvPr/>
        </p:nvSpPr>
        <p:spPr>
          <a:xfrm>
            <a:off x="10497889" y="4232622"/>
            <a:ext cx="881311" cy="264120"/>
          </a:xfrm>
          <a:custGeom>
            <a:rect b="b" l="l" r="r" t="t"/>
            <a:pathLst>
              <a:path extrusionOk="0" h="264120" w="881311">
                <a:moveTo>
                  <a:pt x="132060" y="0"/>
                </a:moveTo>
                <a:lnTo>
                  <a:pt x="749250" y="0"/>
                </a:lnTo>
                <a:cubicBezTo>
                  <a:pt x="784274" y="0"/>
                  <a:pt x="817864" y="13913"/>
                  <a:pt x="842631" y="38679"/>
                </a:cubicBezTo>
                <a:cubicBezTo>
                  <a:pt x="867397" y="63446"/>
                  <a:pt x="881310" y="97036"/>
                  <a:pt x="881310" y="132060"/>
                </a:cubicBezTo>
                <a:lnTo>
                  <a:pt x="881311" y="132060"/>
                </a:lnTo>
                <a:cubicBezTo>
                  <a:pt x="881311" y="204995"/>
                  <a:pt x="822186" y="264120"/>
                  <a:pt x="749251" y="264120"/>
                </a:cubicBezTo>
                <a:lnTo>
                  <a:pt x="132060" y="264120"/>
                </a:lnTo>
                <a:cubicBezTo>
                  <a:pt x="59125" y="264120"/>
                  <a:pt x="0" y="204995"/>
                  <a:pt x="0" y="132060"/>
                </a:cubicBezTo>
                <a:lnTo>
                  <a:pt x="0" y="132060"/>
                </a:lnTo>
                <a:cubicBezTo>
                  <a:pt x="0" y="59125"/>
                  <a:pt x="59125" y="0"/>
                  <a:pt x="132060" y="0"/>
                </a:cubicBezTo>
                <a:close/>
              </a:path>
            </a:pathLst>
          </a:custGeom>
          <a:solidFill>
            <a:srgbClr val="F59E42"/>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0C0B12"/>
              </a:buClr>
              <a:buSzPts val="1200"/>
              <a:buFont typeface="Montserrat"/>
              <a:buNone/>
            </a:pPr>
            <a:r>
              <a:rPr b="1" i="0" lang="en-US" sz="1200" u="none" cap="none" strike="noStrike">
                <a:solidFill>
                  <a:srgbClr val="0C0B12"/>
                </a:solidFill>
                <a:latin typeface="Montserrat"/>
                <a:ea typeface="Montserrat"/>
                <a:cs typeface="Montserrat"/>
                <a:sym typeface="Montserrat"/>
              </a:rPr>
              <a:t>ALERT</a:t>
            </a:r>
            <a:endParaRPr b="0" i="0" sz="1200" u="none" cap="none" strike="noStrike">
              <a:solidFill>
                <a:schemeClr val="lt1"/>
              </a:solidFill>
              <a:latin typeface="Montserrat"/>
              <a:ea typeface="Montserrat"/>
              <a:cs typeface="Montserrat"/>
              <a:sym typeface="Montserrat"/>
            </a:endParaRPr>
          </a:p>
        </p:txBody>
      </p:sp>
      <p:sp>
        <p:nvSpPr>
          <p:cNvPr id="386" name="Google Shape;386;p14"/>
          <p:cNvSpPr/>
          <p:nvPr/>
        </p:nvSpPr>
        <p:spPr>
          <a:xfrm>
            <a:off x="812800" y="4769793"/>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The only thing that alerted was a known IOC. Everything else was in the telemetry as “info”.</a:t>
            </a:r>
            <a:endParaRPr b="0" i="0" sz="1500" u="none" cap="none" strike="noStrike">
              <a:solidFill>
                <a:schemeClr val="lt1"/>
              </a:solidFill>
              <a:latin typeface="Montserrat"/>
              <a:ea typeface="Montserrat"/>
              <a:cs typeface="Montserrat"/>
              <a:sym typeface="Montserrat"/>
            </a:endParaRPr>
          </a:p>
        </p:txBody>
      </p:sp>
      <p:sp>
        <p:nvSpPr>
          <p:cNvPr id="387" name="Google Shape;387;p14"/>
          <p:cNvSpPr/>
          <p:nvPr/>
        </p:nvSpPr>
        <p:spPr>
          <a:xfrm>
            <a:off x="812800" y="6238280"/>
            <a:ext cx="898996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Times relative to the first paste, per EDR telemetry. Victim data anonymized.</a:t>
            </a:r>
            <a:endParaRPr b="0" i="0" sz="1200" u="none" cap="none" strike="noStrike">
              <a:solidFill>
                <a:schemeClr val="lt1"/>
              </a:solidFill>
              <a:latin typeface="Montserrat"/>
              <a:ea typeface="Montserrat"/>
              <a:cs typeface="Montserrat"/>
              <a:sym typeface="Montserrat"/>
            </a:endParaRPr>
          </a:p>
        </p:txBody>
      </p:sp>
      <p:sp>
        <p:nvSpPr>
          <p:cNvPr id="388" name="Google Shape;388;p14"/>
          <p:cNvSpPr/>
          <p:nvPr/>
        </p:nvSpPr>
        <p:spPr>
          <a:xfrm>
            <a:off x="11172676" y="6238280"/>
            <a:ext cx="206524"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14</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393" name="Shape 393"/>
        <p:cNvGrpSpPr/>
        <p:nvPr/>
      </p:nvGrpSpPr>
      <p:grpSpPr>
        <a:xfrm>
          <a:off x="0" y="0"/>
          <a:ext cx="0" cy="0"/>
          <a:chOff x="0" y="0"/>
          <a:chExt cx="0" cy="0"/>
        </a:xfrm>
      </p:grpSpPr>
      <p:sp>
        <p:nvSpPr>
          <p:cNvPr id="394" name="Google Shape;394;p1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THE CLICKFIX CASE</a:t>
            </a:r>
            <a:endParaRPr b="0" i="0" sz="1200" u="none" cap="none" strike="noStrike">
              <a:solidFill>
                <a:schemeClr val="lt1"/>
              </a:solidFill>
              <a:latin typeface="Montserrat"/>
              <a:ea typeface="Montserrat"/>
              <a:cs typeface="Montserrat"/>
              <a:sym typeface="Montserrat"/>
            </a:endParaRPr>
          </a:p>
        </p:txBody>
      </p:sp>
      <p:sp>
        <p:nvSpPr>
          <p:cNvPr id="395" name="Google Shape;395;p15"/>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The sandbox said: “No threats detected”</a:t>
            </a:r>
            <a:endParaRPr sz="3200"/>
          </a:p>
        </p:txBody>
      </p:sp>
      <p:sp>
        <p:nvSpPr>
          <p:cNvPr id="396" name="Google Shape;396;p15"/>
          <p:cNvSpPr/>
          <p:nvPr/>
        </p:nvSpPr>
        <p:spPr>
          <a:xfrm>
            <a:off x="815975" y="1831925"/>
            <a:ext cx="5556250" cy="930870"/>
          </a:xfrm>
          <a:prstGeom prst="roundRect">
            <a:avLst>
              <a:gd fmla="val 10573"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5"/>
          <p:cNvSpPr/>
          <p:nvPr/>
        </p:nvSpPr>
        <p:spPr>
          <a:xfrm>
            <a:off x="1022350" y="1987500"/>
            <a:ext cx="529780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1" i="0" lang="en-US" sz="1200" u="none" cap="none" strike="noStrike">
                <a:solidFill>
                  <a:srgbClr val="8F8AA6"/>
                </a:solidFill>
                <a:latin typeface="Montserrat"/>
                <a:ea typeface="Montserrat"/>
                <a:cs typeface="Montserrat"/>
                <a:sym typeface="Montserrat"/>
              </a:rPr>
              <a:t>ANY.RUN verdict on stage 1</a:t>
            </a:r>
            <a:endParaRPr b="0" i="0" sz="1200" u="none" cap="none" strike="noStrike">
              <a:solidFill>
                <a:schemeClr val="lt1"/>
              </a:solidFill>
              <a:latin typeface="Montserrat"/>
              <a:ea typeface="Montserrat"/>
              <a:cs typeface="Montserrat"/>
              <a:sym typeface="Montserrat"/>
            </a:endParaRPr>
          </a:p>
        </p:txBody>
      </p:sp>
      <p:sp>
        <p:nvSpPr>
          <p:cNvPr id="398" name="Google Shape;398;p15"/>
          <p:cNvSpPr/>
          <p:nvPr/>
        </p:nvSpPr>
        <p:spPr>
          <a:xfrm>
            <a:off x="1022350" y="2251621"/>
            <a:ext cx="5297805"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2000"/>
              <a:buFont typeface="Montserrat"/>
              <a:buNone/>
            </a:pPr>
            <a:r>
              <a:rPr b="1" i="0" lang="en-US" sz="2000" u="none" cap="none" strike="noStrike">
                <a:solidFill>
                  <a:srgbClr val="F1EEF7"/>
                </a:solidFill>
                <a:latin typeface="Montserrat"/>
                <a:ea typeface="Montserrat"/>
                <a:cs typeface="Montserrat"/>
                <a:sym typeface="Montserrat"/>
              </a:rPr>
              <a:t>No threats detected</a:t>
            </a:r>
            <a:endParaRPr b="0" i="0" sz="2000" u="none" cap="none" strike="noStrike">
              <a:solidFill>
                <a:schemeClr val="lt1"/>
              </a:solidFill>
              <a:latin typeface="Montserrat"/>
              <a:ea typeface="Montserrat"/>
              <a:cs typeface="Montserrat"/>
              <a:sym typeface="Montserrat"/>
            </a:endParaRPr>
          </a:p>
        </p:txBody>
      </p:sp>
      <p:sp>
        <p:nvSpPr>
          <p:cNvPr id="399" name="Google Shape;399;p15"/>
          <p:cNvSpPr/>
          <p:nvPr/>
        </p:nvSpPr>
        <p:spPr>
          <a:xfrm>
            <a:off x="812800" y="2918371"/>
            <a:ext cx="572947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BUT THE BEHAVIOR SAID OTHERWISE</a:t>
            </a:r>
            <a:endParaRPr b="0" i="0" sz="1200" u="none" cap="none" strike="noStrike">
              <a:solidFill>
                <a:schemeClr val="lt1"/>
              </a:solidFill>
              <a:latin typeface="Montserrat"/>
              <a:ea typeface="Montserrat"/>
              <a:cs typeface="Montserrat"/>
              <a:sym typeface="Montserrat"/>
            </a:endParaRPr>
          </a:p>
        </p:txBody>
      </p:sp>
      <p:pic>
        <p:nvPicPr>
          <p:cNvPr descr="Warning" id="400" name="Google Shape;400;p15"/>
          <p:cNvPicPr preferRelativeResize="0"/>
          <p:nvPr/>
        </p:nvPicPr>
        <p:blipFill rotWithShape="1">
          <a:blip r:embed="rId3">
            <a:alphaModFix/>
          </a:blip>
          <a:srcRect b="0" l="0" r="0" t="0"/>
          <a:stretch/>
        </p:blipFill>
        <p:spPr>
          <a:xfrm>
            <a:off x="812800" y="3289151"/>
            <a:ext cx="203200" cy="203200"/>
          </a:xfrm>
          <a:prstGeom prst="rect">
            <a:avLst/>
          </a:prstGeom>
          <a:noFill/>
          <a:ln>
            <a:noFill/>
          </a:ln>
        </p:spPr>
      </p:pic>
      <p:sp>
        <p:nvSpPr>
          <p:cNvPr id="401" name="Google Shape;401;p15"/>
          <p:cNvSpPr/>
          <p:nvPr/>
        </p:nvSpPr>
        <p:spPr>
          <a:xfrm>
            <a:off x="1117600" y="3284091"/>
            <a:ext cx="487394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Changes the AMSI initialization state · T1562.001</a:t>
            </a:r>
            <a:endParaRPr b="0" i="0" sz="1200" u="none" cap="none" strike="noStrike">
              <a:solidFill>
                <a:schemeClr val="lt1"/>
              </a:solidFill>
              <a:latin typeface="Montserrat"/>
              <a:ea typeface="Montserrat"/>
              <a:cs typeface="Montserrat"/>
              <a:sym typeface="Montserrat"/>
            </a:endParaRPr>
          </a:p>
        </p:txBody>
      </p:sp>
      <p:pic>
        <p:nvPicPr>
          <p:cNvPr descr="Warning" id="402" name="Google Shape;402;p15"/>
          <p:cNvPicPr preferRelativeResize="0"/>
          <p:nvPr/>
        </p:nvPicPr>
        <p:blipFill rotWithShape="1">
          <a:blip r:embed="rId3">
            <a:alphaModFix/>
          </a:blip>
          <a:srcRect b="0" l="0" r="0" t="0"/>
          <a:stretch/>
        </p:blipFill>
        <p:spPr>
          <a:xfrm>
            <a:off x="812800" y="3578671"/>
            <a:ext cx="203200" cy="203200"/>
          </a:xfrm>
          <a:prstGeom prst="rect">
            <a:avLst/>
          </a:prstGeom>
          <a:noFill/>
          <a:ln>
            <a:noFill/>
          </a:ln>
        </p:spPr>
      </p:pic>
      <p:sp>
        <p:nvSpPr>
          <p:cNvPr id="403" name="Google Shape;403;p15"/>
          <p:cNvSpPr/>
          <p:nvPr/>
        </p:nvSpPr>
        <p:spPr>
          <a:xfrm>
            <a:off x="1117600" y="3573611"/>
            <a:ext cx="449699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Sets ServicePointManager.SecurityProtocol · T1071</a:t>
            </a:r>
            <a:endParaRPr b="0" i="0" sz="1200" u="none" cap="none" strike="noStrike">
              <a:solidFill>
                <a:schemeClr val="lt1"/>
              </a:solidFill>
              <a:latin typeface="Montserrat"/>
              <a:ea typeface="Montserrat"/>
              <a:cs typeface="Montserrat"/>
              <a:sym typeface="Montserrat"/>
            </a:endParaRPr>
          </a:p>
        </p:txBody>
      </p:sp>
      <p:pic>
        <p:nvPicPr>
          <p:cNvPr descr="Warning" id="404" name="Google Shape;404;p15"/>
          <p:cNvPicPr preferRelativeResize="0"/>
          <p:nvPr/>
        </p:nvPicPr>
        <p:blipFill rotWithShape="1">
          <a:blip r:embed="rId3">
            <a:alphaModFix/>
          </a:blip>
          <a:srcRect b="0" l="0" r="0" t="0"/>
          <a:stretch/>
        </p:blipFill>
        <p:spPr>
          <a:xfrm>
            <a:off x="812800" y="3868192"/>
            <a:ext cx="203200" cy="203200"/>
          </a:xfrm>
          <a:prstGeom prst="rect">
            <a:avLst/>
          </a:prstGeom>
          <a:noFill/>
          <a:ln>
            <a:noFill/>
          </a:ln>
        </p:spPr>
      </p:pic>
      <p:sp>
        <p:nvSpPr>
          <p:cNvPr id="405" name="Google Shape;405;p15"/>
          <p:cNvSpPr/>
          <p:nvPr/>
        </p:nvSpPr>
        <p:spPr>
          <a:xfrm>
            <a:off x="1117600" y="3863132"/>
            <a:ext cx="443174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Converts values to bytes to decode · T1027</a:t>
            </a:r>
            <a:endParaRPr b="0" i="0" sz="1200" u="none" cap="none" strike="noStrike">
              <a:solidFill>
                <a:schemeClr val="lt1"/>
              </a:solidFill>
              <a:latin typeface="Montserrat"/>
              <a:ea typeface="Montserrat"/>
              <a:cs typeface="Montserrat"/>
              <a:sym typeface="Montserrat"/>
            </a:endParaRPr>
          </a:p>
        </p:txBody>
      </p:sp>
      <p:sp>
        <p:nvSpPr>
          <p:cNvPr id="406" name="Google Shape;406;p15"/>
          <p:cNvSpPr/>
          <p:nvPr/>
        </p:nvSpPr>
        <p:spPr>
          <a:xfrm>
            <a:off x="812800" y="4228852"/>
            <a:ext cx="5729478"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1" i="0" lang="en-US" sz="1200" u="none" cap="none" strike="noStrike">
                <a:solidFill>
                  <a:srgbClr val="C9C5D8"/>
                </a:solidFill>
                <a:latin typeface="Montserrat"/>
                <a:ea typeface="Montserrat"/>
                <a:cs typeface="Montserrat"/>
                <a:sym typeface="Montserrat"/>
              </a:rPr>
              <a:t>Two layers of evasion.</a:t>
            </a:r>
            <a:r>
              <a:rPr b="0" i="0" lang="en-US" sz="1200" u="none" cap="none" strike="noStrike">
                <a:solidFill>
                  <a:srgbClr val="C9C5D8"/>
                </a:solidFill>
                <a:latin typeface="Montserrat"/>
                <a:ea typeface="Montserrat"/>
                <a:cs typeface="Montserrat"/>
                <a:sym typeface="Montserrat"/>
              </a:rPr>
              <a:t> The server only delivers with the right User-Agent, header and a token that, in our tests, did not work twice. The payload checks its environment and refuses to run if it detects analysis.</a:t>
            </a:r>
            <a:endParaRPr b="0" i="0" sz="1200" u="none" cap="none" strike="noStrike">
              <a:solidFill>
                <a:schemeClr val="lt1"/>
              </a:solidFill>
              <a:latin typeface="Montserrat"/>
              <a:ea typeface="Montserrat"/>
              <a:cs typeface="Montserrat"/>
              <a:sym typeface="Montserrat"/>
            </a:endParaRPr>
          </a:p>
        </p:txBody>
      </p:sp>
      <p:pic>
        <p:nvPicPr>
          <p:cNvPr descr="DEBUG window the payload showed in the sandbox, mocking the analyst: it says reverse engineering is not for them" id="407" name="Google Shape;407;p15"/>
          <p:cNvPicPr preferRelativeResize="0"/>
          <p:nvPr/>
        </p:nvPicPr>
        <p:blipFill rotWithShape="1">
          <a:blip r:embed="rId4">
            <a:alphaModFix/>
          </a:blip>
          <a:srcRect b="0" l="-104" r="-104" t="0"/>
          <a:stretch/>
        </p:blipFill>
        <p:spPr>
          <a:xfrm>
            <a:off x="6686550" y="1835100"/>
            <a:ext cx="4686300" cy="2622550"/>
          </a:xfrm>
          <a:prstGeom prst="roundRect">
            <a:avLst>
              <a:gd fmla="val 2663" name="adj"/>
            </a:avLst>
          </a:prstGeom>
          <a:noFill/>
          <a:ln>
            <a:noFill/>
          </a:ln>
        </p:spPr>
      </p:pic>
      <p:sp>
        <p:nvSpPr>
          <p:cNvPr id="408" name="Google Shape;408;p15"/>
          <p:cNvSpPr/>
          <p:nvPr/>
        </p:nvSpPr>
        <p:spPr>
          <a:xfrm>
            <a:off x="6683375" y="1831925"/>
            <a:ext cx="4692650" cy="2628900"/>
          </a:xfrm>
          <a:prstGeom prst="roundRect">
            <a:avLst>
              <a:gd fmla="val 2778" name="adj"/>
            </a:avLst>
          </a:prstGeom>
          <a:no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5"/>
          <p:cNvSpPr/>
          <p:nvPr/>
        </p:nvSpPr>
        <p:spPr>
          <a:xfrm>
            <a:off x="6680200" y="4540200"/>
            <a:ext cx="483997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What the payload showed in the sandbox: a message for the analyst, not the chain.</a:t>
            </a:r>
            <a:endParaRPr b="0" i="0" sz="1200" u="none" cap="none" strike="noStrike">
              <a:solidFill>
                <a:schemeClr val="lt1"/>
              </a:solidFill>
              <a:latin typeface="Montserrat"/>
              <a:ea typeface="Montserrat"/>
              <a:cs typeface="Montserrat"/>
              <a:sym typeface="Montserrat"/>
            </a:endParaRPr>
          </a:p>
        </p:txBody>
      </p:sp>
      <p:sp>
        <p:nvSpPr>
          <p:cNvPr id="410" name="Google Shape;410;p15"/>
          <p:cNvSpPr/>
          <p:nvPr/>
        </p:nvSpPr>
        <p:spPr>
          <a:xfrm>
            <a:off x="812800" y="5220841"/>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0" i="0" lang="en-US" sz="1500" u="none" cap="none" strike="noStrike">
                <a:solidFill>
                  <a:srgbClr val="F59E42"/>
                </a:solidFill>
                <a:latin typeface="Montserrat"/>
                <a:ea typeface="Montserrat"/>
                <a:cs typeface="Montserrat"/>
                <a:sym typeface="Montserrat"/>
              </a:rPr>
              <a:t>A clean verdict is not the absence of a threat: it can be successful evasion.</a:t>
            </a:r>
            <a:endParaRPr b="0" i="0" sz="1500" u="none" cap="none" strike="noStrike">
              <a:solidFill>
                <a:schemeClr val="lt1"/>
              </a:solidFill>
              <a:latin typeface="Montserrat"/>
              <a:ea typeface="Montserrat"/>
              <a:cs typeface="Montserrat"/>
              <a:sym typeface="Montserrat"/>
            </a:endParaRPr>
          </a:p>
        </p:txBody>
      </p:sp>
      <p:sp>
        <p:nvSpPr>
          <p:cNvPr id="411" name="Google Shape;411;p15"/>
          <p:cNvSpPr/>
          <p:nvPr/>
        </p:nvSpPr>
        <p:spPr>
          <a:xfrm>
            <a:off x="812800" y="6238280"/>
            <a:ext cx="763625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Our own ANY.RUN detonation, 2026-10-12 · Sigma rules generated by the sandbox</a:t>
            </a:r>
            <a:endParaRPr b="0" i="0" sz="1200" u="none" cap="none" strike="noStrike">
              <a:solidFill>
                <a:schemeClr val="lt1"/>
              </a:solidFill>
              <a:latin typeface="Montserrat"/>
              <a:ea typeface="Montserrat"/>
              <a:cs typeface="Montserrat"/>
              <a:sym typeface="Montserrat"/>
            </a:endParaRPr>
          </a:p>
        </p:txBody>
      </p:sp>
      <p:sp>
        <p:nvSpPr>
          <p:cNvPr id="412" name="Google Shape;412;p15"/>
          <p:cNvSpPr/>
          <p:nvPr/>
        </p:nvSpPr>
        <p:spPr>
          <a:xfrm>
            <a:off x="11187212" y="6238280"/>
            <a:ext cx="191988"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15</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417" name="Shape 417"/>
        <p:cNvGrpSpPr/>
        <p:nvPr/>
      </p:nvGrpSpPr>
      <p:grpSpPr>
        <a:xfrm>
          <a:off x="0" y="0"/>
          <a:ext cx="0" cy="0"/>
          <a:chOff x="0" y="0"/>
          <a:chExt cx="0" cy="0"/>
        </a:xfrm>
      </p:grpSpPr>
      <p:sp>
        <p:nvSpPr>
          <p:cNvPr id="418" name="Google Shape;418;p1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THE HUNT IN SENTINEL</a:t>
            </a:r>
            <a:endParaRPr b="0" i="0" sz="1200" u="none" cap="none" strike="noStrike">
              <a:solidFill>
                <a:schemeClr val="lt1"/>
              </a:solidFill>
              <a:latin typeface="Montserrat"/>
              <a:ea typeface="Montserrat"/>
              <a:cs typeface="Montserrat"/>
              <a:sym typeface="Montserrat"/>
            </a:endParaRPr>
          </a:p>
        </p:txBody>
      </p:sp>
      <p:sp>
        <p:nvSpPr>
          <p:cNvPr id="419" name="Google Shape;419;p16"/>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The exercise hypothesis</a:t>
            </a:r>
            <a:endParaRPr sz="3200"/>
          </a:p>
        </p:txBody>
      </p:sp>
      <p:sp>
        <p:nvSpPr>
          <p:cNvPr id="420" name="Google Shape;420;p16"/>
          <p:cNvSpPr/>
          <p:nvPr/>
        </p:nvSpPr>
        <p:spPr>
          <a:xfrm>
            <a:off x="812800" y="1777950"/>
            <a:ext cx="10566400" cy="1104900"/>
          </a:xfrm>
          <a:prstGeom prst="roundRect">
            <a:avLst>
              <a:gd fmla="val 9195" name="adj"/>
            </a:avLst>
          </a:prstGeom>
          <a:solidFill>
            <a:srgbClr val="1B1726"/>
          </a:solidFill>
          <a:ln>
            <a:noFill/>
          </a:ln>
        </p:spPr>
        <p:txBody>
          <a:bodyPr anchorCtr="0" anchor="t" bIns="97225" lIns="262325" spcFirstLastPara="1" rIns="0" wrap="square" tIns="122625">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If someone pasted a command from a ClickFix lure, we will see an interpreter launched by Explorer (Win+R) or by the browser (FileFix) with a download command and, seconds later, the chain that command triggers.</a:t>
            </a:r>
            <a:endParaRPr b="0" i="0" sz="1500" u="none" cap="none" strike="noStrike">
              <a:solidFill>
                <a:schemeClr val="lt1"/>
              </a:solidFill>
              <a:latin typeface="Montserrat"/>
              <a:ea typeface="Montserrat"/>
              <a:cs typeface="Montserrat"/>
              <a:sym typeface="Montserrat"/>
            </a:endParaRPr>
          </a:p>
        </p:txBody>
      </p:sp>
      <p:sp>
        <p:nvSpPr>
          <p:cNvPr id="421" name="Google Shape;421;p16"/>
          <p:cNvSpPr/>
          <p:nvPr/>
        </p:nvSpPr>
        <p:spPr>
          <a:xfrm>
            <a:off x="812800" y="1777950"/>
            <a:ext cx="10566400" cy="1104900"/>
          </a:xfrm>
          <a:custGeom>
            <a:rect b="b" l="l" r="r" t="t"/>
            <a:pathLst>
              <a:path extrusionOk="0" h="1104900" w="10566400">
                <a:moveTo>
                  <a:pt x="101600" y="1104900"/>
                </a:moveTo>
                <a:lnTo>
                  <a:pt x="101600" y="1104900"/>
                </a:lnTo>
                <a:cubicBezTo>
                  <a:pt x="45488" y="1104900"/>
                  <a:pt x="0" y="1059412"/>
                  <a:pt x="0" y="1003300"/>
                </a:cubicBezTo>
                <a:lnTo>
                  <a:pt x="0" y="101600"/>
                </a:lnTo>
                <a:cubicBezTo>
                  <a:pt x="0" y="45488"/>
                  <a:pt x="45488" y="0"/>
                  <a:pt x="101600" y="0"/>
                </a:cubicBezTo>
                <a:lnTo>
                  <a:pt x="101600" y="0"/>
                </a:lnTo>
                <a:cubicBezTo>
                  <a:pt x="66530" y="0"/>
                  <a:pt x="38100" y="45488"/>
                  <a:pt x="38100" y="101600"/>
                </a:cubicBezTo>
                <a:lnTo>
                  <a:pt x="38100" y="1003300"/>
                </a:lnTo>
                <a:cubicBezTo>
                  <a:pt x="38100" y="1059412"/>
                  <a:pt x="66530" y="1104900"/>
                  <a:pt x="101600" y="1104900"/>
                </a:cubicBezTo>
                <a:close/>
              </a:path>
            </a:pathLst>
          </a:custGeom>
          <a:solidFill>
            <a:srgbClr val="F59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422" name="Google Shape;422;p16"/>
          <p:cNvGraphicFramePr/>
          <p:nvPr/>
        </p:nvGraphicFramePr>
        <p:xfrm>
          <a:off x="825500" y="3098750"/>
          <a:ext cx="3000000" cy="3000000"/>
        </p:xfrm>
        <a:graphic>
          <a:graphicData uri="http://schemas.openxmlformats.org/drawingml/2006/table">
            <a:tbl>
              <a:tblPr>
                <a:noFill/>
                <a:tableStyleId>{FB773AD2-FA50-4F7C-A878-0F7E4A0B4D0B}</a:tableStyleId>
              </a:tblPr>
              <a:tblGrid>
                <a:gridCol w="2532900"/>
                <a:gridCol w="8020800"/>
              </a:tblGrid>
              <a:tr h="378425">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Data source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EDR processes, network, files and registry across the fleet: the events, not the alerts.</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378425">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Positive control</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Reproduce the pattern on a lab host and confirm the query finds it.</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r h="378425">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Confirmed by</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A host with an interpreter that downloads and executes, followed by the chain it launches.</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378425">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Refuted by</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Zero results, with the query already validated against the positive control.</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r h="591750">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Known gap</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The clipboard is not logged. RunMRU only sees Win+R; a paste into Terminal (Win+X) is only seen by Script Block Logging.</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378425">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ATT&amp;CK</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T1204.004 → T1059.001 · T1564.003 · T1218.007 · T1055 · T1176.001</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bl>
          </a:graphicData>
        </a:graphic>
      </p:graphicFrame>
      <p:sp>
        <p:nvSpPr>
          <p:cNvPr id="423" name="Google Shape;423;p16"/>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424" name="Google Shape;424;p16"/>
          <p:cNvSpPr/>
          <p:nvPr/>
        </p:nvSpPr>
        <p:spPr>
          <a:xfrm>
            <a:off x="11180614" y="6238280"/>
            <a:ext cx="198586"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16</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429" name="Shape 429"/>
        <p:cNvGrpSpPr/>
        <p:nvPr/>
      </p:nvGrpSpPr>
      <p:grpSpPr>
        <a:xfrm>
          <a:off x="0" y="0"/>
          <a:ext cx="0" cy="0"/>
          <a:chOff x="0" y="0"/>
          <a:chExt cx="0" cy="0"/>
        </a:xfrm>
      </p:grpSpPr>
      <p:sp>
        <p:nvSpPr>
          <p:cNvPr id="430" name="Google Shape;430;p17"/>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THE HUNT IN SENTINEL</a:t>
            </a:r>
            <a:endParaRPr b="0" i="0" sz="1200" u="none" cap="none" strike="noStrike">
              <a:solidFill>
                <a:schemeClr val="lt1"/>
              </a:solidFill>
              <a:latin typeface="Montserrat"/>
              <a:ea typeface="Montserrat"/>
              <a:cs typeface="Montserrat"/>
              <a:sym typeface="Montserrat"/>
            </a:endParaRPr>
          </a:p>
        </p:txBody>
      </p:sp>
      <p:sp>
        <p:nvSpPr>
          <p:cNvPr id="431" name="Google Shape;431;p17"/>
          <p:cNvSpPr txBox="1"/>
          <p:nvPr>
            <p:ph type="title"/>
          </p:nvPr>
        </p:nvSpPr>
        <p:spPr>
          <a:xfrm>
            <a:off x="812800" y="1127720"/>
            <a:ext cx="9810750" cy="91946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Zero results without a positive control prove nothing</a:t>
            </a:r>
            <a:endParaRPr sz="3200"/>
          </a:p>
        </p:txBody>
      </p:sp>
      <p:sp>
        <p:nvSpPr>
          <p:cNvPr id="432" name="Google Shape;432;p17"/>
          <p:cNvSpPr/>
          <p:nvPr/>
        </p:nvSpPr>
        <p:spPr>
          <a:xfrm>
            <a:off x="812800" y="2224980"/>
            <a:ext cx="6278880"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While preparing this workshop, nine queries in a row came back empty. This is how we diagnosed it:</a:t>
            </a:r>
            <a:endParaRPr b="0" i="0" sz="1500" u="none" cap="none" strike="noStrike">
              <a:solidFill>
                <a:schemeClr val="lt1"/>
              </a:solidFill>
              <a:latin typeface="Montserrat"/>
              <a:ea typeface="Montserrat"/>
              <a:cs typeface="Montserrat"/>
              <a:sym typeface="Montserrat"/>
            </a:endParaRPr>
          </a:p>
        </p:txBody>
      </p:sp>
      <p:sp>
        <p:nvSpPr>
          <p:cNvPr id="433" name="Google Shape;433;p17"/>
          <p:cNvSpPr/>
          <p:nvPr/>
        </p:nvSpPr>
        <p:spPr>
          <a:xfrm>
            <a:off x="812800" y="2859980"/>
            <a:ext cx="2540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1</a:t>
            </a:r>
            <a:endParaRPr b="0" i="0" sz="1200" u="none" cap="none" strike="noStrike">
              <a:solidFill>
                <a:schemeClr val="lt1"/>
              </a:solidFill>
              <a:latin typeface="Montserrat"/>
              <a:ea typeface="Montserrat"/>
              <a:cs typeface="Montserrat"/>
              <a:sym typeface="Montserrat"/>
            </a:endParaRPr>
          </a:p>
        </p:txBody>
      </p:sp>
      <p:sp>
        <p:nvSpPr>
          <p:cNvPr id="434" name="Google Shape;434;p17"/>
          <p:cNvSpPr/>
          <p:nvPr/>
        </p:nvSpPr>
        <p:spPr>
          <a:xfrm>
            <a:off x="1143000" y="2859980"/>
            <a:ext cx="330142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Does the table have data?</a:t>
            </a:r>
            <a:endParaRPr b="0" i="0" sz="1200" u="none" cap="none" strike="noStrike">
              <a:solidFill>
                <a:schemeClr val="lt1"/>
              </a:solidFill>
              <a:latin typeface="Montserrat"/>
              <a:ea typeface="Montserrat"/>
              <a:cs typeface="Montserrat"/>
              <a:sym typeface="Montserrat"/>
            </a:endParaRPr>
          </a:p>
        </p:txBody>
      </p:sp>
      <p:sp>
        <p:nvSpPr>
          <p:cNvPr id="435" name="Google Shape;435;p17"/>
          <p:cNvSpPr/>
          <p:nvPr/>
        </p:nvSpPr>
        <p:spPr>
          <a:xfrm>
            <a:off x="1143000" y="3086001"/>
            <a:ext cx="384631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Yes: four hosts with registry events.</a:t>
            </a:r>
            <a:endParaRPr b="0" i="0" sz="1200" u="none" cap="none" strike="noStrike">
              <a:solidFill>
                <a:schemeClr val="lt1"/>
              </a:solidFill>
              <a:latin typeface="Montserrat"/>
              <a:ea typeface="Montserrat"/>
              <a:cs typeface="Montserrat"/>
              <a:sym typeface="Montserrat"/>
            </a:endParaRPr>
          </a:p>
        </p:txBody>
      </p:sp>
      <p:sp>
        <p:nvSpPr>
          <p:cNvPr id="436" name="Google Shape;436;p17"/>
          <p:cNvSpPr/>
          <p:nvPr/>
        </p:nvSpPr>
        <p:spPr>
          <a:xfrm>
            <a:off x="812800" y="3400921"/>
            <a:ext cx="2540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2</a:t>
            </a:r>
            <a:endParaRPr b="0" i="0" sz="1200" u="none" cap="none" strike="noStrike">
              <a:solidFill>
                <a:schemeClr val="lt1"/>
              </a:solidFill>
              <a:latin typeface="Montserrat"/>
              <a:ea typeface="Montserrat"/>
              <a:cs typeface="Montserrat"/>
              <a:sym typeface="Montserrat"/>
            </a:endParaRPr>
          </a:p>
        </p:txBody>
      </p:sp>
      <p:sp>
        <p:nvSpPr>
          <p:cNvPr id="437" name="Google Shape;437;p17"/>
          <p:cNvSpPr/>
          <p:nvPr/>
        </p:nvSpPr>
        <p:spPr>
          <a:xfrm>
            <a:off x="1143000" y="3400921"/>
            <a:ext cx="304198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Is my test event there?</a:t>
            </a:r>
            <a:endParaRPr b="0" i="0" sz="1200" u="none" cap="none" strike="noStrike">
              <a:solidFill>
                <a:schemeClr val="lt1"/>
              </a:solidFill>
              <a:latin typeface="Montserrat"/>
              <a:ea typeface="Montserrat"/>
              <a:cs typeface="Montserrat"/>
              <a:sym typeface="Montserrat"/>
            </a:endParaRPr>
          </a:p>
        </p:txBody>
      </p:sp>
      <p:sp>
        <p:nvSpPr>
          <p:cNvPr id="438" name="Google Shape;438;p17"/>
          <p:cNvSpPr/>
          <p:nvPr/>
        </p:nvSpPr>
        <p:spPr>
          <a:xfrm>
            <a:off x="1143000" y="3626941"/>
            <a:ext cx="261103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No.</a:t>
            </a:r>
            <a:endParaRPr b="0" i="0" sz="1200" u="none" cap="none" strike="noStrike">
              <a:solidFill>
                <a:schemeClr val="lt1"/>
              </a:solidFill>
              <a:latin typeface="Montserrat"/>
              <a:ea typeface="Montserrat"/>
              <a:cs typeface="Montserrat"/>
              <a:sym typeface="Montserrat"/>
            </a:endParaRPr>
          </a:p>
        </p:txBody>
      </p:sp>
      <p:sp>
        <p:nvSpPr>
          <p:cNvPr id="439" name="Google Shape;439;p17"/>
          <p:cNvSpPr/>
          <p:nvPr/>
        </p:nvSpPr>
        <p:spPr>
          <a:xfrm>
            <a:off x="812800" y="3941862"/>
            <a:ext cx="2540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3</a:t>
            </a:r>
            <a:endParaRPr b="0" i="0" sz="1200" u="none" cap="none" strike="noStrike">
              <a:solidFill>
                <a:schemeClr val="lt1"/>
              </a:solidFill>
              <a:latin typeface="Montserrat"/>
              <a:ea typeface="Montserrat"/>
              <a:cs typeface="Montserrat"/>
              <a:sym typeface="Montserrat"/>
            </a:endParaRPr>
          </a:p>
        </p:txBody>
      </p:sp>
      <p:sp>
        <p:nvSpPr>
          <p:cNvPr id="440" name="Google Shape;440;p17"/>
          <p:cNvSpPr/>
          <p:nvPr/>
        </p:nvSpPr>
        <p:spPr>
          <a:xfrm>
            <a:off x="1143000" y="3941862"/>
            <a:ext cx="455836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Which accounts create processes on that host?</a:t>
            </a:r>
            <a:endParaRPr b="0" i="0" sz="1200" u="none" cap="none" strike="noStrike">
              <a:solidFill>
                <a:schemeClr val="lt1"/>
              </a:solidFill>
              <a:latin typeface="Montserrat"/>
              <a:ea typeface="Montserrat"/>
              <a:cs typeface="Montserrat"/>
              <a:sym typeface="Montserrat"/>
            </a:endParaRPr>
          </a:p>
        </p:txBody>
      </p:sp>
      <p:sp>
        <p:nvSpPr>
          <p:cNvPr id="441" name="Google Shape;441;p17"/>
          <p:cNvSpPr/>
          <p:nvPr/>
        </p:nvSpPr>
        <p:spPr>
          <a:xfrm>
            <a:off x="1143000" y="4167882"/>
            <a:ext cx="391259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Other instructors’. Not mine.</a:t>
            </a:r>
            <a:endParaRPr b="0" i="0" sz="1200" u="none" cap="none" strike="noStrike">
              <a:solidFill>
                <a:schemeClr val="lt1"/>
              </a:solidFill>
              <a:latin typeface="Montserrat"/>
              <a:ea typeface="Montserrat"/>
              <a:cs typeface="Montserrat"/>
              <a:sym typeface="Montserrat"/>
            </a:endParaRPr>
          </a:p>
        </p:txBody>
      </p:sp>
      <p:sp>
        <p:nvSpPr>
          <p:cNvPr id="442" name="Google Shape;442;p17"/>
          <p:cNvSpPr/>
          <p:nvPr/>
        </p:nvSpPr>
        <p:spPr>
          <a:xfrm>
            <a:off x="812800" y="4482802"/>
            <a:ext cx="2540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4</a:t>
            </a:r>
            <a:endParaRPr b="0" i="0" sz="1200" u="none" cap="none" strike="noStrike">
              <a:solidFill>
                <a:schemeClr val="lt1"/>
              </a:solidFill>
              <a:latin typeface="Montserrat"/>
              <a:ea typeface="Montserrat"/>
              <a:cs typeface="Montserrat"/>
              <a:sym typeface="Montserrat"/>
            </a:endParaRPr>
          </a:p>
        </p:txBody>
      </p:sp>
      <p:sp>
        <p:nvSpPr>
          <p:cNvPr id="443" name="Google Shape;443;p17"/>
          <p:cNvSpPr/>
          <p:nvPr/>
        </p:nvSpPr>
        <p:spPr>
          <a:xfrm>
            <a:off x="1143000" y="4482802"/>
            <a:ext cx="417903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Is the test host in DeviceInfo?</a:t>
            </a:r>
            <a:endParaRPr b="0" i="0" sz="1200" u="none" cap="none" strike="noStrike">
              <a:solidFill>
                <a:schemeClr val="lt1"/>
              </a:solidFill>
              <a:latin typeface="Montserrat"/>
              <a:ea typeface="Montserrat"/>
              <a:cs typeface="Montserrat"/>
              <a:sym typeface="Montserrat"/>
            </a:endParaRPr>
          </a:p>
        </p:txBody>
      </p:sp>
      <p:sp>
        <p:nvSpPr>
          <p:cNvPr id="444" name="Google Shape;444;p17"/>
          <p:cNvSpPr/>
          <p:nvPr/>
        </p:nvSpPr>
        <p:spPr>
          <a:xfrm>
            <a:off x="1143000" y="4708823"/>
            <a:ext cx="35870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No: it had no Defender sensor.</a:t>
            </a:r>
            <a:endParaRPr b="0" i="0" sz="1200" u="none" cap="none" strike="noStrike">
              <a:solidFill>
                <a:schemeClr val="lt1"/>
              </a:solidFill>
              <a:latin typeface="Montserrat"/>
              <a:ea typeface="Montserrat"/>
              <a:cs typeface="Montserrat"/>
              <a:sym typeface="Montserrat"/>
            </a:endParaRPr>
          </a:p>
        </p:txBody>
      </p:sp>
      <p:pic>
        <p:nvPicPr>
          <p:cNvPr descr="PowerShell console with hostname and whoami: the host was the instructor workstation, not a lab host" id="445" name="Google Shape;445;p17"/>
          <p:cNvPicPr preferRelativeResize="0"/>
          <p:nvPr/>
        </p:nvPicPr>
        <p:blipFill rotWithShape="1">
          <a:blip r:embed="rId3">
            <a:alphaModFix/>
          </a:blip>
          <a:srcRect b="0" l="-348" r="-348" t="0"/>
          <a:stretch/>
        </p:blipFill>
        <p:spPr>
          <a:xfrm>
            <a:off x="7321550" y="2231330"/>
            <a:ext cx="4051300" cy="1111250"/>
          </a:xfrm>
          <a:prstGeom prst="roundRect">
            <a:avLst>
              <a:gd fmla="val 6286" name="adj"/>
            </a:avLst>
          </a:prstGeom>
          <a:noFill/>
          <a:ln>
            <a:noFill/>
          </a:ln>
        </p:spPr>
      </p:pic>
      <p:sp>
        <p:nvSpPr>
          <p:cNvPr id="446" name="Google Shape;446;p17"/>
          <p:cNvSpPr/>
          <p:nvPr/>
        </p:nvSpPr>
        <p:spPr>
          <a:xfrm>
            <a:off x="7318375" y="2228155"/>
            <a:ext cx="4057650" cy="1117600"/>
          </a:xfrm>
          <a:prstGeom prst="roundRect">
            <a:avLst>
              <a:gd fmla="val 6534" name="adj"/>
            </a:avLst>
          </a:prstGeom>
          <a:no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7"/>
          <p:cNvSpPr/>
          <p:nvPr/>
        </p:nvSpPr>
        <p:spPr>
          <a:xfrm>
            <a:off x="7315200" y="3425130"/>
            <a:ext cx="4185920"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The positive control ran on the instructor workstation, which sends no telemetry. The query was fine; the host was not.</a:t>
            </a:r>
            <a:endParaRPr b="0" i="0" sz="1200" u="none" cap="none" strike="noStrike">
              <a:solidFill>
                <a:schemeClr val="lt1"/>
              </a:solidFill>
              <a:latin typeface="Montserrat"/>
              <a:ea typeface="Montserrat"/>
              <a:cs typeface="Montserrat"/>
              <a:sym typeface="Montserrat"/>
            </a:endParaRPr>
          </a:p>
        </p:txBody>
      </p:sp>
      <p:sp>
        <p:nvSpPr>
          <p:cNvPr id="448" name="Google Shape;448;p17"/>
          <p:cNvSpPr/>
          <p:nvPr/>
        </p:nvSpPr>
        <p:spPr>
          <a:xfrm>
            <a:off x="812800" y="5125343"/>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0" i="0" lang="en-US" sz="1500" u="none" cap="none" strike="noStrike">
                <a:solidFill>
                  <a:srgbClr val="F59E42"/>
                </a:solidFill>
                <a:latin typeface="Montserrat"/>
                <a:ea typeface="Montserrat"/>
                <a:cs typeface="Montserrat"/>
                <a:sym typeface="Montserrat"/>
              </a:rPr>
              <a:t>Before concluding “it’s not there”, prove the query finds what you know exists — on the right host.</a:t>
            </a:r>
            <a:endParaRPr b="0" i="0" sz="1500" u="none" cap="none" strike="noStrike">
              <a:solidFill>
                <a:schemeClr val="lt1"/>
              </a:solidFill>
              <a:latin typeface="Montserrat"/>
              <a:ea typeface="Montserrat"/>
              <a:cs typeface="Montserrat"/>
              <a:sym typeface="Montserrat"/>
            </a:endParaRPr>
          </a:p>
        </p:txBody>
      </p:sp>
      <p:sp>
        <p:nvSpPr>
          <p:cNvPr id="449" name="Google Shape;449;p17"/>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450" name="Google Shape;450;p17"/>
          <p:cNvSpPr/>
          <p:nvPr/>
        </p:nvSpPr>
        <p:spPr>
          <a:xfrm>
            <a:off x="11183689" y="6238280"/>
            <a:ext cx="195511"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17</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455" name="Shape 455"/>
        <p:cNvGrpSpPr/>
        <p:nvPr/>
      </p:nvGrpSpPr>
      <p:grpSpPr>
        <a:xfrm>
          <a:off x="0" y="0"/>
          <a:ext cx="0" cy="0"/>
          <a:chOff x="0" y="0"/>
          <a:chExt cx="0" cy="0"/>
        </a:xfrm>
      </p:grpSpPr>
      <p:sp>
        <p:nvSpPr>
          <p:cNvPr id="456" name="Google Shape;456;p18"/>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THE HUNT IN SENTINEL</a:t>
            </a:r>
            <a:endParaRPr b="0" i="0" sz="1200" u="none" cap="none" strike="noStrike">
              <a:solidFill>
                <a:schemeClr val="lt1"/>
              </a:solidFill>
              <a:latin typeface="Montserrat"/>
              <a:ea typeface="Montserrat"/>
              <a:cs typeface="Montserrat"/>
              <a:sym typeface="Montserrat"/>
            </a:endParaRPr>
          </a:p>
        </p:txBody>
      </p:sp>
      <p:sp>
        <p:nvSpPr>
          <p:cNvPr id="457" name="Google Shape;457;p18"/>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Seven chained queries</a:t>
            </a:r>
            <a:endParaRPr sz="3200"/>
          </a:p>
        </p:txBody>
      </p:sp>
      <p:graphicFrame>
        <p:nvGraphicFramePr>
          <p:cNvPr id="458" name="Google Shape;458;p18"/>
          <p:cNvGraphicFramePr/>
          <p:nvPr/>
        </p:nvGraphicFramePr>
        <p:xfrm>
          <a:off x="825500" y="1790650"/>
          <a:ext cx="3000000" cy="3000000"/>
        </p:xfrm>
        <a:graphic>
          <a:graphicData uri="http://schemas.openxmlformats.org/drawingml/2006/table">
            <a:tbl>
              <a:tblPr>
                <a:noFill/>
                <a:tableStyleId>{FB773AD2-FA50-4F7C-A878-0F7E4A0B4D0B}</a:tableStyleId>
              </a:tblPr>
              <a:tblGrid>
                <a:gridCol w="633225"/>
                <a:gridCol w="2532900"/>
                <a:gridCol w="4643625"/>
                <a:gridCol w="2743950"/>
              </a:tblGrid>
              <a:tr h="378425">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Question</a:t>
                      </a:r>
                      <a:endParaRPr sz="1200" u="none" cap="none" strike="noStrike">
                        <a:latin typeface="Montserrat"/>
                        <a:ea typeface="Montserrat"/>
                        <a:cs typeface="Montserrat"/>
                        <a:sym typeface="Montserrat"/>
                      </a:endParaRPr>
                    </a:p>
                  </a:txBody>
                  <a:tcPr marT="76200" marB="76200" marR="127000" marL="1270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What it looks for</a:t>
                      </a:r>
                      <a:endParaRPr sz="1200" u="none" cap="none" strike="noStrike">
                        <a:latin typeface="Montserrat"/>
                        <a:ea typeface="Montserrat"/>
                        <a:cs typeface="Montserrat"/>
                        <a:sym typeface="Montserrat"/>
                      </a:endParaRPr>
                    </a:p>
                  </a:txBody>
                  <a:tcPr marT="76200" marB="76200" marR="127000" marL="1270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Table</a:t>
                      </a:r>
                      <a:endParaRPr sz="1200" u="none" cap="none" strike="noStrike">
                        <a:latin typeface="Montserrat"/>
                        <a:ea typeface="Montserrat"/>
                        <a:cs typeface="Montserrat"/>
                        <a:sym typeface="Montserrat"/>
                      </a:endParaRPr>
                    </a:p>
                  </a:txBody>
                  <a:tcPr marT="76200" marB="76200" marR="127000" marL="1270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r>
              <a:tr h="591750">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1</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Did anyone paste a command?</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Explorer or the browser launches an interpreter with a download command</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DeviceProcessEvents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r>
              <a:tr h="591750">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2</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Why didn’t they see it?</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A Start-Process with -WindowStyle Hidden and the rest of the script’s cmdlets</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DeviceEvents · PowerShellCommand *</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378425">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3</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What came next?</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msiexec launches a hidden PowerShell</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DeviceProcessEvents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r h="378425">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4</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Who did it talk to?</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A .NET binary (csc, ilasm) with an outbound connection</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DeviceNetworkEvents</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378425">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5</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Did it locate itself?</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A non-browser process checks its public IP</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DeviceNetworkEvents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r h="591750">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6</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How does it stay?</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A non-browser process modifies the Chrome profile</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DeviceFileEvents</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378425">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7</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Next hunt</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A manifest.json created outside the browser</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DeviceFileEvents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bl>
          </a:graphicData>
        </a:graphic>
      </p:graphicFrame>
      <p:sp>
        <p:nvSpPr>
          <p:cNvPr id="459" name="Google Shape;459;p18"/>
          <p:cNvSpPr/>
          <p:nvPr/>
        </p:nvSpPr>
        <p:spPr>
          <a:xfrm>
            <a:off x="812800" y="6238280"/>
            <a:ext cx="974794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Full queries in the workshop repo · * the lab doesn’t ingest 4104: PowerShellCommand shows the cmdlets, not the script</a:t>
            </a:r>
            <a:endParaRPr b="0" i="0" sz="1200" u="none" cap="none" strike="noStrike">
              <a:solidFill>
                <a:schemeClr val="lt1"/>
              </a:solidFill>
              <a:latin typeface="Montserrat"/>
              <a:ea typeface="Montserrat"/>
              <a:cs typeface="Montserrat"/>
              <a:sym typeface="Montserrat"/>
            </a:endParaRPr>
          </a:p>
        </p:txBody>
      </p:sp>
      <p:sp>
        <p:nvSpPr>
          <p:cNvPr id="460" name="Google Shape;460;p18"/>
          <p:cNvSpPr/>
          <p:nvPr/>
        </p:nvSpPr>
        <p:spPr>
          <a:xfrm>
            <a:off x="11176248" y="6238280"/>
            <a:ext cx="20295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18</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465" name="Shape 465"/>
        <p:cNvGrpSpPr/>
        <p:nvPr/>
      </p:nvGrpSpPr>
      <p:grpSpPr>
        <a:xfrm>
          <a:off x="0" y="0"/>
          <a:ext cx="0" cy="0"/>
          <a:chOff x="0" y="0"/>
          <a:chExt cx="0" cy="0"/>
        </a:xfrm>
      </p:grpSpPr>
      <p:sp>
        <p:nvSpPr>
          <p:cNvPr id="466" name="Google Shape;466;p19"/>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THE HUNT IN SENTINEL</a:t>
            </a:r>
            <a:endParaRPr b="0" i="0" sz="1200" u="none" cap="none" strike="noStrike">
              <a:solidFill>
                <a:schemeClr val="lt1"/>
              </a:solidFill>
              <a:latin typeface="Montserrat"/>
              <a:ea typeface="Montserrat"/>
              <a:cs typeface="Montserrat"/>
              <a:sym typeface="Montserrat"/>
            </a:endParaRPr>
          </a:p>
        </p:txBody>
      </p:sp>
      <p:sp>
        <p:nvSpPr>
          <p:cNvPr id="467" name="Google Shape;467;p19"/>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Query 1: the lineage of the paste</a:t>
            </a:r>
            <a:endParaRPr sz="3200"/>
          </a:p>
        </p:txBody>
      </p:sp>
      <p:sp>
        <p:nvSpPr>
          <p:cNvPr id="468" name="Google Shape;468;p19"/>
          <p:cNvSpPr/>
          <p:nvPr/>
        </p:nvSpPr>
        <p:spPr>
          <a:xfrm>
            <a:off x="815975" y="1831925"/>
            <a:ext cx="6724650" cy="3155950"/>
          </a:xfrm>
          <a:prstGeom prst="roundRect">
            <a:avLst>
              <a:gd fmla="val 3119" name="adj"/>
            </a:avLst>
          </a:prstGeom>
          <a:solidFill>
            <a:srgbClr val="08070D"/>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9"/>
          <p:cNvSpPr/>
          <p:nvPr/>
        </p:nvSpPr>
        <p:spPr>
          <a:xfrm>
            <a:off x="1073150" y="20383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59E42"/>
              </a:buClr>
              <a:buSzPts val="1200"/>
              <a:buFont typeface="JetBrains Mono"/>
              <a:buNone/>
            </a:pPr>
            <a:r>
              <a:rPr b="0" i="0" lang="en-US" sz="1200" u="none" cap="none" strike="noStrike">
                <a:solidFill>
                  <a:srgbClr val="F59E42"/>
                </a:solidFill>
                <a:latin typeface="JetBrains Mono"/>
                <a:ea typeface="JetBrains Mono"/>
                <a:cs typeface="JetBrains Mono"/>
                <a:sym typeface="JetBrains Mono"/>
              </a:rPr>
              <a:t>DeviceProcessEvents</a:t>
            </a:r>
            <a:endParaRPr b="0" i="0" sz="1200" u="none" cap="none" strike="noStrike">
              <a:solidFill>
                <a:schemeClr val="lt1"/>
              </a:solidFill>
              <a:latin typeface="Montserrat"/>
              <a:ea typeface="Montserrat"/>
              <a:cs typeface="Montserrat"/>
              <a:sym typeface="Montserrat"/>
            </a:endParaRPr>
          </a:p>
        </p:txBody>
      </p:sp>
      <p:sp>
        <p:nvSpPr>
          <p:cNvPr id="470" name="Google Shape;470;p19"/>
          <p:cNvSpPr/>
          <p:nvPr/>
        </p:nvSpPr>
        <p:spPr>
          <a:xfrm>
            <a:off x="1073150" y="22669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C2C2F4"/>
              </a:buClr>
              <a:buSzPts val="1200"/>
              <a:buFont typeface="JetBrains Mono"/>
              <a:buNone/>
            </a:pPr>
            <a:r>
              <a:rPr b="0" i="0" lang="en-US" sz="1200" u="none" cap="none" strike="noStrike">
                <a:solidFill>
                  <a:srgbClr val="C2C2F4"/>
                </a:solidFill>
                <a:latin typeface="JetBrains Mono"/>
                <a:ea typeface="JetBrains Mono"/>
                <a:cs typeface="JetBrains Mono"/>
                <a:sym typeface="JetBrains Mono"/>
              </a:rPr>
              <a:t>| where</a:t>
            </a:r>
            <a:r>
              <a:rPr b="0" i="0" lang="en-US" sz="1200" u="none" cap="none" strike="noStrike">
                <a:solidFill>
                  <a:srgbClr val="DCD8EA"/>
                </a:solidFill>
                <a:latin typeface="JetBrains Mono"/>
                <a:ea typeface="JetBrains Mono"/>
                <a:cs typeface="JetBrains Mono"/>
                <a:sym typeface="JetBrains Mono"/>
              </a:rPr>
              <a:t> TimeGenerated &gt; ago(30d)</a:t>
            </a:r>
            <a:endParaRPr b="0" i="0" sz="1200" u="none" cap="none" strike="noStrike">
              <a:solidFill>
                <a:schemeClr val="lt1"/>
              </a:solidFill>
              <a:latin typeface="Montserrat"/>
              <a:ea typeface="Montserrat"/>
              <a:cs typeface="Montserrat"/>
              <a:sym typeface="Montserrat"/>
            </a:endParaRPr>
          </a:p>
        </p:txBody>
      </p:sp>
      <p:sp>
        <p:nvSpPr>
          <p:cNvPr id="471" name="Google Shape;471;p19"/>
          <p:cNvSpPr/>
          <p:nvPr/>
        </p:nvSpPr>
        <p:spPr>
          <a:xfrm>
            <a:off x="1073150" y="24955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C2C2F4"/>
              </a:buClr>
              <a:buSzPts val="1200"/>
              <a:buFont typeface="JetBrains Mono"/>
              <a:buNone/>
            </a:pPr>
            <a:r>
              <a:rPr b="0" i="0" lang="en-US" sz="1200" u="none" cap="none" strike="noStrike">
                <a:solidFill>
                  <a:srgbClr val="C2C2F4"/>
                </a:solidFill>
                <a:latin typeface="JetBrains Mono"/>
                <a:ea typeface="JetBrains Mono"/>
                <a:cs typeface="JetBrains Mono"/>
                <a:sym typeface="JetBrains Mono"/>
              </a:rPr>
              <a:t>| where</a:t>
            </a:r>
            <a:r>
              <a:rPr b="0" i="0" lang="en-US" sz="1200" u="none" cap="none" strike="noStrike">
                <a:solidFill>
                  <a:srgbClr val="DCD8EA"/>
                </a:solidFill>
                <a:latin typeface="JetBrains Mono"/>
                <a:ea typeface="JetBrains Mono"/>
                <a:cs typeface="JetBrains Mono"/>
                <a:sym typeface="JetBrains Mono"/>
              </a:rPr>
              <a:t> FileName in~ ("powershell.exe", "pwsh.exe",</a:t>
            </a:r>
            <a:endParaRPr b="0" i="0" sz="1200" u="none" cap="none" strike="noStrike">
              <a:solidFill>
                <a:schemeClr val="lt1"/>
              </a:solidFill>
              <a:latin typeface="Montserrat"/>
              <a:ea typeface="Montserrat"/>
              <a:cs typeface="Montserrat"/>
              <a:sym typeface="Montserrat"/>
            </a:endParaRPr>
          </a:p>
        </p:txBody>
      </p:sp>
      <p:sp>
        <p:nvSpPr>
          <p:cNvPr id="472" name="Google Shape;472;p19"/>
          <p:cNvSpPr/>
          <p:nvPr/>
        </p:nvSpPr>
        <p:spPr>
          <a:xfrm>
            <a:off x="1073150" y="27241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DCD8EA"/>
              </a:buClr>
              <a:buSzPts val="1200"/>
              <a:buFont typeface="JetBrains Mono"/>
              <a:buNone/>
            </a:pPr>
            <a:r>
              <a:rPr b="0" i="0" lang="en-US" sz="1200" u="none" cap="none" strike="noStrike">
                <a:solidFill>
                  <a:srgbClr val="DCD8EA"/>
                </a:solidFill>
                <a:latin typeface="JetBrains Mono"/>
                <a:ea typeface="JetBrains Mono"/>
                <a:cs typeface="JetBrains Mono"/>
                <a:sym typeface="JetBrains Mono"/>
              </a:rPr>
              <a:t>"cmd.exe", "mshta.exe")</a:t>
            </a:r>
            <a:endParaRPr b="0" i="0" sz="1200" u="none" cap="none" strike="noStrike">
              <a:solidFill>
                <a:schemeClr val="lt1"/>
              </a:solidFill>
              <a:latin typeface="Montserrat"/>
              <a:ea typeface="Montserrat"/>
              <a:cs typeface="Montserrat"/>
              <a:sym typeface="Montserrat"/>
            </a:endParaRPr>
          </a:p>
        </p:txBody>
      </p:sp>
      <p:sp>
        <p:nvSpPr>
          <p:cNvPr id="473" name="Google Shape;473;p19"/>
          <p:cNvSpPr/>
          <p:nvPr/>
        </p:nvSpPr>
        <p:spPr>
          <a:xfrm>
            <a:off x="1073150" y="29527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C2C2F4"/>
              </a:buClr>
              <a:buSzPts val="1200"/>
              <a:buFont typeface="JetBrains Mono"/>
              <a:buNone/>
            </a:pPr>
            <a:r>
              <a:rPr b="0" i="0" lang="en-US" sz="1200" u="none" cap="none" strike="noStrike">
                <a:solidFill>
                  <a:srgbClr val="C2C2F4"/>
                </a:solidFill>
                <a:latin typeface="JetBrains Mono"/>
                <a:ea typeface="JetBrains Mono"/>
                <a:cs typeface="JetBrains Mono"/>
                <a:sym typeface="JetBrains Mono"/>
              </a:rPr>
              <a:t>| where</a:t>
            </a:r>
            <a:r>
              <a:rPr b="0" i="0" lang="en-US" sz="1200" u="none" cap="none" strike="noStrike">
                <a:solidFill>
                  <a:srgbClr val="DCD8EA"/>
                </a:solidFill>
                <a:latin typeface="JetBrains Mono"/>
                <a:ea typeface="JetBrains Mono"/>
                <a:cs typeface="JetBrains Mono"/>
                <a:sym typeface="JetBrains Mono"/>
              </a:rPr>
              <a:t> InitiatingProcessFileName in~ ("explorer.exe",</a:t>
            </a:r>
            <a:endParaRPr b="0" i="0" sz="1200" u="none" cap="none" strike="noStrike">
              <a:solidFill>
                <a:schemeClr val="lt1"/>
              </a:solidFill>
              <a:latin typeface="Montserrat"/>
              <a:ea typeface="Montserrat"/>
              <a:cs typeface="Montserrat"/>
              <a:sym typeface="Montserrat"/>
            </a:endParaRPr>
          </a:p>
        </p:txBody>
      </p:sp>
      <p:sp>
        <p:nvSpPr>
          <p:cNvPr id="474" name="Google Shape;474;p19"/>
          <p:cNvSpPr/>
          <p:nvPr/>
        </p:nvSpPr>
        <p:spPr>
          <a:xfrm>
            <a:off x="1073150" y="31813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DCD8EA"/>
              </a:buClr>
              <a:buSzPts val="1200"/>
              <a:buFont typeface="JetBrains Mono"/>
              <a:buNone/>
            </a:pPr>
            <a:r>
              <a:rPr b="0" i="0" lang="en-US" sz="1200" u="none" cap="none" strike="noStrike">
                <a:solidFill>
                  <a:srgbClr val="DCD8EA"/>
                </a:solidFill>
                <a:latin typeface="JetBrains Mono"/>
                <a:ea typeface="JetBrains Mono"/>
                <a:cs typeface="JetBrains Mono"/>
                <a:sym typeface="JetBrains Mono"/>
              </a:rPr>
              <a:t>"chrome.exe", "msedge.exe", "firefox.exe")</a:t>
            </a:r>
            <a:endParaRPr b="0" i="0" sz="1200" u="none" cap="none" strike="noStrike">
              <a:solidFill>
                <a:schemeClr val="lt1"/>
              </a:solidFill>
              <a:latin typeface="Montserrat"/>
              <a:ea typeface="Montserrat"/>
              <a:cs typeface="Montserrat"/>
              <a:sym typeface="Montserrat"/>
            </a:endParaRPr>
          </a:p>
        </p:txBody>
      </p:sp>
      <p:sp>
        <p:nvSpPr>
          <p:cNvPr id="475" name="Google Shape;475;p19"/>
          <p:cNvSpPr/>
          <p:nvPr/>
        </p:nvSpPr>
        <p:spPr>
          <a:xfrm>
            <a:off x="1073150" y="34099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C2C2F4"/>
              </a:buClr>
              <a:buSzPts val="1200"/>
              <a:buFont typeface="JetBrains Mono"/>
              <a:buNone/>
            </a:pPr>
            <a:r>
              <a:rPr b="0" i="0" lang="en-US" sz="1200" u="none" cap="none" strike="noStrike">
                <a:solidFill>
                  <a:srgbClr val="C2C2F4"/>
                </a:solidFill>
                <a:latin typeface="JetBrains Mono"/>
                <a:ea typeface="JetBrains Mono"/>
                <a:cs typeface="JetBrains Mono"/>
                <a:sym typeface="JetBrains Mono"/>
              </a:rPr>
              <a:t>| where</a:t>
            </a:r>
            <a:r>
              <a:rPr b="0" i="0" lang="en-US" sz="1200" u="none" cap="none" strike="noStrike">
                <a:solidFill>
                  <a:srgbClr val="DCD8EA"/>
                </a:solidFill>
                <a:latin typeface="JetBrains Mono"/>
                <a:ea typeface="JetBrains Mono"/>
                <a:cs typeface="JetBrains Mono"/>
                <a:sym typeface="JetBrains Mono"/>
              </a:rPr>
              <a:t> ProcessCommandLine has_any ("irm", "iwr", "iex",</a:t>
            </a:r>
            <a:endParaRPr b="0" i="0" sz="1200" u="none" cap="none" strike="noStrike">
              <a:solidFill>
                <a:schemeClr val="lt1"/>
              </a:solidFill>
              <a:latin typeface="Montserrat"/>
              <a:ea typeface="Montserrat"/>
              <a:cs typeface="Montserrat"/>
              <a:sym typeface="Montserrat"/>
            </a:endParaRPr>
          </a:p>
        </p:txBody>
      </p:sp>
      <p:sp>
        <p:nvSpPr>
          <p:cNvPr id="476" name="Google Shape;476;p19"/>
          <p:cNvSpPr/>
          <p:nvPr/>
        </p:nvSpPr>
        <p:spPr>
          <a:xfrm>
            <a:off x="1073150" y="36385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DCD8EA"/>
              </a:buClr>
              <a:buSzPts val="1200"/>
              <a:buFont typeface="JetBrains Mono"/>
              <a:buNone/>
            </a:pPr>
            <a:r>
              <a:rPr b="0" i="0" lang="en-US" sz="1200" u="none" cap="none" strike="noStrike">
                <a:solidFill>
                  <a:srgbClr val="DCD8EA"/>
                </a:solidFill>
                <a:latin typeface="JetBrains Mono"/>
                <a:ea typeface="JetBrains Mono"/>
                <a:cs typeface="JetBrains Mono"/>
                <a:sym typeface="JetBrains Mono"/>
              </a:rPr>
              <a:t>"Invoke-RestMethod", "Invoke-WebRequest",</a:t>
            </a:r>
            <a:endParaRPr b="0" i="0" sz="1200" u="none" cap="none" strike="noStrike">
              <a:solidFill>
                <a:schemeClr val="lt1"/>
              </a:solidFill>
              <a:latin typeface="Montserrat"/>
              <a:ea typeface="Montserrat"/>
              <a:cs typeface="Montserrat"/>
              <a:sym typeface="Montserrat"/>
            </a:endParaRPr>
          </a:p>
        </p:txBody>
      </p:sp>
      <p:sp>
        <p:nvSpPr>
          <p:cNvPr id="477" name="Google Shape;477;p19"/>
          <p:cNvSpPr/>
          <p:nvPr/>
        </p:nvSpPr>
        <p:spPr>
          <a:xfrm>
            <a:off x="1073150" y="38671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DCD8EA"/>
              </a:buClr>
              <a:buSzPts val="1200"/>
              <a:buFont typeface="JetBrains Mono"/>
              <a:buNone/>
            </a:pPr>
            <a:r>
              <a:rPr b="0" i="0" lang="en-US" sz="1200" u="none" cap="none" strike="noStrike">
                <a:solidFill>
                  <a:srgbClr val="DCD8EA"/>
                </a:solidFill>
                <a:latin typeface="JetBrains Mono"/>
                <a:ea typeface="JetBrains Mono"/>
                <a:cs typeface="JetBrains Mono"/>
                <a:sym typeface="JetBrains Mono"/>
              </a:rPr>
              <a:t>"DownloadString", "http")</a:t>
            </a:r>
            <a:endParaRPr b="0" i="0" sz="1200" u="none" cap="none" strike="noStrike">
              <a:solidFill>
                <a:schemeClr val="lt1"/>
              </a:solidFill>
              <a:latin typeface="Montserrat"/>
              <a:ea typeface="Montserrat"/>
              <a:cs typeface="Montserrat"/>
              <a:sym typeface="Montserrat"/>
            </a:endParaRPr>
          </a:p>
        </p:txBody>
      </p:sp>
      <p:sp>
        <p:nvSpPr>
          <p:cNvPr id="478" name="Google Shape;478;p19"/>
          <p:cNvSpPr/>
          <p:nvPr/>
        </p:nvSpPr>
        <p:spPr>
          <a:xfrm>
            <a:off x="1073150" y="40957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C2C2F4"/>
              </a:buClr>
              <a:buSzPts val="1200"/>
              <a:buFont typeface="JetBrains Mono"/>
              <a:buNone/>
            </a:pPr>
            <a:r>
              <a:rPr b="0" i="0" lang="en-US" sz="1200" u="none" cap="none" strike="noStrike">
                <a:solidFill>
                  <a:srgbClr val="C2C2F4"/>
                </a:solidFill>
                <a:latin typeface="JetBrains Mono"/>
                <a:ea typeface="JetBrains Mono"/>
                <a:cs typeface="JetBrains Mono"/>
                <a:sym typeface="JetBrains Mono"/>
              </a:rPr>
              <a:t>| project</a:t>
            </a:r>
            <a:r>
              <a:rPr b="0" i="0" lang="en-US" sz="1200" u="none" cap="none" strike="noStrike">
                <a:solidFill>
                  <a:srgbClr val="DCD8EA"/>
                </a:solidFill>
                <a:latin typeface="JetBrains Mono"/>
                <a:ea typeface="JetBrains Mono"/>
                <a:cs typeface="JetBrains Mono"/>
                <a:sym typeface="JetBrains Mono"/>
              </a:rPr>
              <a:t> TimeGenerated, DeviceName, AccountName,</a:t>
            </a:r>
            <a:endParaRPr b="0" i="0" sz="1200" u="none" cap="none" strike="noStrike">
              <a:solidFill>
                <a:schemeClr val="lt1"/>
              </a:solidFill>
              <a:latin typeface="Montserrat"/>
              <a:ea typeface="Montserrat"/>
              <a:cs typeface="Montserrat"/>
              <a:sym typeface="Montserrat"/>
            </a:endParaRPr>
          </a:p>
        </p:txBody>
      </p:sp>
      <p:sp>
        <p:nvSpPr>
          <p:cNvPr id="479" name="Google Shape;479;p19"/>
          <p:cNvSpPr/>
          <p:nvPr/>
        </p:nvSpPr>
        <p:spPr>
          <a:xfrm>
            <a:off x="1073150" y="43243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DCD8EA"/>
              </a:buClr>
              <a:buSzPts val="1200"/>
              <a:buFont typeface="JetBrains Mono"/>
              <a:buNone/>
            </a:pPr>
            <a:r>
              <a:rPr b="0" i="0" lang="en-US" sz="1200" u="none" cap="none" strike="noStrike">
                <a:solidFill>
                  <a:srgbClr val="DCD8EA"/>
                </a:solidFill>
                <a:latin typeface="JetBrains Mono"/>
                <a:ea typeface="JetBrains Mono"/>
                <a:cs typeface="JetBrains Mono"/>
                <a:sym typeface="JetBrains Mono"/>
              </a:rPr>
              <a:t>InitiatingProcessFileName, ProcessCommandLine</a:t>
            </a:r>
            <a:endParaRPr b="0" i="0" sz="1200" u="none" cap="none" strike="noStrike">
              <a:solidFill>
                <a:schemeClr val="lt1"/>
              </a:solidFill>
              <a:latin typeface="Montserrat"/>
              <a:ea typeface="Montserrat"/>
              <a:cs typeface="Montserrat"/>
              <a:sym typeface="Montserrat"/>
            </a:endParaRPr>
          </a:p>
        </p:txBody>
      </p:sp>
      <p:sp>
        <p:nvSpPr>
          <p:cNvPr id="480" name="Google Shape;480;p19"/>
          <p:cNvSpPr/>
          <p:nvPr/>
        </p:nvSpPr>
        <p:spPr>
          <a:xfrm>
            <a:off x="1073150" y="4552900"/>
            <a:ext cx="6396609" cy="2540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C2C2F4"/>
              </a:buClr>
              <a:buSzPts val="1200"/>
              <a:buFont typeface="JetBrains Mono"/>
              <a:buNone/>
            </a:pPr>
            <a:r>
              <a:rPr b="0" i="0" lang="en-US" sz="1200" u="none" cap="none" strike="noStrike">
                <a:solidFill>
                  <a:srgbClr val="C2C2F4"/>
                </a:solidFill>
                <a:latin typeface="JetBrains Mono"/>
                <a:ea typeface="JetBrains Mono"/>
                <a:cs typeface="JetBrains Mono"/>
                <a:sym typeface="JetBrains Mono"/>
              </a:rPr>
              <a:t>| sort by</a:t>
            </a:r>
            <a:r>
              <a:rPr b="0" i="0" lang="en-US" sz="1200" u="none" cap="none" strike="noStrike">
                <a:solidFill>
                  <a:srgbClr val="DCD8EA"/>
                </a:solidFill>
                <a:latin typeface="JetBrains Mono"/>
                <a:ea typeface="JetBrains Mono"/>
                <a:cs typeface="JetBrains Mono"/>
                <a:sym typeface="JetBrains Mono"/>
              </a:rPr>
              <a:t> TimeGenerated asc</a:t>
            </a:r>
            <a:endParaRPr b="0" i="0" sz="1200" u="none" cap="none" strike="noStrike">
              <a:solidFill>
                <a:schemeClr val="lt1"/>
              </a:solidFill>
              <a:latin typeface="Montserrat"/>
              <a:ea typeface="Montserrat"/>
              <a:cs typeface="Montserrat"/>
              <a:sym typeface="Montserrat"/>
            </a:endParaRPr>
          </a:p>
        </p:txBody>
      </p:sp>
      <p:sp>
        <p:nvSpPr>
          <p:cNvPr id="481" name="Google Shape;481;p19"/>
          <p:cNvSpPr/>
          <p:nvPr/>
        </p:nvSpPr>
        <p:spPr>
          <a:xfrm>
            <a:off x="7848600" y="1828750"/>
            <a:ext cx="3636518"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Why the browser</a:t>
            </a:r>
            <a:endParaRPr b="0" i="0" sz="1500" u="none" cap="none" strike="noStrike">
              <a:solidFill>
                <a:schemeClr val="lt1"/>
              </a:solidFill>
              <a:latin typeface="Montserrat"/>
              <a:ea typeface="Montserrat"/>
              <a:cs typeface="Montserrat"/>
              <a:sym typeface="Montserrat"/>
            </a:endParaRPr>
          </a:p>
        </p:txBody>
      </p:sp>
      <p:sp>
        <p:nvSpPr>
          <p:cNvPr id="482" name="Google Shape;482;p19"/>
          <p:cNvSpPr/>
          <p:nvPr/>
        </p:nvSpPr>
        <p:spPr>
          <a:xfrm>
            <a:off x="7848600" y="2095450"/>
            <a:ext cx="3636518"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FileFix runs the command from the browser’s file dialog: the parent is chrome.exe or msedge.exe.</a:t>
            </a:r>
            <a:endParaRPr b="0" i="0" sz="1200" u="none" cap="none" strike="noStrike">
              <a:solidFill>
                <a:schemeClr val="lt1"/>
              </a:solidFill>
              <a:latin typeface="Montserrat"/>
              <a:ea typeface="Montserrat"/>
              <a:cs typeface="Montserrat"/>
              <a:sym typeface="Montserrat"/>
            </a:endParaRPr>
          </a:p>
        </p:txBody>
      </p:sp>
      <p:sp>
        <p:nvSpPr>
          <p:cNvPr id="483" name="Google Shape;483;p19"/>
          <p:cNvSpPr/>
          <p:nvPr/>
        </p:nvSpPr>
        <p:spPr>
          <a:xfrm>
            <a:off x="7848600" y="2913211"/>
            <a:ext cx="3636518"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What it does not see</a:t>
            </a:r>
            <a:endParaRPr b="0" i="0" sz="1500" u="none" cap="none" strike="noStrike">
              <a:solidFill>
                <a:schemeClr val="lt1"/>
              </a:solidFill>
              <a:latin typeface="Montserrat"/>
              <a:ea typeface="Montserrat"/>
              <a:cs typeface="Montserrat"/>
              <a:sym typeface="Montserrat"/>
            </a:endParaRPr>
          </a:p>
        </p:txBody>
      </p:sp>
      <p:sp>
        <p:nvSpPr>
          <p:cNvPr id="484" name="Google Shape;484;p19"/>
          <p:cNvSpPr/>
          <p:nvPr/>
        </p:nvSpPr>
        <p:spPr>
          <a:xfrm>
            <a:off x="7848600" y="3179911"/>
            <a:ext cx="3636518" cy="1092002"/>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A paste into an already open console (Win+X → Terminal): the parent is the console and, in PowerShell, the command is not even a command line. Script Block Logging sees it.</a:t>
            </a:r>
            <a:endParaRPr b="0" i="0" sz="1200" u="none" cap="none" strike="noStrike">
              <a:solidFill>
                <a:schemeClr val="lt1"/>
              </a:solidFill>
              <a:latin typeface="Montserrat"/>
              <a:ea typeface="Montserrat"/>
              <a:cs typeface="Montserrat"/>
              <a:sym typeface="Montserrat"/>
            </a:endParaRPr>
          </a:p>
        </p:txBody>
      </p:sp>
      <p:sp>
        <p:nvSpPr>
          <p:cNvPr id="485" name="Google Shape;485;p19"/>
          <p:cNvSpPr/>
          <p:nvPr/>
        </p:nvSpPr>
        <p:spPr>
          <a:xfrm>
            <a:off x="7848600" y="4424313"/>
            <a:ext cx="3636518"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C2C2F4"/>
              </a:buClr>
              <a:buSzPts val="1500"/>
              <a:buFont typeface="Montserrat"/>
              <a:buNone/>
            </a:pPr>
            <a:r>
              <a:rPr b="1" i="0" lang="en-US" sz="1500" u="none" cap="none" strike="noStrike">
                <a:solidFill>
                  <a:srgbClr val="C2C2F4"/>
                </a:solidFill>
                <a:latin typeface="Montserrat"/>
                <a:ea typeface="Montserrat"/>
                <a:cs typeface="Montserrat"/>
                <a:sym typeface="Montserrat"/>
              </a:rPr>
              <a:t>Validated in the lab</a:t>
            </a:r>
            <a:endParaRPr b="0" i="0" sz="1500" u="none" cap="none" strike="noStrike">
              <a:solidFill>
                <a:schemeClr val="lt1"/>
              </a:solidFill>
              <a:latin typeface="Montserrat"/>
              <a:ea typeface="Montserrat"/>
              <a:cs typeface="Montserrat"/>
              <a:sym typeface="Montserrat"/>
            </a:endParaRPr>
          </a:p>
        </p:txBody>
      </p:sp>
      <p:sp>
        <p:nvSpPr>
          <p:cNvPr id="486" name="Google Shape;486;p19"/>
          <p:cNvSpPr/>
          <p:nvPr/>
        </p:nvSpPr>
        <p:spPr>
          <a:xfrm>
            <a:off x="7848600" y="4691013"/>
            <a:ext cx="3636518"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On Windows 11 the parent is explorer.exe, and RunMRU stores the full command.</a:t>
            </a:r>
            <a:endParaRPr b="0" i="0" sz="1200" u="none" cap="none" strike="noStrike">
              <a:solidFill>
                <a:schemeClr val="lt1"/>
              </a:solidFill>
              <a:latin typeface="Montserrat"/>
              <a:ea typeface="Montserrat"/>
              <a:cs typeface="Montserrat"/>
              <a:sym typeface="Montserrat"/>
            </a:endParaRPr>
          </a:p>
        </p:txBody>
      </p:sp>
      <p:sp>
        <p:nvSpPr>
          <p:cNvPr id="487" name="Google Shape;487;p19"/>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488" name="Google Shape;488;p19"/>
          <p:cNvSpPr/>
          <p:nvPr/>
        </p:nvSpPr>
        <p:spPr>
          <a:xfrm>
            <a:off x="11180614" y="6238280"/>
            <a:ext cx="198586"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19</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493" name="Shape 493"/>
        <p:cNvGrpSpPr/>
        <p:nvPr/>
      </p:nvGrpSpPr>
      <p:grpSpPr>
        <a:xfrm>
          <a:off x="0" y="0"/>
          <a:ext cx="0" cy="0"/>
          <a:chOff x="0" y="0"/>
          <a:chExt cx="0" cy="0"/>
        </a:xfrm>
      </p:grpSpPr>
      <p:sp>
        <p:nvSpPr>
          <p:cNvPr id="494" name="Google Shape;494;p20"/>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THE HUNT IN SENTINEL</a:t>
            </a:r>
            <a:endParaRPr b="0" i="0" sz="1200" u="none" cap="none" strike="noStrike">
              <a:solidFill>
                <a:schemeClr val="lt1"/>
              </a:solidFill>
              <a:latin typeface="Montserrat"/>
              <a:ea typeface="Montserrat"/>
              <a:cs typeface="Montserrat"/>
              <a:sym typeface="Montserrat"/>
            </a:endParaRPr>
          </a:p>
        </p:txBody>
      </p:sp>
      <p:sp>
        <p:nvSpPr>
          <p:cNvPr id="495" name="Google Shape;495;p20"/>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Noise is part of the story too</a:t>
            </a:r>
            <a:endParaRPr sz="3200"/>
          </a:p>
        </p:txBody>
      </p:sp>
      <p:graphicFrame>
        <p:nvGraphicFramePr>
          <p:cNvPr id="496" name="Google Shape;496;p20"/>
          <p:cNvGraphicFramePr/>
          <p:nvPr/>
        </p:nvGraphicFramePr>
        <p:xfrm>
          <a:off x="825500" y="1790650"/>
          <a:ext cx="3000000" cy="3000000"/>
        </p:xfrm>
        <a:graphic>
          <a:graphicData uri="http://schemas.openxmlformats.org/drawingml/2006/table">
            <a:tbl>
              <a:tblPr>
                <a:noFill/>
                <a:tableStyleId>{FB773AD2-FA50-4F7C-A878-0F7E4A0B4D0B}</a:tableStyleId>
              </a:tblPr>
              <a:tblGrid>
                <a:gridCol w="4221475"/>
                <a:gridCol w="3377175"/>
                <a:gridCol w="2955025"/>
              </a:tblGrid>
              <a:tr h="378425">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What you see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What it is</a:t>
                      </a:r>
                      <a:endParaRPr sz="1200" u="none" cap="none" strike="noStrike">
                        <a:latin typeface="Montserrat"/>
                        <a:ea typeface="Montserrat"/>
                        <a:cs typeface="Montserrat"/>
                        <a:sym typeface="Montserrat"/>
                      </a:endParaRPr>
                    </a:p>
                  </a:txBody>
                  <a:tcPr marT="76200" marB="76200" marR="127000" marL="1270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What to do</a:t>
                      </a:r>
                      <a:endParaRPr sz="1200" u="none" cap="none" strike="noStrike">
                        <a:latin typeface="Montserrat"/>
                        <a:ea typeface="Montserrat"/>
                        <a:cs typeface="Montserrat"/>
                        <a:sym typeface="Montserrat"/>
                      </a:endParaRPr>
                    </a:p>
                  </a:txBody>
                  <a:tcPr marT="76200" marB="76200" marR="127000" marL="1270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r>
              <a:tr h="591750">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PowerShell -ExecutionPolicy AllSigned -NoProfile, launched by SenseIR.exe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The Defender sensor itself</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Exclude by parent process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r>
              <a:tr h="591750">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powershell -File …\SYSVOL\…\Invoke-WEFClientSetup.ps1 with -encodedCommand</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A Windows Event Forwarding GPO</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Exclude by SYSVOL path, documented</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591750">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DownloadFile from http://127.0.0.1/1.exe to invoice.exe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Another lab instructor’s simulation</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Inconclusive: ask, don’t assume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r h="591750">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mscopilot.exe and msedgewebview2.exe write Preferences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Copilot and WebView2 in their own profile</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Justified exclusion in the rule</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bl>
          </a:graphicData>
        </a:graphic>
      </p:graphicFrame>
      <p:sp>
        <p:nvSpPr>
          <p:cNvPr id="497" name="Google Shape;497;p20"/>
          <p:cNvSpPr/>
          <p:nvPr/>
        </p:nvSpPr>
        <p:spPr>
          <a:xfrm>
            <a:off x="812800" y="5180000"/>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Document every false positive with its justification: that is what makes a detection reusable.</a:t>
            </a:r>
            <a:endParaRPr b="0" i="0" sz="1500" u="none" cap="none" strike="noStrike">
              <a:solidFill>
                <a:schemeClr val="lt1"/>
              </a:solidFill>
              <a:latin typeface="Montserrat"/>
              <a:ea typeface="Montserrat"/>
              <a:cs typeface="Montserrat"/>
              <a:sym typeface="Montserrat"/>
            </a:endParaRPr>
          </a:p>
        </p:txBody>
      </p:sp>
      <p:sp>
        <p:nvSpPr>
          <p:cNvPr id="498" name="Google Shape;498;p20"/>
          <p:cNvSpPr/>
          <p:nvPr/>
        </p:nvSpPr>
        <p:spPr>
          <a:xfrm>
            <a:off x="812800" y="6238280"/>
            <a:ext cx="653147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Rows 1–3: seen in the DEATHCon lab · row 4: model report case</a:t>
            </a:r>
            <a:endParaRPr b="0" i="0" sz="1200" u="none" cap="none" strike="noStrike">
              <a:solidFill>
                <a:schemeClr val="lt1"/>
              </a:solidFill>
              <a:latin typeface="Montserrat"/>
              <a:ea typeface="Montserrat"/>
              <a:cs typeface="Montserrat"/>
              <a:sym typeface="Montserrat"/>
            </a:endParaRPr>
          </a:p>
        </p:txBody>
      </p:sp>
      <p:sp>
        <p:nvSpPr>
          <p:cNvPr id="499" name="Google Shape;499;p20"/>
          <p:cNvSpPr/>
          <p:nvPr/>
        </p:nvSpPr>
        <p:spPr>
          <a:xfrm>
            <a:off x="11141224" y="6238280"/>
            <a:ext cx="237976"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20</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21"/>
          <p:cNvSpPr/>
          <p:nvPr/>
        </p:nvSpPr>
        <p:spPr>
          <a:xfrm>
            <a:off x="812800" y="200154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WRITING THE STORY</a:t>
            </a:r>
            <a:endParaRPr b="0" i="0" sz="1200" u="none" cap="none" strike="noStrike">
              <a:solidFill>
                <a:schemeClr val="lt1"/>
              </a:solidFill>
              <a:latin typeface="Montserrat"/>
              <a:ea typeface="Montserrat"/>
              <a:cs typeface="Montserrat"/>
              <a:sym typeface="Montserrat"/>
            </a:endParaRPr>
          </a:p>
        </p:txBody>
      </p:sp>
      <p:sp>
        <p:nvSpPr>
          <p:cNvPr id="506" name="Google Shape;506;p21"/>
          <p:cNvSpPr txBox="1"/>
          <p:nvPr>
            <p:ph type="title"/>
          </p:nvPr>
        </p:nvSpPr>
        <p:spPr>
          <a:xfrm>
            <a:off x="812800" y="2468860"/>
            <a:ext cx="9810750" cy="162560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1EEF7"/>
              </a:buClr>
              <a:buSzPts val="6000"/>
              <a:buFont typeface="Montserrat"/>
              <a:buNone/>
            </a:pPr>
            <a:r>
              <a:rPr b="1" i="0" lang="en-US" sz="6000">
                <a:solidFill>
                  <a:srgbClr val="F1EEF7"/>
                </a:solidFill>
                <a:latin typeface="Montserrat"/>
                <a:ea typeface="Montserrat"/>
                <a:cs typeface="Montserrat"/>
                <a:sym typeface="Montserrat"/>
              </a:rPr>
              <a:t>From loose findings to a story</a:t>
            </a:r>
            <a:endParaRPr sz="6000"/>
          </a:p>
        </p:txBody>
      </p:sp>
      <p:sp>
        <p:nvSpPr>
          <p:cNvPr id="507" name="Google Shape;507;p21"/>
          <p:cNvSpPr/>
          <p:nvPr/>
        </p:nvSpPr>
        <p:spPr>
          <a:xfrm>
            <a:off x="812800" y="4323060"/>
            <a:ext cx="9156700" cy="3556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59E42"/>
              </a:buClr>
              <a:buSzPts val="2000"/>
              <a:buFont typeface="Montserrat"/>
              <a:buNone/>
            </a:pPr>
            <a:r>
              <a:rPr b="0" i="0" lang="en-US" sz="2000" u="none" cap="none" strike="noStrike">
                <a:solidFill>
                  <a:srgbClr val="F59E42"/>
                </a:solidFill>
                <a:latin typeface="Montserrat"/>
                <a:ea typeface="Montserrat"/>
                <a:cs typeface="Montserrat"/>
                <a:sym typeface="Montserrat"/>
              </a:rPr>
              <a:t>The hunt is done. Now tell it so someone can use it.</a:t>
            </a:r>
            <a:endParaRPr b="0" i="0" sz="2000" u="none" cap="none" strike="noStrike">
              <a:solidFill>
                <a:schemeClr val="lt1"/>
              </a:solidFill>
              <a:latin typeface="Montserrat"/>
              <a:ea typeface="Montserrat"/>
              <a:cs typeface="Montserrat"/>
              <a:sym typeface="Montserrat"/>
            </a:endParaRPr>
          </a:p>
        </p:txBody>
      </p:sp>
      <p:sp>
        <p:nvSpPr>
          <p:cNvPr id="508" name="Google Shape;508;p21"/>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509" name="Google Shape;509;p21"/>
          <p:cNvSpPr/>
          <p:nvPr/>
        </p:nvSpPr>
        <p:spPr>
          <a:xfrm>
            <a:off x="11186815" y="6238280"/>
            <a:ext cx="192385"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21</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514" name="Shape 514"/>
        <p:cNvGrpSpPr/>
        <p:nvPr/>
      </p:nvGrpSpPr>
      <p:grpSpPr>
        <a:xfrm>
          <a:off x="0" y="0"/>
          <a:ext cx="0" cy="0"/>
          <a:chOff x="0" y="0"/>
          <a:chExt cx="0" cy="0"/>
        </a:xfrm>
      </p:grpSpPr>
      <p:sp>
        <p:nvSpPr>
          <p:cNvPr id="515" name="Google Shape;515;p2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WRITING THE STORY</a:t>
            </a:r>
            <a:endParaRPr b="0" i="0" sz="1200" u="none" cap="none" strike="noStrike">
              <a:solidFill>
                <a:schemeClr val="lt1"/>
              </a:solidFill>
              <a:latin typeface="Montserrat"/>
              <a:ea typeface="Montserrat"/>
              <a:cs typeface="Montserrat"/>
              <a:sym typeface="Montserrat"/>
            </a:endParaRPr>
          </a:p>
        </p:txBody>
      </p:sp>
      <p:sp>
        <p:nvSpPr>
          <p:cNvPr id="516" name="Google Shape;516;p22"/>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The structure of the report</a:t>
            </a:r>
            <a:endParaRPr sz="3200"/>
          </a:p>
        </p:txBody>
      </p:sp>
      <p:sp>
        <p:nvSpPr>
          <p:cNvPr id="517" name="Google Shape;517;p22"/>
          <p:cNvSpPr/>
          <p:nvPr/>
        </p:nvSpPr>
        <p:spPr>
          <a:xfrm>
            <a:off x="819150" y="1835100"/>
            <a:ext cx="5232400" cy="645120"/>
          </a:xfrm>
          <a:prstGeom prst="roundRect">
            <a:avLst>
              <a:gd fmla="val 10827" name="adj"/>
            </a:avLst>
          </a:prstGeom>
          <a:solidFill>
            <a:srgbClr val="1B1726"/>
          </a:solidFill>
          <a:ln cap="flat" cmpd="sng" w="12700">
            <a:solidFill>
              <a:srgbClr val="F59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2"/>
          <p:cNvSpPr/>
          <p:nvPr/>
        </p:nvSpPr>
        <p:spPr>
          <a:xfrm>
            <a:off x="977900" y="1930350"/>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1</a:t>
            </a:r>
            <a:endParaRPr b="0" i="0" sz="1500" u="none" cap="none" strike="noStrike">
              <a:solidFill>
                <a:schemeClr val="lt1"/>
              </a:solidFill>
              <a:latin typeface="Montserrat"/>
              <a:ea typeface="Montserrat"/>
              <a:cs typeface="Montserrat"/>
              <a:sym typeface="Montserrat"/>
            </a:endParaRPr>
          </a:p>
        </p:txBody>
      </p:sp>
      <p:sp>
        <p:nvSpPr>
          <p:cNvPr id="519" name="Google Shape;519;p22"/>
          <p:cNvSpPr/>
          <p:nvPr/>
        </p:nvSpPr>
        <p:spPr>
          <a:xfrm>
            <a:off x="1409700" y="1930350"/>
            <a:ext cx="3716077"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Executive summary</a:t>
            </a:r>
            <a:endParaRPr b="0" i="0" sz="1500" u="none" cap="none" strike="noStrike">
              <a:solidFill>
                <a:schemeClr val="lt1"/>
              </a:solidFill>
              <a:latin typeface="Montserrat"/>
              <a:ea typeface="Montserrat"/>
              <a:cs typeface="Montserrat"/>
              <a:sym typeface="Montserrat"/>
            </a:endParaRPr>
          </a:p>
        </p:txBody>
      </p:sp>
      <p:sp>
        <p:nvSpPr>
          <p:cNvPr id="520" name="Google Shape;520;p22"/>
          <p:cNvSpPr/>
          <p:nvPr/>
        </p:nvSpPr>
        <p:spPr>
          <a:xfrm>
            <a:off x="1409700" y="2171650"/>
            <a:ext cx="432941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What happened and what needs deciding, on one page.</a:t>
            </a:r>
            <a:endParaRPr b="0" i="0" sz="1200" u="none" cap="none" strike="noStrike">
              <a:solidFill>
                <a:schemeClr val="lt1"/>
              </a:solidFill>
              <a:latin typeface="Montserrat"/>
              <a:ea typeface="Montserrat"/>
              <a:cs typeface="Montserrat"/>
              <a:sym typeface="Montserrat"/>
            </a:endParaRPr>
          </a:p>
        </p:txBody>
      </p:sp>
      <p:sp>
        <p:nvSpPr>
          <p:cNvPr id="521" name="Google Shape;521;p22"/>
          <p:cNvSpPr/>
          <p:nvPr/>
        </p:nvSpPr>
        <p:spPr>
          <a:xfrm>
            <a:off x="6137275" y="1831925"/>
            <a:ext cx="5238750" cy="651470"/>
          </a:xfrm>
          <a:prstGeom prst="roundRect">
            <a:avLst>
              <a:gd fmla="val 11209"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2"/>
          <p:cNvSpPr/>
          <p:nvPr/>
        </p:nvSpPr>
        <p:spPr>
          <a:xfrm>
            <a:off x="6292850" y="1924000"/>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6</a:t>
            </a:r>
            <a:endParaRPr b="0" i="0" sz="1500" u="none" cap="none" strike="noStrike">
              <a:solidFill>
                <a:schemeClr val="lt1"/>
              </a:solidFill>
              <a:latin typeface="Montserrat"/>
              <a:ea typeface="Montserrat"/>
              <a:cs typeface="Montserrat"/>
              <a:sym typeface="Montserrat"/>
            </a:endParaRPr>
          </a:p>
        </p:txBody>
      </p:sp>
      <p:sp>
        <p:nvSpPr>
          <p:cNvPr id="523" name="Google Shape;523;p22"/>
          <p:cNvSpPr/>
          <p:nvPr/>
        </p:nvSpPr>
        <p:spPr>
          <a:xfrm>
            <a:off x="6724650" y="1924000"/>
            <a:ext cx="3269126"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Methodology</a:t>
            </a:r>
            <a:endParaRPr b="0" i="0" sz="1500" u="none" cap="none" strike="noStrike">
              <a:solidFill>
                <a:schemeClr val="lt1"/>
              </a:solidFill>
              <a:latin typeface="Montserrat"/>
              <a:ea typeface="Montserrat"/>
              <a:cs typeface="Montserrat"/>
              <a:sym typeface="Montserrat"/>
            </a:endParaRPr>
          </a:p>
        </p:txBody>
      </p:sp>
      <p:sp>
        <p:nvSpPr>
          <p:cNvPr id="524" name="Google Shape;524;p22"/>
          <p:cNvSpPr/>
          <p:nvPr/>
        </p:nvSpPr>
        <p:spPr>
          <a:xfrm>
            <a:off x="6724650" y="2165300"/>
            <a:ext cx="380869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PEAK and how the queries were chained.</a:t>
            </a:r>
            <a:endParaRPr b="0" i="0" sz="1200" u="none" cap="none" strike="noStrike">
              <a:solidFill>
                <a:schemeClr val="lt1"/>
              </a:solidFill>
              <a:latin typeface="Montserrat"/>
              <a:ea typeface="Montserrat"/>
              <a:cs typeface="Montserrat"/>
              <a:sym typeface="Montserrat"/>
            </a:endParaRPr>
          </a:p>
        </p:txBody>
      </p:sp>
      <p:sp>
        <p:nvSpPr>
          <p:cNvPr id="525" name="Google Shape;525;p22"/>
          <p:cNvSpPr/>
          <p:nvPr/>
        </p:nvSpPr>
        <p:spPr>
          <a:xfrm>
            <a:off x="815975" y="2565946"/>
            <a:ext cx="5238750" cy="638770"/>
          </a:xfrm>
          <a:prstGeom prst="roundRect">
            <a:avLst>
              <a:gd fmla="val 1143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2"/>
          <p:cNvSpPr/>
          <p:nvPr/>
        </p:nvSpPr>
        <p:spPr>
          <a:xfrm>
            <a:off x="971550" y="2658021"/>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2</a:t>
            </a:r>
            <a:endParaRPr b="0" i="0" sz="1500" u="none" cap="none" strike="noStrike">
              <a:solidFill>
                <a:schemeClr val="lt1"/>
              </a:solidFill>
              <a:latin typeface="Montserrat"/>
              <a:ea typeface="Montserrat"/>
              <a:cs typeface="Montserrat"/>
              <a:sym typeface="Montserrat"/>
            </a:endParaRPr>
          </a:p>
        </p:txBody>
      </p:sp>
      <p:sp>
        <p:nvSpPr>
          <p:cNvPr id="527" name="Google Shape;527;p22"/>
          <p:cNvSpPr/>
          <p:nvPr/>
        </p:nvSpPr>
        <p:spPr>
          <a:xfrm>
            <a:off x="1403350" y="2658021"/>
            <a:ext cx="3218386"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Hunting hypothesis</a:t>
            </a:r>
            <a:endParaRPr b="0" i="0" sz="1500" u="none" cap="none" strike="noStrike">
              <a:solidFill>
                <a:schemeClr val="lt1"/>
              </a:solidFill>
              <a:latin typeface="Montserrat"/>
              <a:ea typeface="Montserrat"/>
              <a:cs typeface="Montserrat"/>
              <a:sym typeface="Montserrat"/>
            </a:endParaRPr>
          </a:p>
        </p:txBody>
      </p:sp>
      <p:sp>
        <p:nvSpPr>
          <p:cNvPr id="528" name="Google Shape;528;p22"/>
          <p:cNvSpPr/>
          <p:nvPr/>
        </p:nvSpPr>
        <p:spPr>
          <a:xfrm>
            <a:off x="1403350" y="2899321"/>
            <a:ext cx="374957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The question, and what confirms or refutes it.</a:t>
            </a:r>
            <a:endParaRPr b="0" i="0" sz="1200" u="none" cap="none" strike="noStrike">
              <a:solidFill>
                <a:schemeClr val="lt1"/>
              </a:solidFill>
              <a:latin typeface="Montserrat"/>
              <a:ea typeface="Montserrat"/>
              <a:cs typeface="Montserrat"/>
              <a:sym typeface="Montserrat"/>
            </a:endParaRPr>
          </a:p>
        </p:txBody>
      </p:sp>
      <p:sp>
        <p:nvSpPr>
          <p:cNvPr id="529" name="Google Shape;529;p22"/>
          <p:cNvSpPr/>
          <p:nvPr/>
        </p:nvSpPr>
        <p:spPr>
          <a:xfrm>
            <a:off x="6137275" y="2565946"/>
            <a:ext cx="5238750" cy="638770"/>
          </a:xfrm>
          <a:prstGeom prst="roundRect">
            <a:avLst>
              <a:gd fmla="val 1143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2"/>
          <p:cNvSpPr/>
          <p:nvPr/>
        </p:nvSpPr>
        <p:spPr>
          <a:xfrm>
            <a:off x="6292850" y="2658021"/>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7</a:t>
            </a:r>
            <a:endParaRPr b="0" i="0" sz="1500" u="none" cap="none" strike="noStrike">
              <a:solidFill>
                <a:schemeClr val="lt1"/>
              </a:solidFill>
              <a:latin typeface="Montserrat"/>
              <a:ea typeface="Montserrat"/>
              <a:cs typeface="Montserrat"/>
              <a:sym typeface="Montserrat"/>
            </a:endParaRPr>
          </a:p>
        </p:txBody>
      </p:sp>
      <p:sp>
        <p:nvSpPr>
          <p:cNvPr id="531" name="Google Shape;531;p22"/>
          <p:cNvSpPr/>
          <p:nvPr/>
        </p:nvSpPr>
        <p:spPr>
          <a:xfrm>
            <a:off x="6724650" y="2658021"/>
            <a:ext cx="2717578"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Findings</a:t>
            </a:r>
            <a:endParaRPr b="0" i="0" sz="1500" u="none" cap="none" strike="noStrike">
              <a:solidFill>
                <a:schemeClr val="lt1"/>
              </a:solidFill>
              <a:latin typeface="Montserrat"/>
              <a:ea typeface="Montserrat"/>
              <a:cs typeface="Montserrat"/>
              <a:sym typeface="Montserrat"/>
            </a:endParaRPr>
          </a:p>
        </p:txBody>
      </p:sp>
      <p:sp>
        <p:nvSpPr>
          <p:cNvPr id="532" name="Google Shape;532;p22"/>
          <p:cNvSpPr/>
          <p:nvPr/>
        </p:nvSpPr>
        <p:spPr>
          <a:xfrm>
            <a:off x="6724650" y="2899321"/>
            <a:ext cx="316611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Verdict and evidence per query.</a:t>
            </a:r>
            <a:endParaRPr b="0" i="0" sz="1200" u="none" cap="none" strike="noStrike">
              <a:solidFill>
                <a:schemeClr val="lt1"/>
              </a:solidFill>
              <a:latin typeface="Montserrat"/>
              <a:ea typeface="Montserrat"/>
              <a:cs typeface="Montserrat"/>
              <a:sym typeface="Montserrat"/>
            </a:endParaRPr>
          </a:p>
        </p:txBody>
      </p:sp>
      <p:sp>
        <p:nvSpPr>
          <p:cNvPr id="533" name="Google Shape;533;p22"/>
          <p:cNvSpPr/>
          <p:nvPr/>
        </p:nvSpPr>
        <p:spPr>
          <a:xfrm>
            <a:off x="815975" y="3287266"/>
            <a:ext cx="5238750" cy="638770"/>
          </a:xfrm>
          <a:prstGeom prst="roundRect">
            <a:avLst>
              <a:gd fmla="val 1143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2"/>
          <p:cNvSpPr/>
          <p:nvPr/>
        </p:nvSpPr>
        <p:spPr>
          <a:xfrm>
            <a:off x="971550" y="3379341"/>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3</a:t>
            </a:r>
            <a:endParaRPr b="0" i="0" sz="1500" u="none" cap="none" strike="noStrike">
              <a:solidFill>
                <a:schemeClr val="lt1"/>
              </a:solidFill>
              <a:latin typeface="Montserrat"/>
              <a:ea typeface="Montserrat"/>
              <a:cs typeface="Montserrat"/>
              <a:sym typeface="Montserrat"/>
            </a:endParaRPr>
          </a:p>
        </p:txBody>
      </p:sp>
      <p:sp>
        <p:nvSpPr>
          <p:cNvPr id="535" name="Google Shape;535;p22"/>
          <p:cNvSpPr/>
          <p:nvPr/>
        </p:nvSpPr>
        <p:spPr>
          <a:xfrm>
            <a:off x="1403350" y="3379341"/>
            <a:ext cx="4171664"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Scope and limitations</a:t>
            </a:r>
            <a:endParaRPr b="0" i="0" sz="1500" u="none" cap="none" strike="noStrike">
              <a:solidFill>
                <a:schemeClr val="lt1"/>
              </a:solidFill>
              <a:latin typeface="Montserrat"/>
              <a:ea typeface="Montserrat"/>
              <a:cs typeface="Montserrat"/>
              <a:sym typeface="Montserrat"/>
            </a:endParaRPr>
          </a:p>
        </p:txBody>
      </p:sp>
      <p:sp>
        <p:nvSpPr>
          <p:cNvPr id="536" name="Google Shape;536;p22"/>
          <p:cNvSpPr/>
          <p:nvPr/>
        </p:nvSpPr>
        <p:spPr>
          <a:xfrm>
            <a:off x="1403350" y="3620641"/>
            <a:ext cx="46482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What was examined, what could not be seen, and with what confidence.</a:t>
            </a:r>
            <a:endParaRPr b="0" i="0" sz="1200" u="none" cap="none" strike="noStrike">
              <a:solidFill>
                <a:schemeClr val="lt1"/>
              </a:solidFill>
              <a:latin typeface="Montserrat"/>
              <a:ea typeface="Montserrat"/>
              <a:cs typeface="Montserrat"/>
              <a:sym typeface="Montserrat"/>
            </a:endParaRPr>
          </a:p>
        </p:txBody>
      </p:sp>
      <p:sp>
        <p:nvSpPr>
          <p:cNvPr id="537" name="Google Shape;537;p22"/>
          <p:cNvSpPr/>
          <p:nvPr/>
        </p:nvSpPr>
        <p:spPr>
          <a:xfrm>
            <a:off x="6137275" y="3287266"/>
            <a:ext cx="5238750" cy="638770"/>
          </a:xfrm>
          <a:prstGeom prst="roundRect">
            <a:avLst>
              <a:gd fmla="val 1143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2"/>
          <p:cNvSpPr/>
          <p:nvPr/>
        </p:nvSpPr>
        <p:spPr>
          <a:xfrm>
            <a:off x="6292850" y="3379341"/>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8</a:t>
            </a:r>
            <a:endParaRPr b="0" i="0" sz="1500" u="none" cap="none" strike="noStrike">
              <a:solidFill>
                <a:schemeClr val="lt1"/>
              </a:solidFill>
              <a:latin typeface="Montserrat"/>
              <a:ea typeface="Montserrat"/>
              <a:cs typeface="Montserrat"/>
              <a:sym typeface="Montserrat"/>
            </a:endParaRPr>
          </a:p>
        </p:txBody>
      </p:sp>
      <p:sp>
        <p:nvSpPr>
          <p:cNvPr id="539" name="Google Shape;539;p22"/>
          <p:cNvSpPr/>
          <p:nvPr/>
        </p:nvSpPr>
        <p:spPr>
          <a:xfrm>
            <a:off x="6724650" y="3379341"/>
            <a:ext cx="311057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Recommendations</a:t>
            </a:r>
            <a:endParaRPr b="0" i="0" sz="1500" u="none" cap="none" strike="noStrike">
              <a:solidFill>
                <a:schemeClr val="lt1"/>
              </a:solidFill>
              <a:latin typeface="Montserrat"/>
              <a:ea typeface="Montserrat"/>
              <a:cs typeface="Montserrat"/>
              <a:sym typeface="Montserrat"/>
            </a:endParaRPr>
          </a:p>
        </p:txBody>
      </p:sp>
      <p:sp>
        <p:nvSpPr>
          <p:cNvPr id="540" name="Google Shape;540;p22"/>
          <p:cNvSpPr/>
          <p:nvPr/>
        </p:nvSpPr>
        <p:spPr>
          <a:xfrm>
            <a:off x="6724650" y="3620641"/>
            <a:ext cx="362396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Actions with a priority, an owner and a status.</a:t>
            </a:r>
            <a:endParaRPr b="0" i="0" sz="1200" u="none" cap="none" strike="noStrike">
              <a:solidFill>
                <a:schemeClr val="lt1"/>
              </a:solidFill>
              <a:latin typeface="Montserrat"/>
              <a:ea typeface="Montserrat"/>
              <a:cs typeface="Montserrat"/>
              <a:sym typeface="Montserrat"/>
            </a:endParaRPr>
          </a:p>
        </p:txBody>
      </p:sp>
      <p:sp>
        <p:nvSpPr>
          <p:cNvPr id="541" name="Google Shape;541;p22"/>
          <p:cNvSpPr/>
          <p:nvPr/>
        </p:nvSpPr>
        <p:spPr>
          <a:xfrm>
            <a:off x="815975" y="4008586"/>
            <a:ext cx="5238750" cy="638770"/>
          </a:xfrm>
          <a:prstGeom prst="roundRect">
            <a:avLst>
              <a:gd fmla="val 1143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2"/>
          <p:cNvSpPr/>
          <p:nvPr/>
        </p:nvSpPr>
        <p:spPr>
          <a:xfrm>
            <a:off x="971550" y="4100661"/>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4</a:t>
            </a:r>
            <a:endParaRPr b="0" i="0" sz="1500" u="none" cap="none" strike="noStrike">
              <a:solidFill>
                <a:schemeClr val="lt1"/>
              </a:solidFill>
              <a:latin typeface="Montserrat"/>
              <a:ea typeface="Montserrat"/>
              <a:cs typeface="Montserrat"/>
              <a:sym typeface="Montserrat"/>
            </a:endParaRPr>
          </a:p>
        </p:txBody>
      </p:sp>
      <p:sp>
        <p:nvSpPr>
          <p:cNvPr id="543" name="Google Shape;543;p22"/>
          <p:cNvSpPr/>
          <p:nvPr/>
        </p:nvSpPr>
        <p:spPr>
          <a:xfrm>
            <a:off x="1403350" y="4100661"/>
            <a:ext cx="4095171"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Background</a:t>
            </a:r>
            <a:endParaRPr b="0" i="0" sz="1500" u="none" cap="none" strike="noStrike">
              <a:solidFill>
                <a:schemeClr val="lt1"/>
              </a:solidFill>
              <a:latin typeface="Montserrat"/>
              <a:ea typeface="Montserrat"/>
              <a:cs typeface="Montserrat"/>
              <a:sym typeface="Montserrat"/>
            </a:endParaRPr>
          </a:p>
        </p:txBody>
      </p:sp>
      <p:sp>
        <p:nvSpPr>
          <p:cNvPr id="544" name="Google Shape;544;p22"/>
          <p:cNvSpPr/>
          <p:nvPr/>
        </p:nvSpPr>
        <p:spPr>
          <a:xfrm>
            <a:off x="1403350" y="4341961"/>
            <a:ext cx="46482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The intelligence behind the hypothesis, with sources.</a:t>
            </a:r>
            <a:endParaRPr b="0" i="0" sz="1200" u="none" cap="none" strike="noStrike">
              <a:solidFill>
                <a:schemeClr val="lt1"/>
              </a:solidFill>
              <a:latin typeface="Montserrat"/>
              <a:ea typeface="Montserrat"/>
              <a:cs typeface="Montserrat"/>
              <a:sym typeface="Montserrat"/>
            </a:endParaRPr>
          </a:p>
        </p:txBody>
      </p:sp>
      <p:sp>
        <p:nvSpPr>
          <p:cNvPr id="545" name="Google Shape;545;p22"/>
          <p:cNvSpPr/>
          <p:nvPr/>
        </p:nvSpPr>
        <p:spPr>
          <a:xfrm>
            <a:off x="6137275" y="4008586"/>
            <a:ext cx="5238750" cy="638770"/>
          </a:xfrm>
          <a:prstGeom prst="roundRect">
            <a:avLst>
              <a:gd fmla="val 1143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2"/>
          <p:cNvSpPr/>
          <p:nvPr/>
        </p:nvSpPr>
        <p:spPr>
          <a:xfrm>
            <a:off x="6292850" y="4100661"/>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9</a:t>
            </a:r>
            <a:endParaRPr b="0" i="0" sz="1500" u="none" cap="none" strike="noStrike">
              <a:solidFill>
                <a:schemeClr val="lt1"/>
              </a:solidFill>
              <a:latin typeface="Montserrat"/>
              <a:ea typeface="Montserrat"/>
              <a:cs typeface="Montserrat"/>
              <a:sym typeface="Montserrat"/>
            </a:endParaRPr>
          </a:p>
        </p:txBody>
      </p:sp>
      <p:sp>
        <p:nvSpPr>
          <p:cNvPr id="547" name="Google Shape;547;p22"/>
          <p:cNvSpPr/>
          <p:nvPr/>
        </p:nvSpPr>
        <p:spPr>
          <a:xfrm>
            <a:off x="6724650" y="4100661"/>
            <a:ext cx="2723914"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Conclusion</a:t>
            </a:r>
            <a:endParaRPr b="0" i="0" sz="1500" u="none" cap="none" strike="noStrike">
              <a:solidFill>
                <a:schemeClr val="lt1"/>
              </a:solidFill>
              <a:latin typeface="Montserrat"/>
              <a:ea typeface="Montserrat"/>
              <a:cs typeface="Montserrat"/>
              <a:sym typeface="Montserrat"/>
            </a:endParaRPr>
          </a:p>
        </p:txBody>
      </p:sp>
      <p:sp>
        <p:nvSpPr>
          <p:cNvPr id="548" name="Google Shape;548;p22"/>
          <p:cNvSpPr/>
          <p:nvPr/>
        </p:nvSpPr>
        <p:spPr>
          <a:xfrm>
            <a:off x="6724650" y="4341961"/>
            <a:ext cx="31734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The whole story in one paragraph.</a:t>
            </a:r>
            <a:endParaRPr b="0" i="0" sz="1200" u="none" cap="none" strike="noStrike">
              <a:solidFill>
                <a:schemeClr val="lt1"/>
              </a:solidFill>
              <a:latin typeface="Montserrat"/>
              <a:ea typeface="Montserrat"/>
              <a:cs typeface="Montserrat"/>
              <a:sym typeface="Montserrat"/>
            </a:endParaRPr>
          </a:p>
        </p:txBody>
      </p:sp>
      <p:sp>
        <p:nvSpPr>
          <p:cNvPr id="549" name="Google Shape;549;p22"/>
          <p:cNvSpPr/>
          <p:nvPr/>
        </p:nvSpPr>
        <p:spPr>
          <a:xfrm>
            <a:off x="815975" y="4729907"/>
            <a:ext cx="5238750" cy="638770"/>
          </a:xfrm>
          <a:prstGeom prst="roundRect">
            <a:avLst>
              <a:gd fmla="val 1143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2"/>
          <p:cNvSpPr/>
          <p:nvPr/>
        </p:nvSpPr>
        <p:spPr>
          <a:xfrm>
            <a:off x="971550" y="4821982"/>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5</a:t>
            </a:r>
            <a:endParaRPr b="0" i="0" sz="1500" u="none" cap="none" strike="noStrike">
              <a:solidFill>
                <a:schemeClr val="lt1"/>
              </a:solidFill>
              <a:latin typeface="Montserrat"/>
              <a:ea typeface="Montserrat"/>
              <a:cs typeface="Montserrat"/>
              <a:sym typeface="Montserrat"/>
            </a:endParaRPr>
          </a:p>
        </p:txBody>
      </p:sp>
      <p:sp>
        <p:nvSpPr>
          <p:cNvPr id="551" name="Google Shape;551;p22"/>
          <p:cNvSpPr/>
          <p:nvPr/>
        </p:nvSpPr>
        <p:spPr>
          <a:xfrm>
            <a:off x="1403350" y="4821982"/>
            <a:ext cx="2963817"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MITRE ATT&amp;CK</a:t>
            </a:r>
            <a:endParaRPr b="0" i="0" sz="1500" u="none" cap="none" strike="noStrike">
              <a:solidFill>
                <a:schemeClr val="lt1"/>
              </a:solidFill>
              <a:latin typeface="Montserrat"/>
              <a:ea typeface="Montserrat"/>
              <a:cs typeface="Montserrat"/>
              <a:sym typeface="Montserrat"/>
            </a:endParaRPr>
          </a:p>
        </p:txBody>
      </p:sp>
      <p:sp>
        <p:nvSpPr>
          <p:cNvPr id="552" name="Google Shape;552;p22"/>
          <p:cNvSpPr/>
          <p:nvPr/>
        </p:nvSpPr>
        <p:spPr>
          <a:xfrm>
            <a:off x="1403350" y="5063282"/>
            <a:ext cx="345299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Technique, tactic and evidence in the case.</a:t>
            </a:r>
            <a:endParaRPr b="0" i="0" sz="1200" u="none" cap="none" strike="noStrike">
              <a:solidFill>
                <a:schemeClr val="lt1"/>
              </a:solidFill>
              <a:latin typeface="Montserrat"/>
              <a:ea typeface="Montserrat"/>
              <a:cs typeface="Montserrat"/>
              <a:sym typeface="Montserrat"/>
            </a:endParaRPr>
          </a:p>
        </p:txBody>
      </p:sp>
      <p:sp>
        <p:nvSpPr>
          <p:cNvPr id="553" name="Google Shape;553;p22"/>
          <p:cNvSpPr/>
          <p:nvPr/>
        </p:nvSpPr>
        <p:spPr>
          <a:xfrm>
            <a:off x="6137275" y="4729907"/>
            <a:ext cx="5238750" cy="638770"/>
          </a:xfrm>
          <a:prstGeom prst="roundRect">
            <a:avLst>
              <a:gd fmla="val 11432"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2"/>
          <p:cNvSpPr/>
          <p:nvPr/>
        </p:nvSpPr>
        <p:spPr>
          <a:xfrm>
            <a:off x="6292850" y="4821982"/>
            <a:ext cx="3556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1" i="0" lang="en-US" sz="1500" u="none" cap="none" strike="noStrike">
                <a:solidFill>
                  <a:srgbClr val="F59E42"/>
                </a:solidFill>
                <a:latin typeface="Montserrat"/>
                <a:ea typeface="Montserrat"/>
                <a:cs typeface="Montserrat"/>
                <a:sym typeface="Montserrat"/>
              </a:rPr>
              <a:t>10</a:t>
            </a:r>
            <a:endParaRPr b="0" i="0" sz="1500" u="none" cap="none" strike="noStrike">
              <a:solidFill>
                <a:schemeClr val="lt1"/>
              </a:solidFill>
              <a:latin typeface="Montserrat"/>
              <a:ea typeface="Montserrat"/>
              <a:cs typeface="Montserrat"/>
              <a:sym typeface="Montserrat"/>
            </a:endParaRPr>
          </a:p>
        </p:txBody>
      </p:sp>
      <p:sp>
        <p:nvSpPr>
          <p:cNvPr id="555" name="Google Shape;555;p22"/>
          <p:cNvSpPr/>
          <p:nvPr/>
        </p:nvSpPr>
        <p:spPr>
          <a:xfrm>
            <a:off x="6724650" y="4821982"/>
            <a:ext cx="3920110"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Appendices</a:t>
            </a:r>
            <a:endParaRPr b="0" i="0" sz="1500" u="none" cap="none" strike="noStrike">
              <a:solidFill>
                <a:schemeClr val="lt1"/>
              </a:solidFill>
              <a:latin typeface="Montserrat"/>
              <a:ea typeface="Montserrat"/>
              <a:cs typeface="Montserrat"/>
              <a:sym typeface="Montserrat"/>
            </a:endParaRPr>
          </a:p>
        </p:txBody>
      </p:sp>
      <p:sp>
        <p:nvSpPr>
          <p:cNvPr id="556" name="Google Shape;556;p22"/>
          <p:cNvSpPr/>
          <p:nvPr/>
        </p:nvSpPr>
        <p:spPr>
          <a:xfrm>
            <a:off x="6724650" y="5063282"/>
            <a:ext cx="456711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IOCs, queries, timeline, controls and sources.</a:t>
            </a:r>
            <a:endParaRPr b="0" i="0" sz="1200" u="none" cap="none" strike="noStrike">
              <a:solidFill>
                <a:schemeClr val="lt1"/>
              </a:solidFill>
              <a:latin typeface="Montserrat"/>
              <a:ea typeface="Montserrat"/>
              <a:cs typeface="Montserrat"/>
              <a:sym typeface="Montserrat"/>
            </a:endParaRPr>
          </a:p>
        </p:txBody>
      </p:sp>
      <p:sp>
        <p:nvSpPr>
          <p:cNvPr id="557" name="Google Shape;557;p22"/>
          <p:cNvSpPr/>
          <p:nvPr/>
        </p:nvSpPr>
        <p:spPr>
          <a:xfrm>
            <a:off x="812800" y="6238280"/>
            <a:ext cx="712755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Full template in English and Spanish: github.com/Ank1nskywalker/Templates</a:t>
            </a:r>
            <a:endParaRPr b="0" i="0" sz="1200" u="none" cap="none" strike="noStrike">
              <a:solidFill>
                <a:schemeClr val="lt1"/>
              </a:solidFill>
              <a:latin typeface="Montserrat"/>
              <a:ea typeface="Montserrat"/>
              <a:cs typeface="Montserrat"/>
              <a:sym typeface="Montserrat"/>
            </a:endParaRPr>
          </a:p>
        </p:txBody>
      </p:sp>
      <p:sp>
        <p:nvSpPr>
          <p:cNvPr id="558" name="Google Shape;558;p22"/>
          <p:cNvSpPr/>
          <p:nvPr/>
        </p:nvSpPr>
        <p:spPr>
          <a:xfrm>
            <a:off x="11155263" y="6238280"/>
            <a:ext cx="223937"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22</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563" name="Shape 563"/>
        <p:cNvGrpSpPr/>
        <p:nvPr/>
      </p:nvGrpSpPr>
      <p:grpSpPr>
        <a:xfrm>
          <a:off x="0" y="0"/>
          <a:ext cx="0" cy="0"/>
          <a:chOff x="0" y="0"/>
          <a:chExt cx="0" cy="0"/>
        </a:xfrm>
      </p:grpSpPr>
      <p:sp>
        <p:nvSpPr>
          <p:cNvPr id="564" name="Google Shape;564;p2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WRITING THE STORY · BLUF</a:t>
            </a:r>
            <a:endParaRPr b="0" i="0" sz="1200" u="none" cap="none" strike="noStrike">
              <a:solidFill>
                <a:schemeClr val="lt1"/>
              </a:solidFill>
              <a:latin typeface="Montserrat"/>
              <a:ea typeface="Montserrat"/>
              <a:cs typeface="Montserrat"/>
              <a:sym typeface="Montserrat"/>
            </a:endParaRPr>
          </a:p>
        </p:txBody>
      </p:sp>
      <p:sp>
        <p:nvSpPr>
          <p:cNvPr id="565" name="Google Shape;565;p23"/>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Executive summary: first things first</a:t>
            </a:r>
            <a:endParaRPr sz="3200"/>
          </a:p>
        </p:txBody>
      </p:sp>
      <p:sp>
        <p:nvSpPr>
          <p:cNvPr id="566" name="Google Shape;566;p23"/>
          <p:cNvSpPr/>
          <p:nvPr/>
        </p:nvSpPr>
        <p:spPr>
          <a:xfrm>
            <a:off x="815975" y="1831925"/>
            <a:ext cx="5168900" cy="2175470"/>
          </a:xfrm>
          <a:prstGeom prst="roundRect">
            <a:avLst>
              <a:gd fmla="val 4524" name="adj"/>
            </a:avLst>
          </a:prstGeom>
          <a:solidFill>
            <a:srgbClr val="15121D"/>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3"/>
          <p:cNvSpPr/>
          <p:nvPr/>
        </p:nvSpPr>
        <p:spPr>
          <a:xfrm>
            <a:off x="1073150" y="2089100"/>
            <a:ext cx="479418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1" i="0" lang="en-US" sz="1200" u="none" cap="none" strike="noStrike">
                <a:solidFill>
                  <a:srgbClr val="8F8AA6"/>
                </a:solidFill>
                <a:latin typeface="Montserrat"/>
                <a:ea typeface="Montserrat"/>
                <a:cs typeface="Montserrat"/>
                <a:sym typeface="Montserrat"/>
              </a:rPr>
              <a:t>BEFORE · EXAMPLE</a:t>
            </a:r>
            <a:endParaRPr b="0" i="0" sz="1200" u="none" cap="none" strike="noStrike">
              <a:solidFill>
                <a:schemeClr val="lt1"/>
              </a:solidFill>
              <a:latin typeface="Montserrat"/>
              <a:ea typeface="Montserrat"/>
              <a:cs typeface="Montserrat"/>
              <a:sym typeface="Montserrat"/>
            </a:endParaRPr>
          </a:p>
        </p:txBody>
      </p:sp>
      <p:sp>
        <p:nvSpPr>
          <p:cNvPr id="568" name="Google Shape;568;p23"/>
          <p:cNvSpPr/>
          <p:nvPr/>
        </p:nvSpPr>
        <p:spPr>
          <a:xfrm>
            <a:off x="1073150" y="2404021"/>
            <a:ext cx="4794187" cy="13589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500"/>
              <a:buFont typeface="Montserrat"/>
              <a:buNone/>
            </a:pPr>
            <a:r>
              <a:rPr b="0" i="0" lang="en-US" sz="1500" u="none" cap="none" strike="noStrike">
                <a:solidFill>
                  <a:srgbClr val="C9C5D8"/>
                </a:solidFill>
                <a:latin typeface="Montserrat"/>
                <a:ea typeface="Montserrat"/>
                <a:cs typeface="Montserrat"/>
                <a:sym typeface="Montserrat"/>
              </a:rPr>
              <a:t>In September several queries were run in the EDR and suspicious PowerShell-related activity was observed on some hosts, which could be linked to ClickFix. Further investigation is recommended.</a:t>
            </a:r>
            <a:endParaRPr b="0" i="0" sz="1500" u="none" cap="none" strike="noStrike">
              <a:solidFill>
                <a:schemeClr val="lt1"/>
              </a:solidFill>
              <a:latin typeface="Montserrat"/>
              <a:ea typeface="Montserrat"/>
              <a:cs typeface="Montserrat"/>
              <a:sym typeface="Montserrat"/>
            </a:endParaRPr>
          </a:p>
        </p:txBody>
      </p:sp>
      <p:sp>
        <p:nvSpPr>
          <p:cNvPr id="569" name="Google Shape;569;p23"/>
          <p:cNvSpPr/>
          <p:nvPr/>
        </p:nvSpPr>
        <p:spPr>
          <a:xfrm>
            <a:off x="6197600" y="1835100"/>
            <a:ext cx="5175250" cy="2169120"/>
          </a:xfrm>
          <a:prstGeom prst="roundRect">
            <a:avLst>
              <a:gd fmla="val 4391" name="adj"/>
            </a:avLst>
          </a:prstGeom>
          <a:solidFill>
            <a:srgbClr val="1B1726"/>
          </a:solidFill>
          <a:ln cap="flat" cmpd="sng" w="12700">
            <a:solidFill>
              <a:srgbClr val="F59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3"/>
          <p:cNvSpPr/>
          <p:nvPr/>
        </p:nvSpPr>
        <p:spPr>
          <a:xfrm>
            <a:off x="6457950" y="2095450"/>
            <a:ext cx="4794187"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AFTER · MODEL REPORT</a:t>
            </a:r>
            <a:endParaRPr b="0" i="0" sz="1200" u="none" cap="none" strike="noStrike">
              <a:solidFill>
                <a:schemeClr val="lt1"/>
              </a:solidFill>
              <a:latin typeface="Montserrat"/>
              <a:ea typeface="Montserrat"/>
              <a:cs typeface="Montserrat"/>
              <a:sym typeface="Montserrat"/>
            </a:endParaRPr>
          </a:p>
        </p:txBody>
      </p:sp>
      <p:sp>
        <p:nvSpPr>
          <p:cNvPr id="571" name="Google Shape;571;p23"/>
          <p:cNvSpPr/>
          <p:nvPr/>
        </p:nvSpPr>
        <p:spPr>
          <a:xfrm>
            <a:off x="6457950" y="2410371"/>
            <a:ext cx="4794187" cy="13589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Hypothesis confirmed on one host (XXXX-01).</a:t>
            </a:r>
            <a:r>
              <a:rPr b="0" i="0" lang="en-US" sz="1500" u="none" cap="none" strike="noStrike">
                <a:solidFill>
                  <a:srgbClr val="F1EEF7"/>
                </a:solidFill>
                <a:latin typeface="Montserrat"/>
                <a:ea typeface="Montserrat"/>
                <a:cs typeface="Montserrat"/>
                <a:sym typeface="Montserrat"/>
              </a:rPr>
              <a:t> A user pasted a command from a ClickFix lure into Win+R and, in under 30 seconds, a session-stealing Chrome extension was installed. The only alert arrived at T+4:51.</a:t>
            </a:r>
            <a:endParaRPr b="0" i="0" sz="1500" u="none" cap="none" strike="noStrike">
              <a:solidFill>
                <a:schemeClr val="lt1"/>
              </a:solidFill>
              <a:latin typeface="Montserrat"/>
              <a:ea typeface="Montserrat"/>
              <a:cs typeface="Montserrat"/>
              <a:sym typeface="Montserrat"/>
            </a:endParaRPr>
          </a:p>
        </p:txBody>
      </p:sp>
      <p:sp>
        <p:nvSpPr>
          <p:cNvPr id="572" name="Google Shape;572;p23"/>
          <p:cNvSpPr/>
          <p:nvPr/>
        </p:nvSpPr>
        <p:spPr>
          <a:xfrm>
            <a:off x="812800" y="4264571"/>
            <a:ext cx="2824758" cy="340320"/>
          </a:xfrm>
          <a:prstGeom prst="roundRect">
            <a:avLst>
              <a:gd fmla="val 50000" name="adj"/>
            </a:avLst>
          </a:prstGeom>
          <a:solidFill>
            <a:srgbClr val="2A1438"/>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The verdict in the first line</a:t>
            </a:r>
            <a:endParaRPr b="0" i="0" sz="1200" u="none" cap="none" strike="noStrike">
              <a:solidFill>
                <a:schemeClr val="lt1"/>
              </a:solidFill>
              <a:latin typeface="Montserrat"/>
              <a:ea typeface="Montserrat"/>
              <a:cs typeface="Montserrat"/>
              <a:sym typeface="Montserrat"/>
            </a:endParaRPr>
          </a:p>
        </p:txBody>
      </p:sp>
      <p:sp>
        <p:nvSpPr>
          <p:cNvPr id="573" name="Google Shape;573;p23"/>
          <p:cNvSpPr/>
          <p:nvPr/>
        </p:nvSpPr>
        <p:spPr>
          <a:xfrm>
            <a:off x="3739158" y="4264571"/>
            <a:ext cx="2698800" cy="340320"/>
          </a:xfrm>
          <a:prstGeom prst="roundRect">
            <a:avLst>
              <a:gd fmla="val 50000" name="adj"/>
            </a:avLst>
          </a:prstGeom>
          <a:solidFill>
            <a:srgbClr val="2A1438"/>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Written for someone who doesn’t read KQL</a:t>
            </a:r>
            <a:endParaRPr b="0" i="0" sz="1200" u="none" cap="none" strike="noStrike">
              <a:solidFill>
                <a:schemeClr val="lt1"/>
              </a:solidFill>
              <a:latin typeface="Montserrat"/>
              <a:ea typeface="Montserrat"/>
              <a:cs typeface="Montserrat"/>
              <a:sym typeface="Montserrat"/>
            </a:endParaRPr>
          </a:p>
        </p:txBody>
      </p:sp>
      <p:sp>
        <p:nvSpPr>
          <p:cNvPr id="574" name="Google Shape;574;p23"/>
          <p:cNvSpPr/>
          <p:nvPr/>
        </p:nvSpPr>
        <p:spPr>
          <a:xfrm>
            <a:off x="6539557" y="4264571"/>
            <a:ext cx="2141984" cy="340320"/>
          </a:xfrm>
          <a:prstGeom prst="roundRect">
            <a:avLst>
              <a:gd fmla="val 50000" name="adj"/>
            </a:avLst>
          </a:prstGeom>
          <a:solidFill>
            <a:srgbClr val="2A1438"/>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1EEF7"/>
              </a:buClr>
              <a:buSzPts val="1200"/>
              <a:buFont typeface="Montserrat"/>
              <a:buNone/>
            </a:pPr>
            <a:r>
              <a:rPr b="1" i="0" lang="en-US" sz="1200" u="none" cap="none" strike="noStrike">
                <a:solidFill>
                  <a:srgbClr val="F1EEF7"/>
                </a:solidFill>
                <a:latin typeface="Montserrat"/>
                <a:ea typeface="Montserrat"/>
                <a:cs typeface="Montserrat"/>
                <a:sym typeface="Montserrat"/>
              </a:rPr>
              <a:t>Numbers, not adjectives</a:t>
            </a:r>
            <a:endParaRPr b="0" i="0" sz="1200" u="none" cap="none" strike="noStrike">
              <a:solidFill>
                <a:schemeClr val="lt1"/>
              </a:solidFill>
              <a:latin typeface="Montserrat"/>
              <a:ea typeface="Montserrat"/>
              <a:cs typeface="Montserrat"/>
              <a:sym typeface="Montserrat"/>
            </a:endParaRPr>
          </a:p>
        </p:txBody>
      </p:sp>
      <p:sp>
        <p:nvSpPr>
          <p:cNvPr id="575" name="Google Shape;575;p23"/>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576" name="Google Shape;576;p23"/>
          <p:cNvSpPr/>
          <p:nvPr/>
        </p:nvSpPr>
        <p:spPr>
          <a:xfrm>
            <a:off x="11155809" y="6238280"/>
            <a:ext cx="223391"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23</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581" name="Shape 581"/>
        <p:cNvGrpSpPr/>
        <p:nvPr/>
      </p:nvGrpSpPr>
      <p:grpSpPr>
        <a:xfrm>
          <a:off x="0" y="0"/>
          <a:ext cx="0" cy="0"/>
          <a:chOff x="0" y="0"/>
          <a:chExt cx="0" cy="0"/>
        </a:xfrm>
      </p:grpSpPr>
      <p:sp>
        <p:nvSpPr>
          <p:cNvPr id="582" name="Google Shape;582;p24"/>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WRITING THE STORY</a:t>
            </a:r>
            <a:endParaRPr b="0" i="0" sz="1200" u="none" cap="none" strike="noStrike">
              <a:solidFill>
                <a:schemeClr val="lt1"/>
              </a:solidFill>
              <a:latin typeface="Montserrat"/>
              <a:ea typeface="Montserrat"/>
              <a:cs typeface="Montserrat"/>
              <a:sym typeface="Montserrat"/>
            </a:endParaRPr>
          </a:p>
        </p:txBody>
      </p:sp>
      <p:sp>
        <p:nvSpPr>
          <p:cNvPr id="583" name="Google Shape;583;p24"/>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Facts and assessments, kept apart</a:t>
            </a:r>
            <a:endParaRPr sz="3200"/>
          </a:p>
        </p:txBody>
      </p:sp>
      <p:graphicFrame>
        <p:nvGraphicFramePr>
          <p:cNvPr id="584" name="Google Shape;584;p24"/>
          <p:cNvGraphicFramePr/>
          <p:nvPr/>
        </p:nvGraphicFramePr>
        <p:xfrm>
          <a:off x="825500" y="1790650"/>
          <a:ext cx="3000000" cy="3000000"/>
        </p:xfrm>
        <a:graphic>
          <a:graphicData uri="http://schemas.openxmlformats.org/drawingml/2006/table">
            <a:tbl>
              <a:tblPr>
                <a:noFill/>
                <a:tableStyleId>{FB773AD2-FA50-4F7C-A878-0F7E4A0B4D0B}</a:tableStyleId>
              </a:tblPr>
              <a:tblGrid>
                <a:gridCol w="5276850"/>
                <a:gridCol w="5276850"/>
              </a:tblGrid>
              <a:tr h="403825">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Fact · what the telemetry shows</a:t>
                      </a:r>
                      <a:endParaRPr sz="1200" u="none" cap="none" strike="noStrike">
                        <a:latin typeface="Montserrat"/>
                        <a:ea typeface="Montserrat"/>
                        <a:cs typeface="Montserrat"/>
                        <a:sym typeface="Montserrat"/>
                      </a:endParaRPr>
                    </a:p>
                  </a:txBody>
                  <a:tcPr marT="88900" marB="88900" marR="152400" marL="152400">
                    <a:lnL cap="flat" cmpd="sng" w="12700">
                      <a:solidFill>
                        <a:srgbClr val="403F44"/>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F59E42"/>
                        </a:buClr>
                        <a:buSzPts val="1200"/>
                        <a:buFont typeface="Montserrat"/>
                        <a:buNone/>
                      </a:pPr>
                      <a:r>
                        <a:rPr b="1" lang="en-US" sz="1200" u="none" cap="none" strike="noStrike">
                          <a:solidFill>
                            <a:srgbClr val="F59E42"/>
                          </a:solidFill>
                          <a:latin typeface="Montserrat"/>
                          <a:ea typeface="Montserrat"/>
                          <a:cs typeface="Montserrat"/>
                          <a:sym typeface="Montserrat"/>
                        </a:rPr>
                        <a:t>Assessment · what we infer</a:t>
                      </a:r>
                      <a:endParaRPr sz="1200" u="none" cap="none" strike="noStrike">
                        <a:latin typeface="Montserrat"/>
                        <a:ea typeface="Montserrat"/>
                        <a:cs typeface="Montserrat"/>
                        <a:sym typeface="Montserrat"/>
                      </a:endParaRPr>
                    </a:p>
                  </a:txBody>
                  <a:tcPr marT="88900" marB="88900" marR="152400" marL="1524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r>
              <a:tr h="403825">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csc.exe ran with no arguments and modified Secure Preferences.</a:t>
                      </a:r>
                      <a:endParaRPr sz="1200" u="none" cap="none" strike="noStrike">
                        <a:latin typeface="Montserrat"/>
                        <a:ea typeface="Montserrat"/>
                        <a:cs typeface="Montserrat"/>
                        <a:sym typeface="Montserrat"/>
                      </a:endParaRPr>
                    </a:p>
                  </a:txBody>
                  <a:tcPr marT="88900" marB="88900" marR="152400" marL="1524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Likely: code injected into a signed .NET binary.</a:t>
                      </a:r>
                      <a:endParaRPr sz="1200" u="none" cap="none" strike="noStrike">
                        <a:latin typeface="Montserrat"/>
                        <a:ea typeface="Montserrat"/>
                        <a:cs typeface="Montserrat"/>
                        <a:sym typeface="Montserrat"/>
                      </a:endParaRPr>
                    </a:p>
                  </a:txBody>
                  <a:tcPr marT="88900" marB="88900" marR="152400" marL="1524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r>
              <a:tr h="617150">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explorer.exe wrote the same command to RunMRU four times.</a:t>
                      </a:r>
                      <a:endParaRPr sz="1200" u="none" cap="none" strike="noStrike">
                        <a:latin typeface="Montserrat"/>
                        <a:ea typeface="Montserrat"/>
                        <a:cs typeface="Montserrat"/>
                        <a:sym typeface="Montserrat"/>
                      </a:endParaRPr>
                    </a:p>
                  </a:txBody>
                  <a:tcPr marT="88900" marB="88900" marR="152400" marL="1524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Very likely: the user retried because the script hid the console.</a:t>
                      </a:r>
                      <a:endParaRPr sz="1200" u="none" cap="none" strike="noStrike">
                        <a:latin typeface="Montserrat"/>
                        <a:ea typeface="Montserrat"/>
                        <a:cs typeface="Montserrat"/>
                        <a:sym typeface="Montserrat"/>
                      </a:endParaRPr>
                    </a:p>
                  </a:txBody>
                  <a:tcPr marT="88900" marB="88900" marR="152400" marL="1524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617150">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Only one of the three C2s was on a reputation list, and it was the only one blocked.</a:t>
                      </a:r>
                      <a:endParaRPr sz="1200" u="none" cap="none" strike="noStrike">
                        <a:latin typeface="Montserrat"/>
                        <a:ea typeface="Montserrat"/>
                        <a:cs typeface="Montserrat"/>
                        <a:sym typeface="Montserrat"/>
                      </a:endParaRPr>
                    </a:p>
                  </a:txBody>
                  <a:tcPr marT="88900" marB="88900" marR="152400" marL="1524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9C5D8"/>
                        </a:buClr>
                        <a:buSzPts val="1200"/>
                        <a:buFont typeface="Montserrat"/>
                        <a:buNone/>
                      </a:pPr>
                      <a:r>
                        <a:rPr lang="en-US" sz="1200" u="none" cap="none" strike="noStrike">
                          <a:solidFill>
                            <a:srgbClr val="C9C5D8"/>
                          </a:solidFill>
                          <a:latin typeface="Montserrat"/>
                          <a:ea typeface="Montserrat"/>
                          <a:cs typeface="Montserrat"/>
                          <a:sym typeface="Montserrat"/>
                        </a:rPr>
                        <a:t>Very likely: without a block, the other two are still reachable from the network.</a:t>
                      </a:r>
                      <a:endParaRPr sz="1200" u="none" cap="none" strike="noStrike">
                        <a:latin typeface="Montserrat"/>
                        <a:ea typeface="Montserrat"/>
                        <a:cs typeface="Montserrat"/>
                        <a:sym typeface="Montserrat"/>
                      </a:endParaRPr>
                    </a:p>
                  </a:txBody>
                  <a:tcPr marT="88900" marB="88900" marR="152400" marL="1524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bl>
          </a:graphicData>
        </a:graphic>
      </p:graphicFrame>
      <p:sp>
        <p:nvSpPr>
          <p:cNvPr id="585" name="Google Shape;585;p24"/>
          <p:cNvSpPr/>
          <p:nvPr/>
        </p:nvSpPr>
        <p:spPr>
          <a:xfrm>
            <a:off x="812800" y="4035772"/>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A fact takes a past-tense verb and its source. An assessment takes a probability word and the reason why.</a:t>
            </a:r>
            <a:endParaRPr b="0" i="0" sz="1200" u="none" cap="none" strike="noStrike">
              <a:solidFill>
                <a:schemeClr val="lt1"/>
              </a:solidFill>
              <a:latin typeface="Montserrat"/>
              <a:ea typeface="Montserrat"/>
              <a:cs typeface="Montserrat"/>
              <a:sym typeface="Montserrat"/>
            </a:endParaRPr>
          </a:p>
        </p:txBody>
      </p:sp>
      <p:sp>
        <p:nvSpPr>
          <p:cNvPr id="586" name="Google Shape;586;p24"/>
          <p:cNvSpPr/>
          <p:nvPr/>
        </p:nvSpPr>
        <p:spPr>
          <a:xfrm>
            <a:off x="812800" y="4452293"/>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If the reader can’t tell what you saw from what you think, they can’t trust either.</a:t>
            </a:r>
            <a:endParaRPr b="0" i="0" sz="1500" u="none" cap="none" strike="noStrike">
              <a:solidFill>
                <a:schemeClr val="lt1"/>
              </a:solidFill>
              <a:latin typeface="Montserrat"/>
              <a:ea typeface="Montserrat"/>
              <a:cs typeface="Montserrat"/>
              <a:sym typeface="Montserrat"/>
            </a:endParaRPr>
          </a:p>
        </p:txBody>
      </p:sp>
      <p:sp>
        <p:nvSpPr>
          <p:cNvPr id="587" name="Google Shape;587;p24"/>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588" name="Google Shape;588;p24"/>
          <p:cNvSpPr/>
          <p:nvPr/>
        </p:nvSpPr>
        <p:spPr>
          <a:xfrm>
            <a:off x="11144498" y="6238280"/>
            <a:ext cx="23470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24</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593" name="Shape 593"/>
        <p:cNvGrpSpPr/>
        <p:nvPr/>
      </p:nvGrpSpPr>
      <p:grpSpPr>
        <a:xfrm>
          <a:off x="0" y="0"/>
          <a:ext cx="0" cy="0"/>
          <a:chOff x="0" y="0"/>
          <a:chExt cx="0" cy="0"/>
        </a:xfrm>
      </p:grpSpPr>
      <p:sp>
        <p:nvSpPr>
          <p:cNvPr id="594" name="Google Shape;594;p2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WRITING THE STORY</a:t>
            </a:r>
            <a:endParaRPr b="0" i="0" sz="1200" u="none" cap="none" strike="noStrike">
              <a:solidFill>
                <a:schemeClr val="lt1"/>
              </a:solidFill>
              <a:latin typeface="Montserrat"/>
              <a:ea typeface="Montserrat"/>
              <a:cs typeface="Montserrat"/>
              <a:sym typeface="Montserrat"/>
            </a:endParaRPr>
          </a:p>
        </p:txBody>
      </p:sp>
      <p:sp>
        <p:nvSpPr>
          <p:cNvPr id="595" name="Google Shape;595;p25"/>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Say how sure you are</a:t>
            </a:r>
            <a:endParaRPr sz="3200"/>
          </a:p>
        </p:txBody>
      </p:sp>
      <p:sp>
        <p:nvSpPr>
          <p:cNvPr id="596" name="Google Shape;596;p25"/>
          <p:cNvSpPr/>
          <p:nvPr/>
        </p:nvSpPr>
        <p:spPr>
          <a:xfrm>
            <a:off x="812800" y="1777950"/>
            <a:ext cx="497078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PROBABILITY · ICD 203</a:t>
            </a:r>
            <a:endParaRPr b="0" i="0" sz="1200" u="none" cap="none" strike="noStrike">
              <a:solidFill>
                <a:schemeClr val="lt1"/>
              </a:solidFill>
              <a:latin typeface="Montserrat"/>
              <a:ea typeface="Montserrat"/>
              <a:cs typeface="Montserrat"/>
              <a:sym typeface="Montserrat"/>
            </a:endParaRPr>
          </a:p>
        </p:txBody>
      </p:sp>
      <p:cxnSp>
        <p:nvCxnSpPr>
          <p:cNvPr id="597" name="Google Shape;597;p25"/>
          <p:cNvCxnSpPr/>
          <p:nvPr/>
        </p:nvCxnSpPr>
        <p:spPr>
          <a:xfrm>
            <a:off x="812800" y="2296666"/>
            <a:ext cx="4826000" cy="0"/>
          </a:xfrm>
          <a:prstGeom prst="straightConnector1">
            <a:avLst/>
          </a:prstGeom>
          <a:noFill/>
          <a:ln cap="flat" cmpd="sng" w="9525">
            <a:solidFill>
              <a:srgbClr val="2D2740"/>
            </a:solidFill>
            <a:prstDash val="solid"/>
            <a:round/>
            <a:headEnd len="sm" w="sm" type="none"/>
            <a:tailEnd len="sm" w="sm" type="none"/>
          </a:ln>
        </p:spPr>
      </p:cxnSp>
      <p:sp>
        <p:nvSpPr>
          <p:cNvPr id="598" name="Google Shape;598;p25"/>
          <p:cNvSpPr/>
          <p:nvPr/>
        </p:nvSpPr>
        <p:spPr>
          <a:xfrm>
            <a:off x="812800" y="2054771"/>
            <a:ext cx="225242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Almost no chance</a:t>
            </a:r>
            <a:endParaRPr b="0" i="0" sz="1200" u="none" cap="none" strike="noStrike">
              <a:solidFill>
                <a:schemeClr val="lt1"/>
              </a:solidFill>
              <a:latin typeface="Montserrat"/>
              <a:ea typeface="Montserrat"/>
              <a:cs typeface="Montserrat"/>
              <a:sym typeface="Montserrat"/>
            </a:endParaRPr>
          </a:p>
        </p:txBody>
      </p:sp>
      <p:sp>
        <p:nvSpPr>
          <p:cNvPr id="599" name="Google Shape;599;p25"/>
          <p:cNvSpPr/>
          <p:nvPr/>
        </p:nvSpPr>
        <p:spPr>
          <a:xfrm>
            <a:off x="4870668" y="2054771"/>
            <a:ext cx="76813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JetBrains Mono"/>
              <a:buNone/>
            </a:pPr>
            <a:r>
              <a:rPr b="0" i="0" lang="en-US" sz="1200" u="none" cap="none" strike="noStrike">
                <a:solidFill>
                  <a:srgbClr val="8F8AA6"/>
                </a:solidFill>
                <a:latin typeface="JetBrains Mono"/>
                <a:ea typeface="JetBrains Mono"/>
                <a:cs typeface="JetBrains Mono"/>
                <a:sym typeface="JetBrains Mono"/>
              </a:rPr>
              <a:t>01–05 %</a:t>
            </a:r>
            <a:endParaRPr b="0" i="0" sz="1200" u="none" cap="none" strike="noStrike">
              <a:solidFill>
                <a:schemeClr val="lt1"/>
              </a:solidFill>
              <a:latin typeface="Montserrat"/>
              <a:ea typeface="Montserrat"/>
              <a:cs typeface="Montserrat"/>
              <a:sym typeface="Montserrat"/>
            </a:endParaRPr>
          </a:p>
        </p:txBody>
      </p:sp>
      <p:cxnSp>
        <p:nvCxnSpPr>
          <p:cNvPr id="600" name="Google Shape;600;p25"/>
          <p:cNvCxnSpPr/>
          <p:nvPr/>
        </p:nvCxnSpPr>
        <p:spPr>
          <a:xfrm>
            <a:off x="812800" y="2605236"/>
            <a:ext cx="4826000" cy="0"/>
          </a:xfrm>
          <a:prstGeom prst="straightConnector1">
            <a:avLst/>
          </a:prstGeom>
          <a:noFill/>
          <a:ln cap="flat" cmpd="sng" w="9525">
            <a:solidFill>
              <a:srgbClr val="2D2740"/>
            </a:solidFill>
            <a:prstDash val="solid"/>
            <a:round/>
            <a:headEnd len="sm" w="sm" type="none"/>
            <a:tailEnd len="sm" w="sm" type="none"/>
          </a:ln>
        </p:spPr>
      </p:cxnSp>
      <p:sp>
        <p:nvSpPr>
          <p:cNvPr id="601" name="Google Shape;601;p25"/>
          <p:cNvSpPr/>
          <p:nvPr/>
        </p:nvSpPr>
        <p:spPr>
          <a:xfrm>
            <a:off x="812800" y="2363341"/>
            <a:ext cx="151209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Very unlikely</a:t>
            </a:r>
            <a:endParaRPr b="0" i="0" sz="1200" u="none" cap="none" strike="noStrike">
              <a:solidFill>
                <a:schemeClr val="lt1"/>
              </a:solidFill>
              <a:latin typeface="Montserrat"/>
              <a:ea typeface="Montserrat"/>
              <a:cs typeface="Montserrat"/>
              <a:sym typeface="Montserrat"/>
            </a:endParaRPr>
          </a:p>
        </p:txBody>
      </p:sp>
      <p:sp>
        <p:nvSpPr>
          <p:cNvPr id="602" name="Google Shape;602;p25"/>
          <p:cNvSpPr/>
          <p:nvPr/>
        </p:nvSpPr>
        <p:spPr>
          <a:xfrm>
            <a:off x="4870668" y="2363341"/>
            <a:ext cx="76813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JetBrains Mono"/>
              <a:buNone/>
            </a:pPr>
            <a:r>
              <a:rPr b="0" i="0" lang="en-US" sz="1200" u="none" cap="none" strike="noStrike">
                <a:solidFill>
                  <a:srgbClr val="8F8AA6"/>
                </a:solidFill>
                <a:latin typeface="JetBrains Mono"/>
                <a:ea typeface="JetBrains Mono"/>
                <a:cs typeface="JetBrains Mono"/>
                <a:sym typeface="JetBrains Mono"/>
              </a:rPr>
              <a:t>05–20 %</a:t>
            </a:r>
            <a:endParaRPr b="0" i="0" sz="1200" u="none" cap="none" strike="noStrike">
              <a:solidFill>
                <a:schemeClr val="lt1"/>
              </a:solidFill>
              <a:latin typeface="Montserrat"/>
              <a:ea typeface="Montserrat"/>
              <a:cs typeface="Montserrat"/>
              <a:sym typeface="Montserrat"/>
            </a:endParaRPr>
          </a:p>
        </p:txBody>
      </p:sp>
      <p:cxnSp>
        <p:nvCxnSpPr>
          <p:cNvPr id="603" name="Google Shape;603;p25"/>
          <p:cNvCxnSpPr/>
          <p:nvPr/>
        </p:nvCxnSpPr>
        <p:spPr>
          <a:xfrm>
            <a:off x="812800" y="2913807"/>
            <a:ext cx="4826000" cy="0"/>
          </a:xfrm>
          <a:prstGeom prst="straightConnector1">
            <a:avLst/>
          </a:prstGeom>
          <a:noFill/>
          <a:ln cap="flat" cmpd="sng" w="9525">
            <a:solidFill>
              <a:srgbClr val="2D2740"/>
            </a:solidFill>
            <a:prstDash val="solid"/>
            <a:round/>
            <a:headEnd len="sm" w="sm" type="none"/>
            <a:tailEnd len="sm" w="sm" type="none"/>
          </a:ln>
        </p:spPr>
      </p:cxnSp>
      <p:sp>
        <p:nvSpPr>
          <p:cNvPr id="604" name="Google Shape;604;p25"/>
          <p:cNvSpPr/>
          <p:nvPr/>
        </p:nvSpPr>
        <p:spPr>
          <a:xfrm>
            <a:off x="812800" y="2671911"/>
            <a:ext cx="107406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Unlikely</a:t>
            </a:r>
            <a:endParaRPr b="0" i="0" sz="1200" u="none" cap="none" strike="noStrike">
              <a:solidFill>
                <a:schemeClr val="lt1"/>
              </a:solidFill>
              <a:latin typeface="Montserrat"/>
              <a:ea typeface="Montserrat"/>
              <a:cs typeface="Montserrat"/>
              <a:sym typeface="Montserrat"/>
            </a:endParaRPr>
          </a:p>
        </p:txBody>
      </p:sp>
      <p:sp>
        <p:nvSpPr>
          <p:cNvPr id="605" name="Google Shape;605;p25"/>
          <p:cNvSpPr/>
          <p:nvPr/>
        </p:nvSpPr>
        <p:spPr>
          <a:xfrm>
            <a:off x="4870668" y="2671911"/>
            <a:ext cx="76813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JetBrains Mono"/>
              <a:buNone/>
            </a:pPr>
            <a:r>
              <a:rPr b="0" i="0" lang="en-US" sz="1200" u="none" cap="none" strike="noStrike">
                <a:solidFill>
                  <a:srgbClr val="8F8AA6"/>
                </a:solidFill>
                <a:latin typeface="JetBrains Mono"/>
                <a:ea typeface="JetBrains Mono"/>
                <a:cs typeface="JetBrains Mono"/>
                <a:sym typeface="JetBrains Mono"/>
              </a:rPr>
              <a:t>20–45 %</a:t>
            </a:r>
            <a:endParaRPr b="0" i="0" sz="1200" u="none" cap="none" strike="noStrike">
              <a:solidFill>
                <a:schemeClr val="lt1"/>
              </a:solidFill>
              <a:latin typeface="Montserrat"/>
              <a:ea typeface="Montserrat"/>
              <a:cs typeface="Montserrat"/>
              <a:sym typeface="Montserrat"/>
            </a:endParaRPr>
          </a:p>
        </p:txBody>
      </p:sp>
      <p:cxnSp>
        <p:nvCxnSpPr>
          <p:cNvPr id="606" name="Google Shape;606;p25"/>
          <p:cNvCxnSpPr/>
          <p:nvPr/>
        </p:nvCxnSpPr>
        <p:spPr>
          <a:xfrm>
            <a:off x="812800" y="3222377"/>
            <a:ext cx="4826000" cy="0"/>
          </a:xfrm>
          <a:prstGeom prst="straightConnector1">
            <a:avLst/>
          </a:prstGeom>
          <a:noFill/>
          <a:ln cap="flat" cmpd="sng" w="9525">
            <a:solidFill>
              <a:srgbClr val="2D2740"/>
            </a:solidFill>
            <a:prstDash val="solid"/>
            <a:round/>
            <a:headEnd len="sm" w="sm" type="none"/>
            <a:tailEnd len="sm" w="sm" type="none"/>
          </a:ln>
        </p:spPr>
      </p:cxnSp>
      <p:sp>
        <p:nvSpPr>
          <p:cNvPr id="607" name="Google Shape;607;p25"/>
          <p:cNvSpPr/>
          <p:nvPr/>
        </p:nvSpPr>
        <p:spPr>
          <a:xfrm>
            <a:off x="812800" y="2980482"/>
            <a:ext cx="206311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Roughly even chance</a:t>
            </a:r>
            <a:endParaRPr b="0" i="0" sz="1200" u="none" cap="none" strike="noStrike">
              <a:solidFill>
                <a:schemeClr val="lt1"/>
              </a:solidFill>
              <a:latin typeface="Montserrat"/>
              <a:ea typeface="Montserrat"/>
              <a:cs typeface="Montserrat"/>
              <a:sym typeface="Montserrat"/>
            </a:endParaRPr>
          </a:p>
        </p:txBody>
      </p:sp>
      <p:sp>
        <p:nvSpPr>
          <p:cNvPr id="608" name="Google Shape;608;p25"/>
          <p:cNvSpPr/>
          <p:nvPr/>
        </p:nvSpPr>
        <p:spPr>
          <a:xfrm>
            <a:off x="4870668" y="2980482"/>
            <a:ext cx="76813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JetBrains Mono"/>
              <a:buNone/>
            </a:pPr>
            <a:r>
              <a:rPr b="0" i="0" lang="en-US" sz="1200" u="none" cap="none" strike="noStrike">
                <a:solidFill>
                  <a:srgbClr val="8F8AA6"/>
                </a:solidFill>
                <a:latin typeface="JetBrains Mono"/>
                <a:ea typeface="JetBrains Mono"/>
                <a:cs typeface="JetBrains Mono"/>
                <a:sym typeface="JetBrains Mono"/>
              </a:rPr>
              <a:t>45–55 %</a:t>
            </a:r>
            <a:endParaRPr b="0" i="0" sz="1200" u="none" cap="none" strike="noStrike">
              <a:solidFill>
                <a:schemeClr val="lt1"/>
              </a:solidFill>
              <a:latin typeface="Montserrat"/>
              <a:ea typeface="Montserrat"/>
              <a:cs typeface="Montserrat"/>
              <a:sym typeface="Montserrat"/>
            </a:endParaRPr>
          </a:p>
        </p:txBody>
      </p:sp>
      <p:cxnSp>
        <p:nvCxnSpPr>
          <p:cNvPr id="609" name="Google Shape;609;p25"/>
          <p:cNvCxnSpPr/>
          <p:nvPr/>
        </p:nvCxnSpPr>
        <p:spPr>
          <a:xfrm>
            <a:off x="812800" y="3530947"/>
            <a:ext cx="4826000" cy="0"/>
          </a:xfrm>
          <a:prstGeom prst="straightConnector1">
            <a:avLst/>
          </a:prstGeom>
          <a:noFill/>
          <a:ln cap="flat" cmpd="sng" w="9525">
            <a:solidFill>
              <a:srgbClr val="2D2740"/>
            </a:solidFill>
            <a:prstDash val="solid"/>
            <a:round/>
            <a:headEnd len="sm" w="sm" type="none"/>
            <a:tailEnd len="sm" w="sm" type="none"/>
          </a:ln>
        </p:spPr>
      </p:cxnSp>
      <p:sp>
        <p:nvSpPr>
          <p:cNvPr id="610" name="Google Shape;610;p25"/>
          <p:cNvSpPr/>
          <p:nvPr/>
        </p:nvSpPr>
        <p:spPr>
          <a:xfrm>
            <a:off x="812800" y="3289052"/>
            <a:ext cx="82796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Likely</a:t>
            </a:r>
            <a:endParaRPr b="0" i="0" sz="1200" u="none" cap="none" strike="noStrike">
              <a:solidFill>
                <a:schemeClr val="lt1"/>
              </a:solidFill>
              <a:latin typeface="Montserrat"/>
              <a:ea typeface="Montserrat"/>
              <a:cs typeface="Montserrat"/>
              <a:sym typeface="Montserrat"/>
            </a:endParaRPr>
          </a:p>
        </p:txBody>
      </p:sp>
      <p:sp>
        <p:nvSpPr>
          <p:cNvPr id="611" name="Google Shape;611;p25"/>
          <p:cNvSpPr/>
          <p:nvPr/>
        </p:nvSpPr>
        <p:spPr>
          <a:xfrm>
            <a:off x="4870668" y="3289052"/>
            <a:ext cx="76813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JetBrains Mono"/>
              <a:buNone/>
            </a:pPr>
            <a:r>
              <a:rPr b="0" i="0" lang="en-US" sz="1200" u="none" cap="none" strike="noStrike">
                <a:solidFill>
                  <a:srgbClr val="8F8AA6"/>
                </a:solidFill>
                <a:latin typeface="JetBrains Mono"/>
                <a:ea typeface="JetBrains Mono"/>
                <a:cs typeface="JetBrains Mono"/>
                <a:sym typeface="JetBrains Mono"/>
              </a:rPr>
              <a:t>55–80 %</a:t>
            </a:r>
            <a:endParaRPr b="0" i="0" sz="1200" u="none" cap="none" strike="noStrike">
              <a:solidFill>
                <a:schemeClr val="lt1"/>
              </a:solidFill>
              <a:latin typeface="Montserrat"/>
              <a:ea typeface="Montserrat"/>
              <a:cs typeface="Montserrat"/>
              <a:sym typeface="Montserrat"/>
            </a:endParaRPr>
          </a:p>
        </p:txBody>
      </p:sp>
      <p:cxnSp>
        <p:nvCxnSpPr>
          <p:cNvPr id="612" name="Google Shape;612;p25"/>
          <p:cNvCxnSpPr/>
          <p:nvPr/>
        </p:nvCxnSpPr>
        <p:spPr>
          <a:xfrm>
            <a:off x="812800" y="3839518"/>
            <a:ext cx="4826000" cy="0"/>
          </a:xfrm>
          <a:prstGeom prst="straightConnector1">
            <a:avLst/>
          </a:prstGeom>
          <a:noFill/>
          <a:ln cap="flat" cmpd="sng" w="9525">
            <a:solidFill>
              <a:srgbClr val="2D2740"/>
            </a:solidFill>
            <a:prstDash val="solid"/>
            <a:round/>
            <a:headEnd len="sm" w="sm" type="none"/>
            <a:tailEnd len="sm" w="sm" type="none"/>
          </a:ln>
        </p:spPr>
      </p:cxnSp>
      <p:sp>
        <p:nvSpPr>
          <p:cNvPr id="613" name="Google Shape;613;p25"/>
          <p:cNvSpPr/>
          <p:nvPr/>
        </p:nvSpPr>
        <p:spPr>
          <a:xfrm>
            <a:off x="812800" y="3597622"/>
            <a:ext cx="1268909"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Very likely</a:t>
            </a:r>
            <a:endParaRPr b="0" i="0" sz="1200" u="none" cap="none" strike="noStrike">
              <a:solidFill>
                <a:schemeClr val="lt1"/>
              </a:solidFill>
              <a:latin typeface="Montserrat"/>
              <a:ea typeface="Montserrat"/>
              <a:cs typeface="Montserrat"/>
              <a:sym typeface="Montserrat"/>
            </a:endParaRPr>
          </a:p>
        </p:txBody>
      </p:sp>
      <p:sp>
        <p:nvSpPr>
          <p:cNvPr id="614" name="Google Shape;614;p25"/>
          <p:cNvSpPr/>
          <p:nvPr/>
        </p:nvSpPr>
        <p:spPr>
          <a:xfrm>
            <a:off x="4870668" y="3597622"/>
            <a:ext cx="76813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JetBrains Mono"/>
              <a:buNone/>
            </a:pPr>
            <a:r>
              <a:rPr b="0" i="0" lang="en-US" sz="1200" u="none" cap="none" strike="noStrike">
                <a:solidFill>
                  <a:srgbClr val="8F8AA6"/>
                </a:solidFill>
                <a:latin typeface="JetBrains Mono"/>
                <a:ea typeface="JetBrains Mono"/>
                <a:cs typeface="JetBrains Mono"/>
                <a:sym typeface="JetBrains Mono"/>
              </a:rPr>
              <a:t>80–95 %</a:t>
            </a:r>
            <a:endParaRPr b="0" i="0" sz="1200" u="none" cap="none" strike="noStrike">
              <a:solidFill>
                <a:schemeClr val="lt1"/>
              </a:solidFill>
              <a:latin typeface="Montserrat"/>
              <a:ea typeface="Montserrat"/>
              <a:cs typeface="Montserrat"/>
              <a:sym typeface="Montserrat"/>
            </a:endParaRPr>
          </a:p>
        </p:txBody>
      </p:sp>
      <p:cxnSp>
        <p:nvCxnSpPr>
          <p:cNvPr id="615" name="Google Shape;615;p25"/>
          <p:cNvCxnSpPr/>
          <p:nvPr/>
        </p:nvCxnSpPr>
        <p:spPr>
          <a:xfrm>
            <a:off x="812800" y="4148088"/>
            <a:ext cx="4826000" cy="0"/>
          </a:xfrm>
          <a:prstGeom prst="straightConnector1">
            <a:avLst/>
          </a:prstGeom>
          <a:noFill/>
          <a:ln cap="flat" cmpd="sng" w="9525">
            <a:solidFill>
              <a:srgbClr val="2D2740"/>
            </a:solidFill>
            <a:prstDash val="solid"/>
            <a:round/>
            <a:headEnd len="sm" w="sm" type="none"/>
            <a:tailEnd len="sm" w="sm" type="none"/>
          </a:ln>
        </p:spPr>
      </p:cxnSp>
      <p:sp>
        <p:nvSpPr>
          <p:cNvPr id="616" name="Google Shape;616;p25"/>
          <p:cNvSpPr/>
          <p:nvPr/>
        </p:nvSpPr>
        <p:spPr>
          <a:xfrm>
            <a:off x="812800" y="3906193"/>
            <a:ext cx="105656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Almost certain</a:t>
            </a:r>
            <a:endParaRPr b="0" i="0" sz="1200" u="none" cap="none" strike="noStrike">
              <a:solidFill>
                <a:schemeClr val="lt1"/>
              </a:solidFill>
              <a:latin typeface="Montserrat"/>
              <a:ea typeface="Montserrat"/>
              <a:cs typeface="Montserrat"/>
              <a:sym typeface="Montserrat"/>
            </a:endParaRPr>
          </a:p>
        </p:txBody>
      </p:sp>
      <p:sp>
        <p:nvSpPr>
          <p:cNvPr id="617" name="Google Shape;617;p25"/>
          <p:cNvSpPr/>
          <p:nvPr/>
        </p:nvSpPr>
        <p:spPr>
          <a:xfrm>
            <a:off x="4870668" y="3906193"/>
            <a:ext cx="768132"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JetBrains Mono"/>
              <a:buNone/>
            </a:pPr>
            <a:r>
              <a:rPr b="0" i="0" lang="en-US" sz="1200" u="none" cap="none" strike="noStrike">
                <a:solidFill>
                  <a:srgbClr val="8F8AA6"/>
                </a:solidFill>
                <a:latin typeface="JetBrains Mono"/>
                <a:ea typeface="JetBrains Mono"/>
                <a:cs typeface="JetBrains Mono"/>
                <a:sym typeface="JetBrains Mono"/>
              </a:rPr>
              <a:t>95–99 %</a:t>
            </a:r>
            <a:endParaRPr b="0" i="0" sz="1200" u="none" cap="none" strike="noStrike">
              <a:solidFill>
                <a:schemeClr val="lt1"/>
              </a:solidFill>
              <a:latin typeface="Montserrat"/>
              <a:ea typeface="Montserrat"/>
              <a:cs typeface="Montserrat"/>
              <a:sym typeface="Montserrat"/>
            </a:endParaRPr>
          </a:p>
        </p:txBody>
      </p:sp>
      <p:sp>
        <p:nvSpPr>
          <p:cNvPr id="618" name="Google Shape;618;p25"/>
          <p:cNvSpPr/>
          <p:nvPr/>
        </p:nvSpPr>
        <p:spPr>
          <a:xfrm>
            <a:off x="812800" y="4265563"/>
            <a:ext cx="497078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1" i="0" lang="en-US" sz="1200" u="none" cap="none" strike="noStrike">
                <a:solidFill>
                  <a:srgbClr val="C9C5D8"/>
                </a:solidFill>
                <a:latin typeface="Montserrat"/>
                <a:ea typeface="Montserrat"/>
                <a:cs typeface="Montserrat"/>
                <a:sym typeface="Montserrat"/>
              </a:rPr>
              <a:t>Confidence</a:t>
            </a:r>
            <a:r>
              <a:rPr b="0" i="0" lang="en-US" sz="1200" u="none" cap="none" strike="noStrike">
                <a:solidFill>
                  <a:srgbClr val="C9C5D8"/>
                </a:solidFill>
                <a:latin typeface="Montserrat"/>
                <a:ea typeface="Montserrat"/>
                <a:cs typeface="Montserrat"/>
                <a:sym typeface="Montserrat"/>
              </a:rPr>
              <a:t> high, moderate or low: how solid the evidence is, not how likely the event is.</a:t>
            </a:r>
            <a:endParaRPr b="0" i="0" sz="1200" u="none" cap="none" strike="noStrike">
              <a:solidFill>
                <a:schemeClr val="lt1"/>
              </a:solidFill>
              <a:latin typeface="Montserrat"/>
              <a:ea typeface="Montserrat"/>
              <a:cs typeface="Montserrat"/>
              <a:sym typeface="Montserrat"/>
            </a:endParaRPr>
          </a:p>
        </p:txBody>
      </p:sp>
      <p:sp>
        <p:nvSpPr>
          <p:cNvPr id="619" name="Google Shape;619;p25"/>
          <p:cNvSpPr/>
          <p:nvPr/>
        </p:nvSpPr>
        <p:spPr>
          <a:xfrm>
            <a:off x="5943600" y="1777950"/>
            <a:ext cx="559866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SOURCES · ADMIRALTY CODE</a:t>
            </a:r>
            <a:endParaRPr b="0" i="0" sz="1200" u="none" cap="none" strike="noStrike">
              <a:solidFill>
                <a:schemeClr val="lt1"/>
              </a:solidFill>
              <a:latin typeface="Montserrat"/>
              <a:ea typeface="Montserrat"/>
              <a:cs typeface="Montserrat"/>
              <a:sym typeface="Montserrat"/>
            </a:endParaRPr>
          </a:p>
        </p:txBody>
      </p:sp>
      <p:sp>
        <p:nvSpPr>
          <p:cNvPr id="620" name="Google Shape;620;p25"/>
          <p:cNvSpPr/>
          <p:nvPr/>
        </p:nvSpPr>
        <p:spPr>
          <a:xfrm>
            <a:off x="5943600" y="2067471"/>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Source reliability</a:t>
            </a:r>
            <a:endParaRPr b="0" i="0" sz="1200" u="none" cap="none" strike="noStrike">
              <a:solidFill>
                <a:schemeClr val="lt1"/>
              </a:solidFill>
              <a:latin typeface="Montserrat"/>
              <a:ea typeface="Montserrat"/>
              <a:cs typeface="Montserrat"/>
              <a:sym typeface="Montserrat"/>
            </a:endParaRPr>
          </a:p>
        </p:txBody>
      </p:sp>
      <p:sp>
        <p:nvSpPr>
          <p:cNvPr id="621" name="Google Shape;621;p25"/>
          <p:cNvSpPr/>
          <p:nvPr/>
        </p:nvSpPr>
        <p:spPr>
          <a:xfrm>
            <a:off x="5943600" y="2318891"/>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A · Completely reliable</a:t>
            </a:r>
            <a:endParaRPr b="0" i="0" sz="1200" u="none" cap="none" strike="noStrike">
              <a:solidFill>
                <a:schemeClr val="lt1"/>
              </a:solidFill>
              <a:latin typeface="Montserrat"/>
              <a:ea typeface="Montserrat"/>
              <a:cs typeface="Montserrat"/>
              <a:sym typeface="Montserrat"/>
            </a:endParaRPr>
          </a:p>
        </p:txBody>
      </p:sp>
      <p:sp>
        <p:nvSpPr>
          <p:cNvPr id="622" name="Google Shape;622;p25"/>
          <p:cNvSpPr/>
          <p:nvPr/>
        </p:nvSpPr>
        <p:spPr>
          <a:xfrm>
            <a:off x="5943600" y="2570311"/>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B · Usually reliable</a:t>
            </a:r>
            <a:endParaRPr b="0" i="0" sz="1200" u="none" cap="none" strike="noStrike">
              <a:solidFill>
                <a:schemeClr val="lt1"/>
              </a:solidFill>
              <a:latin typeface="Montserrat"/>
              <a:ea typeface="Montserrat"/>
              <a:cs typeface="Montserrat"/>
              <a:sym typeface="Montserrat"/>
            </a:endParaRPr>
          </a:p>
        </p:txBody>
      </p:sp>
      <p:sp>
        <p:nvSpPr>
          <p:cNvPr id="623" name="Google Shape;623;p25"/>
          <p:cNvSpPr/>
          <p:nvPr/>
        </p:nvSpPr>
        <p:spPr>
          <a:xfrm>
            <a:off x="5943600" y="2821732"/>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C · Fairly reliable</a:t>
            </a:r>
            <a:endParaRPr b="0" i="0" sz="1200" u="none" cap="none" strike="noStrike">
              <a:solidFill>
                <a:schemeClr val="lt1"/>
              </a:solidFill>
              <a:latin typeface="Montserrat"/>
              <a:ea typeface="Montserrat"/>
              <a:cs typeface="Montserrat"/>
              <a:sym typeface="Montserrat"/>
            </a:endParaRPr>
          </a:p>
        </p:txBody>
      </p:sp>
      <p:sp>
        <p:nvSpPr>
          <p:cNvPr id="624" name="Google Shape;624;p25"/>
          <p:cNvSpPr/>
          <p:nvPr/>
        </p:nvSpPr>
        <p:spPr>
          <a:xfrm>
            <a:off x="5943600" y="3073152"/>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D · Not usually reliable</a:t>
            </a:r>
            <a:endParaRPr b="0" i="0" sz="1200" u="none" cap="none" strike="noStrike">
              <a:solidFill>
                <a:schemeClr val="lt1"/>
              </a:solidFill>
              <a:latin typeface="Montserrat"/>
              <a:ea typeface="Montserrat"/>
              <a:cs typeface="Montserrat"/>
              <a:sym typeface="Montserrat"/>
            </a:endParaRPr>
          </a:p>
        </p:txBody>
      </p:sp>
      <p:sp>
        <p:nvSpPr>
          <p:cNvPr id="625" name="Google Shape;625;p25"/>
          <p:cNvSpPr/>
          <p:nvPr/>
        </p:nvSpPr>
        <p:spPr>
          <a:xfrm>
            <a:off x="5943600" y="3324572"/>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E · Unreliable</a:t>
            </a:r>
            <a:endParaRPr b="0" i="0" sz="1200" u="none" cap="none" strike="noStrike">
              <a:solidFill>
                <a:schemeClr val="lt1"/>
              </a:solidFill>
              <a:latin typeface="Montserrat"/>
              <a:ea typeface="Montserrat"/>
              <a:cs typeface="Montserrat"/>
              <a:sym typeface="Montserrat"/>
            </a:endParaRPr>
          </a:p>
        </p:txBody>
      </p:sp>
      <p:sp>
        <p:nvSpPr>
          <p:cNvPr id="626" name="Google Shape;626;p25"/>
          <p:cNvSpPr/>
          <p:nvPr/>
        </p:nvSpPr>
        <p:spPr>
          <a:xfrm>
            <a:off x="5943600" y="3575993"/>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F · Cannot be judged</a:t>
            </a:r>
            <a:endParaRPr b="0" i="0" sz="1200" u="none" cap="none" strike="noStrike">
              <a:solidFill>
                <a:schemeClr val="lt1"/>
              </a:solidFill>
              <a:latin typeface="Montserrat"/>
              <a:ea typeface="Montserrat"/>
              <a:cs typeface="Montserrat"/>
              <a:sym typeface="Montserrat"/>
            </a:endParaRPr>
          </a:p>
        </p:txBody>
      </p:sp>
      <p:sp>
        <p:nvSpPr>
          <p:cNvPr id="627" name="Google Shape;627;p25"/>
          <p:cNvSpPr/>
          <p:nvPr/>
        </p:nvSpPr>
        <p:spPr>
          <a:xfrm>
            <a:off x="8763000" y="2067471"/>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Information credibility</a:t>
            </a:r>
            <a:endParaRPr b="0" i="0" sz="1200" u="none" cap="none" strike="noStrike">
              <a:solidFill>
                <a:schemeClr val="lt1"/>
              </a:solidFill>
              <a:latin typeface="Montserrat"/>
              <a:ea typeface="Montserrat"/>
              <a:cs typeface="Montserrat"/>
              <a:sym typeface="Montserrat"/>
            </a:endParaRPr>
          </a:p>
        </p:txBody>
      </p:sp>
      <p:sp>
        <p:nvSpPr>
          <p:cNvPr id="628" name="Google Shape;628;p25"/>
          <p:cNvSpPr/>
          <p:nvPr/>
        </p:nvSpPr>
        <p:spPr>
          <a:xfrm>
            <a:off x="8763000" y="2318891"/>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1 · Confirmed</a:t>
            </a:r>
            <a:endParaRPr b="0" i="0" sz="1200" u="none" cap="none" strike="noStrike">
              <a:solidFill>
                <a:schemeClr val="lt1"/>
              </a:solidFill>
              <a:latin typeface="Montserrat"/>
              <a:ea typeface="Montserrat"/>
              <a:cs typeface="Montserrat"/>
              <a:sym typeface="Montserrat"/>
            </a:endParaRPr>
          </a:p>
        </p:txBody>
      </p:sp>
      <p:sp>
        <p:nvSpPr>
          <p:cNvPr id="629" name="Google Shape;629;p25"/>
          <p:cNvSpPr/>
          <p:nvPr/>
        </p:nvSpPr>
        <p:spPr>
          <a:xfrm>
            <a:off x="8763000" y="2570311"/>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2 · Probably true</a:t>
            </a:r>
            <a:endParaRPr b="0" i="0" sz="1200" u="none" cap="none" strike="noStrike">
              <a:solidFill>
                <a:schemeClr val="lt1"/>
              </a:solidFill>
              <a:latin typeface="Montserrat"/>
              <a:ea typeface="Montserrat"/>
              <a:cs typeface="Montserrat"/>
              <a:sym typeface="Montserrat"/>
            </a:endParaRPr>
          </a:p>
        </p:txBody>
      </p:sp>
      <p:sp>
        <p:nvSpPr>
          <p:cNvPr id="630" name="Google Shape;630;p25"/>
          <p:cNvSpPr/>
          <p:nvPr/>
        </p:nvSpPr>
        <p:spPr>
          <a:xfrm>
            <a:off x="8763000" y="2821732"/>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3 · Possibly true</a:t>
            </a:r>
            <a:endParaRPr b="0" i="0" sz="1200" u="none" cap="none" strike="noStrike">
              <a:solidFill>
                <a:schemeClr val="lt1"/>
              </a:solidFill>
              <a:latin typeface="Montserrat"/>
              <a:ea typeface="Montserrat"/>
              <a:cs typeface="Montserrat"/>
              <a:sym typeface="Montserrat"/>
            </a:endParaRPr>
          </a:p>
        </p:txBody>
      </p:sp>
      <p:sp>
        <p:nvSpPr>
          <p:cNvPr id="631" name="Google Shape;631;p25"/>
          <p:cNvSpPr/>
          <p:nvPr/>
        </p:nvSpPr>
        <p:spPr>
          <a:xfrm>
            <a:off x="8763000" y="3073152"/>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4 · Doubtful</a:t>
            </a:r>
            <a:endParaRPr b="0" i="0" sz="1200" u="none" cap="none" strike="noStrike">
              <a:solidFill>
                <a:schemeClr val="lt1"/>
              </a:solidFill>
              <a:latin typeface="Montserrat"/>
              <a:ea typeface="Montserrat"/>
              <a:cs typeface="Montserrat"/>
              <a:sym typeface="Montserrat"/>
            </a:endParaRPr>
          </a:p>
        </p:txBody>
      </p:sp>
      <p:sp>
        <p:nvSpPr>
          <p:cNvPr id="632" name="Google Shape;632;p25"/>
          <p:cNvSpPr/>
          <p:nvPr/>
        </p:nvSpPr>
        <p:spPr>
          <a:xfrm>
            <a:off x="8763000" y="3324572"/>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5 · Improbable</a:t>
            </a:r>
            <a:endParaRPr b="0" i="0" sz="1200" u="none" cap="none" strike="noStrike">
              <a:solidFill>
                <a:schemeClr val="lt1"/>
              </a:solidFill>
              <a:latin typeface="Montserrat"/>
              <a:ea typeface="Montserrat"/>
              <a:cs typeface="Montserrat"/>
              <a:sym typeface="Montserrat"/>
            </a:endParaRPr>
          </a:p>
        </p:txBody>
      </p:sp>
      <p:sp>
        <p:nvSpPr>
          <p:cNvPr id="633" name="Google Shape;633;p25"/>
          <p:cNvSpPr/>
          <p:nvPr/>
        </p:nvSpPr>
        <p:spPr>
          <a:xfrm>
            <a:off x="8763000" y="3575993"/>
            <a:ext cx="2694686"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6 · Cannot be judged</a:t>
            </a:r>
            <a:endParaRPr b="0" i="0" sz="1200" u="none" cap="none" strike="noStrike">
              <a:solidFill>
                <a:schemeClr val="lt1"/>
              </a:solidFill>
              <a:latin typeface="Montserrat"/>
              <a:ea typeface="Montserrat"/>
              <a:cs typeface="Montserrat"/>
              <a:sym typeface="Montserrat"/>
            </a:endParaRPr>
          </a:p>
        </p:txBody>
      </p:sp>
      <p:sp>
        <p:nvSpPr>
          <p:cNvPr id="634" name="Google Shape;634;p25"/>
          <p:cNvSpPr/>
          <p:nvPr/>
        </p:nvSpPr>
        <p:spPr>
          <a:xfrm>
            <a:off x="812800" y="4895404"/>
            <a:ext cx="10566400" cy="680641"/>
          </a:xfrm>
          <a:prstGeom prst="roundRect">
            <a:avLst>
              <a:gd fmla="val 14927" name="adj"/>
            </a:avLst>
          </a:prstGeom>
          <a:solidFill>
            <a:srgbClr val="1B1726"/>
          </a:solidFill>
          <a:ln>
            <a:noFill/>
          </a:ln>
        </p:spPr>
        <p:txBody>
          <a:bodyPr anchorCtr="0" anchor="t" bIns="71825" lIns="211525" spcFirstLastPara="1" rIns="0" wrap="square" tIns="97225">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In the report:</a:t>
            </a:r>
            <a:r>
              <a:rPr b="0" i="0" lang="en-US" sz="1200" u="none" cap="none" strike="noStrike">
                <a:solidFill>
                  <a:srgbClr val="F1EEF7"/>
                </a:solidFill>
                <a:latin typeface="Montserrat"/>
                <a:ea typeface="Montserrat"/>
                <a:cs typeface="Montserrat"/>
                <a:sym typeface="Montserrat"/>
              </a:rPr>
              <a:t> “High confidence that XXXX-01 was compromised: registry, process, network, file and sandbox evidence agree. Moderate confidence that no other hosts are affected: the main query only covers Win+R.”</a:t>
            </a:r>
            <a:endParaRPr b="0" i="0" sz="1200" u="none" cap="none" strike="noStrike">
              <a:solidFill>
                <a:schemeClr val="lt1"/>
              </a:solidFill>
              <a:latin typeface="Montserrat"/>
              <a:ea typeface="Montserrat"/>
              <a:cs typeface="Montserrat"/>
              <a:sym typeface="Montserrat"/>
            </a:endParaRPr>
          </a:p>
        </p:txBody>
      </p:sp>
      <p:sp>
        <p:nvSpPr>
          <p:cNvPr id="635" name="Google Shape;635;p25"/>
          <p:cNvSpPr/>
          <p:nvPr/>
        </p:nvSpPr>
        <p:spPr>
          <a:xfrm>
            <a:off x="812800" y="4895404"/>
            <a:ext cx="10566400" cy="680641"/>
          </a:xfrm>
          <a:custGeom>
            <a:rect b="b" l="l" r="r" t="t"/>
            <a:pathLst>
              <a:path extrusionOk="0" h="680641" w="10566400">
                <a:moveTo>
                  <a:pt x="101600" y="680641"/>
                </a:moveTo>
                <a:lnTo>
                  <a:pt x="101600" y="680641"/>
                </a:lnTo>
                <a:cubicBezTo>
                  <a:pt x="45488" y="680641"/>
                  <a:pt x="0" y="635153"/>
                  <a:pt x="0" y="579041"/>
                </a:cubicBezTo>
                <a:lnTo>
                  <a:pt x="0" y="101600"/>
                </a:lnTo>
                <a:cubicBezTo>
                  <a:pt x="0" y="45488"/>
                  <a:pt x="45488" y="0"/>
                  <a:pt x="101600" y="0"/>
                </a:cubicBezTo>
                <a:lnTo>
                  <a:pt x="101600" y="0"/>
                </a:lnTo>
                <a:cubicBezTo>
                  <a:pt x="66530" y="0"/>
                  <a:pt x="38100" y="45488"/>
                  <a:pt x="38100" y="101600"/>
                </a:cubicBezTo>
                <a:lnTo>
                  <a:pt x="38100" y="579041"/>
                </a:lnTo>
                <a:cubicBezTo>
                  <a:pt x="38100" y="635153"/>
                  <a:pt x="66530" y="680641"/>
                  <a:pt x="101600" y="680641"/>
                </a:cubicBezTo>
                <a:close/>
              </a:path>
            </a:pathLst>
          </a:custGeom>
          <a:solidFill>
            <a:srgbClr val="F59E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5"/>
          <p:cNvSpPr/>
          <p:nvPr/>
        </p:nvSpPr>
        <p:spPr>
          <a:xfrm>
            <a:off x="812800" y="6238280"/>
            <a:ext cx="8662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Sources: ODNI, Intelligence Community Directive 203 · NATO / Admiralty grading system</a:t>
            </a:r>
            <a:endParaRPr b="0" i="0" sz="1200" u="none" cap="none" strike="noStrike">
              <a:solidFill>
                <a:schemeClr val="lt1"/>
              </a:solidFill>
              <a:latin typeface="Montserrat"/>
              <a:ea typeface="Montserrat"/>
              <a:cs typeface="Montserrat"/>
              <a:sym typeface="Montserrat"/>
            </a:endParaRPr>
          </a:p>
        </p:txBody>
      </p:sp>
      <p:sp>
        <p:nvSpPr>
          <p:cNvPr id="637" name="Google Shape;637;p25"/>
          <p:cNvSpPr/>
          <p:nvPr/>
        </p:nvSpPr>
        <p:spPr>
          <a:xfrm>
            <a:off x="11155611" y="6238280"/>
            <a:ext cx="223589"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25</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642" name="Shape 642"/>
        <p:cNvGrpSpPr/>
        <p:nvPr/>
      </p:nvGrpSpPr>
      <p:grpSpPr>
        <a:xfrm>
          <a:off x="0" y="0"/>
          <a:ext cx="0" cy="0"/>
          <a:chOff x="0" y="0"/>
          <a:chExt cx="0" cy="0"/>
        </a:xfrm>
      </p:grpSpPr>
      <p:sp>
        <p:nvSpPr>
          <p:cNvPr id="643" name="Google Shape;643;p2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WRITING THE STORY · ACH</a:t>
            </a:r>
            <a:endParaRPr b="0" i="0" sz="1200" u="none" cap="none" strike="noStrike">
              <a:solidFill>
                <a:schemeClr val="lt1"/>
              </a:solidFill>
              <a:latin typeface="Montserrat"/>
              <a:ea typeface="Montserrat"/>
              <a:cs typeface="Montserrat"/>
              <a:sym typeface="Montserrat"/>
            </a:endParaRPr>
          </a:p>
        </p:txBody>
      </p:sp>
      <p:sp>
        <p:nvSpPr>
          <p:cNvPr id="644" name="Google Shape;644;p26"/>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Competing hypotheses: was it pasted?</a:t>
            </a:r>
            <a:endParaRPr sz="3200"/>
          </a:p>
        </p:txBody>
      </p:sp>
      <p:graphicFrame>
        <p:nvGraphicFramePr>
          <p:cNvPr id="645" name="Google Shape;645;p26"/>
          <p:cNvGraphicFramePr/>
          <p:nvPr/>
        </p:nvGraphicFramePr>
        <p:xfrm>
          <a:off x="825500" y="1790650"/>
          <a:ext cx="3000000" cy="3000000"/>
        </p:xfrm>
        <a:graphic>
          <a:graphicData uri="http://schemas.openxmlformats.org/drawingml/2006/table">
            <a:tbl>
              <a:tblPr>
                <a:noFill/>
                <a:tableStyleId>{FB773AD2-FA50-4F7C-A878-0F7E4A0B4D0B}</a:tableStyleId>
              </a:tblPr>
              <a:tblGrid>
                <a:gridCol w="5804525"/>
                <a:gridCol w="1583050"/>
                <a:gridCol w="1583050"/>
                <a:gridCol w="1583050"/>
              </a:tblGrid>
              <a:tr h="378425">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Evidence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H1 · Pasted</a:t>
                      </a:r>
                      <a:endParaRPr sz="1200" u="none" cap="none" strike="noStrike">
                        <a:latin typeface="Montserrat"/>
                        <a:ea typeface="Montserrat"/>
                        <a:cs typeface="Montserrat"/>
                        <a:sym typeface="Montserrat"/>
                      </a:endParaRPr>
                    </a:p>
                  </a:txBody>
                  <a:tcPr marT="76200" marB="76200" marR="127000" marL="1270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H2 · Typed</a:t>
                      </a:r>
                      <a:endParaRPr sz="1200" u="none" cap="none" strike="noStrike">
                        <a:latin typeface="Montserrat"/>
                        <a:ea typeface="Montserrat"/>
                        <a:cs typeface="Montserrat"/>
                        <a:sym typeface="Montserrat"/>
                      </a:endParaRPr>
                    </a:p>
                  </a:txBody>
                  <a:tcPr marT="76200" marB="76200" marR="127000" marL="1270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b="1" lang="en-US" sz="1200" u="none" cap="none" strike="noStrike">
                          <a:solidFill>
                            <a:srgbClr val="C2C2F4"/>
                          </a:solidFill>
                          <a:latin typeface="Montserrat"/>
                          <a:ea typeface="Montserrat"/>
                          <a:cs typeface="Montserrat"/>
                          <a:sym typeface="Montserrat"/>
                        </a:rPr>
                        <a:t>H3 · Remote</a:t>
                      </a:r>
                      <a:endParaRPr sz="1200" u="none" cap="none" strike="noStrike">
                        <a:latin typeface="Montserrat"/>
                        <a:ea typeface="Montserrat"/>
                        <a:cs typeface="Montserrat"/>
                        <a:sym typeface="Montserrat"/>
                      </a:endParaRPr>
                    </a:p>
                  </a:txBody>
                  <a:tcPr marT="76200" marB="76200" marR="127000" marL="127000">
                    <a:lnL cap="flat" cmpd="sng" w="12700">
                      <a:solidFill>
                        <a:srgbClr val="584662"/>
                      </a:solidFill>
                      <a:prstDash val="solid"/>
                      <a:round/>
                      <a:headEnd len="sm" w="sm" type="none"/>
                      <a:tailEnd len="sm" w="sm" type="none"/>
                    </a:lnL>
                    <a:lnR cap="flat" cmpd="sng" w="12700">
                      <a:solidFill>
                        <a:srgbClr val="584662"/>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584662"/>
                      </a:solidFill>
                      <a:prstDash val="solid"/>
                      <a:round/>
                      <a:headEnd len="sm" w="sm" type="none"/>
                      <a:tailEnd len="sm" w="sm" type="none"/>
                    </a:lnB>
                    <a:solidFill>
                      <a:srgbClr val="2A1438"/>
                    </a:solidFill>
                  </a:tcPr>
                </a:tc>
              </a:tr>
              <a:tr h="378425">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Recorded in RunMRU, written by explorer.exe</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Consistent</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Consistent</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Inconsistent</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584662"/>
                      </a:solidFill>
                      <a:prstDash val="solid"/>
                      <a:round/>
                      <a:headEnd len="sm" w="sm" type="none"/>
                      <a:tailEnd len="sm" w="sm" type="none"/>
                    </a:lnT>
                    <a:lnB cap="flat" cmpd="sng" w="12700">
                      <a:solidFill>
                        <a:srgbClr val="403F44"/>
                      </a:solidFill>
                      <a:prstDash val="solid"/>
                      <a:round/>
                      <a:headEnd len="sm" w="sm" type="none"/>
                      <a:tailEnd len="sm" w="sm" type="none"/>
                    </a:lnB>
                  </a:tcPr>
                </a:tc>
              </a:tr>
              <a:tr h="378425">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120 characters with a decimal IP, in seconds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Consistent</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Inconsistent</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8F8AA6"/>
                        </a:buClr>
                        <a:buSzPts val="1200"/>
                        <a:buFont typeface="Montserrat"/>
                        <a:buNone/>
                      </a:pPr>
                      <a:r>
                        <a:rPr lang="en-US" sz="1200" u="none" cap="none" strike="noStrike">
                          <a:solidFill>
                            <a:srgbClr val="8F8AA6"/>
                          </a:solidFill>
                          <a:latin typeface="Montserrat"/>
                          <a:ea typeface="Montserrat"/>
                          <a:cs typeface="Montserrat"/>
                          <a:sym typeface="Montserrat"/>
                        </a:rPr>
                        <a:t>Neutral</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378425">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The same command, identical, four times</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Consistent</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Inconsistent</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Consistent</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r h="378425">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No remote access tools in 24 h</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8F8AA6"/>
                        </a:buClr>
                        <a:buSzPts val="1200"/>
                        <a:buFont typeface="Montserrat"/>
                        <a:buNone/>
                      </a:pPr>
                      <a:r>
                        <a:rPr lang="en-US" sz="1200" u="none" cap="none" strike="noStrike">
                          <a:solidFill>
                            <a:srgbClr val="8F8AA6"/>
                          </a:solidFill>
                          <a:latin typeface="Montserrat"/>
                          <a:ea typeface="Montserrat"/>
                          <a:cs typeface="Montserrat"/>
                          <a:sym typeface="Montserrat"/>
                        </a:rPr>
                        <a:t>Neutral</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8F8AA6"/>
                        </a:buClr>
                        <a:buSzPts val="1200"/>
                        <a:buFont typeface="Montserrat"/>
                        <a:buNone/>
                      </a:pPr>
                      <a:r>
                        <a:rPr lang="en-US" sz="1200" u="none" cap="none" strike="noStrike">
                          <a:solidFill>
                            <a:srgbClr val="8F8AA6"/>
                          </a:solidFill>
                          <a:latin typeface="Montserrat"/>
                          <a:ea typeface="Montserrat"/>
                          <a:cs typeface="Montserrat"/>
                          <a:sym typeface="Montserrat"/>
                        </a:rPr>
                        <a:t>Neutral</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c>
                  <a:txBody>
                    <a:bodyPr/>
                    <a:lstStyle/>
                    <a:p>
                      <a:pPr indent="0" lvl="0" marL="0" marR="0" rtl="0" algn="l">
                        <a:lnSpc>
                          <a:spcPct val="140000"/>
                        </a:lnSpc>
                        <a:spcBef>
                          <a:spcPts val="0"/>
                        </a:spcBef>
                        <a:spcAft>
                          <a:spcPts val="0"/>
                        </a:spcAft>
                        <a:buClr>
                          <a:srgbClr val="F59E42"/>
                        </a:buClr>
                        <a:buSzPts val="1200"/>
                        <a:buFont typeface="Montserrat"/>
                        <a:buNone/>
                      </a:pPr>
                      <a:r>
                        <a:rPr lang="en-US" sz="1200" u="none" cap="none" strike="noStrike">
                          <a:solidFill>
                            <a:srgbClr val="F59E42"/>
                          </a:solidFill>
                          <a:latin typeface="Montserrat"/>
                          <a:ea typeface="Montserrat"/>
                          <a:cs typeface="Montserrat"/>
                          <a:sym typeface="Montserrat"/>
                        </a:rPr>
                        <a:t>Inconsistent</a:t>
                      </a:r>
                      <a:endParaRPr sz="1200" u="none" cap="none" strike="noStrike">
                        <a:latin typeface="Montserrat"/>
                        <a:ea typeface="Montserrat"/>
                        <a:cs typeface="Montserrat"/>
                        <a:sym typeface="Montserrat"/>
                      </a:endParaRPr>
                    </a:p>
                  </a:txBody>
                  <a:tcPr marT="76200" marB="76200" marR="127000" marL="127000">
                    <a:lnL cap="flat" cmpd="sng" w="12700">
                      <a:solidFill>
                        <a:srgbClr val="47454D"/>
                      </a:solidFill>
                      <a:prstDash val="solid"/>
                      <a:round/>
                      <a:headEnd len="sm" w="sm" type="none"/>
                      <a:tailEnd len="sm" w="sm" type="none"/>
                    </a:lnL>
                    <a:lnR cap="flat" cmpd="sng" w="12700">
                      <a:solidFill>
                        <a:srgbClr val="47454D"/>
                      </a:solidFill>
                      <a:prstDash val="solid"/>
                      <a:round/>
                      <a:headEnd len="sm" w="sm" type="none"/>
                      <a:tailEnd len="sm" w="sm" type="none"/>
                    </a:lnR>
                    <a:lnT cap="flat" cmpd="sng" w="12700">
                      <a:solidFill>
                        <a:srgbClr val="403F44"/>
                      </a:solidFill>
                      <a:prstDash val="solid"/>
                      <a:round/>
                      <a:headEnd len="sm" w="sm" type="none"/>
                      <a:tailEnd len="sm" w="sm" type="none"/>
                    </a:lnT>
                    <a:lnB cap="flat" cmpd="sng" w="12700">
                      <a:solidFill>
                        <a:srgbClr val="47454D"/>
                      </a:solidFill>
                      <a:prstDash val="solid"/>
                      <a:round/>
                      <a:headEnd len="sm" w="sm" type="none"/>
                      <a:tailEnd len="sm" w="sm" type="none"/>
                    </a:lnB>
                    <a:solidFill>
                      <a:srgbClr val="15121D"/>
                    </a:solidFill>
                  </a:tcPr>
                </a:tc>
              </a:tr>
              <a:tr h="378425">
                <a:tc>
                  <a:txBody>
                    <a:bodyPr/>
                    <a:lstStyle/>
                    <a:p>
                      <a:pPr indent="0" lvl="0" marL="0" marR="0" rtl="0" algn="l">
                        <a:lnSpc>
                          <a:spcPct val="140000"/>
                        </a:lnSpc>
                        <a:spcBef>
                          <a:spcPts val="0"/>
                        </a:spcBef>
                        <a:spcAft>
                          <a:spcPts val="0"/>
                        </a:spcAft>
                        <a:buClr>
                          <a:srgbClr val="F1EEF7"/>
                        </a:buClr>
                        <a:buSzPts val="1200"/>
                        <a:buFont typeface="Montserrat"/>
                        <a:buNone/>
                      </a:pPr>
                      <a:r>
                        <a:rPr lang="en-US" sz="1200" u="none" cap="none" strike="noStrike">
                          <a:solidFill>
                            <a:srgbClr val="F1EEF7"/>
                          </a:solidFill>
                          <a:latin typeface="Montserrat"/>
                          <a:ea typeface="Montserrat"/>
                          <a:cs typeface="Montserrat"/>
                          <a:sym typeface="Montserrat"/>
                        </a:rPr>
                        <a:t>The browser visited a lure seconds earlier</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C2C2F4"/>
                        </a:buClr>
                        <a:buSzPts val="1200"/>
                        <a:buFont typeface="Montserrat"/>
                        <a:buNone/>
                      </a:pPr>
                      <a:r>
                        <a:rPr lang="en-US" sz="1200" u="none" cap="none" strike="noStrike">
                          <a:solidFill>
                            <a:srgbClr val="C2C2F4"/>
                          </a:solidFill>
                          <a:latin typeface="Montserrat"/>
                          <a:ea typeface="Montserrat"/>
                          <a:cs typeface="Montserrat"/>
                          <a:sym typeface="Montserrat"/>
                        </a:rPr>
                        <a:t>Consistent</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F8AA6"/>
                        </a:buClr>
                        <a:buSzPts val="1200"/>
                        <a:buFont typeface="Montserrat"/>
                        <a:buNone/>
                      </a:pPr>
                      <a:r>
                        <a:rPr lang="en-US" sz="1200" u="none" cap="none" strike="noStrike">
                          <a:solidFill>
                            <a:srgbClr val="8F8AA6"/>
                          </a:solidFill>
                          <a:latin typeface="Montserrat"/>
                          <a:ea typeface="Montserrat"/>
                          <a:cs typeface="Montserrat"/>
                          <a:sym typeface="Montserrat"/>
                        </a:rPr>
                        <a:t>Neutral</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8F8AA6"/>
                        </a:buClr>
                        <a:buSzPts val="1200"/>
                        <a:buFont typeface="Montserrat"/>
                        <a:buNone/>
                      </a:pPr>
                      <a:r>
                        <a:rPr lang="en-US" sz="1200" u="none" cap="none" strike="noStrike">
                          <a:solidFill>
                            <a:srgbClr val="8F8AA6"/>
                          </a:solidFill>
                          <a:latin typeface="Montserrat"/>
                          <a:ea typeface="Montserrat"/>
                          <a:cs typeface="Montserrat"/>
                          <a:sym typeface="Montserrat"/>
                        </a:rPr>
                        <a:t>Neutral</a:t>
                      </a:r>
                      <a:endParaRPr sz="1200" u="none" cap="none" strike="noStrike">
                        <a:latin typeface="Montserrat"/>
                        <a:ea typeface="Montserrat"/>
                        <a:cs typeface="Montserrat"/>
                        <a:sym typeface="Montserrat"/>
                      </a:endParaRPr>
                    </a:p>
                  </a:txBody>
                  <a:tcPr marT="76200" marB="76200" marR="127000" marL="127000">
                    <a:lnL cap="flat" cmpd="sng" w="12700">
                      <a:solidFill>
                        <a:srgbClr val="403F44"/>
                      </a:solidFill>
                      <a:prstDash val="solid"/>
                      <a:round/>
                      <a:headEnd len="sm" w="sm" type="none"/>
                      <a:tailEnd len="sm" w="sm" type="none"/>
                    </a:lnL>
                    <a:lnR cap="flat" cmpd="sng" w="12700">
                      <a:solidFill>
                        <a:srgbClr val="403F44"/>
                      </a:solidFill>
                      <a:prstDash val="solid"/>
                      <a:round/>
                      <a:headEnd len="sm" w="sm" type="none"/>
                      <a:tailEnd len="sm" w="sm" type="none"/>
                    </a:lnR>
                    <a:lnT cap="flat" cmpd="sng" w="12700">
                      <a:solidFill>
                        <a:srgbClr val="47454D"/>
                      </a:solidFill>
                      <a:prstDash val="solid"/>
                      <a:round/>
                      <a:headEnd len="sm" w="sm" type="none"/>
                      <a:tailEnd len="sm" w="sm" type="none"/>
                    </a:lnT>
                    <a:lnB cap="flat" cmpd="sng" w="12700">
                      <a:solidFill>
                        <a:srgbClr val="403F44"/>
                      </a:solidFill>
                      <a:prstDash val="solid"/>
                      <a:round/>
                      <a:headEnd len="sm" w="sm" type="none"/>
                      <a:tailEnd len="sm" w="sm" type="none"/>
                    </a:lnB>
                  </a:tcPr>
                </a:tc>
              </a:tr>
            </a:tbl>
          </a:graphicData>
        </a:graphic>
      </p:graphicFrame>
      <p:sp>
        <p:nvSpPr>
          <p:cNvPr id="646" name="Google Shape;646;p26"/>
          <p:cNvSpPr/>
          <p:nvPr/>
        </p:nvSpPr>
        <p:spPr>
          <a:xfrm>
            <a:off x="812800" y="4162772"/>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H1: pasted from a lure · H2: typed by hand · H3: launched by another process or a remote session</a:t>
            </a:r>
            <a:endParaRPr b="0" i="0" sz="1200" u="none" cap="none" strike="noStrike">
              <a:solidFill>
                <a:schemeClr val="lt1"/>
              </a:solidFill>
              <a:latin typeface="Montserrat"/>
              <a:ea typeface="Montserrat"/>
              <a:cs typeface="Montserrat"/>
              <a:sym typeface="Montserrat"/>
            </a:endParaRPr>
          </a:p>
        </p:txBody>
      </p:sp>
      <p:sp>
        <p:nvSpPr>
          <p:cNvPr id="647" name="Google Shape;647;p26"/>
          <p:cNvSpPr/>
          <p:nvPr/>
        </p:nvSpPr>
        <p:spPr>
          <a:xfrm>
            <a:off x="812800" y="4579293"/>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H1 is the only one with no evidence against it. ACH doesn’t count support: it keeps the hypothesis that survives.</a:t>
            </a:r>
            <a:endParaRPr b="0" i="0" sz="1500" u="none" cap="none" strike="noStrike">
              <a:solidFill>
                <a:schemeClr val="lt1"/>
              </a:solidFill>
              <a:latin typeface="Montserrat"/>
              <a:ea typeface="Montserrat"/>
              <a:cs typeface="Montserrat"/>
              <a:sym typeface="Montserrat"/>
            </a:endParaRPr>
          </a:p>
        </p:txBody>
      </p:sp>
      <p:sp>
        <p:nvSpPr>
          <p:cNvPr id="648" name="Google Shape;648;p26"/>
          <p:cNvSpPr/>
          <p:nvPr/>
        </p:nvSpPr>
        <p:spPr>
          <a:xfrm>
            <a:off x="812800" y="6238280"/>
            <a:ext cx="9411345"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Method: R. J. Heuer, “Psychology of Intelligence Analysis” (CIA, 1999) · example based on the model report case</a:t>
            </a:r>
            <a:endParaRPr b="0" i="0" sz="1200" u="none" cap="none" strike="noStrike">
              <a:solidFill>
                <a:schemeClr val="lt1"/>
              </a:solidFill>
              <a:latin typeface="Montserrat"/>
              <a:ea typeface="Montserrat"/>
              <a:cs typeface="Montserrat"/>
              <a:sym typeface="Montserrat"/>
            </a:endParaRPr>
          </a:p>
        </p:txBody>
      </p:sp>
      <p:sp>
        <p:nvSpPr>
          <p:cNvPr id="649" name="Google Shape;649;p26"/>
          <p:cNvSpPr/>
          <p:nvPr/>
        </p:nvSpPr>
        <p:spPr>
          <a:xfrm>
            <a:off x="11149310" y="6238280"/>
            <a:ext cx="22989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26</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654" name="Shape 654"/>
        <p:cNvGrpSpPr/>
        <p:nvPr/>
      </p:nvGrpSpPr>
      <p:grpSpPr>
        <a:xfrm>
          <a:off x="0" y="0"/>
          <a:ext cx="0" cy="0"/>
          <a:chOff x="0" y="0"/>
          <a:chExt cx="0" cy="0"/>
        </a:xfrm>
      </p:grpSpPr>
      <p:sp>
        <p:nvSpPr>
          <p:cNvPr id="655" name="Google Shape;655;p27"/>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WRITING THE STORY</a:t>
            </a:r>
            <a:endParaRPr b="0" i="0" sz="1200" u="none" cap="none" strike="noStrike">
              <a:solidFill>
                <a:schemeClr val="lt1"/>
              </a:solidFill>
              <a:latin typeface="Montserrat"/>
              <a:ea typeface="Montserrat"/>
              <a:cs typeface="Montserrat"/>
              <a:sym typeface="Montserrat"/>
            </a:endParaRPr>
          </a:p>
        </p:txBody>
      </p:sp>
      <p:sp>
        <p:nvSpPr>
          <p:cNvPr id="656" name="Google Shape;656;p27"/>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A hunt with no findings still gets reported</a:t>
            </a:r>
            <a:endParaRPr sz="3200"/>
          </a:p>
        </p:txBody>
      </p:sp>
      <p:sp>
        <p:nvSpPr>
          <p:cNvPr id="657" name="Google Shape;657;p27"/>
          <p:cNvSpPr/>
          <p:nvPr/>
        </p:nvSpPr>
        <p:spPr>
          <a:xfrm>
            <a:off x="812800" y="1828750"/>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Zero results is a result, if you can prove the query works.</a:t>
            </a:r>
            <a:endParaRPr b="0" i="0" sz="1500" u="none" cap="none" strike="noStrike">
              <a:solidFill>
                <a:schemeClr val="lt1"/>
              </a:solidFill>
              <a:latin typeface="Montserrat"/>
              <a:ea typeface="Montserrat"/>
              <a:cs typeface="Montserrat"/>
              <a:sym typeface="Montserrat"/>
            </a:endParaRPr>
          </a:p>
        </p:txBody>
      </p:sp>
      <p:sp>
        <p:nvSpPr>
          <p:cNvPr id="658" name="Google Shape;658;p27"/>
          <p:cNvSpPr/>
          <p:nvPr/>
        </p:nvSpPr>
        <p:spPr>
          <a:xfrm>
            <a:off x="815975" y="2352625"/>
            <a:ext cx="2482850" cy="2104231"/>
          </a:xfrm>
          <a:prstGeom prst="roundRect">
            <a:avLst>
              <a:gd fmla="val 4677"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lobe" id="659" name="Google Shape;659;p27"/>
          <p:cNvPicPr preferRelativeResize="0"/>
          <p:nvPr/>
        </p:nvPicPr>
        <p:blipFill rotWithShape="1">
          <a:blip r:embed="rId3">
            <a:alphaModFix/>
          </a:blip>
          <a:srcRect b="0" l="0" r="0" t="0"/>
          <a:stretch/>
        </p:blipFill>
        <p:spPr>
          <a:xfrm>
            <a:off x="1073150" y="2609800"/>
            <a:ext cx="304800" cy="304800"/>
          </a:xfrm>
          <a:prstGeom prst="rect">
            <a:avLst/>
          </a:prstGeom>
          <a:noFill/>
          <a:ln>
            <a:noFill/>
          </a:ln>
        </p:spPr>
      </p:pic>
      <p:sp>
        <p:nvSpPr>
          <p:cNvPr id="660" name="Google Shape;660;p27"/>
          <p:cNvSpPr/>
          <p:nvPr/>
        </p:nvSpPr>
        <p:spPr>
          <a:xfrm>
            <a:off x="1073150" y="3016200"/>
            <a:ext cx="2027555"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Coverage</a:t>
            </a:r>
            <a:endParaRPr b="0" i="0" sz="1500" u="none" cap="none" strike="noStrike">
              <a:solidFill>
                <a:schemeClr val="lt1"/>
              </a:solidFill>
              <a:latin typeface="Montserrat"/>
              <a:ea typeface="Montserrat"/>
              <a:cs typeface="Montserrat"/>
              <a:sym typeface="Montserrat"/>
            </a:endParaRPr>
          </a:p>
        </p:txBody>
      </p:sp>
      <p:sp>
        <p:nvSpPr>
          <p:cNvPr id="661" name="Google Shape;661;p27"/>
          <p:cNvSpPr/>
          <p:nvPr/>
        </p:nvSpPr>
        <p:spPr>
          <a:xfrm>
            <a:off x="1073150" y="3346400"/>
            <a:ext cx="2027555"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Which hosts, which time window and which data sources.</a:t>
            </a:r>
            <a:endParaRPr b="0" i="0" sz="1200" u="none" cap="none" strike="noStrike">
              <a:solidFill>
                <a:schemeClr val="lt1"/>
              </a:solidFill>
              <a:latin typeface="Montserrat"/>
              <a:ea typeface="Montserrat"/>
              <a:cs typeface="Montserrat"/>
              <a:sym typeface="Montserrat"/>
            </a:endParaRPr>
          </a:p>
        </p:txBody>
      </p:sp>
      <p:sp>
        <p:nvSpPr>
          <p:cNvPr id="662" name="Google Shape;662;p27"/>
          <p:cNvSpPr/>
          <p:nvPr/>
        </p:nvSpPr>
        <p:spPr>
          <a:xfrm>
            <a:off x="3508375" y="2352625"/>
            <a:ext cx="2482850" cy="2104231"/>
          </a:xfrm>
          <a:prstGeom prst="roundRect">
            <a:avLst>
              <a:gd fmla="val 4677"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Circle" id="663" name="Google Shape;663;p27"/>
          <p:cNvPicPr preferRelativeResize="0"/>
          <p:nvPr/>
        </p:nvPicPr>
        <p:blipFill rotWithShape="1">
          <a:blip r:embed="rId4">
            <a:alphaModFix/>
          </a:blip>
          <a:srcRect b="0" l="0" r="0" t="0"/>
          <a:stretch/>
        </p:blipFill>
        <p:spPr>
          <a:xfrm>
            <a:off x="3765550" y="2609800"/>
            <a:ext cx="304800" cy="304800"/>
          </a:xfrm>
          <a:prstGeom prst="rect">
            <a:avLst/>
          </a:prstGeom>
          <a:noFill/>
          <a:ln>
            <a:noFill/>
          </a:ln>
        </p:spPr>
      </p:pic>
      <p:sp>
        <p:nvSpPr>
          <p:cNvPr id="664" name="Google Shape;664;p27"/>
          <p:cNvSpPr/>
          <p:nvPr/>
        </p:nvSpPr>
        <p:spPr>
          <a:xfrm>
            <a:off x="3765550" y="3016200"/>
            <a:ext cx="2027555"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Positive control</a:t>
            </a:r>
            <a:endParaRPr b="0" i="0" sz="1500" u="none" cap="none" strike="noStrike">
              <a:solidFill>
                <a:schemeClr val="lt1"/>
              </a:solidFill>
              <a:latin typeface="Montserrat"/>
              <a:ea typeface="Montserrat"/>
              <a:cs typeface="Montserrat"/>
              <a:sym typeface="Montserrat"/>
            </a:endParaRPr>
          </a:p>
        </p:txBody>
      </p:sp>
      <p:sp>
        <p:nvSpPr>
          <p:cNvPr id="665" name="Google Shape;665;p27"/>
          <p:cNvSpPr/>
          <p:nvPr/>
        </p:nvSpPr>
        <p:spPr>
          <a:xfrm>
            <a:off x="3765550" y="3346400"/>
            <a:ext cx="2027555"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The evidence that the query finds the pattern you were looking for.</a:t>
            </a:r>
            <a:endParaRPr b="0" i="0" sz="1200" u="none" cap="none" strike="noStrike">
              <a:solidFill>
                <a:schemeClr val="lt1"/>
              </a:solidFill>
              <a:latin typeface="Montserrat"/>
              <a:ea typeface="Montserrat"/>
              <a:cs typeface="Montserrat"/>
              <a:sym typeface="Montserrat"/>
            </a:endParaRPr>
          </a:p>
        </p:txBody>
      </p:sp>
      <p:sp>
        <p:nvSpPr>
          <p:cNvPr id="666" name="Google Shape;666;p27"/>
          <p:cNvSpPr/>
          <p:nvPr/>
        </p:nvSpPr>
        <p:spPr>
          <a:xfrm>
            <a:off x="6200775" y="2352625"/>
            <a:ext cx="2482850" cy="2104231"/>
          </a:xfrm>
          <a:prstGeom prst="roundRect">
            <a:avLst>
              <a:gd fmla="val 4677"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arning" id="667" name="Google Shape;667;p27"/>
          <p:cNvPicPr preferRelativeResize="0"/>
          <p:nvPr/>
        </p:nvPicPr>
        <p:blipFill rotWithShape="1">
          <a:blip r:embed="rId5">
            <a:alphaModFix/>
          </a:blip>
          <a:srcRect b="0" l="0" r="0" t="0"/>
          <a:stretch/>
        </p:blipFill>
        <p:spPr>
          <a:xfrm>
            <a:off x="6457950" y="2609800"/>
            <a:ext cx="304800" cy="304800"/>
          </a:xfrm>
          <a:prstGeom prst="rect">
            <a:avLst/>
          </a:prstGeom>
          <a:noFill/>
          <a:ln>
            <a:noFill/>
          </a:ln>
        </p:spPr>
      </p:pic>
      <p:sp>
        <p:nvSpPr>
          <p:cNvPr id="668" name="Google Shape;668;p27"/>
          <p:cNvSpPr/>
          <p:nvPr/>
        </p:nvSpPr>
        <p:spPr>
          <a:xfrm>
            <a:off x="6457950" y="3016200"/>
            <a:ext cx="2027555"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Gaps</a:t>
            </a:r>
            <a:endParaRPr b="0" i="0" sz="1500" u="none" cap="none" strike="noStrike">
              <a:solidFill>
                <a:schemeClr val="lt1"/>
              </a:solidFill>
              <a:latin typeface="Montserrat"/>
              <a:ea typeface="Montserrat"/>
              <a:cs typeface="Montserrat"/>
              <a:sym typeface="Montserrat"/>
            </a:endParaRPr>
          </a:p>
        </p:txBody>
      </p:sp>
      <p:sp>
        <p:nvSpPr>
          <p:cNvPr id="669" name="Google Shape;669;p27"/>
          <p:cNvSpPr/>
          <p:nvPr/>
        </p:nvSpPr>
        <p:spPr>
          <a:xfrm>
            <a:off x="6457950" y="3346400"/>
            <a:ext cx="2027555" cy="8786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What could not be seen: the clipboard, a channel with no telemetry, a source not ingested.</a:t>
            </a:r>
            <a:endParaRPr b="0" i="0" sz="1200" u="none" cap="none" strike="noStrike">
              <a:solidFill>
                <a:schemeClr val="lt1"/>
              </a:solidFill>
              <a:latin typeface="Montserrat"/>
              <a:ea typeface="Montserrat"/>
              <a:cs typeface="Montserrat"/>
              <a:sym typeface="Montserrat"/>
            </a:endParaRPr>
          </a:p>
        </p:txBody>
      </p:sp>
      <p:sp>
        <p:nvSpPr>
          <p:cNvPr id="670" name="Google Shape;670;p27"/>
          <p:cNvSpPr/>
          <p:nvPr/>
        </p:nvSpPr>
        <p:spPr>
          <a:xfrm>
            <a:off x="8893175" y="2352625"/>
            <a:ext cx="2482850" cy="2104231"/>
          </a:xfrm>
          <a:prstGeom prst="roundRect">
            <a:avLst>
              <a:gd fmla="val 4677" name="adj"/>
            </a:avLst>
          </a:prstGeom>
          <a:solidFill>
            <a:srgbClr val="1B1726"/>
          </a:solidFill>
          <a:ln cap="flat" cmpd="sng" w="9525">
            <a:solidFill>
              <a:srgbClr val="2D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d="671" name="Google Shape;671;p27"/>
          <p:cNvPicPr preferRelativeResize="0"/>
          <p:nvPr/>
        </p:nvPicPr>
        <p:blipFill rotWithShape="1">
          <a:blip r:embed="rId6">
            <a:alphaModFix/>
          </a:blip>
          <a:srcRect b="0" l="0" r="0" t="0"/>
          <a:stretch/>
        </p:blipFill>
        <p:spPr>
          <a:xfrm>
            <a:off x="9150350" y="2609800"/>
            <a:ext cx="304800" cy="304800"/>
          </a:xfrm>
          <a:prstGeom prst="rect">
            <a:avLst/>
          </a:prstGeom>
          <a:noFill/>
          <a:ln>
            <a:noFill/>
          </a:ln>
        </p:spPr>
      </p:pic>
      <p:sp>
        <p:nvSpPr>
          <p:cNvPr id="672" name="Google Shape;672;p27"/>
          <p:cNvSpPr/>
          <p:nvPr/>
        </p:nvSpPr>
        <p:spPr>
          <a:xfrm>
            <a:off x="9150350" y="3016200"/>
            <a:ext cx="2027555"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Next hypothesis</a:t>
            </a:r>
            <a:endParaRPr b="0" i="0" sz="1500" u="none" cap="none" strike="noStrike">
              <a:solidFill>
                <a:schemeClr val="lt1"/>
              </a:solidFill>
              <a:latin typeface="Montserrat"/>
              <a:ea typeface="Montserrat"/>
              <a:cs typeface="Montserrat"/>
              <a:sym typeface="Montserrat"/>
            </a:endParaRPr>
          </a:p>
        </p:txBody>
      </p:sp>
      <p:sp>
        <p:nvSpPr>
          <p:cNvPr id="673" name="Google Shape;673;p27"/>
          <p:cNvSpPr/>
          <p:nvPr/>
        </p:nvSpPr>
        <p:spPr>
          <a:xfrm>
            <a:off x="9150350" y="3346400"/>
            <a:ext cx="2027555"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C5D8"/>
              </a:buClr>
              <a:buSzPts val="1200"/>
              <a:buFont typeface="Montserrat"/>
              <a:buNone/>
            </a:pPr>
            <a:r>
              <a:rPr b="0" i="0" lang="en-US" sz="1200" u="none" cap="none" strike="noStrike">
                <a:solidFill>
                  <a:srgbClr val="C9C5D8"/>
                </a:solidFill>
                <a:latin typeface="Montserrat"/>
                <a:ea typeface="Montserrat"/>
                <a:cs typeface="Montserrat"/>
                <a:sym typeface="Montserrat"/>
              </a:rPr>
              <a:t>What you would look for if you had the missing visibility.</a:t>
            </a:r>
            <a:endParaRPr b="0" i="0" sz="1200" u="none" cap="none" strike="noStrike">
              <a:solidFill>
                <a:schemeClr val="lt1"/>
              </a:solidFill>
              <a:latin typeface="Montserrat"/>
              <a:ea typeface="Montserrat"/>
              <a:cs typeface="Montserrat"/>
              <a:sym typeface="Montserrat"/>
            </a:endParaRPr>
          </a:p>
        </p:txBody>
      </p:sp>
      <p:sp>
        <p:nvSpPr>
          <p:cNvPr id="674" name="Google Shape;674;p27"/>
          <p:cNvSpPr/>
          <p:nvPr/>
        </p:nvSpPr>
        <p:spPr>
          <a:xfrm>
            <a:off x="812800" y="4714032"/>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0" i="0" lang="en-US" sz="1500" u="none" cap="none" strike="noStrike">
                <a:solidFill>
                  <a:srgbClr val="F59E42"/>
                </a:solidFill>
                <a:latin typeface="Montserrat"/>
                <a:ea typeface="Montserrat"/>
                <a:cs typeface="Montserrat"/>
                <a:sym typeface="Montserrat"/>
              </a:rPr>
              <a:t>A report like this tells the decision-maker how much to trust the silence.</a:t>
            </a:r>
            <a:endParaRPr b="0" i="0" sz="1500" u="none" cap="none" strike="noStrike">
              <a:solidFill>
                <a:schemeClr val="lt1"/>
              </a:solidFill>
              <a:latin typeface="Montserrat"/>
              <a:ea typeface="Montserrat"/>
              <a:cs typeface="Montserrat"/>
              <a:sym typeface="Montserrat"/>
            </a:endParaRPr>
          </a:p>
        </p:txBody>
      </p:sp>
      <p:sp>
        <p:nvSpPr>
          <p:cNvPr id="675" name="Google Shape;675;p27"/>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676" name="Google Shape;676;p27"/>
          <p:cNvSpPr/>
          <p:nvPr/>
        </p:nvSpPr>
        <p:spPr>
          <a:xfrm>
            <a:off x="11152436" y="6238280"/>
            <a:ext cx="226764"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27</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681" name="Shape 681"/>
        <p:cNvGrpSpPr/>
        <p:nvPr/>
      </p:nvGrpSpPr>
      <p:grpSpPr>
        <a:xfrm>
          <a:off x="0" y="0"/>
          <a:ext cx="0" cy="0"/>
          <a:chOff x="0" y="0"/>
          <a:chExt cx="0" cy="0"/>
        </a:xfrm>
      </p:grpSpPr>
      <p:sp>
        <p:nvSpPr>
          <p:cNvPr id="682" name="Google Shape;682;p28"/>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WRITING THE STORY · CHECKLIST</a:t>
            </a:r>
            <a:endParaRPr b="0" i="0" sz="1200" u="none" cap="none" strike="noStrike">
              <a:solidFill>
                <a:schemeClr val="lt1"/>
              </a:solidFill>
              <a:latin typeface="Montserrat"/>
              <a:ea typeface="Montserrat"/>
              <a:cs typeface="Montserrat"/>
              <a:sym typeface="Montserrat"/>
            </a:endParaRPr>
          </a:p>
        </p:txBody>
      </p:sp>
      <p:sp>
        <p:nvSpPr>
          <p:cNvPr id="683" name="Google Shape;683;p28"/>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Before you hand it in</a:t>
            </a:r>
            <a:endParaRPr sz="3200"/>
          </a:p>
        </p:txBody>
      </p:sp>
      <p:pic>
        <p:nvPicPr>
          <p:cNvPr descr="Check" id="684" name="Google Shape;684;p28"/>
          <p:cNvPicPr preferRelativeResize="0"/>
          <p:nvPr/>
        </p:nvPicPr>
        <p:blipFill rotWithShape="1">
          <a:blip r:embed="rId3">
            <a:alphaModFix/>
          </a:blip>
          <a:srcRect b="-500" l="0" r="0" t="-500"/>
          <a:stretch/>
        </p:blipFill>
        <p:spPr>
          <a:xfrm>
            <a:off x="812800" y="1828750"/>
            <a:ext cx="188615" cy="254000"/>
          </a:xfrm>
          <a:prstGeom prst="rect">
            <a:avLst/>
          </a:prstGeom>
          <a:noFill/>
          <a:ln>
            <a:noFill/>
          </a:ln>
        </p:spPr>
      </p:pic>
      <p:sp>
        <p:nvSpPr>
          <p:cNvPr id="685" name="Google Shape;685;p28"/>
          <p:cNvSpPr/>
          <p:nvPr/>
        </p:nvSpPr>
        <p:spPr>
          <a:xfrm>
            <a:off x="1128415" y="1828750"/>
            <a:ext cx="5025046"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The executive summary fits on one page and opens with the verdict.</a:t>
            </a:r>
            <a:endParaRPr b="0" i="0" sz="1500" u="none" cap="none" strike="noStrike">
              <a:solidFill>
                <a:schemeClr val="lt1"/>
              </a:solidFill>
              <a:latin typeface="Montserrat"/>
              <a:ea typeface="Montserrat"/>
              <a:cs typeface="Montserrat"/>
              <a:sym typeface="Montserrat"/>
            </a:endParaRPr>
          </a:p>
        </p:txBody>
      </p:sp>
      <p:pic>
        <p:nvPicPr>
          <p:cNvPr descr="Check" id="686" name="Google Shape;686;p28"/>
          <p:cNvPicPr preferRelativeResize="0"/>
          <p:nvPr/>
        </p:nvPicPr>
        <p:blipFill rotWithShape="1">
          <a:blip r:embed="rId4">
            <a:alphaModFix/>
          </a:blip>
          <a:srcRect b="-175" l="0" r="0" t="-175"/>
          <a:stretch/>
        </p:blipFill>
        <p:spPr>
          <a:xfrm>
            <a:off x="6184900" y="1828750"/>
            <a:ext cx="240457" cy="254000"/>
          </a:xfrm>
          <a:prstGeom prst="rect">
            <a:avLst/>
          </a:prstGeom>
          <a:noFill/>
          <a:ln>
            <a:noFill/>
          </a:ln>
        </p:spPr>
      </p:pic>
      <p:sp>
        <p:nvSpPr>
          <p:cNvPr id="687" name="Google Shape;687;p28"/>
          <p:cNvSpPr/>
          <p:nvPr/>
        </p:nvSpPr>
        <p:spPr>
          <a:xfrm>
            <a:off x="6552357" y="1828750"/>
            <a:ext cx="4971649"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Every recommendation has a priority, an owner and a status.</a:t>
            </a:r>
            <a:endParaRPr b="0" i="0" sz="1500" u="none" cap="none" strike="noStrike">
              <a:solidFill>
                <a:schemeClr val="lt1"/>
              </a:solidFill>
              <a:latin typeface="Montserrat"/>
              <a:ea typeface="Montserrat"/>
              <a:cs typeface="Montserrat"/>
              <a:sym typeface="Montserrat"/>
            </a:endParaRPr>
          </a:p>
        </p:txBody>
      </p:sp>
      <p:pic>
        <p:nvPicPr>
          <p:cNvPr descr="Check" id="688" name="Google Shape;688;p28"/>
          <p:cNvPicPr preferRelativeResize="0"/>
          <p:nvPr/>
        </p:nvPicPr>
        <p:blipFill rotWithShape="1">
          <a:blip r:embed="rId5">
            <a:alphaModFix/>
          </a:blip>
          <a:srcRect b="-499" l="0" r="0" t="-499"/>
          <a:stretch/>
        </p:blipFill>
        <p:spPr>
          <a:xfrm>
            <a:off x="812800" y="2539950"/>
            <a:ext cx="213767" cy="254000"/>
          </a:xfrm>
          <a:prstGeom prst="rect">
            <a:avLst/>
          </a:prstGeom>
          <a:noFill/>
          <a:ln>
            <a:noFill/>
          </a:ln>
        </p:spPr>
      </p:pic>
      <p:sp>
        <p:nvSpPr>
          <p:cNvPr id="689" name="Google Shape;689;p28"/>
          <p:cNvSpPr/>
          <p:nvPr/>
        </p:nvSpPr>
        <p:spPr>
          <a:xfrm>
            <a:off x="1153567" y="2539950"/>
            <a:ext cx="4999139"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Every finding has a verdict, evidence and a confidence level.</a:t>
            </a:r>
            <a:endParaRPr b="0" i="0" sz="1500" u="none" cap="none" strike="noStrike">
              <a:solidFill>
                <a:schemeClr val="lt1"/>
              </a:solidFill>
              <a:latin typeface="Montserrat"/>
              <a:ea typeface="Montserrat"/>
              <a:cs typeface="Montserrat"/>
              <a:sym typeface="Montserrat"/>
            </a:endParaRPr>
          </a:p>
        </p:txBody>
      </p:sp>
      <p:pic>
        <p:nvPicPr>
          <p:cNvPr descr="Check" id="690" name="Google Shape;690;p28"/>
          <p:cNvPicPr preferRelativeResize="0"/>
          <p:nvPr/>
        </p:nvPicPr>
        <p:blipFill rotWithShape="1">
          <a:blip r:embed="rId6">
            <a:alphaModFix/>
          </a:blip>
          <a:srcRect b="-351" l="0" r="0" t="-351"/>
          <a:stretch/>
        </p:blipFill>
        <p:spPr>
          <a:xfrm>
            <a:off x="6184900" y="2539950"/>
            <a:ext cx="233313" cy="254000"/>
          </a:xfrm>
          <a:prstGeom prst="rect">
            <a:avLst/>
          </a:prstGeom>
          <a:noFill/>
          <a:ln>
            <a:noFill/>
          </a:ln>
        </p:spPr>
      </p:pic>
      <p:sp>
        <p:nvSpPr>
          <p:cNvPr id="691" name="Google Shape;691;p28"/>
          <p:cNvSpPr/>
          <p:nvPr/>
        </p:nvSpPr>
        <p:spPr>
          <a:xfrm>
            <a:off x="6545213" y="2539950"/>
            <a:ext cx="4979007"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The queries in the appendix can be re-run as they are.</a:t>
            </a:r>
            <a:endParaRPr b="0" i="0" sz="1500" u="none" cap="none" strike="noStrike">
              <a:solidFill>
                <a:schemeClr val="lt1"/>
              </a:solidFill>
              <a:latin typeface="Montserrat"/>
              <a:ea typeface="Montserrat"/>
              <a:cs typeface="Montserrat"/>
              <a:sym typeface="Montserrat"/>
            </a:endParaRPr>
          </a:p>
        </p:txBody>
      </p:sp>
      <p:pic>
        <p:nvPicPr>
          <p:cNvPr descr="Check" id="692" name="Google Shape;692;p28"/>
          <p:cNvPicPr preferRelativeResize="0"/>
          <p:nvPr/>
        </p:nvPicPr>
        <p:blipFill rotWithShape="1">
          <a:blip r:embed="rId7">
            <a:alphaModFix/>
          </a:blip>
          <a:srcRect b="0" l="0" r="0" t="0"/>
          <a:stretch/>
        </p:blipFill>
        <p:spPr>
          <a:xfrm>
            <a:off x="812800" y="3251150"/>
            <a:ext cx="254000" cy="254000"/>
          </a:xfrm>
          <a:prstGeom prst="rect">
            <a:avLst/>
          </a:prstGeom>
          <a:noFill/>
          <a:ln>
            <a:noFill/>
          </a:ln>
        </p:spPr>
      </p:pic>
      <p:sp>
        <p:nvSpPr>
          <p:cNvPr id="693" name="Google Shape;693;p28"/>
          <p:cNvSpPr/>
          <p:nvPr/>
        </p:nvSpPr>
        <p:spPr>
          <a:xfrm>
            <a:off x="1193800" y="3251150"/>
            <a:ext cx="499110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Facts are kept apart from assessments.</a:t>
            </a:r>
            <a:endParaRPr b="0" i="0" sz="1500" u="none" cap="none" strike="noStrike">
              <a:solidFill>
                <a:schemeClr val="lt1"/>
              </a:solidFill>
              <a:latin typeface="Montserrat"/>
              <a:ea typeface="Montserrat"/>
              <a:cs typeface="Montserrat"/>
              <a:sym typeface="Montserrat"/>
            </a:endParaRPr>
          </a:p>
        </p:txBody>
      </p:sp>
      <p:pic>
        <p:nvPicPr>
          <p:cNvPr descr="Check" id="694" name="Google Shape;694;p28"/>
          <p:cNvPicPr preferRelativeResize="0"/>
          <p:nvPr/>
        </p:nvPicPr>
        <p:blipFill rotWithShape="1">
          <a:blip r:embed="rId7">
            <a:alphaModFix/>
          </a:blip>
          <a:srcRect b="0" l="0" r="0" t="0"/>
          <a:stretch/>
        </p:blipFill>
        <p:spPr>
          <a:xfrm>
            <a:off x="6184900" y="3251150"/>
            <a:ext cx="254000" cy="254000"/>
          </a:xfrm>
          <a:prstGeom prst="rect">
            <a:avLst/>
          </a:prstGeom>
          <a:noFill/>
          <a:ln>
            <a:noFill/>
          </a:ln>
        </p:spPr>
      </p:pic>
      <p:sp>
        <p:nvSpPr>
          <p:cNvPr id="695" name="Google Shape;695;p28"/>
          <p:cNvSpPr/>
          <p:nvPr/>
        </p:nvSpPr>
        <p:spPr>
          <a:xfrm>
            <a:off x="6565900" y="3251150"/>
            <a:ext cx="5008424"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The victim’s data is anonymized.</a:t>
            </a:r>
            <a:endParaRPr b="0" i="0" sz="1500" u="none" cap="none" strike="noStrike">
              <a:solidFill>
                <a:schemeClr val="lt1"/>
              </a:solidFill>
              <a:latin typeface="Montserrat"/>
              <a:ea typeface="Montserrat"/>
              <a:cs typeface="Montserrat"/>
              <a:sym typeface="Montserrat"/>
            </a:endParaRPr>
          </a:p>
        </p:txBody>
      </p:sp>
      <p:pic>
        <p:nvPicPr>
          <p:cNvPr descr="Check" id="696" name="Google Shape;696;p28"/>
          <p:cNvPicPr preferRelativeResize="0"/>
          <p:nvPr/>
        </p:nvPicPr>
        <p:blipFill rotWithShape="1">
          <a:blip r:embed="rId8">
            <a:alphaModFix/>
          </a:blip>
          <a:srcRect b="0" l="-502" r="-502" t="0"/>
          <a:stretch/>
        </p:blipFill>
        <p:spPr>
          <a:xfrm>
            <a:off x="812800" y="3695650"/>
            <a:ext cx="224482" cy="254000"/>
          </a:xfrm>
          <a:prstGeom prst="rect">
            <a:avLst/>
          </a:prstGeom>
          <a:noFill/>
          <a:ln>
            <a:noFill/>
          </a:ln>
        </p:spPr>
      </p:pic>
      <p:sp>
        <p:nvSpPr>
          <p:cNvPr id="697" name="Google Shape;697;p28"/>
          <p:cNvSpPr/>
          <p:nvPr/>
        </p:nvSpPr>
        <p:spPr>
          <a:xfrm>
            <a:off x="1164282" y="3695650"/>
            <a:ext cx="4988102"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Limitations and gaps are written down, not implied.</a:t>
            </a:r>
            <a:endParaRPr b="0" i="0" sz="1500" u="none" cap="none" strike="noStrike">
              <a:solidFill>
                <a:schemeClr val="lt1"/>
              </a:solidFill>
              <a:latin typeface="Montserrat"/>
              <a:ea typeface="Montserrat"/>
              <a:cs typeface="Montserrat"/>
              <a:sym typeface="Montserrat"/>
            </a:endParaRPr>
          </a:p>
        </p:txBody>
      </p:sp>
      <p:pic>
        <p:nvPicPr>
          <p:cNvPr descr="Check" id="698" name="Google Shape;698;p28"/>
          <p:cNvPicPr preferRelativeResize="0"/>
          <p:nvPr/>
        </p:nvPicPr>
        <p:blipFill rotWithShape="1">
          <a:blip r:embed="rId7">
            <a:alphaModFix/>
          </a:blip>
          <a:srcRect b="0" l="0" r="0" t="0"/>
          <a:stretch/>
        </p:blipFill>
        <p:spPr>
          <a:xfrm>
            <a:off x="6184900" y="3695650"/>
            <a:ext cx="254000" cy="254000"/>
          </a:xfrm>
          <a:prstGeom prst="rect">
            <a:avLst/>
          </a:prstGeom>
          <a:noFill/>
          <a:ln>
            <a:noFill/>
          </a:ln>
        </p:spPr>
      </p:pic>
      <p:sp>
        <p:nvSpPr>
          <p:cNvPr id="699" name="Google Shape;699;p28"/>
          <p:cNvSpPr/>
          <p:nvPr/>
        </p:nvSpPr>
        <p:spPr>
          <a:xfrm>
            <a:off x="6565900" y="3695650"/>
            <a:ext cx="3949244"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The TLP is marked on the cover.</a:t>
            </a:r>
            <a:endParaRPr b="0" i="0" sz="1500" u="none" cap="none" strike="noStrike">
              <a:solidFill>
                <a:schemeClr val="lt1"/>
              </a:solidFill>
              <a:latin typeface="Montserrat"/>
              <a:ea typeface="Montserrat"/>
              <a:cs typeface="Montserrat"/>
              <a:sym typeface="Montserrat"/>
            </a:endParaRPr>
          </a:p>
        </p:txBody>
      </p:sp>
      <p:sp>
        <p:nvSpPr>
          <p:cNvPr id="700" name="Google Shape;700;p28"/>
          <p:cNvSpPr/>
          <p:nvPr/>
        </p:nvSpPr>
        <p:spPr>
          <a:xfrm>
            <a:off x="812800" y="4483050"/>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500"/>
              <a:buFont typeface="Montserrat"/>
              <a:buNone/>
            </a:pPr>
            <a:r>
              <a:rPr b="0" i="0" lang="en-US" sz="1500" u="none" cap="none" strike="noStrike">
                <a:solidFill>
                  <a:srgbClr val="F59E42"/>
                </a:solidFill>
                <a:latin typeface="Montserrat"/>
                <a:ea typeface="Montserrat"/>
                <a:cs typeface="Montserrat"/>
                <a:sym typeface="Montserrat"/>
              </a:rPr>
              <a:t>This is the rubric the exercise is graded against.</a:t>
            </a:r>
            <a:endParaRPr b="0" i="0" sz="1500" u="none" cap="none" strike="noStrike">
              <a:solidFill>
                <a:schemeClr val="lt1"/>
              </a:solidFill>
              <a:latin typeface="Montserrat"/>
              <a:ea typeface="Montserrat"/>
              <a:cs typeface="Montserrat"/>
              <a:sym typeface="Montserrat"/>
            </a:endParaRPr>
          </a:p>
        </p:txBody>
      </p:sp>
      <p:sp>
        <p:nvSpPr>
          <p:cNvPr id="701" name="Google Shape;701;p28"/>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702" name="Google Shape;702;p28"/>
          <p:cNvSpPr/>
          <p:nvPr/>
        </p:nvSpPr>
        <p:spPr>
          <a:xfrm>
            <a:off x="11144647" y="6238280"/>
            <a:ext cx="234553"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28</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B12"/>
        </a:solidFill>
      </p:bgPr>
    </p:bg>
    <p:spTree>
      <p:nvGrpSpPr>
        <p:cNvPr id="707" name="Shape 707"/>
        <p:cNvGrpSpPr/>
        <p:nvPr/>
      </p:nvGrpSpPr>
      <p:grpSpPr>
        <a:xfrm>
          <a:off x="0" y="0"/>
          <a:ext cx="0" cy="0"/>
          <a:chOff x="0" y="0"/>
          <a:chExt cx="0" cy="0"/>
        </a:xfrm>
      </p:grpSpPr>
      <p:sp>
        <p:nvSpPr>
          <p:cNvPr id="708" name="Google Shape;708;p29"/>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THE EXERCISE</a:t>
            </a:r>
            <a:endParaRPr b="0" i="0" sz="1200" u="none" cap="none" strike="noStrike">
              <a:solidFill>
                <a:schemeClr val="lt1"/>
              </a:solidFill>
              <a:latin typeface="Montserrat"/>
              <a:ea typeface="Montserrat"/>
              <a:cs typeface="Montserrat"/>
              <a:sym typeface="Montserrat"/>
            </a:endParaRPr>
          </a:p>
        </p:txBody>
      </p:sp>
      <p:sp>
        <p:nvSpPr>
          <p:cNvPr id="709" name="Google Shape;709;p29"/>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1EEF7"/>
              </a:buClr>
              <a:buSzPts val="3200"/>
              <a:buFont typeface="Montserrat"/>
              <a:buNone/>
            </a:pPr>
            <a:r>
              <a:rPr b="1" i="0" lang="en-US" sz="3200">
                <a:solidFill>
                  <a:srgbClr val="F1EEF7"/>
                </a:solidFill>
                <a:latin typeface="Montserrat"/>
                <a:ea typeface="Montserrat"/>
                <a:cs typeface="Montserrat"/>
                <a:sym typeface="Montserrat"/>
              </a:rPr>
              <a:t>Your turn</a:t>
            </a:r>
            <a:endParaRPr sz="3200"/>
          </a:p>
        </p:txBody>
      </p:sp>
      <p:sp>
        <p:nvSpPr>
          <p:cNvPr id="710" name="Google Shape;710;p29"/>
          <p:cNvSpPr/>
          <p:nvPr/>
        </p:nvSpPr>
        <p:spPr>
          <a:xfrm>
            <a:off x="812800" y="1828750"/>
            <a:ext cx="355600" cy="3048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1</a:t>
            </a:r>
            <a:endParaRPr b="0" i="0" sz="2000" u="none" cap="none" strike="noStrike">
              <a:solidFill>
                <a:schemeClr val="lt1"/>
              </a:solidFill>
              <a:latin typeface="Montserrat"/>
              <a:ea typeface="Montserrat"/>
              <a:cs typeface="Montserrat"/>
              <a:sym typeface="Montserrat"/>
            </a:endParaRPr>
          </a:p>
        </p:txBody>
      </p:sp>
      <p:sp>
        <p:nvSpPr>
          <p:cNvPr id="711" name="Google Shape;711;p29"/>
          <p:cNvSpPr/>
          <p:nvPr/>
        </p:nvSpPr>
        <p:spPr>
          <a:xfrm>
            <a:off x="1270000" y="1828750"/>
            <a:ext cx="5414546"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Log in to the workshop’s Microsoft Sentinel lab.</a:t>
            </a:r>
            <a:endParaRPr b="0" i="0" sz="1500" u="none" cap="none" strike="noStrike">
              <a:solidFill>
                <a:schemeClr val="lt1"/>
              </a:solidFill>
              <a:latin typeface="Montserrat"/>
              <a:ea typeface="Montserrat"/>
              <a:cs typeface="Montserrat"/>
              <a:sym typeface="Montserrat"/>
            </a:endParaRPr>
          </a:p>
        </p:txBody>
      </p:sp>
      <p:sp>
        <p:nvSpPr>
          <p:cNvPr id="712" name="Google Shape;712;p29"/>
          <p:cNvSpPr/>
          <p:nvPr/>
        </p:nvSpPr>
        <p:spPr>
          <a:xfrm>
            <a:off x="812800" y="2235150"/>
            <a:ext cx="355600" cy="3048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2</a:t>
            </a:r>
            <a:endParaRPr b="0" i="0" sz="2000" u="none" cap="none" strike="noStrike">
              <a:solidFill>
                <a:schemeClr val="lt1"/>
              </a:solidFill>
              <a:latin typeface="Montserrat"/>
              <a:ea typeface="Montserrat"/>
              <a:cs typeface="Montserrat"/>
              <a:sym typeface="Montserrat"/>
            </a:endParaRPr>
          </a:p>
        </p:txBody>
      </p:sp>
      <p:sp>
        <p:nvSpPr>
          <p:cNvPr id="713" name="Google Shape;713;p29"/>
          <p:cNvSpPr/>
          <p:nvPr/>
        </p:nvSpPr>
        <p:spPr>
          <a:xfrm>
            <a:off x="1270000" y="2235150"/>
            <a:ext cx="5938774"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Run the seed queries from the repo in order, starting with the positive control.</a:t>
            </a:r>
            <a:endParaRPr b="0" i="0" sz="1500" u="none" cap="none" strike="noStrike">
              <a:solidFill>
                <a:schemeClr val="lt1"/>
              </a:solidFill>
              <a:latin typeface="Montserrat"/>
              <a:ea typeface="Montserrat"/>
              <a:cs typeface="Montserrat"/>
              <a:sym typeface="Montserrat"/>
            </a:endParaRPr>
          </a:p>
        </p:txBody>
      </p:sp>
      <p:sp>
        <p:nvSpPr>
          <p:cNvPr id="714" name="Google Shape;714;p29"/>
          <p:cNvSpPr/>
          <p:nvPr/>
        </p:nvSpPr>
        <p:spPr>
          <a:xfrm>
            <a:off x="812800" y="2895550"/>
            <a:ext cx="355600" cy="3048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3</a:t>
            </a:r>
            <a:endParaRPr b="0" i="0" sz="2000" u="none" cap="none" strike="noStrike">
              <a:solidFill>
                <a:schemeClr val="lt1"/>
              </a:solidFill>
              <a:latin typeface="Montserrat"/>
              <a:ea typeface="Montserrat"/>
              <a:cs typeface="Montserrat"/>
              <a:sym typeface="Montserrat"/>
            </a:endParaRPr>
          </a:p>
        </p:txBody>
      </p:sp>
      <p:sp>
        <p:nvSpPr>
          <p:cNvPr id="715" name="Google Shape;715;p29"/>
          <p:cNvSpPr/>
          <p:nvPr/>
        </p:nvSpPr>
        <p:spPr>
          <a:xfrm>
            <a:off x="1270000" y="2895550"/>
            <a:ext cx="5938774"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Classify every result: malicious, benign or inconclusive.</a:t>
            </a:r>
            <a:endParaRPr b="0" i="0" sz="1500" u="none" cap="none" strike="noStrike">
              <a:solidFill>
                <a:schemeClr val="lt1"/>
              </a:solidFill>
              <a:latin typeface="Montserrat"/>
              <a:ea typeface="Montserrat"/>
              <a:cs typeface="Montserrat"/>
              <a:sym typeface="Montserrat"/>
            </a:endParaRPr>
          </a:p>
        </p:txBody>
      </p:sp>
      <p:sp>
        <p:nvSpPr>
          <p:cNvPr id="716" name="Google Shape;716;p29"/>
          <p:cNvSpPr/>
          <p:nvPr/>
        </p:nvSpPr>
        <p:spPr>
          <a:xfrm>
            <a:off x="812800" y="3555950"/>
            <a:ext cx="355600" cy="3048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4</a:t>
            </a:r>
            <a:endParaRPr b="0" i="0" sz="2000" u="none" cap="none" strike="noStrike">
              <a:solidFill>
                <a:schemeClr val="lt1"/>
              </a:solidFill>
              <a:latin typeface="Montserrat"/>
              <a:ea typeface="Montserrat"/>
              <a:cs typeface="Montserrat"/>
              <a:sym typeface="Montserrat"/>
            </a:endParaRPr>
          </a:p>
        </p:txBody>
      </p:sp>
      <p:sp>
        <p:nvSpPr>
          <p:cNvPr id="717" name="Google Shape;717;p29"/>
          <p:cNvSpPr/>
          <p:nvPr/>
        </p:nvSpPr>
        <p:spPr>
          <a:xfrm>
            <a:off x="1270000" y="3555950"/>
            <a:ext cx="5938774" cy="55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Write the report with the template. The executive summary goes first.</a:t>
            </a:r>
            <a:endParaRPr b="0" i="0" sz="1500" u="none" cap="none" strike="noStrike">
              <a:solidFill>
                <a:schemeClr val="lt1"/>
              </a:solidFill>
              <a:latin typeface="Montserrat"/>
              <a:ea typeface="Montserrat"/>
              <a:cs typeface="Montserrat"/>
              <a:sym typeface="Montserrat"/>
            </a:endParaRPr>
          </a:p>
        </p:txBody>
      </p:sp>
      <p:sp>
        <p:nvSpPr>
          <p:cNvPr id="718" name="Google Shape;718;p29"/>
          <p:cNvSpPr/>
          <p:nvPr/>
        </p:nvSpPr>
        <p:spPr>
          <a:xfrm>
            <a:off x="812800" y="4216350"/>
            <a:ext cx="355600" cy="3048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59E42"/>
              </a:buClr>
              <a:buSzPts val="2000"/>
              <a:buFont typeface="Montserrat"/>
              <a:buNone/>
            </a:pPr>
            <a:r>
              <a:rPr b="1" i="0" lang="en-US" sz="2000" u="none" cap="none" strike="noStrike">
                <a:solidFill>
                  <a:srgbClr val="F59E42"/>
                </a:solidFill>
                <a:latin typeface="Montserrat"/>
                <a:ea typeface="Montserrat"/>
                <a:cs typeface="Montserrat"/>
                <a:sym typeface="Montserrat"/>
              </a:rPr>
              <a:t>5</a:t>
            </a:r>
            <a:endParaRPr b="0" i="0" sz="2000" u="none" cap="none" strike="noStrike">
              <a:solidFill>
                <a:schemeClr val="lt1"/>
              </a:solidFill>
              <a:latin typeface="Montserrat"/>
              <a:ea typeface="Montserrat"/>
              <a:cs typeface="Montserrat"/>
              <a:sym typeface="Montserrat"/>
            </a:endParaRPr>
          </a:p>
        </p:txBody>
      </p:sp>
      <p:sp>
        <p:nvSpPr>
          <p:cNvPr id="719" name="Google Shape;719;p29"/>
          <p:cNvSpPr/>
          <p:nvPr/>
        </p:nvSpPr>
        <p:spPr>
          <a:xfrm>
            <a:off x="1270000" y="4216350"/>
            <a:ext cx="5344835"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0" i="0" lang="en-US" sz="1500" u="none" cap="none" strike="noStrike">
                <a:solidFill>
                  <a:srgbClr val="F1EEF7"/>
                </a:solidFill>
                <a:latin typeface="Montserrat"/>
                <a:ea typeface="Montserrat"/>
                <a:cs typeface="Montserrat"/>
                <a:sym typeface="Montserrat"/>
              </a:rPr>
              <a:t>Share it on Discord and review it against the rubric.</a:t>
            </a:r>
            <a:endParaRPr b="0" i="0" sz="1500" u="none" cap="none" strike="noStrike">
              <a:solidFill>
                <a:schemeClr val="lt1"/>
              </a:solidFill>
              <a:latin typeface="Montserrat"/>
              <a:ea typeface="Montserrat"/>
              <a:cs typeface="Montserrat"/>
              <a:sym typeface="Montserrat"/>
            </a:endParaRPr>
          </a:p>
        </p:txBody>
      </p:sp>
      <p:sp>
        <p:nvSpPr>
          <p:cNvPr id="720" name="Google Shape;720;p29"/>
          <p:cNvSpPr/>
          <p:nvPr/>
        </p:nvSpPr>
        <p:spPr>
          <a:xfrm>
            <a:off x="7448550" y="1835100"/>
            <a:ext cx="3924300" cy="2646363"/>
          </a:xfrm>
          <a:prstGeom prst="roundRect">
            <a:avLst>
              <a:gd fmla="val 3599" name="adj"/>
            </a:avLst>
          </a:prstGeom>
          <a:solidFill>
            <a:srgbClr val="1B1726"/>
          </a:solidFill>
          <a:ln cap="flat" cmpd="sng" w="12700">
            <a:solidFill>
              <a:srgbClr val="F59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9"/>
          <p:cNvSpPr/>
          <p:nvPr/>
        </p:nvSpPr>
        <p:spPr>
          <a:xfrm>
            <a:off x="7708900" y="2095450"/>
            <a:ext cx="350570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WORKSHOP REPO</a:t>
            </a:r>
            <a:endParaRPr b="0" i="0" sz="1200" u="none" cap="none" strike="noStrike">
              <a:solidFill>
                <a:schemeClr val="lt1"/>
              </a:solidFill>
              <a:latin typeface="Montserrat"/>
              <a:ea typeface="Montserrat"/>
              <a:cs typeface="Montserrat"/>
              <a:sym typeface="Montserrat"/>
            </a:endParaRPr>
          </a:p>
        </p:txBody>
      </p:sp>
      <p:sp>
        <p:nvSpPr>
          <p:cNvPr id="722" name="Google Shape;722;p29"/>
          <p:cNvSpPr/>
          <p:nvPr/>
        </p:nvSpPr>
        <p:spPr>
          <a:xfrm>
            <a:off x="7708900" y="2346871"/>
            <a:ext cx="3505708"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github.com/Ank1nskywalker/talks, folder 2026</a:t>
            </a:r>
            <a:endParaRPr b="0" i="0" sz="1200" u="none" cap="none" strike="noStrike">
              <a:solidFill>
                <a:schemeClr val="lt1"/>
              </a:solidFill>
              <a:latin typeface="Montserrat"/>
              <a:ea typeface="Montserrat"/>
              <a:cs typeface="Montserrat"/>
              <a:sym typeface="Montserrat"/>
            </a:endParaRPr>
          </a:p>
        </p:txBody>
      </p:sp>
      <p:sp>
        <p:nvSpPr>
          <p:cNvPr id="723" name="Google Shape;723;p29"/>
          <p:cNvSpPr/>
          <p:nvPr/>
        </p:nvSpPr>
        <p:spPr>
          <a:xfrm>
            <a:off x="7708900" y="2925911"/>
            <a:ext cx="350570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TEMPLATE EN / ES</a:t>
            </a:r>
            <a:endParaRPr b="0" i="0" sz="1200" u="none" cap="none" strike="noStrike">
              <a:solidFill>
                <a:schemeClr val="lt1"/>
              </a:solidFill>
              <a:latin typeface="Montserrat"/>
              <a:ea typeface="Montserrat"/>
              <a:cs typeface="Montserrat"/>
              <a:sym typeface="Montserrat"/>
            </a:endParaRPr>
          </a:p>
        </p:txBody>
      </p:sp>
      <p:sp>
        <p:nvSpPr>
          <p:cNvPr id="724" name="Google Shape;724;p29"/>
          <p:cNvSpPr/>
          <p:nvPr/>
        </p:nvSpPr>
        <p:spPr>
          <a:xfrm>
            <a:off x="7708900" y="3177332"/>
            <a:ext cx="350570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github.com/Ank1nskywalker/Templates</a:t>
            </a:r>
            <a:endParaRPr b="0" i="0" sz="1200" u="none" cap="none" strike="noStrike">
              <a:solidFill>
                <a:schemeClr val="lt1"/>
              </a:solidFill>
              <a:latin typeface="Montserrat"/>
              <a:ea typeface="Montserrat"/>
              <a:cs typeface="Montserrat"/>
              <a:sym typeface="Montserrat"/>
            </a:endParaRPr>
          </a:p>
        </p:txBody>
      </p:sp>
      <p:sp>
        <p:nvSpPr>
          <p:cNvPr id="725" name="Google Shape;725;p29"/>
          <p:cNvSpPr/>
          <p:nvPr/>
        </p:nvSpPr>
        <p:spPr>
          <a:xfrm>
            <a:off x="7708900" y="3543052"/>
            <a:ext cx="3505708"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1200"/>
              <a:buFont typeface="Montserrat"/>
              <a:buNone/>
            </a:pPr>
            <a:r>
              <a:rPr b="1" i="0" lang="en-US" sz="1200" u="none" cap="none" strike="noStrike">
                <a:solidFill>
                  <a:srgbClr val="F59E42"/>
                </a:solidFill>
                <a:latin typeface="Montserrat"/>
                <a:ea typeface="Montserrat"/>
                <a:cs typeface="Montserrat"/>
                <a:sym typeface="Montserrat"/>
              </a:rPr>
              <a:t>HINT</a:t>
            </a:r>
            <a:endParaRPr b="0" i="0" sz="1200" u="none" cap="none" strike="noStrike">
              <a:solidFill>
                <a:schemeClr val="lt1"/>
              </a:solidFill>
              <a:latin typeface="Montserrat"/>
              <a:ea typeface="Montserrat"/>
              <a:cs typeface="Montserrat"/>
              <a:sym typeface="Montserrat"/>
            </a:endParaRPr>
          </a:p>
        </p:txBody>
      </p:sp>
      <p:sp>
        <p:nvSpPr>
          <p:cNvPr id="726" name="Google Shape;726;p29"/>
          <p:cNvSpPr/>
          <p:nvPr/>
        </p:nvSpPr>
        <p:spPr>
          <a:xfrm>
            <a:off x="7708900" y="3794472"/>
            <a:ext cx="3505708"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200"/>
              <a:buFont typeface="Montserrat"/>
              <a:buNone/>
            </a:pPr>
            <a:r>
              <a:rPr b="0" i="0" lang="en-US" sz="1200" u="none" cap="none" strike="noStrike">
                <a:solidFill>
                  <a:srgbClr val="F1EEF7"/>
                </a:solidFill>
                <a:latin typeface="Montserrat"/>
                <a:ea typeface="Montserrat"/>
                <a:cs typeface="Montserrat"/>
                <a:sym typeface="Montserrat"/>
              </a:rPr>
              <a:t>The lab is shared: scope by host and time window before you conclude.</a:t>
            </a:r>
            <a:endParaRPr b="0" i="0" sz="1200" u="none" cap="none" strike="noStrike">
              <a:solidFill>
                <a:schemeClr val="lt1"/>
              </a:solidFill>
              <a:latin typeface="Montserrat"/>
              <a:ea typeface="Montserrat"/>
              <a:cs typeface="Montserrat"/>
              <a:sym typeface="Montserrat"/>
            </a:endParaRPr>
          </a:p>
        </p:txBody>
      </p:sp>
      <p:sp>
        <p:nvSpPr>
          <p:cNvPr id="727" name="Google Shape;727;p29"/>
          <p:cNvSpPr/>
          <p:nvPr/>
        </p:nvSpPr>
        <p:spPr>
          <a:xfrm>
            <a:off x="812800" y="6238280"/>
            <a:ext cx="5234821"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WRITING THE INCIDENT STORY · DEATHCON 2026</a:t>
            </a:r>
            <a:endParaRPr b="0" i="0" sz="1200" u="none" cap="none" strike="noStrike">
              <a:solidFill>
                <a:schemeClr val="lt1"/>
              </a:solidFill>
              <a:latin typeface="Montserrat"/>
              <a:ea typeface="Montserrat"/>
              <a:cs typeface="Montserrat"/>
              <a:sym typeface="Montserrat"/>
            </a:endParaRPr>
          </a:p>
        </p:txBody>
      </p:sp>
      <p:sp>
        <p:nvSpPr>
          <p:cNvPr id="728" name="Google Shape;728;p29"/>
          <p:cNvSpPr/>
          <p:nvPr/>
        </p:nvSpPr>
        <p:spPr>
          <a:xfrm>
            <a:off x="11149013" y="6238280"/>
            <a:ext cx="230188"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8F8AA6"/>
              </a:buClr>
              <a:buSzPts val="1200"/>
              <a:buFont typeface="Montserrat"/>
              <a:buNone/>
            </a:pPr>
            <a:r>
              <a:rPr b="0" i="0" lang="en-US" sz="1200" u="none" cap="none" strike="noStrike">
                <a:solidFill>
                  <a:srgbClr val="8F8AA6"/>
                </a:solidFill>
                <a:latin typeface="Montserrat"/>
                <a:ea typeface="Montserrat"/>
                <a:cs typeface="Montserrat"/>
                <a:sym typeface="Montserrat"/>
              </a:rPr>
              <a:t>29</a:t>
            </a:r>
            <a:endParaRPr b="0" i="0" sz="12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30"/>
          <p:cNvSpPr txBox="1"/>
          <p:nvPr>
            <p:ph type="title"/>
          </p:nvPr>
        </p:nvSpPr>
        <p:spPr>
          <a:xfrm>
            <a:off x="812800" y="1701899"/>
            <a:ext cx="10883392" cy="7874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F1EEF7"/>
              </a:buClr>
              <a:buSzPts val="6000"/>
              <a:buFont typeface="Montserrat"/>
              <a:buNone/>
            </a:pPr>
            <a:r>
              <a:rPr b="1" i="0" lang="en-US" sz="6000">
                <a:solidFill>
                  <a:srgbClr val="F1EEF7"/>
                </a:solidFill>
                <a:latin typeface="Montserrat"/>
                <a:ea typeface="Montserrat"/>
                <a:cs typeface="Montserrat"/>
                <a:sym typeface="Montserrat"/>
              </a:rPr>
              <a:t>Thank you</a:t>
            </a:r>
            <a:endParaRPr sz="6000"/>
          </a:p>
        </p:txBody>
      </p:sp>
      <p:sp>
        <p:nvSpPr>
          <p:cNvPr id="735" name="Google Shape;735;p30"/>
          <p:cNvSpPr/>
          <p:nvPr/>
        </p:nvSpPr>
        <p:spPr>
          <a:xfrm>
            <a:off x="812800" y="2667099"/>
            <a:ext cx="10883392" cy="3810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59E42"/>
              </a:buClr>
              <a:buSzPts val="2000"/>
              <a:buFont typeface="Montserrat"/>
              <a:buNone/>
            </a:pPr>
            <a:r>
              <a:rPr b="0" i="0" lang="en-US" sz="2000" u="none" cap="none" strike="noStrike">
                <a:solidFill>
                  <a:srgbClr val="F59E42"/>
                </a:solidFill>
                <a:latin typeface="Montserrat"/>
                <a:ea typeface="Montserrat"/>
                <a:cs typeface="Montserrat"/>
                <a:sym typeface="Montserrat"/>
              </a:rPr>
              <a:t>Every hunt leaves the next one behind.</a:t>
            </a:r>
            <a:endParaRPr b="0" i="0" sz="2000" u="none" cap="none" strike="noStrike">
              <a:solidFill>
                <a:schemeClr val="lt1"/>
              </a:solidFill>
              <a:latin typeface="Montserrat"/>
              <a:ea typeface="Montserrat"/>
              <a:cs typeface="Montserrat"/>
              <a:sym typeface="Montserrat"/>
            </a:endParaRPr>
          </a:p>
        </p:txBody>
      </p:sp>
      <p:sp>
        <p:nvSpPr>
          <p:cNvPr id="736" name="Google Shape;736;p30"/>
          <p:cNvSpPr/>
          <p:nvPr/>
        </p:nvSpPr>
        <p:spPr>
          <a:xfrm>
            <a:off x="812800" y="3225899"/>
            <a:ext cx="6540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Workshop:</a:t>
            </a:r>
            <a:r>
              <a:rPr b="0" i="0" lang="en-US" sz="1200" u="none" cap="none" strike="noStrike">
                <a:solidFill>
                  <a:srgbClr val="F1EEF7"/>
                </a:solidFill>
                <a:latin typeface="Montserrat"/>
                <a:ea typeface="Montserrat"/>
                <a:cs typeface="Montserrat"/>
                <a:sym typeface="Montserrat"/>
              </a:rPr>
              <a:t> github.com/Ank1nskywalker/talks</a:t>
            </a:r>
            <a:endParaRPr b="0" i="0" sz="1200" u="none" cap="none" strike="noStrike">
              <a:solidFill>
                <a:schemeClr val="lt1"/>
              </a:solidFill>
              <a:latin typeface="Montserrat"/>
              <a:ea typeface="Montserrat"/>
              <a:cs typeface="Montserrat"/>
              <a:sym typeface="Montserrat"/>
            </a:endParaRPr>
          </a:p>
        </p:txBody>
      </p:sp>
      <p:sp>
        <p:nvSpPr>
          <p:cNvPr id="737" name="Google Shape;737;p30"/>
          <p:cNvSpPr/>
          <p:nvPr/>
        </p:nvSpPr>
        <p:spPr>
          <a:xfrm>
            <a:off x="812800" y="3502720"/>
            <a:ext cx="6540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Template:</a:t>
            </a:r>
            <a:r>
              <a:rPr b="0" i="0" lang="en-US" sz="1200" u="none" cap="none" strike="noStrike">
                <a:solidFill>
                  <a:srgbClr val="F1EEF7"/>
                </a:solidFill>
                <a:latin typeface="Montserrat"/>
                <a:ea typeface="Montserrat"/>
                <a:cs typeface="Montserrat"/>
                <a:sym typeface="Montserrat"/>
              </a:rPr>
              <a:t> github.com/Ank1nskywalker/Templates</a:t>
            </a:r>
            <a:endParaRPr b="0" i="0" sz="1200" u="none" cap="none" strike="noStrike">
              <a:solidFill>
                <a:schemeClr val="lt1"/>
              </a:solidFill>
              <a:latin typeface="Montserrat"/>
              <a:ea typeface="Montserrat"/>
              <a:cs typeface="Montserrat"/>
              <a:sym typeface="Montserrat"/>
            </a:endParaRPr>
          </a:p>
        </p:txBody>
      </p:sp>
      <p:sp>
        <p:nvSpPr>
          <p:cNvPr id="738" name="Google Shape;738;p30"/>
          <p:cNvSpPr/>
          <p:nvPr/>
        </p:nvSpPr>
        <p:spPr>
          <a:xfrm>
            <a:off x="812800" y="3779540"/>
            <a:ext cx="75184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The campaign:</a:t>
            </a:r>
            <a:r>
              <a:rPr b="0" i="0" lang="en-US" sz="1200" u="none" cap="none" strike="noStrike">
                <a:solidFill>
                  <a:srgbClr val="F1EEF7"/>
                </a:solidFill>
                <a:latin typeface="Montserrat"/>
                <a:ea typeface="Montserrat"/>
                <a:cs typeface="Montserrat"/>
                <a:sym typeface="Montserrat"/>
              </a:rPr>
              <a:t> M. H. Ali, “Arabic Streaming Websites ClickFix Campaign” (Oct 2026)</a:t>
            </a:r>
            <a:endParaRPr b="0" i="0" sz="1200" u="none" cap="none" strike="noStrike">
              <a:solidFill>
                <a:schemeClr val="lt1"/>
              </a:solidFill>
              <a:latin typeface="Montserrat"/>
              <a:ea typeface="Montserrat"/>
              <a:cs typeface="Montserrat"/>
              <a:sym typeface="Montserrat"/>
            </a:endParaRPr>
          </a:p>
        </p:txBody>
      </p:sp>
      <p:sp>
        <p:nvSpPr>
          <p:cNvPr id="739" name="Google Shape;739;p30"/>
          <p:cNvSpPr/>
          <p:nvPr/>
        </p:nvSpPr>
        <p:spPr>
          <a:xfrm>
            <a:off x="812800" y="4056360"/>
            <a:ext cx="6540500"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0" i="0" lang="en-US" sz="1200" u="none" cap="none" strike="noStrike">
                <a:solidFill>
                  <a:srgbClr val="C2C2F4"/>
                </a:solidFill>
                <a:latin typeface="Montserrat"/>
                <a:ea typeface="Montserrat"/>
                <a:cs typeface="Montserrat"/>
                <a:sym typeface="Montserrat"/>
              </a:rPr>
              <a:t>Frameworks:</a:t>
            </a:r>
            <a:r>
              <a:rPr b="0" i="0" lang="en-US" sz="1200" u="none" cap="none" strike="noStrike">
                <a:solidFill>
                  <a:srgbClr val="F1EEF7"/>
                </a:solidFill>
                <a:latin typeface="Montserrat"/>
                <a:ea typeface="Montserrat"/>
                <a:cs typeface="Montserrat"/>
                <a:sym typeface="Montserrat"/>
              </a:rPr>
              <a:t> PEAK (Splunk SURGe, 2023) · Pyramid of Pain (Bianco, 2013) · ICD 203 (ODNI)</a:t>
            </a:r>
            <a:endParaRPr b="0" i="0" sz="1200" u="none" cap="none" strike="noStrike">
              <a:solidFill>
                <a:schemeClr val="lt1"/>
              </a:solidFill>
              <a:latin typeface="Montserrat"/>
              <a:ea typeface="Montserrat"/>
              <a:cs typeface="Montserrat"/>
              <a:sym typeface="Montserrat"/>
            </a:endParaRPr>
          </a:p>
        </p:txBody>
      </p:sp>
      <p:sp>
        <p:nvSpPr>
          <p:cNvPr id="740" name="Google Shape;740;p30"/>
          <p:cNvSpPr/>
          <p:nvPr/>
        </p:nvSpPr>
        <p:spPr>
          <a:xfrm>
            <a:off x="812800" y="4686201"/>
            <a:ext cx="10883392"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1EEF7"/>
              </a:buClr>
              <a:buSzPts val="1500"/>
              <a:buFont typeface="Montserrat"/>
              <a:buNone/>
            </a:pPr>
            <a:r>
              <a:rPr b="1" i="0" lang="en-US" sz="1500" u="none" cap="none" strike="noStrike">
                <a:solidFill>
                  <a:srgbClr val="F1EEF7"/>
                </a:solidFill>
                <a:latin typeface="Montserrat"/>
                <a:ea typeface="Montserrat"/>
                <a:cs typeface="Montserrat"/>
                <a:sym typeface="Montserrat"/>
              </a:rPr>
              <a:t>@anakinswal</a:t>
            </a:r>
            <a:endParaRPr b="0" i="0" sz="1500" u="none" cap="none" strike="noStrike">
              <a:solidFill>
                <a:schemeClr val="lt1"/>
              </a:solidFill>
              <a:latin typeface="Montserrat"/>
              <a:ea typeface="Montserrat"/>
              <a:cs typeface="Montserrat"/>
              <a:sym typeface="Montserrat"/>
            </a:endParaRPr>
          </a:p>
        </p:txBody>
      </p:sp>
      <p:sp>
        <p:nvSpPr>
          <p:cNvPr id="741" name="Google Shape;741;p30"/>
          <p:cNvSpPr/>
          <p:nvPr/>
        </p:nvSpPr>
        <p:spPr>
          <a:xfrm>
            <a:off x="812800" y="6238280"/>
            <a:ext cx="719455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2C2F4"/>
              </a:buClr>
              <a:buSzPts val="1200"/>
              <a:buFont typeface="Montserrat"/>
              <a:buNone/>
            </a:pPr>
            <a:r>
              <a:rPr b="1" i="0" lang="en-US" sz="1200" u="none" cap="none" strike="noStrike">
                <a:solidFill>
                  <a:srgbClr val="C2C2F4"/>
                </a:solidFill>
                <a:latin typeface="Montserrat"/>
                <a:ea typeface="Montserrat"/>
                <a:cs typeface="Montserrat"/>
                <a:sym typeface="Montserrat"/>
              </a:rPr>
              <a:t>DEATHCON 2026 · WRITING THE INCIDENT STORY</a:t>
            </a:r>
            <a:endParaRPr b="0" i="0" sz="1200" u="none" cap="none" strike="noStrike">
              <a:solidFill>
                <a:schemeClr val="lt1"/>
              </a:solidFill>
              <a:latin typeface="Montserrat"/>
              <a:ea typeface="Montserrat"/>
              <a:cs typeface="Montserrat"/>
              <a:sym typeface="Montserrat"/>
            </a:endParaRPr>
          </a:p>
        </p:txBody>
      </p:sp>
      <p:pic>
        <p:nvPicPr>
          <p:cNvPr descr="DEATHCon 2026 logo" id="742" name="Google Shape;742;p30"/>
          <p:cNvPicPr preferRelativeResize="0"/>
          <p:nvPr/>
        </p:nvPicPr>
        <p:blipFill rotWithShape="1">
          <a:blip r:embed="rId3">
            <a:alphaModFix/>
          </a:blip>
          <a:srcRect b="0" l="0" r="0" t="0"/>
          <a:stretch/>
        </p:blipFill>
        <p:spPr>
          <a:xfrm>
            <a:off x="8331200" y="1905000"/>
            <a:ext cx="3048000" cy="3048000"/>
          </a:xfrm>
          <a:prstGeom prst="ellipse">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Writing the Incident Story · ES — DEATHCon 2026">
  <a:themeElements>
    <a:clrScheme name="Writing the Incident Story · ES — DEATHCon 2026">
      <a:dk1>
        <a:srgbClr val="0C0B12"/>
      </a:dk1>
      <a:lt1>
        <a:srgbClr val="F1EEF7"/>
      </a:lt1>
      <a:dk2>
        <a:srgbClr val="232229"/>
      </a:dk2>
      <a:lt2>
        <a:srgbClr val="B8B5BE"/>
      </a:lt2>
      <a:accent1>
        <a:srgbClr val="F59E42"/>
      </a:accent1>
      <a:accent2>
        <a:srgbClr val="C2C2F4"/>
      </a:accent2>
      <a:accent3>
        <a:srgbClr val="3A2208"/>
      </a:accent3>
      <a:accent4>
        <a:srgbClr val="5A2340"/>
      </a:accent4>
      <a:accent5>
        <a:srgbClr val="8F8AA6"/>
      </a:accent5>
      <a:accent6>
        <a:srgbClr val="C9C5D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riting the Incident Story · ES — DEATHCon 2026">
  <a:themeElements>
    <a:clrScheme name="Writing the Incident Story · ES — DEATHCon 2026">
      <a:dk1>
        <a:srgbClr val="0C0B12"/>
      </a:dk1>
      <a:lt1>
        <a:srgbClr val="F1EEF7"/>
      </a:lt1>
      <a:dk2>
        <a:srgbClr val="232229"/>
      </a:dk2>
      <a:lt2>
        <a:srgbClr val="B8B5BE"/>
      </a:lt2>
      <a:accent1>
        <a:srgbClr val="F59E42"/>
      </a:accent1>
      <a:accent2>
        <a:srgbClr val="C2C2F4"/>
      </a:accent2>
      <a:accent3>
        <a:srgbClr val="3A2208"/>
      </a:accent3>
      <a:accent4>
        <a:srgbClr val="5A2340"/>
      </a:accent4>
      <a:accent5>
        <a:srgbClr val="8F8AA6"/>
      </a:accent5>
      <a:accent6>
        <a:srgbClr val="C9C5D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2026-10-20T13:00:29Z</dcterms:created>
</cp:coreProperties>
</file>