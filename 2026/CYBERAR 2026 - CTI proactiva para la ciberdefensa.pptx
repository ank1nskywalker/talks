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4" r:id="rId4"/>
    <p:sldId id="258" r:id="rId5"/>
    <p:sldId id="283" r:id="rId6"/>
    <p:sldId id="282" r:id="rId7"/>
    <p:sldId id="281" r:id="rId8"/>
    <p:sldId id="280" r:id="rId9"/>
    <p:sldId id="279" r:id="rId10"/>
    <p:sldId id="278" r:id="rId11"/>
    <p:sldId id="285" r:id="rId12"/>
    <p:sldId id="286" r:id="rId13"/>
    <p:sldId id="277" r:id="rId14"/>
    <p:sldId id="276" r:id="rId15"/>
    <p:sldId id="275" r:id="rId16"/>
    <p:sldId id="274" r:id="rId17"/>
    <p:sldId id="273" r:id="rId18"/>
    <p:sldId id="272" r:id="rId19"/>
    <p:sldId id="271" r:id="rId20"/>
    <p:sldId id="270" r:id="rId21"/>
    <p:sldId id="287" r:id="rId22"/>
    <p:sldId id="259" r:id="rId23"/>
    <p:sldId id="268" r:id="rId24"/>
    <p:sldId id="266" r:id="rId25"/>
    <p:sldId id="265" r:id="rId26"/>
    <p:sldId id="264" r:id="rId27"/>
    <p:sldId id="263" r:id="rId28"/>
    <p:sldId id="262" r:id="rId29"/>
    <p:sldId id="261" r:id="rId30"/>
    <p:sldId id="260" r:id="rId31"/>
  </p:sldIdLst>
  <p:sldSz cx="24384000" cy="13716000"/>
  <p:notesSz cx="6858000" cy="9144000"/>
  <p:embeddedFontLst>
    <p:embeddedFont>
      <p:font typeface="Oswald" pitchFamily="2" charset="77"/>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20">
          <p15:clr>
            <a:srgbClr val="000000"/>
          </p15:clr>
        </p15:guide>
        <p15:guide id="2" pos="76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giLBaVMBVX5GZp5XipcgJuE9dUK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59" d="100"/>
          <a:sy n="59" d="100"/>
        </p:scale>
        <p:origin x="384" y="21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 name="Google Shape;2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0:25 — Quién soy y desde dónde hablo. Lo que le importa a esta sala es la fila C: inteligencia criminal y contrainteligencia para el Estado argentino, y que hoy trabajo en un MSSP. Ese es el puente entre la doctrina de inteligencia clásica y la CTI que propone la charla. No leas las filas.</a:t>
            </a:r>
          </a:p>
        </p:txBody>
      </p:sp>
      <p:sp>
        <p:nvSpPr>
          <p:cNvPr id="32" name="Google Shape;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0:20 — La agenda. Siete bloques, tiempos orientativos. Decilo en una frase: problema, método en tres fases, la atribución como bloque central, la prueba y el cierre. No leas los detalles; la sala ya sabe adónde va.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f3f2bfa886_0_8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0:45 — EL MAPA DE LA CHARLA. Leé el problema, nombrá las tres fases con su pregunta, enunciá la tesis y anticipá que se valida con casos. Todo lo que viene después se cuelga de este slide. Si te perdés de tiempo, este es el slide al que volver mentalmente. Es la introducción que faltaba.</a:t>
            </a:r>
          </a:p>
        </p:txBody>
      </p:sp>
      <p:sp>
        <p:nvSpPr>
          <p:cNvPr id="58" name="Google Shape;58;g3f3f2bfa886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1:20 — GANCHO. Dejá que la imagen de arriba hable 5 segundos: seis accesos a Ejército, diez dólares, esta semana. Explicá qué es un IAB (primera vez, definilo). El mercado publica dominios, no usuarios: por eso es exposición pública de credenciales corporativas y no hay víctima individual que reportar. Cerrá conectando con el problema: así de barato empieza un ataque. Para Q&amp;A: no se compra nada, no hay dato de víctima accionable.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0:55 — El problema conceptual. Definí IOC y Pirámide del Dolor. Abajo lo barato (capacidades, Fase II), arriba la intención (Fase III), la nube geopolítica es el nivel político. Cerrá: ascender del indicador al comportamiento ES la metodología. Con eso entrás al método.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0:40 — EL MAPA DEL MÉTODO. Una frase por fase, con su pregunta y su salida. Marcá el encadenamiento (la flecha): la salida de una es la entrada de la siguiente. Anunciá que la Fase III es el corazón. Este slide es la divisoria que abre el bloque del método.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1:05 — Fase I DEFINIDA. Este es el slide que faltaba: cada término explicado. Admiralty = cómo calificás un dato (A-F / 1-6). OPSEC = cómo te protegés al recolectar. PIR = cómo priorizás para no ahogarte. Una frase por tarjeta. Estos tres conceptos se usan en toda la charla, por eso se definen acá.</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1:20 — Fase I en acción. La cadena: infostealer → log → IAB → ransomware/estatal. El dato DBIR (54%, ~2 días). Búsqueda por dominio en vivo 30 s (dominio que no comprometa a la sala); si falla, captura. Cerrá con el .mil: es el bullet para las FF.AA. y engancha con el caso que sigue.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0:50 — El caso regional que pide el comité y la pregunta 4. Contá el ciclo entero: detectado en un foro, calificado con Admiralty (C2, la calificación que ya definiste en Fase I), reportado al CERT.ar, con acuse. La cronología (post 2025, reporte 2026) la manejás vos en vivo. Precisión: el binario no lo verificaste.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0:55 — SEGUNDO CASO PROPIO, de esta semana. Arriba a la izquierda: el mismo portal del Ejército que abrió la charla, ahora en un canal de Telegram con fecha de ayer: el mercado no es el único canal. Derecha: INVAP —reactores, satélites, radares— con una credencial corporativa expuesta por infostealer, detectada a un día de la brecha: la alerta temprana es medible. Nombrá el cloud público (MediaFire) en una frase; el detalle está en anexo. Cerrá con la notificación: reportado al CERT.ar antes de esta charla, para rotar y bloquear antes de la venta. Para Q&amp;A: usuarios, tokens y enlaces de Telegram sanitizados; todavía sin acuse (enviado hoy). Si te preguntan por INVAP: ya circulaba en el listado público del canal MAD GHOST (anexo).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0:55 — CIERRE DE FASE I con impacto local. No es teoría: en julio, Oldelval —por sus ductos pasa buena parte del crudo de Vaca Muerta, YPF es el principal accionista— fue víctima de ransomware reivindicado por The Gentlemen, RaaS que Microsoft trackea como Storm-2697, salido de Qilin, reparto del 90 %. Cómo entran: comprando accesos (acuerdo con BreachForums para reclutar IABs); el 41 % de sus víctimas ya estaban en logs de infostealer. Una semana antes, Ecopetrol. Impacto contenido en sistemas administrativos, transporte sin cortes. Mensaje: el atacante era conocido y su cadena arranca en la credencial filtrada. PRECISIÓN PARA Q&amp;A: es atribución OPERACIONAL por autoadjudicación (crimen financiero, sin nivel político; ningún gobierno lo sancionó ni imputó; la plataforma marca la ficha como posible duplicado). No lo vendas como caso de Fase III. No cites la fecha «primera víctima 2023» del dashboard: el grupo emergió a mediados de 2025 (Microsoft, Unit 42). El 75 % es la cifra de Infobae; otras fuentes dicen 90 %: no te cases con la mayor.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0:55 — Fase II DEFINIDA. Reancla en la pirámide (venimos de ahí). Definí ATT&amp;CK (táctica/técnica/procedimiento) y TTP. El ejemplo vertical (T1219) siembra el Caso 1. Mensaje: el comportamiento es estable, el indicador no. La tabla de priorización queda en anexo, solo mencionala.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0:50 — DIVISORIA de atribución + POR QUÉ. Este slide justifica que la atribución esté en el título. Los tres planos de valor (táctico/operacional/estratégico) con las citas de la industria. Cerrá anunciando el plano político, que es lo propio de la ciberdefensa, y que por eso se estructura en niveles (slide siguiente).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1:00 — CÓMO se atribuye. Recorré la tabla por filas, quedate en la última columna (quién puede afirmar qué). La regla de oro: la confianza no se hereda; el político es del Estado. Definí ACH: refutar, no confirmar, con la falsa bandera siempre en la mesa. Ese es el método para no equivocarse.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1:00 — EL SLIDE QUE FALTABA. El título de la charla es atribución: acá está el porqué de los nombres. Volt Typhoon = 7 alias en el panel. Explicá las tres razones (nadie ve lo mismo / no te ates al ajeno / el nombre no es atribución). Moraleja práctica: una amenaza, no siete. Esto le habla directo a un SOC.</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1:00 — Por qué cada empresa su nomenclatura. La tabla: qué codifica cada una (origen vs motivación vs neutro). No la leas entera, señalá el patrón: casi todos codifican origen y motivación; Trend solo motivación para no afirmar origen; Dragos neutro. EL CIERRE es clave: el origen es juicio operacional, no político; ningún vendor emite el político; eso valida tu Tabla 3 y le habla a la sala militar. Este es el remate del bloque de atribución.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1:15 — CASO 1, la prueba. La escalera muestra el mismo TTP del fraude al espionaje estatal. Usé nombres en lenguaje natural, no códigos crudos: 'aviso conjunto CISA/NSA', 'vulnerabilidad crítica en ScreenConnect'. Los códigos (AA23-025A, CVE-2024-1709) están en anexo. Decí que el eje es impacto, no cronología. Cerrá: se persigue el patrón.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1:00 — La atribución aplicada a un caso real. Tesoro por los tres niveles: técnico 15s, operacional 10s, político 15s. Confirma que la confianza no se hereda. Volt Typhoon como contrapunto (LOTL): el extremo opuesto. Ambos casos prueban la tesis: ascender del indicador al comportamiento. Detalle de Volt Typhoon en anexo.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0:45 — Cuatro afirmaciones. La cuarta sin numeral: el juicio humano no es una fase, es la condición. Conecta con todo el bloque de atribución. La línea de trabajo te blinda ante '¿cómo saben que funciona?'.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ANEXO — Respaldo del slide 11 (caso propio II), para «¿es real? ¿tenés más?». Canal MAD GHOST: listado de organismos argentinos con sección Military &amp; Security. Combolist con subdominios .mil.ar (credenciales tapadas). Dump ULP de 242 MB en MediaFire. Calificación Admiralty sugerida: canal de Telegram / combolist = fuente D–E, información 3 hasta verificar; la detección propia en la plataforma de identidades (INVAP) sube la información a 2. Ajustá la calificación con tu criterio antes de afirmarla en voz alta.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f3f2bfa886_0_4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t>0:10 — Gracias y a preguntas. El anexo está detrás para el Q&amp;A.</a:t>
            </a:r>
          </a:p>
        </p:txBody>
      </p:sp>
      <p:sp>
        <p:nvSpPr>
          <p:cNvPr id="66" name="Google Shape;66;g3f3f2bfa886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ANEXO — Pregunta 1 (¿qué hace un analista privado?) y respaldo de la Fase I con fuente policial.</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ANEXO — Preguntas 5/6. El ejemplo C2 es el caso real del slide 10.</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ANEXO — Pregunta 3 (falsa bandera) y detalle del ACH.</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ANEXO — Pregunta 12 (¿cómo se mide?).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ANEXO — Tabla completa para el Q&amp;A. Versión resumida en el slide 17.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with photo">
  <p:cSld name="Blank Slide with photo">
    <p:spTree>
      <p:nvGrpSpPr>
        <p:cNvPr id="1" name="Shape 9"/>
        <p:cNvGrpSpPr/>
        <p:nvPr/>
      </p:nvGrpSpPr>
      <p:grpSpPr>
        <a:xfrm>
          <a:off x="0" y="0"/>
          <a:ext cx="0" cy="0"/>
          <a:chOff x="0" y="0"/>
          <a:chExt cx="0" cy="0"/>
        </a:xfrm>
      </p:grpSpPr>
      <p:sp>
        <p:nvSpPr>
          <p:cNvPr id="10" name="Google Shape;10;p11"/>
          <p:cNvSpPr>
            <a:spLocks noGrp="1"/>
          </p:cNvSpPr>
          <p:nvPr>
            <p:ph type="pic" idx="2"/>
          </p:nvPr>
        </p:nvSpPr>
        <p:spPr>
          <a:xfrm>
            <a:off x="3810327" y="3676275"/>
            <a:ext cx="2437746" cy="2383865"/>
          </a:xfrm>
          <a:prstGeom prst="rect">
            <a:avLst/>
          </a:prstGeom>
          <a:solidFill>
            <a:srgbClr val="88898C"/>
          </a:solidFill>
          <a:ln>
            <a:noFill/>
          </a:ln>
        </p:spPr>
        <p:txBody>
          <a:bodyPr/>
          <a:lstStyle/>
          <a:p>
            <a:endParaRPr lang="en-AR"/>
          </a:p>
        </p:txBody>
      </p:sp>
      <p:sp>
        <p:nvSpPr>
          <p:cNvPr id="11" name="Google Shape;11;p11"/>
          <p:cNvSpPr>
            <a:spLocks noGrp="1"/>
          </p:cNvSpPr>
          <p:nvPr>
            <p:ph type="pic" idx="3"/>
          </p:nvPr>
        </p:nvSpPr>
        <p:spPr>
          <a:xfrm>
            <a:off x="7391727" y="3676275"/>
            <a:ext cx="2437746" cy="2383865"/>
          </a:xfrm>
          <a:prstGeom prst="rect">
            <a:avLst/>
          </a:prstGeom>
          <a:solidFill>
            <a:srgbClr val="88898C"/>
          </a:solidFill>
          <a:ln>
            <a:noFill/>
          </a:ln>
        </p:spPr>
        <p:txBody>
          <a:bodyPr/>
          <a:lstStyle/>
          <a:p>
            <a:endParaRPr lang="en-AR"/>
          </a:p>
        </p:txBody>
      </p:sp>
      <p:sp>
        <p:nvSpPr>
          <p:cNvPr id="12" name="Google Shape;12;p11"/>
          <p:cNvSpPr>
            <a:spLocks noGrp="1"/>
          </p:cNvSpPr>
          <p:nvPr>
            <p:ph type="pic" idx="4"/>
          </p:nvPr>
        </p:nvSpPr>
        <p:spPr>
          <a:xfrm>
            <a:off x="10973127" y="3676275"/>
            <a:ext cx="2437746" cy="2383865"/>
          </a:xfrm>
          <a:prstGeom prst="rect">
            <a:avLst/>
          </a:prstGeom>
          <a:solidFill>
            <a:srgbClr val="88898C"/>
          </a:solidFill>
          <a:ln>
            <a:noFill/>
          </a:ln>
        </p:spPr>
        <p:txBody>
          <a:bodyPr/>
          <a:lstStyle/>
          <a:p>
            <a:endParaRPr lang="en-AR"/>
          </a:p>
        </p:txBody>
      </p:sp>
      <p:sp>
        <p:nvSpPr>
          <p:cNvPr id="13" name="Google Shape;13;p11"/>
          <p:cNvSpPr>
            <a:spLocks noGrp="1"/>
          </p:cNvSpPr>
          <p:nvPr>
            <p:ph type="pic" idx="5"/>
          </p:nvPr>
        </p:nvSpPr>
        <p:spPr>
          <a:xfrm>
            <a:off x="14554527" y="3676275"/>
            <a:ext cx="2437746" cy="2383865"/>
          </a:xfrm>
          <a:prstGeom prst="rect">
            <a:avLst/>
          </a:prstGeom>
          <a:solidFill>
            <a:srgbClr val="88898C"/>
          </a:solidFill>
          <a:ln>
            <a:noFill/>
          </a:ln>
        </p:spPr>
        <p:txBody>
          <a:bodyPr/>
          <a:lstStyle/>
          <a:p>
            <a:endParaRPr lang="en-AR"/>
          </a:p>
        </p:txBody>
      </p:sp>
      <p:sp>
        <p:nvSpPr>
          <p:cNvPr id="14" name="Google Shape;14;p11"/>
          <p:cNvSpPr>
            <a:spLocks noGrp="1"/>
          </p:cNvSpPr>
          <p:nvPr>
            <p:ph type="pic" idx="6"/>
          </p:nvPr>
        </p:nvSpPr>
        <p:spPr>
          <a:xfrm>
            <a:off x="18135927" y="3676275"/>
            <a:ext cx="2437746" cy="2383865"/>
          </a:xfrm>
          <a:prstGeom prst="rect">
            <a:avLst/>
          </a:prstGeom>
          <a:solidFill>
            <a:srgbClr val="88898C"/>
          </a:solidFill>
          <a:ln>
            <a:noFill/>
          </a:ln>
        </p:spPr>
        <p:txBody>
          <a:bodyPr/>
          <a:lstStyle/>
          <a:p>
            <a:endParaRPr lang="en-AR"/>
          </a:p>
        </p:txBody>
      </p:sp>
      <p:sp>
        <p:nvSpPr>
          <p:cNvPr id="15" name="Google Shape;15;p11"/>
          <p:cNvSpPr>
            <a:spLocks noGrp="1"/>
          </p:cNvSpPr>
          <p:nvPr>
            <p:ph type="pic" idx="7"/>
          </p:nvPr>
        </p:nvSpPr>
        <p:spPr>
          <a:xfrm>
            <a:off x="3810327" y="7118349"/>
            <a:ext cx="2437746" cy="2383865"/>
          </a:xfrm>
          <a:prstGeom prst="rect">
            <a:avLst/>
          </a:prstGeom>
          <a:solidFill>
            <a:srgbClr val="88898C"/>
          </a:solidFill>
          <a:ln>
            <a:noFill/>
          </a:ln>
        </p:spPr>
        <p:txBody>
          <a:bodyPr/>
          <a:lstStyle/>
          <a:p>
            <a:endParaRPr lang="en-AR"/>
          </a:p>
        </p:txBody>
      </p:sp>
      <p:sp>
        <p:nvSpPr>
          <p:cNvPr id="16" name="Google Shape;16;p11"/>
          <p:cNvSpPr>
            <a:spLocks noGrp="1"/>
          </p:cNvSpPr>
          <p:nvPr>
            <p:ph type="pic" idx="8"/>
          </p:nvPr>
        </p:nvSpPr>
        <p:spPr>
          <a:xfrm>
            <a:off x="7391727" y="7118349"/>
            <a:ext cx="2437746" cy="2383865"/>
          </a:xfrm>
          <a:prstGeom prst="rect">
            <a:avLst/>
          </a:prstGeom>
          <a:solidFill>
            <a:srgbClr val="88898C"/>
          </a:solidFill>
          <a:ln>
            <a:noFill/>
          </a:ln>
        </p:spPr>
        <p:txBody>
          <a:bodyPr/>
          <a:lstStyle/>
          <a:p>
            <a:endParaRPr lang="en-AR"/>
          </a:p>
        </p:txBody>
      </p:sp>
      <p:sp>
        <p:nvSpPr>
          <p:cNvPr id="17" name="Google Shape;17;p11"/>
          <p:cNvSpPr>
            <a:spLocks noGrp="1"/>
          </p:cNvSpPr>
          <p:nvPr>
            <p:ph type="pic" idx="9"/>
          </p:nvPr>
        </p:nvSpPr>
        <p:spPr>
          <a:xfrm>
            <a:off x="10973127" y="7118349"/>
            <a:ext cx="2437746" cy="2383865"/>
          </a:xfrm>
          <a:prstGeom prst="rect">
            <a:avLst/>
          </a:prstGeom>
          <a:solidFill>
            <a:srgbClr val="88898C"/>
          </a:solidFill>
          <a:ln>
            <a:noFill/>
          </a:ln>
        </p:spPr>
        <p:txBody>
          <a:bodyPr/>
          <a:lstStyle/>
          <a:p>
            <a:endParaRPr lang="en-AR"/>
          </a:p>
        </p:txBody>
      </p:sp>
      <p:sp>
        <p:nvSpPr>
          <p:cNvPr id="18" name="Google Shape;18;p11"/>
          <p:cNvSpPr>
            <a:spLocks noGrp="1"/>
          </p:cNvSpPr>
          <p:nvPr>
            <p:ph type="pic" idx="13"/>
          </p:nvPr>
        </p:nvSpPr>
        <p:spPr>
          <a:xfrm>
            <a:off x="14554527" y="7118349"/>
            <a:ext cx="2437746" cy="2383865"/>
          </a:xfrm>
          <a:prstGeom prst="rect">
            <a:avLst/>
          </a:prstGeom>
          <a:solidFill>
            <a:srgbClr val="88898C"/>
          </a:solidFill>
          <a:ln>
            <a:noFill/>
          </a:ln>
        </p:spPr>
        <p:txBody>
          <a:bodyPr/>
          <a:lstStyle/>
          <a:p>
            <a:endParaRPr lang="en-AR"/>
          </a:p>
        </p:txBody>
      </p:sp>
      <p:sp>
        <p:nvSpPr>
          <p:cNvPr id="19" name="Google Shape;19;p11"/>
          <p:cNvSpPr>
            <a:spLocks noGrp="1"/>
          </p:cNvSpPr>
          <p:nvPr>
            <p:ph type="pic" idx="14"/>
          </p:nvPr>
        </p:nvSpPr>
        <p:spPr>
          <a:xfrm>
            <a:off x="18135927" y="7118349"/>
            <a:ext cx="2437746" cy="2383865"/>
          </a:xfrm>
          <a:prstGeom prst="rect">
            <a:avLst/>
          </a:prstGeom>
          <a:solidFill>
            <a:srgbClr val="88898C"/>
          </a:solidFill>
          <a:ln>
            <a:noFill/>
          </a:ln>
        </p:spPr>
        <p:txBody>
          <a:bodyPr/>
          <a:lstStyle/>
          <a:p>
            <a:endParaRPr lang="en-AR"/>
          </a:p>
        </p:txBody>
      </p:sp>
      <p:sp>
        <p:nvSpPr>
          <p:cNvPr id="20" name="Google Shape;20;p11"/>
          <p:cNvSpPr txBox="1">
            <a:spLocks noGrp="1"/>
          </p:cNvSpPr>
          <p:nvPr>
            <p:ph type="sldNum" idx="12"/>
          </p:nvPr>
        </p:nvSpPr>
        <p:spPr>
          <a:xfrm>
            <a:off x="11958637" y="13081000"/>
            <a:ext cx="454025" cy="460375"/>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286678" y="233264"/>
            <a:ext cx="23810645" cy="1440000"/>
          </a:xfrm>
          <a:prstGeom prst="rect">
            <a:avLst/>
          </a:prstGeom>
          <a:solidFill>
            <a:srgbClr val="63757B"/>
          </a:solidFill>
          <a:ln>
            <a:noFill/>
          </a:ln>
        </p:spPr>
        <p:txBody>
          <a:bodyPr spcFirstLastPara="1" wrap="square" lIns="50800" tIns="50800" rIns="288000" bIns="50800" anchor="ctr" anchorCtr="0">
            <a:noAutofit/>
          </a:bodyPr>
          <a:lstStyle>
            <a:lvl1pPr lvl="0" algn="r">
              <a:lnSpc>
                <a:spcPct val="100000"/>
              </a:lnSpc>
              <a:spcBef>
                <a:spcPts val="0"/>
              </a:spcBef>
              <a:spcAft>
                <a:spcPts val="0"/>
              </a:spcAft>
              <a:buSzPts val="1400"/>
              <a:buNone/>
              <a:defRPr sz="7200" b="1">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1200"/>
              <a:buNone/>
              <a:defRPr/>
            </a:lvl6pPr>
            <a:lvl7pPr lvl="6" algn="ctr">
              <a:lnSpc>
                <a:spcPct val="100000"/>
              </a:lnSpc>
              <a:spcBef>
                <a:spcPts val="0"/>
              </a:spcBef>
              <a:spcAft>
                <a:spcPts val="0"/>
              </a:spcAft>
              <a:buSzPts val="11200"/>
              <a:buNone/>
              <a:defRPr/>
            </a:lvl7pPr>
            <a:lvl8pPr lvl="7" algn="ctr">
              <a:lnSpc>
                <a:spcPct val="100000"/>
              </a:lnSpc>
              <a:spcBef>
                <a:spcPts val="0"/>
              </a:spcBef>
              <a:spcAft>
                <a:spcPts val="0"/>
              </a:spcAft>
              <a:buSzPts val="11200"/>
              <a:buNone/>
              <a:defRPr/>
            </a:lvl8pPr>
            <a:lvl9pPr lvl="8" algn="ctr">
              <a:lnSpc>
                <a:spcPct val="100000"/>
              </a:lnSpc>
              <a:spcBef>
                <a:spcPts val="0"/>
              </a:spcBef>
              <a:spcAft>
                <a:spcPts val="0"/>
              </a:spcAft>
              <a:buSzPts val="11200"/>
              <a:buNone/>
              <a:defRPr/>
            </a:lvl9pPr>
          </a:lstStyle>
          <a:p>
            <a:endParaRPr/>
          </a:p>
        </p:txBody>
      </p:sp>
      <p:sp>
        <p:nvSpPr>
          <p:cNvPr id="23" name="Google Shape;23;p19"/>
          <p:cNvSpPr txBox="1">
            <a:spLocks noGrp="1"/>
          </p:cNvSpPr>
          <p:nvPr>
            <p:ph type="sldNum" idx="12"/>
          </p:nvPr>
        </p:nvSpPr>
        <p:spPr>
          <a:xfrm>
            <a:off x="22369131" y="12985751"/>
            <a:ext cx="1920213" cy="44114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2400"/>
              <a:buFont typeface="Helvetica Neue Light"/>
              <a:buNone/>
              <a:defRPr sz="2200" b="0" i="0" u="none" strike="noStrike" cap="none">
                <a:solidFill>
                  <a:schemeClr val="dk1"/>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1689100" y="355600"/>
            <a:ext cx="21005800" cy="2286000"/>
          </a:xfrm>
          <a:prstGeom prst="rect">
            <a:avLst/>
          </a:prstGeom>
          <a:noFill/>
          <a:ln>
            <a:noFill/>
          </a:ln>
        </p:spPr>
        <p:txBody>
          <a:bodyPr spcFirstLastPara="1" wrap="square" lIns="50800" tIns="50800" rIns="50800" bIns="50800" anchor="ctr" anchorCtr="0">
            <a:noAutofit/>
          </a:bodyPr>
          <a:lstStyle>
            <a:lvl1pPr marR="0" lvl="0" algn="ctr" rtl="0">
              <a:lnSpc>
                <a:spcPct val="100000"/>
              </a:lnSpc>
              <a:spcBef>
                <a:spcPts val="0"/>
              </a:spcBef>
              <a:spcAft>
                <a:spcPts val="0"/>
              </a:spcAft>
              <a:buClr>
                <a:srgbClr val="000000"/>
              </a:buClr>
              <a:buSzPts val="1400"/>
              <a:buFont typeface="Arial"/>
              <a:buNone/>
              <a:defRPr sz="11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1400"/>
              <a:buFont typeface="Arial"/>
              <a:buNone/>
              <a:defRPr sz="11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1400"/>
              <a:buFont typeface="Arial"/>
              <a:buNone/>
              <a:defRPr sz="11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1400"/>
              <a:buFont typeface="Arial"/>
              <a:buNone/>
              <a:defRPr sz="11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1400"/>
              <a:buFont typeface="Arial"/>
              <a:buNone/>
              <a:defRPr sz="11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10"/>
          <p:cNvSpPr txBox="1">
            <a:spLocks noGrp="1"/>
          </p:cNvSpPr>
          <p:nvPr>
            <p:ph type="body" idx="1"/>
          </p:nvPr>
        </p:nvSpPr>
        <p:spPr>
          <a:xfrm>
            <a:off x="1689100" y="3149600"/>
            <a:ext cx="21005800" cy="9296400"/>
          </a:xfrm>
          <a:prstGeom prst="rect">
            <a:avLst/>
          </a:prstGeom>
          <a:noFill/>
          <a:ln>
            <a:noFill/>
          </a:ln>
        </p:spPr>
        <p:txBody>
          <a:bodyPr spcFirstLastPara="1" wrap="square" lIns="50800" tIns="50800" rIns="50800" bIns="50800" anchor="ctr" anchorCtr="0">
            <a:noAutofit/>
          </a:bodyPr>
          <a:lstStyle>
            <a:lvl1pPr marL="457200" marR="0" lvl="0"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9600" algn="l" rtl="0">
              <a:lnSpc>
                <a:spcPct val="100000"/>
              </a:lnSpc>
              <a:spcBef>
                <a:spcPts val="5900"/>
              </a:spcBef>
              <a:spcAft>
                <a:spcPts val="0"/>
              </a:spcAft>
              <a:buClr>
                <a:srgbClr val="000000"/>
              </a:buClr>
              <a:buSzPts val="6000"/>
              <a:buFont typeface="Helvetica Neue"/>
              <a:buChar char="•"/>
              <a:defRPr sz="48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10"/>
          <p:cNvSpPr txBox="1">
            <a:spLocks noGrp="1"/>
          </p:cNvSpPr>
          <p:nvPr>
            <p:ph type="sldNum" idx="12"/>
          </p:nvPr>
        </p:nvSpPr>
        <p:spPr>
          <a:xfrm>
            <a:off x="11958637" y="13081000"/>
            <a:ext cx="454025" cy="460375"/>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400"/>
              <a:buFont typeface="Helvetica Neue Light"/>
              <a:buNone/>
              <a:defRPr sz="2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
        <p:cNvGrpSpPr/>
        <p:nvPr/>
      </p:nvGrpSpPr>
      <p:grpSpPr>
        <a:xfrm>
          <a:off x="0" y="0"/>
          <a:ext cx="0" cy="0"/>
          <a:chOff x="0" y="0"/>
          <a:chExt cx="0" cy="0"/>
        </a:xfrm>
      </p:grpSpPr>
      <p:pic>
        <p:nvPicPr>
          <p:cNvPr id="28" name="Google Shape;28;p1"/>
          <p:cNvPicPr preferRelativeResize="0"/>
          <p:nvPr/>
        </p:nvPicPr>
        <p:blipFill rotWithShape="1">
          <a:blip r:embed="rId3">
            <a:alphaModFix/>
          </a:blip>
          <a:srcRect/>
          <a:stretch/>
        </p:blipFill>
        <p:spPr>
          <a:xfrm>
            <a:off x="714329" y="1102944"/>
            <a:ext cx="7957577" cy="2439500"/>
          </a:xfrm>
          <a:prstGeom prst="rect">
            <a:avLst/>
          </a:prstGeom>
          <a:noFill/>
          <a:ln>
            <a:noFill/>
          </a:ln>
        </p:spPr>
      </p:pic>
      <p:pic>
        <p:nvPicPr>
          <p:cNvPr id="29" name="Google Shape;29;p1" title="Caratula (21-8-26).jpg"/>
          <p:cNvPicPr preferRelativeResize="0"/>
          <p:nvPr/>
        </p:nvPicPr>
        <p:blipFill rotWithShape="1">
          <a:blip r:embed="rId4">
            <a:alphaModFix/>
          </a:blip>
          <a:srcRect/>
          <a:stretch/>
        </p:blipFill>
        <p:spPr>
          <a:xfrm>
            <a:off x="36100" y="0"/>
            <a:ext cx="24384000" cy="1371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
        <p:cNvGrpSpPr/>
        <p:nvPr/>
      </p:nvGrpSpPr>
      <p:grpSpPr>
        <a:xfrm>
          <a:off x="0" y="0"/>
          <a:ext cx="0" cy="0"/>
          <a:chOff x="0" y="0"/>
          <a:chExt cx="0" cy="0"/>
        </a:xfrm>
      </p:grpSpPr>
      <p:pic>
        <p:nvPicPr>
          <p:cNvPr id="34" name="Google Shape;34;p6" title="fondo transparente.png"/>
          <p:cNvPicPr preferRelativeResize="0"/>
          <p:nvPr/>
        </p:nvPicPr>
        <p:blipFill rotWithShape="1">
          <a:blip r:embed="rId3">
            <a:alphaModFix/>
          </a:blip>
          <a:srcRect l="60"/>
          <a:stretch/>
        </p:blipFill>
        <p:spPr>
          <a:xfrm rot="10800000">
            <a:off x="6146451" y="-24273"/>
            <a:ext cx="18237549" cy="11693099"/>
          </a:xfrm>
          <a:prstGeom prst="rect">
            <a:avLst/>
          </a:prstGeom>
          <a:noFill/>
          <a:ln>
            <a:noFill/>
          </a:ln>
        </p:spPr>
      </p:pic>
      <p:cxnSp>
        <p:nvCxnSpPr>
          <p:cNvPr id="39"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cxnSp>
        <p:nvCxnSpPr>
          <p:cNvPr id="40" name="Google Shape;40;p6"/>
          <p:cNvCxnSpPr/>
          <p:nvPr/>
        </p:nvCxnSpPr>
        <p:spPr>
          <a:xfrm>
            <a:off x="573282" y="4156225"/>
            <a:ext cx="11927100" cy="0"/>
          </a:xfrm>
          <a:prstGeom prst="straightConnector1">
            <a:avLst/>
          </a:prstGeom>
          <a:noFill/>
          <a:ln w="38100" cap="flat" cmpd="sng">
            <a:solidFill>
              <a:srgbClr val="221666"/>
            </a:solidFill>
            <a:prstDash val="solid"/>
            <a:round/>
            <a:headEnd type="none" w="sm" len="sm"/>
            <a:tailEnd type="oval" w="med" len="med"/>
          </a:ln>
        </p:spPr>
      </p:cxnSp>
      <p:grpSp>
        <p:nvGrpSpPr>
          <p:cNvPr id="41" name="Google Shape;41;p6"/>
          <p:cNvGrpSpPr/>
          <p:nvPr/>
        </p:nvGrpSpPr>
        <p:grpSpPr>
          <a:xfrm>
            <a:off x="4833546" y="3483600"/>
            <a:ext cx="5993811" cy="476700"/>
            <a:chOff x="4223025" y="2775961"/>
            <a:chExt cx="5993811" cy="476700"/>
          </a:xfrm>
        </p:grpSpPr>
        <p:cxnSp>
          <p:nvCxnSpPr>
            <p:cNvPr id="42" name="Google Shape;42;p6"/>
            <p:cNvCxnSpPr/>
            <p:nvPr/>
          </p:nvCxnSpPr>
          <p:spPr>
            <a:xfrm>
              <a:off x="4223025" y="2784900"/>
              <a:ext cx="2381400" cy="0"/>
            </a:xfrm>
            <a:prstGeom prst="straightConnector1">
              <a:avLst/>
            </a:prstGeom>
            <a:noFill/>
            <a:ln w="38100" cap="flat" cmpd="sng">
              <a:solidFill>
                <a:schemeClr val="accent3"/>
              </a:solidFill>
              <a:prstDash val="solid"/>
              <a:round/>
              <a:headEnd type="none" w="sm" len="sm"/>
              <a:tailEnd type="none" w="sm" len="sm"/>
            </a:ln>
          </p:spPr>
        </p:cxnSp>
        <p:cxnSp>
          <p:nvCxnSpPr>
            <p:cNvPr id="43" name="Google Shape;43;p6"/>
            <p:cNvCxnSpPr/>
            <p:nvPr/>
          </p:nvCxnSpPr>
          <p:spPr>
            <a:xfrm>
              <a:off x="6587974" y="2775961"/>
              <a:ext cx="340200" cy="476700"/>
            </a:xfrm>
            <a:prstGeom prst="straightConnector1">
              <a:avLst/>
            </a:prstGeom>
            <a:noFill/>
            <a:ln w="38100" cap="flat" cmpd="sng">
              <a:solidFill>
                <a:schemeClr val="accent3"/>
              </a:solidFill>
              <a:prstDash val="solid"/>
              <a:round/>
              <a:headEnd type="none" w="sm" len="sm"/>
              <a:tailEnd type="none" w="sm" len="sm"/>
            </a:ln>
          </p:spPr>
        </p:cxnSp>
        <p:cxnSp>
          <p:nvCxnSpPr>
            <p:cNvPr id="44" name="Google Shape;44;p6"/>
            <p:cNvCxnSpPr/>
            <p:nvPr/>
          </p:nvCxnSpPr>
          <p:spPr>
            <a:xfrm>
              <a:off x="6918936" y="3240486"/>
              <a:ext cx="3297900" cy="0"/>
            </a:xfrm>
            <a:prstGeom prst="straightConnector1">
              <a:avLst/>
            </a:prstGeom>
            <a:noFill/>
            <a:ln w="38100" cap="flat" cmpd="sng">
              <a:solidFill>
                <a:schemeClr val="accent3"/>
              </a:solidFill>
              <a:prstDash val="solid"/>
              <a:round/>
              <a:headEnd type="none" w="sm" len="sm"/>
              <a:tailEnd type="oval" w="med" len="med"/>
            </a:ln>
          </p:spPr>
        </p:cxnSp>
      </p:grpSp>
      <p:cxnSp>
        <p:nvCxnSpPr>
          <p:cNvPr id="46" name="Google Shape;46;p6"/>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47" name="Google Shape;47;p6"/>
          <p:cNvCxnSpPr/>
          <p:nvPr/>
        </p:nvCxnSpPr>
        <p:spPr>
          <a:xfrm>
            <a:off x="590672" y="7670325"/>
            <a:ext cx="11927100" cy="0"/>
          </a:xfrm>
          <a:prstGeom prst="straightConnector1">
            <a:avLst/>
          </a:prstGeom>
          <a:noFill/>
          <a:ln w="38100" cap="flat" cmpd="sng">
            <a:solidFill>
              <a:srgbClr val="221666"/>
            </a:solidFill>
            <a:prstDash val="solid"/>
            <a:round/>
            <a:headEnd type="none" w="sm" len="sm"/>
            <a:tailEnd type="oval" w="med" len="med"/>
          </a:ln>
        </p:spPr>
      </p:cxnSp>
      <p:grpSp>
        <p:nvGrpSpPr>
          <p:cNvPr id="48" name="Google Shape;48;p6"/>
          <p:cNvGrpSpPr/>
          <p:nvPr/>
        </p:nvGrpSpPr>
        <p:grpSpPr>
          <a:xfrm>
            <a:off x="4850936" y="6997700"/>
            <a:ext cx="5993811" cy="476700"/>
            <a:chOff x="4223025" y="2775961"/>
            <a:chExt cx="5993811" cy="476700"/>
          </a:xfrm>
        </p:grpSpPr>
        <p:cxnSp>
          <p:nvCxnSpPr>
            <p:cNvPr id="49" name="Google Shape;49;p6"/>
            <p:cNvCxnSpPr/>
            <p:nvPr/>
          </p:nvCxnSpPr>
          <p:spPr>
            <a:xfrm>
              <a:off x="4223025" y="2784900"/>
              <a:ext cx="2381400" cy="0"/>
            </a:xfrm>
            <a:prstGeom prst="straightConnector1">
              <a:avLst/>
            </a:prstGeom>
            <a:noFill/>
            <a:ln w="38100" cap="flat" cmpd="sng">
              <a:solidFill>
                <a:schemeClr val="accent3"/>
              </a:solidFill>
              <a:prstDash val="solid"/>
              <a:round/>
              <a:headEnd type="none" w="sm" len="sm"/>
              <a:tailEnd type="none" w="sm" len="sm"/>
            </a:ln>
          </p:spPr>
        </p:cxnSp>
        <p:cxnSp>
          <p:nvCxnSpPr>
            <p:cNvPr id="50" name="Google Shape;50;p6"/>
            <p:cNvCxnSpPr/>
            <p:nvPr/>
          </p:nvCxnSpPr>
          <p:spPr>
            <a:xfrm>
              <a:off x="6587974" y="2775961"/>
              <a:ext cx="340200" cy="476700"/>
            </a:xfrm>
            <a:prstGeom prst="straightConnector1">
              <a:avLst/>
            </a:prstGeom>
            <a:noFill/>
            <a:ln w="38100" cap="flat" cmpd="sng">
              <a:solidFill>
                <a:schemeClr val="accent3"/>
              </a:solidFill>
              <a:prstDash val="solid"/>
              <a:round/>
              <a:headEnd type="none" w="sm" len="sm"/>
              <a:tailEnd type="none" w="sm" len="sm"/>
            </a:ln>
          </p:spPr>
        </p:cxnSp>
        <p:cxnSp>
          <p:nvCxnSpPr>
            <p:cNvPr id="51" name="Google Shape;51;p6"/>
            <p:cNvCxnSpPr/>
            <p:nvPr/>
          </p:nvCxnSpPr>
          <p:spPr>
            <a:xfrm>
              <a:off x="6918936" y="3240486"/>
              <a:ext cx="3297900" cy="0"/>
            </a:xfrm>
            <a:prstGeom prst="straightConnector1">
              <a:avLst/>
            </a:prstGeom>
            <a:noFill/>
            <a:ln w="38100" cap="flat" cmpd="sng">
              <a:solidFill>
                <a:schemeClr val="accent3"/>
              </a:solidFill>
              <a:prstDash val="solid"/>
              <a:round/>
              <a:headEnd type="none" w="sm" len="sm"/>
              <a:tailEnd type="oval" w="med" len="med"/>
            </a:ln>
          </p:spPr>
        </p:cxnSp>
      </p:grpSp>
      <p:sp>
        <p:nvSpPr>
          <p:cNvPr id="52" name="TextBox 51"/>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Sobre el autor</a:t>
            </a:r>
          </a:p>
        </p:txBody>
      </p:sp>
      <p:cxnSp>
        <p:nvCxnSpPr>
          <p:cNvPr id="810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810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03" name="Rectangle 8102"/>
          <p:cNvSpPr/>
          <p:nvPr/>
        </p:nvSpPr>
        <p:spPr>
          <a:xfrm>
            <a:off x="822960" y="2148840"/>
            <a:ext cx="777240" cy="129844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A</a:t>
            </a:r>
          </a:p>
        </p:txBody>
      </p:sp>
      <p:sp>
        <p:nvSpPr>
          <p:cNvPr id="8104" name="TextBox 8103"/>
          <p:cNvSpPr txBox="1"/>
          <p:nvPr/>
        </p:nvSpPr>
        <p:spPr>
          <a:xfrm>
            <a:off x="1645920" y="2148840"/>
            <a:ext cx="6949440" cy="1298448"/>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1" i="0">
                <a:solidFill>
                  <a:srgbClr val="221666"/>
                </a:solidFill>
                <a:latin typeface="Arial"/>
                <a:ea typeface="Arial"/>
                <a:cs typeface="Arial"/>
              </a:rPr>
              <a:t>Rol actual  </a:t>
            </a:r>
            <a:r>
              <a:rPr sz="1600" b="0" i="0">
                <a:solidFill>
                  <a:srgbClr val="000000"/>
                </a:solidFill>
                <a:latin typeface="Arial"/>
                <a:ea typeface="Arial"/>
                <a:cs typeface="Arial"/>
              </a:rPr>
              <a:t>Analista de Threat Intelligence · Threat hunter · Líder de SOC — Security Advisor (MSSP), Montevideo, Uruguay. Más de 15 años en ciberseguridad.</a:t>
            </a:r>
          </a:p>
        </p:txBody>
      </p:sp>
      <p:sp>
        <p:nvSpPr>
          <p:cNvPr id="8105" name="Rectangle 8104"/>
          <p:cNvSpPr/>
          <p:nvPr/>
        </p:nvSpPr>
        <p:spPr>
          <a:xfrm>
            <a:off x="822960" y="3611880"/>
            <a:ext cx="777240" cy="129844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B</a:t>
            </a:r>
          </a:p>
        </p:txBody>
      </p:sp>
      <p:sp>
        <p:nvSpPr>
          <p:cNvPr id="8106" name="TextBox 8105"/>
          <p:cNvSpPr txBox="1"/>
          <p:nvPr/>
        </p:nvSpPr>
        <p:spPr>
          <a:xfrm>
            <a:off x="1645920" y="3611880"/>
            <a:ext cx="6949440" cy="1298448"/>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1" i="0">
                <a:solidFill>
                  <a:srgbClr val="221666"/>
                </a:solidFill>
                <a:latin typeface="Arial"/>
                <a:ea typeface="Arial"/>
                <a:cs typeface="Arial"/>
              </a:rPr>
              <a:t>Trayectoria  </a:t>
            </a:r>
            <a:r>
              <a:rPr sz="1600" b="0" i="0">
                <a:solidFill>
                  <a:srgbClr val="000000"/>
                </a:solidFill>
                <a:latin typeface="Arial"/>
                <a:ea typeface="Arial"/>
                <a:cs typeface="Arial"/>
              </a:rPr>
              <a:t>SOC Analyst (L1, L2) → Phishing Analyst → Threat Intelligence e Incident Response.</a:t>
            </a:r>
          </a:p>
        </p:txBody>
      </p:sp>
      <p:sp>
        <p:nvSpPr>
          <p:cNvPr id="8107" name="Rectangle 8106"/>
          <p:cNvSpPr/>
          <p:nvPr/>
        </p:nvSpPr>
        <p:spPr>
          <a:xfrm>
            <a:off x="822960" y="5074920"/>
            <a:ext cx="777240" cy="129844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C</a:t>
            </a:r>
          </a:p>
        </p:txBody>
      </p:sp>
      <p:sp>
        <p:nvSpPr>
          <p:cNvPr id="8108" name="TextBox 8107"/>
          <p:cNvSpPr txBox="1"/>
          <p:nvPr/>
        </p:nvSpPr>
        <p:spPr>
          <a:xfrm>
            <a:off x="1645920" y="5074920"/>
            <a:ext cx="6949440" cy="1298448"/>
          </a:xfrm>
          <a:prstGeom prst="rect">
            <a:avLst/>
          </a:prstGeom>
          <a:solidFill>
            <a:srgbClr val="E8EEFB"/>
          </a:solidFill>
        </p:spPr>
        <p:txBody>
          <a:bodyPr wrap="square" lIns="109728" tIns="109728" rIns="109728" bIns="109728" anchor="ctr">
            <a:noAutofit/>
          </a:bodyPr>
          <a:lstStyle/>
          <a:p>
            <a:pPr>
              <a:spcAft>
                <a:spcPts val="800"/>
              </a:spcAft>
            </a:pPr>
            <a:r>
              <a:rPr sz="1600" b="1" i="0" dirty="0">
                <a:solidFill>
                  <a:srgbClr val="221666"/>
                </a:solidFill>
                <a:latin typeface="Arial"/>
                <a:ea typeface="Arial"/>
                <a:cs typeface="Arial"/>
              </a:rPr>
              <a:t>Roles </a:t>
            </a:r>
            <a:r>
              <a:rPr sz="1600" b="1" i="0" dirty="0" err="1">
                <a:solidFill>
                  <a:srgbClr val="221666"/>
                </a:solidFill>
                <a:latin typeface="Arial"/>
                <a:ea typeface="Arial"/>
                <a:cs typeface="Arial"/>
              </a:rPr>
              <a:t>en</a:t>
            </a:r>
            <a:r>
              <a:rPr sz="1600" b="1" i="0" dirty="0">
                <a:solidFill>
                  <a:srgbClr val="221666"/>
                </a:solidFill>
                <a:latin typeface="Arial"/>
                <a:ea typeface="Arial"/>
                <a:cs typeface="Arial"/>
              </a:rPr>
              <a:t> el Estado  </a:t>
            </a:r>
            <a:r>
              <a:rPr lang="en-US" sz="1600" dirty="0"/>
              <a:t>Reunion de </a:t>
            </a:r>
            <a:r>
              <a:rPr lang="en-US" sz="1600" dirty="0" err="1"/>
              <a:t>Inforacion</a:t>
            </a:r>
            <a:r>
              <a:rPr lang="en-US" sz="1600" dirty="0"/>
              <a:t> / Jefe </a:t>
            </a:r>
            <a:r>
              <a:rPr lang="en-US" sz="1600" dirty="0" err="1"/>
              <a:t>Dpto</a:t>
            </a:r>
            <a:r>
              <a:rPr lang="en-US" sz="1600" dirty="0"/>
              <a:t> Contra </a:t>
            </a:r>
            <a:r>
              <a:rPr lang="en-US" sz="1600" b="0" i="0" dirty="0" err="1">
                <a:solidFill>
                  <a:srgbClr val="000000"/>
                </a:solidFill>
                <a:latin typeface="Arial"/>
                <a:ea typeface="Arial"/>
                <a:cs typeface="Arial"/>
              </a:rPr>
              <a:t>Inteligencia</a:t>
            </a:r>
            <a:r>
              <a:rPr sz="1600" b="0" i="0" dirty="0">
                <a:solidFill>
                  <a:srgbClr val="000000"/>
                </a:solidFill>
                <a:latin typeface="Arial"/>
                <a:ea typeface="Arial"/>
                <a:cs typeface="Arial"/>
              </a:rPr>
              <a:t> Criminal </a:t>
            </a:r>
            <a:r>
              <a:rPr lang="en-US" sz="1600" dirty="0"/>
              <a:t>- </a:t>
            </a:r>
            <a:r>
              <a:rPr lang="en-US" sz="1600" dirty="0" err="1"/>
              <a:t>Ministerio</a:t>
            </a:r>
            <a:r>
              <a:rPr lang="en-US" sz="1600" dirty="0"/>
              <a:t> de Justicia </a:t>
            </a:r>
            <a:r>
              <a:rPr lang="en-US" sz="1600" dirty="0" err="1"/>
              <a:t>Pcia</a:t>
            </a:r>
            <a:r>
              <a:rPr lang="en-US" sz="1600" dirty="0"/>
              <a:t> Bs As</a:t>
            </a:r>
            <a:endParaRPr sz="1600" b="0" i="0" dirty="0">
              <a:solidFill>
                <a:srgbClr val="000000"/>
              </a:solidFill>
              <a:latin typeface="Arial"/>
              <a:ea typeface="Arial"/>
              <a:cs typeface="Arial"/>
            </a:endParaRPr>
          </a:p>
        </p:txBody>
      </p:sp>
      <p:sp>
        <p:nvSpPr>
          <p:cNvPr id="8109" name="Rectangle 8108"/>
          <p:cNvSpPr/>
          <p:nvPr/>
        </p:nvSpPr>
        <p:spPr>
          <a:xfrm>
            <a:off x="822960" y="6537960"/>
            <a:ext cx="777240" cy="129844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D</a:t>
            </a:r>
          </a:p>
        </p:txBody>
      </p:sp>
      <p:sp>
        <p:nvSpPr>
          <p:cNvPr id="8110" name="TextBox 8109"/>
          <p:cNvSpPr txBox="1"/>
          <p:nvPr/>
        </p:nvSpPr>
        <p:spPr>
          <a:xfrm>
            <a:off x="1645920" y="6537960"/>
            <a:ext cx="6949440" cy="1298448"/>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1" i="0">
                <a:solidFill>
                  <a:srgbClr val="221666"/>
                </a:solidFill>
                <a:latin typeface="Arial"/>
                <a:ea typeface="Arial"/>
                <a:cs typeface="Arial"/>
              </a:rPr>
              <a:t>Temas que sigo  </a:t>
            </a:r>
            <a:r>
              <a:rPr sz="1600" b="0" i="0">
                <a:solidFill>
                  <a:srgbClr val="000000"/>
                </a:solidFill>
                <a:latin typeface="Arial"/>
                <a:ea typeface="Arial"/>
                <a:cs typeface="Arial"/>
              </a:rPr>
              <a:t>Threat Intelligence, ransomware, ecosistema de acceso inicial y economía de credenciales.</a:t>
            </a:r>
          </a:p>
        </p:txBody>
      </p:sp>
      <p:sp>
        <p:nvSpPr>
          <p:cNvPr id="8111" name="Rectangle 8110"/>
          <p:cNvSpPr/>
          <p:nvPr/>
        </p:nvSpPr>
        <p:spPr>
          <a:xfrm>
            <a:off x="822960" y="8001000"/>
            <a:ext cx="777240" cy="129844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E</a:t>
            </a:r>
          </a:p>
        </p:txBody>
      </p:sp>
      <p:sp>
        <p:nvSpPr>
          <p:cNvPr id="8112" name="TextBox 8111"/>
          <p:cNvSpPr txBox="1"/>
          <p:nvPr/>
        </p:nvSpPr>
        <p:spPr>
          <a:xfrm>
            <a:off x="1645920" y="8001000"/>
            <a:ext cx="6949440" cy="1298448"/>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1" i="0">
                <a:solidFill>
                  <a:srgbClr val="221666"/>
                </a:solidFill>
                <a:latin typeface="Arial"/>
                <a:ea typeface="Arial"/>
                <a:cs typeface="Arial"/>
              </a:rPr>
              <a:t>Certificaciones  </a:t>
            </a:r>
            <a:r>
              <a:rPr sz="1600" b="0" i="0">
                <a:solidFill>
                  <a:srgbClr val="000000"/>
                </a:solidFill>
                <a:latin typeface="Arial"/>
                <a:ea typeface="Arial"/>
                <a:cs typeface="Arial"/>
              </a:rPr>
              <a:t>eCIR · eCTHP (INE Security) · CTIA · ECIH (EC-Council) · CCFA (CrowdStrike) · SC-200 (Microsoft).</a:t>
            </a:r>
          </a:p>
        </p:txBody>
      </p:sp>
      <p:sp>
        <p:nvSpPr>
          <p:cNvPr id="8113" name="Rectangle 8112"/>
          <p:cNvSpPr/>
          <p:nvPr/>
        </p:nvSpPr>
        <p:spPr>
          <a:xfrm>
            <a:off x="822960" y="9464040"/>
            <a:ext cx="777240" cy="129844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F</a:t>
            </a:r>
          </a:p>
        </p:txBody>
      </p:sp>
      <p:sp>
        <p:nvSpPr>
          <p:cNvPr id="8114" name="TextBox 8113"/>
          <p:cNvSpPr txBox="1"/>
          <p:nvPr/>
        </p:nvSpPr>
        <p:spPr>
          <a:xfrm>
            <a:off x="1645920" y="9464040"/>
            <a:ext cx="6949440" cy="1298448"/>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1" i="0">
                <a:solidFill>
                  <a:srgbClr val="221666"/>
                </a:solidFill>
                <a:latin typeface="Arial"/>
                <a:ea typeface="Arial"/>
                <a:cs typeface="Arial"/>
              </a:rPr>
              <a:t>Contacto  </a:t>
            </a:r>
            <a:r>
              <a:rPr sz="1600" b="0" i="0">
                <a:solidFill>
                  <a:srgbClr val="000000"/>
                </a:solidFill>
                <a:latin typeface="Arial"/>
                <a:ea typeface="Arial"/>
                <a:cs typeface="Arial"/>
              </a:rPr>
              <a:t>@anakinswal · github.com/Ank1nskywalker/talks · perez.edav@gmail.com</a:t>
            </a:r>
          </a:p>
        </p:txBody>
      </p:sp>
      <p:pic>
        <p:nvPicPr>
          <p:cNvPr id="8115" name="Picture 8114" descr="Picture_40.png"/>
          <p:cNvPicPr>
            <a:picLocks noChangeAspect="1"/>
          </p:cNvPicPr>
          <p:nvPr/>
        </p:nvPicPr>
        <p:blipFill>
          <a:blip r:embed="rId4"/>
          <a:stretch>
            <a:fillRect/>
          </a:stretch>
        </p:blipFill>
        <p:spPr>
          <a:xfrm>
            <a:off x="8892540" y="2240280"/>
            <a:ext cx="1463040" cy="1463040"/>
          </a:xfrm>
          <a:prstGeom prst="rect">
            <a:avLst/>
          </a:prstGeom>
        </p:spPr>
      </p:pic>
      <p:pic>
        <p:nvPicPr>
          <p:cNvPr id="8116" name="Picture 8115" descr="Picture_52.png"/>
          <p:cNvPicPr>
            <a:picLocks noChangeAspect="1"/>
          </p:cNvPicPr>
          <p:nvPr/>
        </p:nvPicPr>
        <p:blipFill>
          <a:blip r:embed="rId5"/>
          <a:stretch>
            <a:fillRect/>
          </a:stretch>
        </p:blipFill>
        <p:spPr>
          <a:xfrm>
            <a:off x="10862232" y="2240280"/>
            <a:ext cx="906936" cy="1463040"/>
          </a:xfrm>
          <a:prstGeom prst="rect">
            <a:avLst/>
          </a:prstGeom>
        </p:spPr>
      </p:pic>
      <p:pic>
        <p:nvPicPr>
          <p:cNvPr id="8117" name="Picture 8116" descr="Picture_42.png"/>
          <p:cNvPicPr>
            <a:picLocks noChangeAspect="1"/>
          </p:cNvPicPr>
          <p:nvPr/>
        </p:nvPicPr>
        <p:blipFill>
          <a:blip r:embed="rId6"/>
          <a:stretch>
            <a:fillRect/>
          </a:stretch>
        </p:blipFill>
        <p:spPr>
          <a:xfrm>
            <a:off x="12275820" y="2240280"/>
            <a:ext cx="1463040" cy="1463040"/>
          </a:xfrm>
          <a:prstGeom prst="rect">
            <a:avLst/>
          </a:prstGeom>
        </p:spPr>
      </p:pic>
      <p:pic>
        <p:nvPicPr>
          <p:cNvPr id="8118" name="Picture 8117" descr="Picture_44.png"/>
          <p:cNvPicPr>
            <a:picLocks noChangeAspect="1"/>
          </p:cNvPicPr>
          <p:nvPr/>
        </p:nvPicPr>
        <p:blipFill>
          <a:blip r:embed="rId7"/>
          <a:stretch>
            <a:fillRect/>
          </a:stretch>
        </p:blipFill>
        <p:spPr>
          <a:xfrm>
            <a:off x="8892540" y="3931920"/>
            <a:ext cx="1463040" cy="1463040"/>
          </a:xfrm>
          <a:prstGeom prst="rect">
            <a:avLst/>
          </a:prstGeom>
        </p:spPr>
      </p:pic>
      <p:pic>
        <p:nvPicPr>
          <p:cNvPr id="8119" name="Picture 8118" descr="ccfa.png"/>
          <p:cNvPicPr>
            <a:picLocks noChangeAspect="1"/>
          </p:cNvPicPr>
          <p:nvPr/>
        </p:nvPicPr>
        <p:blipFill>
          <a:blip r:embed="rId8"/>
          <a:stretch>
            <a:fillRect/>
          </a:stretch>
        </p:blipFill>
        <p:spPr>
          <a:xfrm>
            <a:off x="10584180" y="3931920"/>
            <a:ext cx="1463040" cy="1463040"/>
          </a:xfrm>
          <a:prstGeom prst="rect">
            <a:avLst/>
          </a:prstGeom>
        </p:spPr>
      </p:pic>
      <p:pic>
        <p:nvPicPr>
          <p:cNvPr id="8120" name="Picture 8119" descr="sc200.png"/>
          <p:cNvPicPr>
            <a:picLocks noChangeAspect="1"/>
          </p:cNvPicPr>
          <p:nvPr/>
        </p:nvPicPr>
        <p:blipFill>
          <a:blip r:embed="rId9"/>
          <a:stretch>
            <a:fillRect/>
          </a:stretch>
        </p:blipFill>
        <p:spPr>
          <a:xfrm>
            <a:off x="12275820" y="3931920"/>
            <a:ext cx="1463040" cy="1463040"/>
          </a:xfrm>
          <a:prstGeom prst="rect">
            <a:avLst/>
          </a:prstGeom>
        </p:spPr>
      </p:pic>
      <p:sp>
        <p:nvSpPr>
          <p:cNvPr id="8121" name="TextBox 8120"/>
          <p:cNvSpPr txBox="1"/>
          <p:nvPr/>
        </p:nvSpPr>
        <p:spPr>
          <a:xfrm>
            <a:off x="8732520" y="5669280"/>
            <a:ext cx="5120640" cy="457200"/>
          </a:xfrm>
          <a:prstGeom prst="rect">
            <a:avLst/>
          </a:prstGeom>
          <a:noFill/>
        </p:spPr>
        <p:txBody>
          <a:bodyPr wrap="square" lIns="73152" tIns="73152" rIns="73152" bIns="73152" anchor="t">
            <a:noAutofit/>
          </a:bodyPr>
          <a:lstStyle/>
          <a:p>
            <a:pPr algn="ctr">
              <a:lnSpc>
                <a:spcPct val="100000"/>
              </a:lnSpc>
              <a:spcAft>
                <a:spcPts val="800"/>
              </a:spcAft>
            </a:pPr>
            <a:r>
              <a:rPr sz="1500" b="0" i="1">
                <a:solidFill>
                  <a:srgbClr val="555B6E"/>
                </a:solidFill>
                <a:latin typeface="Arial"/>
                <a:ea typeface="Arial"/>
                <a:cs typeface="Arial"/>
              </a:rPr>
              <a:t>Certificaciones</a:t>
            </a:r>
          </a:p>
        </p:txBody>
      </p:sp>
      <p:pic>
        <p:nvPicPr>
          <p:cNvPr id="8122" name="Picture 8121" descr="Picture_2.png"/>
          <p:cNvPicPr>
            <a:picLocks noChangeAspect="1"/>
          </p:cNvPicPr>
          <p:nvPr/>
        </p:nvPicPr>
        <p:blipFill>
          <a:blip r:embed="rId10"/>
          <a:stretch>
            <a:fillRect/>
          </a:stretch>
        </p:blipFill>
        <p:spPr>
          <a:xfrm>
            <a:off x="11932920" y="5989320"/>
            <a:ext cx="3352800" cy="5029200"/>
          </a:xfrm>
          <a:prstGeom prst="rect">
            <a:avLst/>
          </a:prstGeom>
        </p:spPr>
      </p:pic>
      <p:sp>
        <p:nvSpPr>
          <p:cNvPr id="8123" name="TextBox 8122"/>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8124" name="TextBox 8123"/>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2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2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2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Agenda · 12 minutos · 7 bloques</a:t>
            </a:r>
          </a:p>
        </p:txBody>
      </p:sp>
      <p:sp>
        <p:nvSpPr>
          <p:cNvPr id="9024" name="TextBox 902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25" name="TextBox 902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3</a:t>
            </a:r>
          </a:p>
        </p:txBody>
      </p:sp>
      <p:sp>
        <p:nvSpPr>
          <p:cNvPr id="9026" name="TextBox 902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tiempos orientativos; 3 minutos adicionales de preguntas al final.</a:t>
            </a:r>
          </a:p>
        </p:txBody>
      </p:sp>
      <p:sp>
        <p:nvSpPr>
          <p:cNvPr id="9027" name="Rectangle 9026"/>
          <p:cNvSpPr/>
          <p:nvPr/>
        </p:nvSpPr>
        <p:spPr>
          <a:xfrm>
            <a:off x="822960" y="2148840"/>
            <a:ext cx="1005840" cy="111556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01</a:t>
            </a:r>
          </a:p>
        </p:txBody>
      </p:sp>
      <p:sp>
        <p:nvSpPr>
          <p:cNvPr id="9028" name="TextBox 9027"/>
          <p:cNvSpPr txBox="1"/>
          <p:nvPr/>
        </p:nvSpPr>
        <p:spPr>
          <a:xfrm>
            <a:off x="1920240" y="2148840"/>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El problema  </a:t>
            </a:r>
            <a:r>
              <a:rPr sz="1600" b="0" i="0">
                <a:solidFill>
                  <a:srgbClr val="000000"/>
                </a:solidFill>
                <a:latin typeface="Arial"/>
                <a:ea typeface="Arial"/>
                <a:cs typeface="Arial"/>
              </a:rPr>
              <a:t>Llegamos tarde y mirando lo barato: el mercado de credenciales y la Pirámide del Dolor.</a:t>
            </a:r>
          </a:p>
        </p:txBody>
      </p:sp>
      <p:sp>
        <p:nvSpPr>
          <p:cNvPr id="9029" name="TextBox 9028"/>
          <p:cNvSpPr txBox="1"/>
          <p:nvPr/>
        </p:nvSpPr>
        <p:spPr>
          <a:xfrm>
            <a:off x="13395960" y="2148840"/>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2'</a:t>
            </a:r>
          </a:p>
        </p:txBody>
      </p:sp>
      <p:sp>
        <p:nvSpPr>
          <p:cNvPr id="9030" name="Rectangle 9029"/>
          <p:cNvSpPr/>
          <p:nvPr/>
        </p:nvSpPr>
        <p:spPr>
          <a:xfrm>
            <a:off x="822960" y="3392424"/>
            <a:ext cx="1005840" cy="111556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02</a:t>
            </a:r>
          </a:p>
        </p:txBody>
      </p:sp>
      <p:sp>
        <p:nvSpPr>
          <p:cNvPr id="9031" name="TextBox 9030"/>
          <p:cNvSpPr txBox="1"/>
          <p:nvPr/>
        </p:nvSpPr>
        <p:spPr>
          <a:xfrm>
            <a:off x="1920240" y="3392424"/>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La metodología  </a:t>
            </a:r>
            <a:r>
              <a:rPr sz="1600" b="0" i="0">
                <a:solidFill>
                  <a:srgbClr val="000000"/>
                </a:solidFill>
                <a:latin typeface="Arial"/>
                <a:ea typeface="Arial"/>
                <a:cs typeface="Arial"/>
              </a:rPr>
              <a:t>Tres fases encadenadas del ciclo de inteligencia: qué es cada una y cómo se conectan.</a:t>
            </a:r>
          </a:p>
        </p:txBody>
      </p:sp>
      <p:sp>
        <p:nvSpPr>
          <p:cNvPr id="9032" name="TextBox 9031"/>
          <p:cNvSpPr txBox="1"/>
          <p:nvPr/>
        </p:nvSpPr>
        <p:spPr>
          <a:xfrm>
            <a:off x="13395960" y="3392424"/>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1'</a:t>
            </a:r>
          </a:p>
        </p:txBody>
      </p:sp>
      <p:sp>
        <p:nvSpPr>
          <p:cNvPr id="9033" name="Rectangle 9032"/>
          <p:cNvSpPr/>
          <p:nvPr/>
        </p:nvSpPr>
        <p:spPr>
          <a:xfrm>
            <a:off x="822960" y="4636008"/>
            <a:ext cx="1005840" cy="1115568"/>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03</a:t>
            </a:r>
          </a:p>
        </p:txBody>
      </p:sp>
      <p:sp>
        <p:nvSpPr>
          <p:cNvPr id="9034" name="TextBox 9033"/>
          <p:cNvSpPr txBox="1"/>
          <p:nvPr/>
        </p:nvSpPr>
        <p:spPr>
          <a:xfrm>
            <a:off x="1920240" y="4636008"/>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Fase I · Recolección y evaluación  </a:t>
            </a:r>
            <a:r>
              <a:rPr sz="1600" b="0" i="0">
                <a:solidFill>
                  <a:srgbClr val="000000"/>
                </a:solidFill>
                <a:latin typeface="Arial"/>
                <a:ea typeface="Arial"/>
                <a:cs typeface="Arial"/>
              </a:rPr>
              <a:t>Dark Web, código Admiralty, OPSEC, PIR. La economía de credenciales, dos casos propios reportados al CERT.ar y el impacto local (Oldelval).</a:t>
            </a:r>
          </a:p>
        </p:txBody>
      </p:sp>
      <p:sp>
        <p:nvSpPr>
          <p:cNvPr id="9035" name="TextBox 9034"/>
          <p:cNvSpPr txBox="1"/>
          <p:nvPr/>
        </p:nvSpPr>
        <p:spPr>
          <a:xfrm>
            <a:off x="13395960" y="4636008"/>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3'</a:t>
            </a:r>
          </a:p>
        </p:txBody>
      </p:sp>
      <p:sp>
        <p:nvSpPr>
          <p:cNvPr id="9036" name="Rectangle 9035"/>
          <p:cNvSpPr/>
          <p:nvPr/>
        </p:nvSpPr>
        <p:spPr>
          <a:xfrm>
            <a:off x="822960" y="5879592"/>
            <a:ext cx="1005840" cy="1115568"/>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04</a:t>
            </a:r>
          </a:p>
        </p:txBody>
      </p:sp>
      <p:sp>
        <p:nvSpPr>
          <p:cNvPr id="9037" name="TextBox 9036"/>
          <p:cNvSpPr txBox="1"/>
          <p:nvPr/>
        </p:nvSpPr>
        <p:spPr>
          <a:xfrm>
            <a:off x="1920240" y="5879592"/>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Fase II · Del indicador al comportamiento  </a:t>
            </a:r>
            <a:r>
              <a:rPr sz="1600" b="0" i="0">
                <a:solidFill>
                  <a:srgbClr val="000000"/>
                </a:solidFill>
                <a:latin typeface="Arial"/>
                <a:ea typeface="Arial"/>
                <a:cs typeface="Arial"/>
              </a:rPr>
              <a:t>MITRE ATT&amp;CK y TTPs: por qué la defensa se ancla en cómo opera el adversario y no en sus artefactos.</a:t>
            </a:r>
          </a:p>
        </p:txBody>
      </p:sp>
      <p:sp>
        <p:nvSpPr>
          <p:cNvPr id="9038" name="TextBox 9037"/>
          <p:cNvSpPr txBox="1"/>
          <p:nvPr/>
        </p:nvSpPr>
        <p:spPr>
          <a:xfrm>
            <a:off x="13395960" y="5879592"/>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1'</a:t>
            </a:r>
          </a:p>
        </p:txBody>
      </p:sp>
      <p:sp>
        <p:nvSpPr>
          <p:cNvPr id="9039" name="Rectangle 9038"/>
          <p:cNvSpPr/>
          <p:nvPr/>
        </p:nvSpPr>
        <p:spPr>
          <a:xfrm>
            <a:off x="822960" y="7123175"/>
            <a:ext cx="1005840" cy="111556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05</a:t>
            </a:r>
          </a:p>
        </p:txBody>
      </p:sp>
      <p:sp>
        <p:nvSpPr>
          <p:cNvPr id="9040" name="TextBox 9039"/>
          <p:cNvSpPr txBox="1"/>
          <p:nvPr/>
        </p:nvSpPr>
        <p:spPr>
          <a:xfrm>
            <a:off x="1920240" y="7123175"/>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Fase III · Atribución  </a:t>
            </a:r>
            <a:r>
              <a:rPr sz="1600" b="0" i="0">
                <a:solidFill>
                  <a:srgbClr val="000000"/>
                </a:solidFill>
                <a:latin typeface="Arial"/>
                <a:ea typeface="Arial"/>
                <a:cs typeface="Arial"/>
              </a:rPr>
              <a:t>Por qué importa, cómo se hace en tres niveles, por qué el mismo actor tiene siete nombres y qué codifica cada empresa.</a:t>
            </a:r>
          </a:p>
        </p:txBody>
      </p:sp>
      <p:sp>
        <p:nvSpPr>
          <p:cNvPr id="9041" name="TextBox 9040"/>
          <p:cNvSpPr txBox="1"/>
          <p:nvPr/>
        </p:nvSpPr>
        <p:spPr>
          <a:xfrm>
            <a:off x="13395960" y="7123175"/>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3'</a:t>
            </a:r>
          </a:p>
        </p:txBody>
      </p:sp>
      <p:sp>
        <p:nvSpPr>
          <p:cNvPr id="9042" name="Rectangle 9041"/>
          <p:cNvSpPr/>
          <p:nvPr/>
        </p:nvSpPr>
        <p:spPr>
          <a:xfrm>
            <a:off x="822960" y="8366759"/>
            <a:ext cx="1005840" cy="1115568"/>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06</a:t>
            </a:r>
          </a:p>
        </p:txBody>
      </p:sp>
      <p:sp>
        <p:nvSpPr>
          <p:cNvPr id="9043" name="TextBox 9042"/>
          <p:cNvSpPr txBox="1"/>
          <p:nvPr/>
        </p:nvSpPr>
        <p:spPr>
          <a:xfrm>
            <a:off x="1920240" y="8366759"/>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La prueba  </a:t>
            </a:r>
            <a:r>
              <a:rPr sz="1600" b="0" i="0">
                <a:solidFill>
                  <a:srgbClr val="000000"/>
                </a:solidFill>
                <a:latin typeface="Arial"/>
                <a:ea typeface="Arial"/>
                <a:cs typeface="Arial"/>
              </a:rPr>
              <a:t>Caso RMM: del fraude al espionaje estatal. El Tesoro de EE.UU. recorriendo los tres niveles.</a:t>
            </a:r>
          </a:p>
        </p:txBody>
      </p:sp>
      <p:sp>
        <p:nvSpPr>
          <p:cNvPr id="9044" name="TextBox 9043"/>
          <p:cNvSpPr txBox="1"/>
          <p:nvPr/>
        </p:nvSpPr>
        <p:spPr>
          <a:xfrm>
            <a:off x="13395960" y="8366759"/>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1'30</a:t>
            </a:r>
          </a:p>
        </p:txBody>
      </p:sp>
      <p:sp>
        <p:nvSpPr>
          <p:cNvPr id="9045" name="Rectangle 9044"/>
          <p:cNvSpPr/>
          <p:nvPr/>
        </p:nvSpPr>
        <p:spPr>
          <a:xfrm>
            <a:off x="822960" y="9610344"/>
            <a:ext cx="1005840" cy="111556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400" b="1" i="0">
                <a:solidFill>
                  <a:srgbClr val="FFFFFF"/>
                </a:solidFill>
                <a:latin typeface="Oswald"/>
                <a:ea typeface="Oswald"/>
                <a:cs typeface="Oswald"/>
              </a:rPr>
              <a:t>07</a:t>
            </a:r>
          </a:p>
        </p:txBody>
      </p:sp>
      <p:sp>
        <p:nvSpPr>
          <p:cNvPr id="9046" name="TextBox 9045"/>
          <p:cNvSpPr txBox="1"/>
          <p:nvPr/>
        </p:nvSpPr>
        <p:spPr>
          <a:xfrm>
            <a:off x="1920240" y="9610344"/>
            <a:ext cx="11338560" cy="1115568"/>
          </a:xfrm>
          <a:prstGeom prst="rect">
            <a:avLst/>
          </a:prstGeom>
          <a:solidFill>
            <a:srgbClr val="E8EEFB"/>
          </a:solidFill>
        </p:spPr>
        <p:txBody>
          <a:bodyPr wrap="square" lIns="128016" tIns="128016" rIns="128016" bIns="128016" anchor="ctr">
            <a:noAutofit/>
          </a:bodyPr>
          <a:lstStyle/>
          <a:p>
            <a:pPr algn="l">
              <a:lnSpc>
                <a:spcPct val="100000"/>
              </a:lnSpc>
              <a:spcAft>
                <a:spcPts val="800"/>
              </a:spcAft>
            </a:pPr>
            <a:r>
              <a:rPr sz="1900" b="1" i="0">
                <a:solidFill>
                  <a:srgbClr val="221666"/>
                </a:solidFill>
                <a:latin typeface="Arial"/>
                <a:ea typeface="Arial"/>
                <a:cs typeface="Arial"/>
              </a:rPr>
              <a:t>Conclusiones  </a:t>
            </a:r>
            <a:r>
              <a:rPr sz="1600" b="0" i="0">
                <a:solidFill>
                  <a:srgbClr val="000000"/>
                </a:solidFill>
                <a:latin typeface="Arial"/>
                <a:ea typeface="Arial"/>
                <a:cs typeface="Arial"/>
              </a:rPr>
              <a:t>Anticipar al adversario; el juicio humano irreemplazable en la atribución.</a:t>
            </a:r>
          </a:p>
        </p:txBody>
      </p:sp>
      <p:sp>
        <p:nvSpPr>
          <p:cNvPr id="9047" name="TextBox 9046"/>
          <p:cNvSpPr txBox="1"/>
          <p:nvPr/>
        </p:nvSpPr>
        <p:spPr>
          <a:xfrm>
            <a:off x="13395960" y="9610344"/>
            <a:ext cx="1371600" cy="1115568"/>
          </a:xfrm>
          <a:prstGeom prst="rect">
            <a:avLst/>
          </a:prstGeom>
          <a:solidFill>
            <a:srgbClr val="E8EEFB"/>
          </a:solidFill>
        </p:spPr>
        <p:txBody>
          <a:bodyPr wrap="square" lIns="73152" tIns="73152" rIns="73152" bIns="73152" anchor="ctr">
            <a:noAutofit/>
          </a:bodyPr>
          <a:lstStyle/>
          <a:p>
            <a:pPr algn="ctr">
              <a:lnSpc>
                <a:spcPct val="100000"/>
              </a:lnSpc>
              <a:spcAft>
                <a:spcPts val="800"/>
              </a:spcAft>
            </a:pPr>
            <a:r>
              <a:rPr sz="2000" b="1" i="0">
                <a:solidFill>
                  <a:srgbClr val="555B6E"/>
                </a:solidFill>
                <a:latin typeface="Arial"/>
                <a:ea typeface="Arial"/>
                <a:cs typeface="Arial"/>
              </a:rPr>
              <a:t>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3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3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3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Hoja de ruta</a:t>
            </a:r>
          </a:p>
        </p:txBody>
      </p:sp>
      <p:sp>
        <p:nvSpPr>
          <p:cNvPr id="9034" name="TextBox 903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35" name="TextBox 903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4</a:t>
            </a:r>
          </a:p>
        </p:txBody>
      </p:sp>
      <p:sp>
        <p:nvSpPr>
          <p:cNvPr id="9036" name="TextBox 903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el problema, la propuesta y su validación en una página.</a:t>
            </a:r>
          </a:p>
        </p:txBody>
      </p:sp>
      <p:sp>
        <p:nvSpPr>
          <p:cNvPr id="9037" name="Rectangle 9036"/>
          <p:cNvSpPr/>
          <p:nvPr/>
        </p:nvSpPr>
        <p:spPr>
          <a:xfrm>
            <a:off x="822960" y="2148840"/>
            <a:ext cx="14447520" cy="150876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400"/>
              </a:spcAft>
            </a:pPr>
            <a:r>
              <a:rPr sz="2200" b="1" i="0">
                <a:solidFill>
                  <a:srgbClr val="FFFFFF"/>
                </a:solidFill>
                <a:latin typeface="Oswald"/>
                <a:ea typeface="Oswald"/>
                <a:cs typeface="Oswald"/>
              </a:rPr>
              <a:t>El problema</a:t>
            </a:r>
          </a:p>
          <a:p>
            <a:pPr algn="l">
              <a:spcAft>
                <a:spcPts val="400"/>
              </a:spcAft>
            </a:pPr>
            <a:r>
              <a:rPr sz="2100" b="0" i="0">
                <a:solidFill>
                  <a:srgbClr val="FFFFFF"/>
                </a:solidFill>
                <a:latin typeface="Arial"/>
                <a:ea typeface="Arial"/>
                <a:cs typeface="Arial"/>
              </a:rPr>
              <a:t>La ciberdefensa reacciona después del ataque y se apoya en indicadores baratos de reemplazar. Llega tarde y mira lo que menos le cuesta al adversario cambiar.</a:t>
            </a:r>
          </a:p>
        </p:txBody>
      </p:sp>
      <p:sp>
        <p:nvSpPr>
          <p:cNvPr id="9038" name="TextBox 9037"/>
          <p:cNvSpPr txBox="1"/>
          <p:nvPr/>
        </p:nvSpPr>
        <p:spPr>
          <a:xfrm>
            <a:off x="822960" y="3931920"/>
            <a:ext cx="14447520" cy="914400"/>
          </a:xfrm>
          <a:prstGeom prst="rect">
            <a:avLst/>
          </a:prstGeom>
          <a:noFill/>
        </p:spPr>
        <p:txBody>
          <a:bodyPr wrap="square" lIns="73152" tIns="73152" rIns="73152" bIns="73152" anchor="t">
            <a:noAutofit/>
          </a:bodyPr>
          <a:lstStyle/>
          <a:p>
            <a:pPr algn="l">
              <a:lnSpc>
                <a:spcPct val="100000"/>
              </a:lnSpc>
              <a:spcAft>
                <a:spcPts val="400"/>
              </a:spcAft>
            </a:pPr>
            <a:r>
              <a:rPr sz="2400" b="1" i="0">
                <a:solidFill>
                  <a:srgbClr val="221666"/>
                </a:solidFill>
                <a:latin typeface="Arial"/>
                <a:ea typeface="Arial"/>
                <a:cs typeface="Arial"/>
              </a:rPr>
              <a:t>La propuesta: una metodología de CTI proactiva</a:t>
            </a:r>
          </a:p>
          <a:p>
            <a:pPr algn="l">
              <a:lnSpc>
                <a:spcPct val="100000"/>
              </a:lnSpc>
              <a:spcAft>
                <a:spcPts val="400"/>
              </a:spcAft>
            </a:pPr>
            <a:r>
              <a:rPr sz="1800" b="0" i="0">
                <a:solidFill>
                  <a:srgbClr val="000000"/>
                </a:solidFill>
                <a:latin typeface="Arial"/>
                <a:ea typeface="Arial"/>
                <a:cs typeface="Arial"/>
              </a:rPr>
              <a:t>Una metodología es el procedimiento de trabajo del analista para pasar, de forma replicable y trazable, del dato crudo al juicio de atribución. Es el aporte central del trabajo presentado a este congreso. Se organiza en tres fases encadenadas:</a:t>
            </a:r>
          </a:p>
        </p:txBody>
      </p:sp>
      <p:sp>
        <p:nvSpPr>
          <p:cNvPr id="9039" name="Rectangle 9038"/>
          <p:cNvSpPr/>
          <p:nvPr/>
        </p:nvSpPr>
        <p:spPr>
          <a:xfrm>
            <a:off x="822960" y="5212080"/>
            <a:ext cx="4572000" cy="219456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800" b="1" i="0">
                <a:solidFill>
                  <a:srgbClr val="FFFFFF"/>
                </a:solidFill>
                <a:latin typeface="Oswald"/>
                <a:ea typeface="Oswald"/>
                <a:cs typeface="Oswald"/>
              </a:rPr>
              <a:t>FASE I</a:t>
            </a:r>
          </a:p>
          <a:p>
            <a:pPr algn="ctr">
              <a:spcAft>
                <a:spcPts val="200"/>
              </a:spcAft>
            </a:pPr>
            <a:r>
              <a:rPr sz="1900" b="0" i="0">
                <a:solidFill>
                  <a:srgbClr val="FFFFFF"/>
                </a:solidFill>
                <a:latin typeface="Arial"/>
                <a:ea typeface="Arial"/>
                <a:cs typeface="Arial"/>
              </a:rPr>
              <a:t>Recolección y evaluación</a:t>
            </a:r>
          </a:p>
          <a:p>
            <a:pPr algn="ctr">
              <a:spcAft>
                <a:spcPts val="200"/>
              </a:spcAft>
            </a:pPr>
            <a:r>
              <a:rPr sz="1900" b="0" i="0">
                <a:solidFill>
                  <a:srgbClr val="FFFFFF"/>
                </a:solidFill>
                <a:latin typeface="Arial"/>
                <a:ea typeface="Arial"/>
                <a:cs typeface="Arial"/>
              </a:rPr>
              <a:t>en la Dark Web</a:t>
            </a:r>
          </a:p>
        </p:txBody>
      </p:sp>
      <p:sp>
        <p:nvSpPr>
          <p:cNvPr id="9040" name="TextBox 9039"/>
          <p:cNvSpPr txBox="1"/>
          <p:nvPr/>
        </p:nvSpPr>
        <p:spPr>
          <a:xfrm>
            <a:off x="822960" y="7543800"/>
            <a:ext cx="4572000" cy="1188720"/>
          </a:xfrm>
          <a:prstGeom prst="rect">
            <a:avLst/>
          </a:prstGeom>
          <a:noFill/>
        </p:spPr>
        <p:txBody>
          <a:bodyPr wrap="square" lIns="73152" tIns="73152" rIns="73152" bIns="73152" anchor="t">
            <a:noAutofit/>
          </a:bodyPr>
          <a:lstStyle/>
          <a:p>
            <a:pPr algn="ctr">
              <a:lnSpc>
                <a:spcPct val="100000"/>
              </a:lnSpc>
              <a:spcAft>
                <a:spcPts val="0"/>
              </a:spcAft>
            </a:pPr>
            <a:r>
              <a:rPr sz="1600" b="0" i="1">
                <a:solidFill>
                  <a:srgbClr val="555B6E"/>
                </a:solidFill>
                <a:latin typeface="Arial"/>
                <a:ea typeface="Arial"/>
                <a:cs typeface="Arial"/>
              </a:rPr>
              <a:t>¿Qué se dice del adversario</a:t>
            </a:r>
          </a:p>
          <a:p>
            <a:pPr algn="ctr">
              <a:lnSpc>
                <a:spcPct val="100000"/>
              </a:lnSpc>
              <a:spcAft>
                <a:spcPts val="0"/>
              </a:spcAft>
            </a:pPr>
            <a:r>
              <a:rPr sz="1600" b="0" i="1">
                <a:solidFill>
                  <a:srgbClr val="555B6E"/>
                </a:solidFill>
                <a:latin typeface="Arial"/>
                <a:ea typeface="Arial"/>
                <a:cs typeface="Arial"/>
              </a:rPr>
              <a:t>y cuánto vale ese dato?</a:t>
            </a:r>
          </a:p>
        </p:txBody>
      </p:sp>
      <p:cxnSp>
        <p:nvCxnSpPr>
          <p:cNvPr id="9041" name="Connector 9040"/>
          <p:cNvCxnSpPr/>
          <p:nvPr/>
        </p:nvCxnSpPr>
        <p:spPr>
          <a:xfrm>
            <a:off x="5440680" y="6309360"/>
            <a:ext cx="274320" cy="0"/>
          </a:xfrm>
          <a:prstGeom prst="line">
            <a:avLst/>
          </a:prstGeom>
          <a:ln w="508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2" name="Rectangle 9041"/>
          <p:cNvSpPr/>
          <p:nvPr/>
        </p:nvSpPr>
        <p:spPr>
          <a:xfrm>
            <a:off x="5760720" y="5212080"/>
            <a:ext cx="4572000" cy="219456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800" b="1" i="0">
                <a:solidFill>
                  <a:srgbClr val="FFFFFF"/>
                </a:solidFill>
                <a:latin typeface="Oswald"/>
                <a:ea typeface="Oswald"/>
                <a:cs typeface="Oswald"/>
              </a:rPr>
              <a:t>FASE II</a:t>
            </a:r>
          </a:p>
          <a:p>
            <a:pPr algn="ctr">
              <a:spcAft>
                <a:spcPts val="200"/>
              </a:spcAft>
            </a:pPr>
            <a:r>
              <a:rPr sz="1900" b="0" i="0">
                <a:solidFill>
                  <a:srgbClr val="FFFFFF"/>
                </a:solidFill>
                <a:latin typeface="Arial"/>
                <a:ea typeface="Arial"/>
                <a:cs typeface="Arial"/>
              </a:rPr>
              <a:t>Del indicador</a:t>
            </a:r>
          </a:p>
          <a:p>
            <a:pPr algn="ctr">
              <a:spcAft>
                <a:spcPts val="200"/>
              </a:spcAft>
            </a:pPr>
            <a:r>
              <a:rPr sz="1900" b="0" i="0">
                <a:solidFill>
                  <a:srgbClr val="FFFFFF"/>
                </a:solidFill>
                <a:latin typeface="Arial"/>
                <a:ea typeface="Arial"/>
                <a:cs typeface="Arial"/>
              </a:rPr>
              <a:t>al comportamiento</a:t>
            </a:r>
          </a:p>
        </p:txBody>
      </p:sp>
      <p:sp>
        <p:nvSpPr>
          <p:cNvPr id="9043" name="TextBox 9042"/>
          <p:cNvSpPr txBox="1"/>
          <p:nvPr/>
        </p:nvSpPr>
        <p:spPr>
          <a:xfrm>
            <a:off x="5760720" y="7543800"/>
            <a:ext cx="4572000" cy="1188720"/>
          </a:xfrm>
          <a:prstGeom prst="rect">
            <a:avLst/>
          </a:prstGeom>
          <a:noFill/>
        </p:spPr>
        <p:txBody>
          <a:bodyPr wrap="square" lIns="73152" tIns="73152" rIns="73152" bIns="73152" anchor="t">
            <a:noAutofit/>
          </a:bodyPr>
          <a:lstStyle/>
          <a:p>
            <a:pPr algn="ctr">
              <a:lnSpc>
                <a:spcPct val="100000"/>
              </a:lnSpc>
              <a:spcAft>
                <a:spcPts val="0"/>
              </a:spcAft>
            </a:pPr>
            <a:r>
              <a:rPr sz="1600" b="0" i="1">
                <a:solidFill>
                  <a:srgbClr val="555B6E"/>
                </a:solidFill>
                <a:latin typeface="Arial"/>
                <a:ea typeface="Arial"/>
                <a:cs typeface="Arial"/>
              </a:rPr>
              <a:t>¿Cómo opera,</a:t>
            </a:r>
          </a:p>
          <a:p>
            <a:pPr algn="ctr">
              <a:lnSpc>
                <a:spcPct val="100000"/>
              </a:lnSpc>
              <a:spcAft>
                <a:spcPts val="0"/>
              </a:spcAft>
            </a:pPr>
            <a:r>
              <a:rPr sz="1600" b="0" i="1">
                <a:solidFill>
                  <a:srgbClr val="555B6E"/>
                </a:solidFill>
                <a:latin typeface="Arial"/>
                <a:ea typeface="Arial"/>
                <a:cs typeface="Arial"/>
              </a:rPr>
              <a:t>más allá de sus artefactos?</a:t>
            </a:r>
          </a:p>
        </p:txBody>
      </p:sp>
      <p:cxnSp>
        <p:nvCxnSpPr>
          <p:cNvPr id="9044" name="Connector 9043"/>
          <p:cNvCxnSpPr/>
          <p:nvPr/>
        </p:nvCxnSpPr>
        <p:spPr>
          <a:xfrm>
            <a:off x="10378440" y="6309360"/>
            <a:ext cx="274320" cy="0"/>
          </a:xfrm>
          <a:prstGeom prst="line">
            <a:avLst/>
          </a:prstGeom>
          <a:ln w="508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5" name="Rectangle 9044"/>
          <p:cNvSpPr/>
          <p:nvPr/>
        </p:nvSpPr>
        <p:spPr>
          <a:xfrm>
            <a:off x="10698480" y="5212080"/>
            <a:ext cx="4572000" cy="219456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800" b="1" i="0">
                <a:solidFill>
                  <a:srgbClr val="FFFFFF"/>
                </a:solidFill>
                <a:latin typeface="Oswald"/>
                <a:ea typeface="Oswald"/>
                <a:cs typeface="Oswald"/>
              </a:rPr>
              <a:t>FASE III</a:t>
            </a:r>
          </a:p>
          <a:p>
            <a:pPr algn="ctr">
              <a:spcAft>
                <a:spcPts val="200"/>
              </a:spcAft>
            </a:pPr>
            <a:r>
              <a:rPr sz="1900" b="0" i="0">
                <a:solidFill>
                  <a:srgbClr val="FFFFFF"/>
                </a:solidFill>
                <a:latin typeface="Arial"/>
                <a:ea typeface="Arial"/>
                <a:cs typeface="Arial"/>
              </a:rPr>
              <a:t>Atribución</a:t>
            </a:r>
          </a:p>
          <a:p>
            <a:pPr algn="ctr">
              <a:spcAft>
                <a:spcPts val="200"/>
              </a:spcAft>
            </a:pPr>
            <a:r>
              <a:rPr sz="1900" b="0" i="0">
                <a:solidFill>
                  <a:srgbClr val="FFFFFF"/>
                </a:solidFill>
                <a:latin typeface="Arial"/>
                <a:ea typeface="Arial"/>
                <a:cs typeface="Arial"/>
              </a:rPr>
              <a:t>estructurada</a:t>
            </a:r>
          </a:p>
        </p:txBody>
      </p:sp>
      <p:sp>
        <p:nvSpPr>
          <p:cNvPr id="9046" name="TextBox 9045"/>
          <p:cNvSpPr txBox="1"/>
          <p:nvPr/>
        </p:nvSpPr>
        <p:spPr>
          <a:xfrm>
            <a:off x="10698480" y="7543800"/>
            <a:ext cx="4572000" cy="1188720"/>
          </a:xfrm>
          <a:prstGeom prst="rect">
            <a:avLst/>
          </a:prstGeom>
          <a:noFill/>
        </p:spPr>
        <p:txBody>
          <a:bodyPr wrap="square" lIns="73152" tIns="73152" rIns="73152" bIns="73152" anchor="t">
            <a:noAutofit/>
          </a:bodyPr>
          <a:lstStyle/>
          <a:p>
            <a:pPr algn="ctr">
              <a:lnSpc>
                <a:spcPct val="100000"/>
              </a:lnSpc>
              <a:spcAft>
                <a:spcPts val="0"/>
              </a:spcAft>
            </a:pPr>
            <a:r>
              <a:rPr sz="1600" b="0" i="1">
                <a:solidFill>
                  <a:srgbClr val="555B6E"/>
                </a:solidFill>
                <a:latin typeface="Arial"/>
                <a:ea typeface="Arial"/>
                <a:cs typeface="Arial"/>
              </a:rPr>
              <a:t>¿Quién es, con qué confianza</a:t>
            </a:r>
          </a:p>
          <a:p>
            <a:pPr algn="ctr">
              <a:lnSpc>
                <a:spcPct val="100000"/>
              </a:lnSpc>
              <a:spcAft>
                <a:spcPts val="0"/>
              </a:spcAft>
            </a:pPr>
            <a:r>
              <a:rPr sz="1600" b="0" i="1">
                <a:solidFill>
                  <a:srgbClr val="555B6E"/>
                </a:solidFill>
                <a:latin typeface="Arial"/>
                <a:ea typeface="Arial"/>
                <a:cs typeface="Arial"/>
              </a:rPr>
              <a:t>y quién puede afirmarlo?</a:t>
            </a:r>
          </a:p>
        </p:txBody>
      </p:sp>
      <p:sp>
        <p:nvSpPr>
          <p:cNvPr id="9047" name="TextBox 9046"/>
          <p:cNvSpPr txBox="1"/>
          <p:nvPr/>
        </p:nvSpPr>
        <p:spPr>
          <a:xfrm>
            <a:off x="822960" y="9006840"/>
            <a:ext cx="14447520" cy="2011680"/>
          </a:xfrm>
          <a:prstGeom prst="rect">
            <a:avLst/>
          </a:prstGeom>
          <a:noFill/>
        </p:spPr>
        <p:txBody>
          <a:bodyPr wrap="square" lIns="73152" tIns="73152" rIns="73152" bIns="73152" anchor="t">
            <a:noAutofit/>
          </a:bodyPr>
          <a:lstStyle/>
          <a:p>
            <a:pPr algn="l">
              <a:lnSpc>
                <a:spcPct val="100000"/>
              </a:lnSpc>
              <a:spcAft>
                <a:spcPts val="1000"/>
              </a:spcAft>
            </a:pPr>
            <a:r>
              <a:rPr sz="2100" b="1" i="0">
                <a:solidFill>
                  <a:srgbClr val="221666"/>
                </a:solidFill>
                <a:latin typeface="Arial"/>
                <a:ea typeface="Arial"/>
                <a:cs typeface="Arial"/>
              </a:rPr>
              <a:t>La tesis: </a:t>
            </a:r>
            <a:r>
              <a:rPr sz="2100" b="0" i="0">
                <a:solidFill>
                  <a:srgbClr val="000000"/>
                </a:solidFill>
                <a:latin typeface="Arial"/>
                <a:ea typeface="Arial"/>
                <a:cs typeface="Arial"/>
              </a:rPr>
              <a:t>encadenar las tres fases permite anticipar al adversario antes del ataque. Y el juicio humano es irreemplazable en la atribución, donde el error tiene consecuencias estratégicas y políticas.</a:t>
            </a:r>
          </a:p>
          <a:p>
            <a:pPr algn="l">
              <a:lnSpc>
                <a:spcPct val="100000"/>
              </a:lnSpc>
              <a:spcAft>
                <a:spcPts val="1000"/>
              </a:spcAft>
            </a:pPr>
            <a:r>
              <a:rPr sz="2100" b="1" i="0">
                <a:solidFill>
                  <a:srgbClr val="221666"/>
                </a:solidFill>
                <a:latin typeface="Arial"/>
                <a:ea typeface="Arial"/>
                <a:cs typeface="Arial"/>
              </a:rPr>
              <a:t>La prueba: </a:t>
            </a:r>
            <a:r>
              <a:rPr sz="2100" b="0" i="0">
                <a:solidFill>
                  <a:srgbClr val="000000"/>
                </a:solidFill>
                <a:latin typeface="Arial"/>
                <a:ea typeface="Arial"/>
                <a:cs typeface="Arial"/>
              </a:rPr>
              <a:t>dos casos documentados —abuso de herramientas legítimas y técnicas Living-off-the-Land— más dos casos regionales propios reportados al CERT.ar y un impacto local documentado (Oldelval,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4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4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4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El problema, en vivo: esto está en venta hoy</a:t>
            </a:r>
          </a:p>
        </p:txBody>
      </p:sp>
      <p:sp>
        <p:nvSpPr>
          <p:cNvPr id="9044" name="TextBox 904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45" name="TextBox 904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5</a:t>
            </a:r>
          </a:p>
        </p:txBody>
      </p:sp>
      <p:sp>
        <p:nvSpPr>
          <p:cNvPr id="9046" name="TextBox 904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captura propia de un mercado de logs de infostealer (Russian Market), sep 2026; usuario de investigación y URL .onion sanitizados. El mercado publica dominio, país, fecha y precio —no el usuario ni el endpoint. Contexto: Hudson Rock (2025) [14].</a:t>
            </a:r>
          </a:p>
        </p:txBody>
      </p:sp>
      <p:sp>
        <p:nvSpPr>
          <p:cNvPr id="9047" name="TextBox 9046"/>
          <p:cNvSpPr txBox="1"/>
          <p:nvPr/>
        </p:nvSpPr>
        <p:spPr>
          <a:xfrm>
            <a:off x="822960" y="2148840"/>
            <a:ext cx="5852160" cy="8778240"/>
          </a:xfrm>
          <a:prstGeom prst="rect">
            <a:avLst/>
          </a:prstGeom>
          <a:noFill/>
        </p:spPr>
        <p:txBody>
          <a:bodyPr wrap="square" lIns="73152" tIns="73152" rIns="73152" bIns="73152" anchor="t">
            <a:noAutofit/>
          </a:bodyPr>
          <a:lstStyle/>
          <a:p>
            <a:pPr algn="l">
              <a:lnSpc>
                <a:spcPct val="100000"/>
              </a:lnSpc>
              <a:spcAft>
                <a:spcPts val="1500"/>
              </a:spcAft>
            </a:pPr>
            <a:r>
              <a:rPr sz="2400" b="0" i="0">
                <a:solidFill>
                  <a:srgbClr val="000000"/>
                </a:solidFill>
                <a:latin typeface="Arial"/>
                <a:ea typeface="Arial"/>
                <a:cs typeface="Arial"/>
              </a:rPr>
              <a:t>Un </a:t>
            </a:r>
            <a:r>
              <a:rPr sz="2400" b="1" i="0">
                <a:solidFill>
                  <a:srgbClr val="221666"/>
                </a:solidFill>
                <a:latin typeface="Arial"/>
                <a:ea typeface="Arial"/>
                <a:cs typeface="Arial"/>
              </a:rPr>
              <a:t>broker de acceso inicial (IAB)</a:t>
            </a:r>
            <a:r>
              <a:rPr sz="2400" b="0" i="0">
                <a:solidFill>
                  <a:srgbClr val="000000"/>
                </a:solidFill>
                <a:latin typeface="Arial"/>
                <a:ea typeface="Arial"/>
                <a:cs typeface="Arial"/>
              </a:rPr>
              <a:t> es quien revende accesos robados. Este vende paquetes de credenciales corporativas capturadas por infostealers.</a:t>
            </a:r>
          </a:p>
          <a:p>
            <a:pPr algn="l">
              <a:lnSpc>
                <a:spcPct val="100000"/>
              </a:lnSpc>
              <a:spcAft>
                <a:spcPts val="1500"/>
              </a:spcAft>
            </a:pPr>
            <a:r>
              <a:rPr sz="2400" b="0" i="0">
                <a:solidFill>
                  <a:srgbClr val="000000"/>
                </a:solidFill>
                <a:latin typeface="Arial"/>
                <a:ea typeface="Arial"/>
                <a:cs typeface="Arial"/>
              </a:rPr>
              <a:t>Publica </a:t>
            </a:r>
            <a:r>
              <a:rPr sz="2400" b="1" i="0">
                <a:solidFill>
                  <a:srgbClr val="000000"/>
                </a:solidFill>
                <a:latin typeface="Arial"/>
                <a:ea typeface="Arial"/>
                <a:cs typeface="Arial"/>
              </a:rPr>
              <a:t>dominio, país, fecha y precio</a:t>
            </a:r>
            <a:r>
              <a:rPr sz="2400" b="0" i="0">
                <a:solidFill>
                  <a:srgbClr val="000000"/>
                </a:solidFill>
                <a:latin typeface="Arial"/>
                <a:ea typeface="Arial"/>
                <a:cs typeface="Arial"/>
              </a:rPr>
              <a:t>. No el usuario ni el endpoint: eso lo recibe el comprador al pagar.</a:t>
            </a:r>
          </a:p>
          <a:p>
            <a:pPr algn="l">
              <a:lnSpc>
                <a:spcPct val="100000"/>
              </a:lnSpc>
              <a:spcAft>
                <a:spcPts val="1500"/>
              </a:spcAft>
            </a:pPr>
            <a:r>
              <a:rPr sz="2400" b="0" i="0">
                <a:solidFill>
                  <a:srgbClr val="000000"/>
                </a:solidFill>
                <a:latin typeface="Arial"/>
                <a:ea typeface="Arial"/>
                <a:cs typeface="Arial"/>
              </a:rPr>
              <a:t>Filtrado por Argentina. En la lista: </a:t>
            </a:r>
            <a:r>
              <a:rPr sz="2400" b="1" i="0">
                <a:solidFill>
                  <a:srgbClr val="221666"/>
                </a:solidFill>
                <a:latin typeface="Arial"/>
                <a:ea typeface="Arial"/>
                <a:cs typeface="Arial"/>
              </a:rPr>
              <a:t>portal.ejercito.mil.ar</a:t>
            </a:r>
            <a:r>
              <a:rPr sz="2400" b="0" i="0">
                <a:solidFill>
                  <a:srgbClr val="000000"/>
                </a:solidFill>
                <a:latin typeface="Arial"/>
                <a:ea typeface="Arial"/>
                <a:cs typeface="Arial"/>
              </a:rPr>
              <a:t> y </a:t>
            </a:r>
            <a:r>
              <a:rPr sz="2400" b="1" i="0">
                <a:solidFill>
                  <a:srgbClr val="221666"/>
                </a:solidFill>
                <a:latin typeface="Arial"/>
                <a:ea typeface="Arial"/>
                <a:cs typeface="Arial"/>
              </a:rPr>
              <a:t>armada.mil.ar</a:t>
            </a:r>
            <a:r>
              <a:rPr sz="2400" b="0" i="0">
                <a:solidFill>
                  <a:srgbClr val="000000"/>
                </a:solidFill>
                <a:latin typeface="Arial"/>
                <a:ea typeface="Arial"/>
                <a:cs typeface="Arial"/>
              </a:rPr>
              <a:t>, desde </a:t>
            </a:r>
            <a:r>
              <a:rPr sz="2400" b="1" i="0">
                <a:solidFill>
                  <a:srgbClr val="221666"/>
                </a:solidFill>
                <a:latin typeface="Arial"/>
                <a:ea typeface="Arial"/>
                <a:cs typeface="Arial"/>
              </a:rPr>
              <a:t>10 dólares</a:t>
            </a:r>
            <a:r>
              <a:rPr sz="2400" b="0" i="0">
                <a:solidFill>
                  <a:srgbClr val="000000"/>
                </a:solidFill>
                <a:latin typeface="Arial"/>
                <a:ea typeface="Arial"/>
                <a:cs typeface="Arial"/>
              </a:rPr>
              <a:t>, con fecha de esta semana.</a:t>
            </a:r>
          </a:p>
          <a:p>
            <a:pPr algn="l">
              <a:lnSpc>
                <a:spcPct val="100000"/>
              </a:lnSpc>
              <a:spcAft>
                <a:spcPts val="1500"/>
              </a:spcAft>
            </a:pPr>
            <a:r>
              <a:rPr sz="2400" b="1" i="0">
                <a:solidFill>
                  <a:srgbClr val="221666"/>
                </a:solidFill>
                <a:latin typeface="Arial"/>
                <a:ea typeface="Arial"/>
                <a:cs typeface="Arial"/>
              </a:rPr>
              <a:t>Así de accesible y así de barato empieza un ataque. De esto se defiende la charla.</a:t>
            </a:r>
          </a:p>
          <a:p>
            <a:pPr algn="l">
              <a:lnSpc>
                <a:spcPct val="100000"/>
              </a:lnSpc>
              <a:spcAft>
                <a:spcPts val="1500"/>
              </a:spcAft>
            </a:pPr>
            <a:r>
              <a:rPr sz="1900" b="0" i="1">
                <a:solidFill>
                  <a:srgbClr val="555B6E"/>
                </a:solidFill>
                <a:latin typeface="Arial"/>
                <a:ea typeface="Arial"/>
                <a:cs typeface="Arial"/>
              </a:rPr>
              <a:t>Capturas sanitizadas: la Fase I exige OPSEC del analista (lo definimos en un momento).</a:t>
            </a:r>
          </a:p>
        </p:txBody>
      </p:sp>
      <p:pic>
        <p:nvPicPr>
          <p:cNvPr id="9048" name="Picture 9047" descr="r5_s.jpg"/>
          <p:cNvPicPr>
            <a:picLocks noChangeAspect="1"/>
          </p:cNvPicPr>
          <p:nvPr/>
        </p:nvPicPr>
        <p:blipFill>
          <a:blip r:embed="rId4"/>
          <a:stretch>
            <a:fillRect/>
          </a:stretch>
        </p:blipFill>
        <p:spPr>
          <a:xfrm>
            <a:off x="7498079" y="2011680"/>
            <a:ext cx="7589520" cy="3357253"/>
          </a:xfrm>
          <a:prstGeom prst="rect">
            <a:avLst/>
          </a:prstGeom>
        </p:spPr>
      </p:pic>
      <p:sp>
        <p:nvSpPr>
          <p:cNvPr id="9049" name="TextBox 9048"/>
          <p:cNvSpPr txBox="1"/>
          <p:nvPr/>
        </p:nvSpPr>
        <p:spPr>
          <a:xfrm>
            <a:off x="7498079" y="5394960"/>
            <a:ext cx="7589520" cy="365760"/>
          </a:xfrm>
          <a:prstGeom prst="rect">
            <a:avLst/>
          </a:prstGeom>
          <a:noFill/>
        </p:spPr>
        <p:txBody>
          <a:bodyPr wrap="square" lIns="73152" tIns="73152" rIns="73152" bIns="73152" anchor="t">
            <a:noAutofit/>
          </a:bodyPr>
          <a:lstStyle/>
          <a:p>
            <a:pPr algn="l">
              <a:lnSpc>
                <a:spcPct val="100000"/>
              </a:lnSpc>
              <a:spcAft>
                <a:spcPts val="800"/>
              </a:spcAft>
            </a:pPr>
            <a:r>
              <a:rPr sz="1400" b="0" i="1">
                <a:solidFill>
                  <a:srgbClr val="555B6E"/>
                </a:solidFill>
                <a:latin typeface="Arial"/>
                <a:ea typeface="Arial"/>
                <a:cs typeface="Arial"/>
              </a:rPr>
              <a:t>Log con seis accesos a portal.ejercito.mil.ar · «remus» · 10 USD · 15/08/2026.</a:t>
            </a:r>
          </a:p>
        </p:txBody>
      </p:sp>
      <p:pic>
        <p:nvPicPr>
          <p:cNvPr id="9050" name="Picture 9049" descr="r3_s.jpg"/>
          <p:cNvPicPr>
            <a:picLocks noChangeAspect="1"/>
          </p:cNvPicPr>
          <p:nvPr/>
        </p:nvPicPr>
        <p:blipFill>
          <a:blip r:embed="rId5"/>
          <a:stretch>
            <a:fillRect/>
          </a:stretch>
        </p:blipFill>
        <p:spPr>
          <a:xfrm>
            <a:off x="7498079" y="5852160"/>
            <a:ext cx="7040880" cy="4337124"/>
          </a:xfrm>
          <a:prstGeom prst="rect">
            <a:avLst/>
          </a:prstGeom>
        </p:spPr>
      </p:pic>
      <p:sp>
        <p:nvSpPr>
          <p:cNvPr id="9051" name="TextBox 9050"/>
          <p:cNvSpPr txBox="1"/>
          <p:nvPr/>
        </p:nvSpPr>
        <p:spPr>
          <a:xfrm>
            <a:off x="7498079" y="10287000"/>
            <a:ext cx="7040880" cy="365760"/>
          </a:xfrm>
          <a:prstGeom prst="rect">
            <a:avLst/>
          </a:prstGeom>
          <a:noFill/>
        </p:spPr>
        <p:txBody>
          <a:bodyPr wrap="square" lIns="73152" tIns="73152" rIns="73152" bIns="73152" anchor="t">
            <a:noAutofit/>
          </a:bodyPr>
          <a:lstStyle/>
          <a:p>
            <a:pPr algn="l">
              <a:lnSpc>
                <a:spcPct val="100000"/>
              </a:lnSpc>
              <a:spcAft>
                <a:spcPts val="800"/>
              </a:spcAft>
            </a:pPr>
            <a:r>
              <a:rPr sz="1400" b="0" i="1">
                <a:solidFill>
                  <a:srgbClr val="555B6E"/>
                </a:solidFill>
                <a:latin typeface="Arial"/>
                <a:ea typeface="Arial"/>
                <a:cs typeface="Arial"/>
              </a:rPr>
              <a:t>Buscador filtrado por país (Argentina) · rango de precio 4–30 USD.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5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5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5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Por qué llegamos tarde y mirando lo barato</a:t>
            </a:r>
          </a:p>
        </p:txBody>
      </p:sp>
      <p:sp>
        <p:nvSpPr>
          <p:cNvPr id="9054" name="TextBox 905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55" name="TextBox 905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6</a:t>
            </a:r>
          </a:p>
        </p:txBody>
      </p:sp>
      <p:sp>
        <p:nvSpPr>
          <p:cNvPr id="9056" name="TextBox 905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[1] Hutchins, Cloppert &amp; Amin (2011) · [2] Bianco, D. J. (2013), The Pyramid of Pain, detect-respond.blogspot.com · extensión con intención y geopolítica de Gert-Jan Bruggink [32]; figura presentada por el autor en Ekoparty Miami 2026.</a:t>
            </a:r>
          </a:p>
        </p:txBody>
      </p:sp>
      <p:sp>
        <p:nvSpPr>
          <p:cNvPr id="9057" name="TextBox 9056"/>
          <p:cNvSpPr txBox="1"/>
          <p:nvPr/>
        </p:nvSpPr>
        <p:spPr>
          <a:xfrm>
            <a:off x="822960" y="2148840"/>
            <a:ext cx="5120640" cy="8778240"/>
          </a:xfrm>
          <a:prstGeom prst="rect">
            <a:avLst/>
          </a:prstGeom>
          <a:noFill/>
        </p:spPr>
        <p:txBody>
          <a:bodyPr wrap="square" lIns="73152" tIns="73152" rIns="73152" bIns="73152" anchor="t">
            <a:noAutofit/>
          </a:bodyPr>
          <a:lstStyle/>
          <a:p>
            <a:pPr marL="320040" indent="-320040" algn="l">
              <a:lnSpc>
                <a:spcPct val="100000"/>
              </a:lnSpc>
              <a:spcAft>
                <a:spcPts val="1700"/>
              </a:spcAft>
              <a:buClr>
                <a:srgbClr val="221666"/>
              </a:buClr>
              <a:buFont typeface="Arial"/>
              <a:buChar char="•"/>
            </a:pPr>
            <a:r>
              <a:rPr sz="2400" b="0" i="0">
                <a:solidFill>
                  <a:srgbClr val="000000"/>
                </a:solidFill>
                <a:latin typeface="Arial"/>
                <a:ea typeface="Arial"/>
                <a:cs typeface="Arial"/>
              </a:rPr>
              <a:t>La defensa reactiva detecta y responde después del incidente.</a:t>
            </a:r>
          </a:p>
          <a:p>
            <a:pPr marL="320040" indent="-320040" algn="l">
              <a:lnSpc>
                <a:spcPct val="100000"/>
              </a:lnSpc>
              <a:spcAft>
                <a:spcPts val="1700"/>
              </a:spcAft>
              <a:buClr>
                <a:srgbClr val="221666"/>
              </a:buClr>
              <a:buFont typeface="Arial"/>
              <a:buChar char="•"/>
            </a:pPr>
            <a:r>
              <a:rPr sz="2400" b="0" i="0">
                <a:solidFill>
                  <a:srgbClr val="000000"/>
                </a:solidFill>
                <a:latin typeface="Arial"/>
                <a:ea typeface="Arial"/>
                <a:cs typeface="Arial"/>
              </a:rPr>
              <a:t>Se apoya en </a:t>
            </a:r>
            <a:r>
              <a:rPr sz="2400" b="1" i="0">
                <a:solidFill>
                  <a:srgbClr val="000000"/>
                </a:solidFill>
                <a:latin typeface="Arial"/>
                <a:ea typeface="Arial"/>
                <a:cs typeface="Arial"/>
              </a:rPr>
              <a:t>IOCs</a:t>
            </a:r>
            <a:r>
              <a:rPr sz="2400" b="0" i="0">
                <a:solidFill>
                  <a:srgbClr val="000000"/>
                </a:solidFill>
                <a:latin typeface="Arial"/>
                <a:ea typeface="Arial"/>
                <a:cs typeface="Arial"/>
              </a:rPr>
              <a:t> —hashes, IPs, dominios—: indicadores atómicos, volátiles y baratos de reemplazar para el adversario.</a:t>
            </a:r>
          </a:p>
          <a:p>
            <a:pPr marL="320040" indent="-320040" algn="l">
              <a:lnSpc>
                <a:spcPct val="100000"/>
              </a:lnSpc>
              <a:spcAft>
                <a:spcPts val="1700"/>
              </a:spcAft>
              <a:buClr>
                <a:srgbClr val="221666"/>
              </a:buClr>
              <a:buFont typeface="Arial"/>
              <a:buChar char="•"/>
            </a:pPr>
            <a:r>
              <a:rPr sz="2400" b="0" i="0">
                <a:solidFill>
                  <a:srgbClr val="000000"/>
                </a:solidFill>
                <a:latin typeface="Arial"/>
                <a:ea typeface="Arial"/>
                <a:cs typeface="Arial"/>
              </a:rPr>
              <a:t>La </a:t>
            </a:r>
            <a:r>
              <a:rPr sz="2400" b="1" i="0">
                <a:solidFill>
                  <a:srgbClr val="221666"/>
                </a:solidFill>
                <a:latin typeface="Arial"/>
                <a:ea typeface="Arial"/>
                <a:cs typeface="Arial"/>
              </a:rPr>
              <a:t>Pirámide del Dolor</a:t>
            </a:r>
            <a:r>
              <a:rPr sz="2400" b="0" i="0">
                <a:solidFill>
                  <a:srgbClr val="000000"/>
                </a:solidFill>
                <a:latin typeface="Arial"/>
                <a:ea typeface="Arial"/>
                <a:cs typeface="Arial"/>
              </a:rPr>
              <a:t> [2] ordena los indicadores por cuánto le duele al atacante que se los bloqueen: abajo lo trivial de cambiar; arriba, su comportamiento.</a:t>
            </a:r>
          </a:p>
          <a:p>
            <a:pPr algn="l">
              <a:lnSpc>
                <a:spcPct val="100000"/>
              </a:lnSpc>
              <a:spcAft>
                <a:spcPts val="1700"/>
              </a:spcAft>
            </a:pPr>
            <a:r>
              <a:rPr sz="2400" b="1" i="0">
                <a:solidFill>
                  <a:srgbClr val="221666"/>
                </a:solidFill>
                <a:latin typeface="Arial"/>
                <a:ea typeface="Arial"/>
                <a:cs typeface="Arial"/>
              </a:rPr>
              <a:t>Ascender del indicador al comportamiento es la condición para dejar de llegar tarde. Ese ascenso es la metodología.</a:t>
            </a:r>
          </a:p>
        </p:txBody>
      </p:sp>
      <p:grpSp>
        <p:nvGrpSpPr>
          <p:cNvPr id="4999" name="Piramide extendida"/>
          <p:cNvGrpSpPr/>
          <p:nvPr/>
        </p:nvGrpSpPr>
        <p:grpSpPr>
          <a:xfrm>
            <a:off x="6126480" y="3705006"/>
            <a:ext cx="9509760" cy="5300147"/>
            <a:chOff x="796529" y="1303735"/>
            <a:chExt cx="5938838" cy="3309938"/>
          </a:xfrm>
        </p:grpSpPr>
        <p:grpSp>
          <p:nvGrpSpPr>
            <p:cNvPr id="5000" name="object 4">
              <a:extLst>
                <a:ext uri="{FF2B5EF4-FFF2-40B4-BE49-F238E27FC236}">
                  <a16:creationId xmlns:a16="http://schemas.microsoft.com/office/drawing/2014/main" id="{11DBDD7D-4C89-34F7-E764-0953F6D5C8E4}"/>
                </a:ext>
              </a:extLst>
            </p:cNvPr>
            <p:cNvGrpSpPr>
              <a:grpSpLocks/>
            </p:cNvGrpSpPr>
            <p:nvPr/>
          </p:nvGrpSpPr>
          <p:grpSpPr bwMode="auto">
            <a:xfrm>
              <a:off x="2308623" y="1303735"/>
              <a:ext cx="4426744" cy="3224213"/>
              <a:chOff x="3078226" y="1738598"/>
              <a:chExt cx="5902325" cy="4298950"/>
            </a:xfrm>
          </p:grpSpPr>
          <p:sp>
            <p:nvSpPr>
              <p:cNvPr id="5001" name="object 5">
                <a:extLst>
                  <a:ext uri="{FF2B5EF4-FFF2-40B4-BE49-F238E27FC236}">
                    <a16:creationId xmlns:a16="http://schemas.microsoft.com/office/drawing/2014/main" id="{173F1BEF-2178-A95D-358D-4D4379194979}"/>
                  </a:ext>
                </a:extLst>
              </p:cNvPr>
              <p:cNvSpPr>
                <a:spLocks/>
              </p:cNvSpPr>
              <p:nvPr/>
            </p:nvSpPr>
            <p:spPr bwMode="auto">
              <a:xfrm>
                <a:off x="4030490" y="1751298"/>
                <a:ext cx="3948429" cy="1067435"/>
              </a:xfrm>
              <a:custGeom>
                <a:avLst/>
                <a:gdLst>
                  <a:gd name="T0" fmla="*/ 2310010 w 3948429"/>
                  <a:gd name="T1" fmla="*/ 4671 h 1067435"/>
                  <a:gd name="T2" fmla="*/ 2161276 w 3948429"/>
                  <a:gd name="T3" fmla="*/ 32021 h 1067435"/>
                  <a:gd name="T4" fmla="*/ 2053190 w 3948429"/>
                  <a:gd name="T5" fmla="*/ 81311 h 1067435"/>
                  <a:gd name="T6" fmla="*/ 1888349 w 3948429"/>
                  <a:gd name="T7" fmla="*/ 41955 h 1067435"/>
                  <a:gd name="T8" fmla="*/ 1727738 w 3948429"/>
                  <a:gd name="T9" fmla="*/ 29799 h 1067435"/>
                  <a:gd name="T10" fmla="*/ 1569145 w 3948429"/>
                  <a:gd name="T11" fmla="*/ 37607 h 1067435"/>
                  <a:gd name="T12" fmla="*/ 1425896 w 3948429"/>
                  <a:gd name="T13" fmla="*/ 63872 h 1067435"/>
                  <a:gd name="T14" fmla="*/ 1281792 w 3948429"/>
                  <a:gd name="T15" fmla="*/ 124999 h 1067435"/>
                  <a:gd name="T16" fmla="*/ 1140582 w 3948429"/>
                  <a:gd name="T17" fmla="*/ 102715 h 1067435"/>
                  <a:gd name="T18" fmla="*/ 989648 w 3948429"/>
                  <a:gd name="T19" fmla="*/ 93959 h 1067435"/>
                  <a:gd name="T20" fmla="*/ 816406 w 3948429"/>
                  <a:gd name="T21" fmla="*/ 100996 h 1067435"/>
                  <a:gd name="T22" fmla="*/ 626907 w 3948429"/>
                  <a:gd name="T23" fmla="*/ 132233 h 1067435"/>
                  <a:gd name="T24" fmla="*/ 479501 w 3948429"/>
                  <a:gd name="T25" fmla="*/ 183435 h 1067435"/>
                  <a:gd name="T26" fmla="*/ 366943 w 3948429"/>
                  <a:gd name="T27" fmla="*/ 273804 h 1067435"/>
                  <a:gd name="T28" fmla="*/ 355962 w 3948429"/>
                  <a:gd name="T29" fmla="*/ 354742 h 1067435"/>
                  <a:gd name="T30" fmla="*/ 182067 w 3948429"/>
                  <a:gd name="T31" fmla="*/ 377348 h 1067435"/>
                  <a:gd name="T32" fmla="*/ 54464 w 3948429"/>
                  <a:gd name="T33" fmla="*/ 426624 h 1067435"/>
                  <a:gd name="T34" fmla="*/ 5790 w 3948429"/>
                  <a:gd name="T35" fmla="*/ 525636 h 1067435"/>
                  <a:gd name="T36" fmla="*/ 138007 w 3948429"/>
                  <a:gd name="T37" fmla="*/ 612054 h 1067435"/>
                  <a:gd name="T38" fmla="*/ 108788 w 3948429"/>
                  <a:gd name="T39" fmla="*/ 681656 h 1067435"/>
                  <a:gd name="T40" fmla="*/ 126378 w 3948429"/>
                  <a:gd name="T41" fmla="*/ 789378 h 1067435"/>
                  <a:gd name="T42" fmla="*/ 290850 w 3948429"/>
                  <a:gd name="T43" fmla="*/ 854526 h 1067435"/>
                  <a:gd name="T44" fmla="*/ 468529 w 3948429"/>
                  <a:gd name="T45" fmla="*/ 873288 h 1067435"/>
                  <a:gd name="T46" fmla="*/ 607420 w 3948429"/>
                  <a:gd name="T47" fmla="*/ 911554 h 1067435"/>
                  <a:gd name="T48" fmla="*/ 729413 w 3948429"/>
                  <a:gd name="T49" fmla="*/ 953457 h 1067435"/>
                  <a:gd name="T50" fmla="*/ 871586 w 3948429"/>
                  <a:gd name="T51" fmla="*/ 983064 h 1067435"/>
                  <a:gd name="T52" fmla="*/ 1027221 w 3948429"/>
                  <a:gd name="T53" fmla="*/ 999753 h 1067435"/>
                  <a:gd name="T54" fmla="*/ 1189600 w 3948429"/>
                  <a:gd name="T55" fmla="*/ 1002905 h 1067435"/>
                  <a:gd name="T56" fmla="*/ 1352008 w 3948429"/>
                  <a:gd name="T57" fmla="*/ 991901 h 1067435"/>
                  <a:gd name="T58" fmla="*/ 1507725 w 3948429"/>
                  <a:gd name="T59" fmla="*/ 966120 h 1067435"/>
                  <a:gd name="T60" fmla="*/ 1629369 w 3948429"/>
                  <a:gd name="T61" fmla="*/ 1015655 h 1067435"/>
                  <a:gd name="T62" fmla="*/ 1784164 w 3948429"/>
                  <a:gd name="T63" fmla="*/ 1049875 h 1067435"/>
                  <a:gd name="T64" fmla="*/ 1963981 w 3948429"/>
                  <a:gd name="T65" fmla="*/ 1066309 h 1067435"/>
                  <a:gd name="T66" fmla="*/ 2144188 w 3948429"/>
                  <a:gd name="T67" fmla="*/ 1062609 h 1067435"/>
                  <a:gd name="T68" fmla="*/ 2310873 w 3948429"/>
                  <a:gd name="T69" fmla="*/ 1040320 h 1067435"/>
                  <a:gd name="T70" fmla="*/ 2453608 w 3948429"/>
                  <a:gd name="T71" fmla="*/ 1001502 h 1067435"/>
                  <a:gd name="T72" fmla="*/ 2588644 w 3948429"/>
                  <a:gd name="T73" fmla="*/ 927592 h 1067435"/>
                  <a:gd name="T74" fmla="*/ 2714547 w 3948429"/>
                  <a:gd name="T75" fmla="*/ 924104 h 1067435"/>
                  <a:gd name="T76" fmla="*/ 2885421 w 3948429"/>
                  <a:gd name="T77" fmla="*/ 935132 h 1067435"/>
                  <a:gd name="T78" fmla="*/ 3076527 w 3948429"/>
                  <a:gd name="T79" fmla="*/ 922571 h 1067435"/>
                  <a:gd name="T80" fmla="*/ 3237134 w 3948429"/>
                  <a:gd name="T81" fmla="*/ 887073 h 1067435"/>
                  <a:gd name="T82" fmla="*/ 3353783 w 3948429"/>
                  <a:gd name="T83" fmla="*/ 833498 h 1067435"/>
                  <a:gd name="T84" fmla="*/ 3469799 w 3948429"/>
                  <a:gd name="T85" fmla="*/ 738787 h 1067435"/>
                  <a:gd name="T86" fmla="*/ 3617801 w 3948429"/>
                  <a:gd name="T87" fmla="*/ 718536 h 1067435"/>
                  <a:gd name="T88" fmla="*/ 3765448 w 3948429"/>
                  <a:gd name="T89" fmla="*/ 678715 h 1067435"/>
                  <a:gd name="T90" fmla="*/ 3893295 w 3948429"/>
                  <a:gd name="T91" fmla="*/ 611185 h 1067435"/>
                  <a:gd name="T92" fmla="*/ 3940218 w 3948429"/>
                  <a:gd name="T93" fmla="*/ 479465 h 1067435"/>
                  <a:gd name="T94" fmla="*/ 3863976 w 3948429"/>
                  <a:gd name="T95" fmla="*/ 402087 h 1067435"/>
                  <a:gd name="T96" fmla="*/ 3856675 w 3948429"/>
                  <a:gd name="T97" fmla="*/ 328610 h 1067435"/>
                  <a:gd name="T98" fmla="*/ 3811559 w 3948429"/>
                  <a:gd name="T99" fmla="*/ 229449 h 1067435"/>
                  <a:gd name="T100" fmla="*/ 3687199 w 3948429"/>
                  <a:gd name="T101" fmla="*/ 170248 h 1067435"/>
                  <a:gd name="T102" fmla="*/ 3501117 w 3948429"/>
                  <a:gd name="T103" fmla="*/ 134270 h 1067435"/>
                  <a:gd name="T104" fmla="*/ 3405319 w 3948429"/>
                  <a:gd name="T105" fmla="*/ 58850 h 1067435"/>
                  <a:gd name="T106" fmla="*/ 3259348 w 3948429"/>
                  <a:gd name="T107" fmla="*/ 16757 h 1067435"/>
                  <a:gd name="T108" fmla="*/ 3106808 w 3948429"/>
                  <a:gd name="T109" fmla="*/ 992 h 1067435"/>
                  <a:gd name="T110" fmla="*/ 2950919 w 3948429"/>
                  <a:gd name="T111" fmla="*/ 5719 h 1067435"/>
                  <a:gd name="T112" fmla="*/ 2807469 w 3948429"/>
                  <a:gd name="T113" fmla="*/ 30453 h 1067435"/>
                  <a:gd name="T114" fmla="*/ 2696905 w 3948429"/>
                  <a:gd name="T115" fmla="*/ 45044 h 1067435"/>
                  <a:gd name="T116" fmla="*/ 2532974 w 3948429"/>
                  <a:gd name="T117" fmla="*/ 7140 h 10674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948429" h="1067435">
                    <a:moveTo>
                      <a:pt x="2420726" y="0"/>
                    </a:moveTo>
                    <a:lnTo>
                      <a:pt x="2364763" y="910"/>
                    </a:lnTo>
                    <a:lnTo>
                      <a:pt x="2310010" y="4671"/>
                    </a:lnTo>
                    <a:lnTo>
                      <a:pt x="2257293" y="11178"/>
                    </a:lnTo>
                    <a:lnTo>
                      <a:pt x="2207440" y="20329"/>
                    </a:lnTo>
                    <a:lnTo>
                      <a:pt x="2161276" y="32021"/>
                    </a:lnTo>
                    <a:lnTo>
                      <a:pt x="2119628" y="46151"/>
                    </a:lnTo>
                    <a:lnTo>
                      <a:pt x="2083324" y="62615"/>
                    </a:lnTo>
                    <a:lnTo>
                      <a:pt x="2053190" y="81311"/>
                    </a:lnTo>
                    <a:lnTo>
                      <a:pt x="2027204" y="72528"/>
                    </a:lnTo>
                    <a:lnTo>
                      <a:pt x="1970519" y="57201"/>
                    </a:lnTo>
                    <a:lnTo>
                      <a:pt x="1888349" y="41955"/>
                    </a:lnTo>
                    <a:lnTo>
                      <a:pt x="1835410" y="35592"/>
                    </a:lnTo>
                    <a:lnTo>
                      <a:pt x="1781708" y="31558"/>
                    </a:lnTo>
                    <a:lnTo>
                      <a:pt x="1727738" y="29799"/>
                    </a:lnTo>
                    <a:lnTo>
                      <a:pt x="1673991" y="30258"/>
                    </a:lnTo>
                    <a:lnTo>
                      <a:pt x="1620962" y="32879"/>
                    </a:lnTo>
                    <a:lnTo>
                      <a:pt x="1569145" y="37607"/>
                    </a:lnTo>
                    <a:lnTo>
                      <a:pt x="1519032" y="44386"/>
                    </a:lnTo>
                    <a:lnTo>
                      <a:pt x="1471118" y="53159"/>
                    </a:lnTo>
                    <a:lnTo>
                      <a:pt x="1425896" y="63872"/>
                    </a:lnTo>
                    <a:lnTo>
                      <a:pt x="1383858" y="76468"/>
                    </a:lnTo>
                    <a:lnTo>
                      <a:pt x="1345499" y="90892"/>
                    </a:lnTo>
                    <a:lnTo>
                      <a:pt x="1281792" y="124999"/>
                    </a:lnTo>
                    <a:lnTo>
                      <a:pt x="1236234" y="116102"/>
                    </a:lnTo>
                    <a:lnTo>
                      <a:pt x="1189078" y="108667"/>
                    </a:lnTo>
                    <a:lnTo>
                      <a:pt x="1140582" y="102715"/>
                    </a:lnTo>
                    <a:lnTo>
                      <a:pt x="1091006" y="98265"/>
                    </a:lnTo>
                    <a:lnTo>
                      <a:pt x="1040608" y="95340"/>
                    </a:lnTo>
                    <a:lnTo>
                      <a:pt x="989648" y="93959"/>
                    </a:lnTo>
                    <a:lnTo>
                      <a:pt x="938384" y="94144"/>
                    </a:lnTo>
                    <a:lnTo>
                      <a:pt x="887076" y="95916"/>
                    </a:lnTo>
                    <a:lnTo>
                      <a:pt x="816406" y="100996"/>
                    </a:lnTo>
                    <a:lnTo>
                      <a:pt x="749224" y="108871"/>
                    </a:lnTo>
                    <a:lnTo>
                      <a:pt x="685925" y="119347"/>
                    </a:lnTo>
                    <a:lnTo>
                      <a:pt x="626907" y="132233"/>
                    </a:lnTo>
                    <a:lnTo>
                      <a:pt x="572566" y="147338"/>
                    </a:lnTo>
                    <a:lnTo>
                      <a:pt x="523298" y="164469"/>
                    </a:lnTo>
                    <a:lnTo>
                      <a:pt x="479501" y="183435"/>
                    </a:lnTo>
                    <a:lnTo>
                      <a:pt x="441570" y="204043"/>
                    </a:lnTo>
                    <a:lnTo>
                      <a:pt x="409902" y="226102"/>
                    </a:lnTo>
                    <a:lnTo>
                      <a:pt x="366943" y="273804"/>
                    </a:lnTo>
                    <a:lnTo>
                      <a:pt x="353794" y="325006"/>
                    </a:lnTo>
                    <a:lnTo>
                      <a:pt x="359391" y="351440"/>
                    </a:lnTo>
                    <a:lnTo>
                      <a:pt x="355962" y="354742"/>
                    </a:lnTo>
                    <a:lnTo>
                      <a:pt x="294453" y="358938"/>
                    </a:lnTo>
                    <a:lnTo>
                      <a:pt x="236168" y="366548"/>
                    </a:lnTo>
                    <a:lnTo>
                      <a:pt x="182067" y="377348"/>
                    </a:lnTo>
                    <a:lnTo>
                      <a:pt x="133110" y="391111"/>
                    </a:lnTo>
                    <a:lnTo>
                      <a:pt x="90255" y="407611"/>
                    </a:lnTo>
                    <a:lnTo>
                      <a:pt x="54464" y="426624"/>
                    </a:lnTo>
                    <a:lnTo>
                      <a:pt x="23936" y="450560"/>
                    </a:lnTo>
                    <a:lnTo>
                      <a:pt x="0" y="500637"/>
                    </a:lnTo>
                    <a:lnTo>
                      <a:pt x="5790" y="525636"/>
                    </a:lnTo>
                    <a:lnTo>
                      <a:pt x="50889" y="572702"/>
                    </a:lnTo>
                    <a:lnTo>
                      <a:pt x="89396" y="593628"/>
                    </a:lnTo>
                    <a:lnTo>
                      <a:pt x="138007" y="612054"/>
                    </a:lnTo>
                    <a:lnTo>
                      <a:pt x="196323" y="627411"/>
                    </a:lnTo>
                    <a:lnTo>
                      <a:pt x="144233" y="652956"/>
                    </a:lnTo>
                    <a:lnTo>
                      <a:pt x="108788" y="681656"/>
                    </a:lnTo>
                    <a:lnTo>
                      <a:pt x="90917" y="712475"/>
                    </a:lnTo>
                    <a:lnTo>
                      <a:pt x="91548" y="744378"/>
                    </a:lnTo>
                    <a:lnTo>
                      <a:pt x="126378" y="789378"/>
                    </a:lnTo>
                    <a:lnTo>
                      <a:pt x="195237" y="826802"/>
                    </a:lnTo>
                    <a:lnTo>
                      <a:pt x="240154" y="842009"/>
                    </a:lnTo>
                    <a:lnTo>
                      <a:pt x="290850" y="854526"/>
                    </a:lnTo>
                    <a:lnTo>
                      <a:pt x="346418" y="864089"/>
                    </a:lnTo>
                    <a:lnTo>
                      <a:pt x="405947" y="870431"/>
                    </a:lnTo>
                    <a:lnTo>
                      <a:pt x="468529" y="873288"/>
                    </a:lnTo>
                    <a:lnTo>
                      <a:pt x="533254" y="872394"/>
                    </a:lnTo>
                    <a:lnTo>
                      <a:pt x="540620" y="877093"/>
                    </a:lnTo>
                    <a:lnTo>
                      <a:pt x="607420" y="911554"/>
                    </a:lnTo>
                    <a:lnTo>
                      <a:pt x="645428" y="926850"/>
                    </a:lnTo>
                    <a:lnTo>
                      <a:pt x="686175" y="940825"/>
                    </a:lnTo>
                    <a:lnTo>
                      <a:pt x="729413" y="953457"/>
                    </a:lnTo>
                    <a:lnTo>
                      <a:pt x="774894" y="964723"/>
                    </a:lnTo>
                    <a:lnTo>
                      <a:pt x="822367" y="974600"/>
                    </a:lnTo>
                    <a:lnTo>
                      <a:pt x="871586" y="983064"/>
                    </a:lnTo>
                    <a:lnTo>
                      <a:pt x="922300" y="990092"/>
                    </a:lnTo>
                    <a:lnTo>
                      <a:pt x="974261" y="995663"/>
                    </a:lnTo>
                    <a:lnTo>
                      <a:pt x="1027221" y="999753"/>
                    </a:lnTo>
                    <a:lnTo>
                      <a:pt x="1080930" y="1002338"/>
                    </a:lnTo>
                    <a:lnTo>
                      <a:pt x="1135139" y="1003397"/>
                    </a:lnTo>
                    <a:lnTo>
                      <a:pt x="1189600" y="1002905"/>
                    </a:lnTo>
                    <a:lnTo>
                      <a:pt x="1244065" y="1000840"/>
                    </a:lnTo>
                    <a:lnTo>
                      <a:pt x="1298283" y="997180"/>
                    </a:lnTo>
                    <a:lnTo>
                      <a:pt x="1352008" y="991901"/>
                    </a:lnTo>
                    <a:lnTo>
                      <a:pt x="1404988" y="984979"/>
                    </a:lnTo>
                    <a:lnTo>
                      <a:pt x="1456977" y="976393"/>
                    </a:lnTo>
                    <a:lnTo>
                      <a:pt x="1507725" y="966120"/>
                    </a:lnTo>
                    <a:lnTo>
                      <a:pt x="1544001" y="984174"/>
                    </a:lnTo>
                    <a:lnTo>
                      <a:pt x="1584667" y="1000718"/>
                    </a:lnTo>
                    <a:lnTo>
                      <a:pt x="1629369" y="1015655"/>
                    </a:lnTo>
                    <a:lnTo>
                      <a:pt x="1677755" y="1028891"/>
                    </a:lnTo>
                    <a:lnTo>
                      <a:pt x="1729471" y="1040330"/>
                    </a:lnTo>
                    <a:lnTo>
                      <a:pt x="1784164" y="1049875"/>
                    </a:lnTo>
                    <a:lnTo>
                      <a:pt x="1841481" y="1057433"/>
                    </a:lnTo>
                    <a:lnTo>
                      <a:pt x="1902710" y="1063056"/>
                    </a:lnTo>
                    <a:lnTo>
                      <a:pt x="1963981" y="1066309"/>
                    </a:lnTo>
                    <a:lnTo>
                      <a:pt x="2024909" y="1067268"/>
                    </a:lnTo>
                    <a:lnTo>
                      <a:pt x="2085106" y="1066009"/>
                    </a:lnTo>
                    <a:lnTo>
                      <a:pt x="2144188" y="1062609"/>
                    </a:lnTo>
                    <a:lnTo>
                      <a:pt x="2201767" y="1057143"/>
                    </a:lnTo>
                    <a:lnTo>
                      <a:pt x="2257457" y="1049687"/>
                    </a:lnTo>
                    <a:lnTo>
                      <a:pt x="2310873" y="1040320"/>
                    </a:lnTo>
                    <a:lnTo>
                      <a:pt x="2361627" y="1029115"/>
                    </a:lnTo>
                    <a:lnTo>
                      <a:pt x="2409334" y="1016150"/>
                    </a:lnTo>
                    <a:lnTo>
                      <a:pt x="2453608" y="1001502"/>
                    </a:lnTo>
                    <a:lnTo>
                      <a:pt x="2494062" y="985245"/>
                    </a:lnTo>
                    <a:lnTo>
                      <a:pt x="2530310" y="967457"/>
                    </a:lnTo>
                    <a:lnTo>
                      <a:pt x="2588644" y="927592"/>
                    </a:lnTo>
                    <a:lnTo>
                      <a:pt x="2609958" y="905668"/>
                    </a:lnTo>
                    <a:lnTo>
                      <a:pt x="2660990" y="915962"/>
                    </a:lnTo>
                    <a:lnTo>
                      <a:pt x="2714547" y="924104"/>
                    </a:lnTo>
                    <a:lnTo>
                      <a:pt x="2770133" y="930046"/>
                    </a:lnTo>
                    <a:lnTo>
                      <a:pt x="2827256" y="933738"/>
                    </a:lnTo>
                    <a:lnTo>
                      <a:pt x="2885421" y="935132"/>
                    </a:lnTo>
                    <a:lnTo>
                      <a:pt x="2951681" y="933793"/>
                    </a:lnTo>
                    <a:lnTo>
                      <a:pt x="3015550" y="929546"/>
                    </a:lnTo>
                    <a:lnTo>
                      <a:pt x="3076527" y="922571"/>
                    </a:lnTo>
                    <a:lnTo>
                      <a:pt x="3134116" y="913047"/>
                    </a:lnTo>
                    <a:lnTo>
                      <a:pt x="3187818" y="901154"/>
                    </a:lnTo>
                    <a:lnTo>
                      <a:pt x="3237134" y="887073"/>
                    </a:lnTo>
                    <a:lnTo>
                      <a:pt x="3281565" y="870983"/>
                    </a:lnTo>
                    <a:lnTo>
                      <a:pt x="3320615" y="853065"/>
                    </a:lnTo>
                    <a:lnTo>
                      <a:pt x="3353783" y="833498"/>
                    </a:lnTo>
                    <a:lnTo>
                      <a:pt x="3400483" y="790139"/>
                    </a:lnTo>
                    <a:lnTo>
                      <a:pt x="3417678" y="742346"/>
                    </a:lnTo>
                    <a:lnTo>
                      <a:pt x="3469799" y="738787"/>
                    </a:lnTo>
                    <a:lnTo>
                      <a:pt x="3520703" y="733602"/>
                    </a:lnTo>
                    <a:lnTo>
                      <a:pt x="3570125" y="726836"/>
                    </a:lnTo>
                    <a:lnTo>
                      <a:pt x="3617801" y="718536"/>
                    </a:lnTo>
                    <a:lnTo>
                      <a:pt x="3663467" y="708747"/>
                    </a:lnTo>
                    <a:lnTo>
                      <a:pt x="3706857" y="697515"/>
                    </a:lnTo>
                    <a:lnTo>
                      <a:pt x="3765448" y="678715"/>
                    </a:lnTo>
                    <a:lnTo>
                      <a:pt x="3816122" y="657861"/>
                    </a:lnTo>
                    <a:lnTo>
                      <a:pt x="3858774" y="635251"/>
                    </a:lnTo>
                    <a:lnTo>
                      <a:pt x="3893295" y="611185"/>
                    </a:lnTo>
                    <a:lnTo>
                      <a:pt x="3937522" y="559877"/>
                    </a:lnTo>
                    <a:lnTo>
                      <a:pt x="3947947" y="506331"/>
                    </a:lnTo>
                    <a:lnTo>
                      <a:pt x="3940218" y="479465"/>
                    </a:lnTo>
                    <a:lnTo>
                      <a:pt x="3923717" y="452937"/>
                    </a:lnTo>
                    <a:lnTo>
                      <a:pt x="3898339" y="427044"/>
                    </a:lnTo>
                    <a:lnTo>
                      <a:pt x="3863976" y="402087"/>
                    </a:lnTo>
                    <a:lnTo>
                      <a:pt x="3820522" y="378364"/>
                    </a:lnTo>
                    <a:lnTo>
                      <a:pt x="3826979" y="372530"/>
                    </a:lnTo>
                    <a:lnTo>
                      <a:pt x="3856675" y="328610"/>
                    </a:lnTo>
                    <a:lnTo>
                      <a:pt x="3859915" y="302675"/>
                    </a:lnTo>
                    <a:lnTo>
                      <a:pt x="3853123" y="277275"/>
                    </a:lnTo>
                    <a:lnTo>
                      <a:pt x="3811559" y="229449"/>
                    </a:lnTo>
                    <a:lnTo>
                      <a:pt x="3777845" y="207703"/>
                    </a:lnTo>
                    <a:lnTo>
                      <a:pt x="3736216" y="187856"/>
                    </a:lnTo>
                    <a:lnTo>
                      <a:pt x="3687199" y="170248"/>
                    </a:lnTo>
                    <a:lnTo>
                      <a:pt x="3631324" y="155221"/>
                    </a:lnTo>
                    <a:lnTo>
                      <a:pt x="3569120" y="143115"/>
                    </a:lnTo>
                    <a:lnTo>
                      <a:pt x="3501117" y="134270"/>
                    </a:lnTo>
                    <a:lnTo>
                      <a:pt x="3481043" y="107098"/>
                    </a:lnTo>
                    <a:lnTo>
                      <a:pt x="3448824" y="81771"/>
                    </a:lnTo>
                    <a:lnTo>
                      <a:pt x="3405319" y="58850"/>
                    </a:lnTo>
                    <a:lnTo>
                      <a:pt x="3351384" y="38893"/>
                    </a:lnTo>
                    <a:lnTo>
                      <a:pt x="3306722" y="26650"/>
                    </a:lnTo>
                    <a:lnTo>
                      <a:pt x="3259348" y="16757"/>
                    </a:lnTo>
                    <a:lnTo>
                      <a:pt x="3209848" y="9195"/>
                    </a:lnTo>
                    <a:lnTo>
                      <a:pt x="3158807" y="3946"/>
                    </a:lnTo>
                    <a:lnTo>
                      <a:pt x="3106808" y="992"/>
                    </a:lnTo>
                    <a:lnTo>
                      <a:pt x="3054438" y="315"/>
                    </a:lnTo>
                    <a:lnTo>
                      <a:pt x="3002280" y="1897"/>
                    </a:lnTo>
                    <a:lnTo>
                      <a:pt x="2950919" y="5719"/>
                    </a:lnTo>
                    <a:lnTo>
                      <a:pt x="2900941" y="11765"/>
                    </a:lnTo>
                    <a:lnTo>
                      <a:pt x="2852929" y="20016"/>
                    </a:lnTo>
                    <a:lnTo>
                      <a:pt x="2807469" y="30453"/>
                    </a:lnTo>
                    <a:lnTo>
                      <a:pt x="2765146" y="43059"/>
                    </a:lnTo>
                    <a:lnTo>
                      <a:pt x="2726544" y="57816"/>
                    </a:lnTo>
                    <a:lnTo>
                      <a:pt x="2696905" y="45044"/>
                    </a:lnTo>
                    <a:lnTo>
                      <a:pt x="2627103" y="23740"/>
                    </a:lnTo>
                    <a:lnTo>
                      <a:pt x="2587606" y="15398"/>
                    </a:lnTo>
                    <a:lnTo>
                      <a:pt x="2532974" y="7140"/>
                    </a:lnTo>
                    <a:lnTo>
                      <a:pt x="2477072" y="2042"/>
                    </a:lnTo>
                    <a:lnTo>
                      <a:pt x="2420726" y="0"/>
                    </a:lnTo>
                    <a:close/>
                  </a:path>
                </a:pathLst>
              </a:custGeom>
              <a:solidFill>
                <a:srgbClr val="A264D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02" name="object 6">
                <a:extLst>
                  <a:ext uri="{FF2B5EF4-FFF2-40B4-BE49-F238E27FC236}">
                    <a16:creationId xmlns:a16="http://schemas.microsoft.com/office/drawing/2014/main" id="{DBF68BB1-62DF-DE74-1838-6245A398016E}"/>
                  </a:ext>
                </a:extLst>
              </p:cNvPr>
              <p:cNvSpPr>
                <a:spLocks/>
              </p:cNvSpPr>
              <p:nvPr/>
            </p:nvSpPr>
            <p:spPr bwMode="auto">
              <a:xfrm>
                <a:off x="4030490" y="1751298"/>
                <a:ext cx="3948429" cy="1067435"/>
              </a:xfrm>
              <a:custGeom>
                <a:avLst/>
                <a:gdLst>
                  <a:gd name="T0" fmla="*/ 366943 w 3948429"/>
                  <a:gd name="T1" fmla="*/ 273804 h 1067435"/>
                  <a:gd name="T2" fmla="*/ 523298 w 3948429"/>
                  <a:gd name="T3" fmla="*/ 164469 h 1067435"/>
                  <a:gd name="T4" fmla="*/ 749224 w 3948429"/>
                  <a:gd name="T5" fmla="*/ 108871 h 1067435"/>
                  <a:gd name="T6" fmla="*/ 989648 w 3948429"/>
                  <a:gd name="T7" fmla="*/ 93959 h 1067435"/>
                  <a:gd name="T8" fmla="*/ 1189078 w 3948429"/>
                  <a:gd name="T9" fmla="*/ 108667 h 1067435"/>
                  <a:gd name="T10" fmla="*/ 1383858 w 3948429"/>
                  <a:gd name="T11" fmla="*/ 76468 h 1067435"/>
                  <a:gd name="T12" fmla="*/ 1569145 w 3948429"/>
                  <a:gd name="T13" fmla="*/ 37607 h 1067435"/>
                  <a:gd name="T14" fmla="*/ 1781708 w 3948429"/>
                  <a:gd name="T15" fmla="*/ 31558 h 1067435"/>
                  <a:gd name="T16" fmla="*/ 1999612 w 3948429"/>
                  <a:gd name="T17" fmla="*/ 64483 h 1067435"/>
                  <a:gd name="T18" fmla="*/ 2161276 w 3948429"/>
                  <a:gd name="T19" fmla="*/ 32021 h 1067435"/>
                  <a:gd name="T20" fmla="*/ 2364763 w 3948429"/>
                  <a:gd name="T21" fmla="*/ 910 h 1067435"/>
                  <a:gd name="T22" fmla="*/ 2587606 w 3948429"/>
                  <a:gd name="T23" fmla="*/ 15398 h 1067435"/>
                  <a:gd name="T24" fmla="*/ 2765146 w 3948429"/>
                  <a:gd name="T25" fmla="*/ 43059 h 1067435"/>
                  <a:gd name="T26" fmla="*/ 2950919 w 3948429"/>
                  <a:gd name="T27" fmla="*/ 5719 h 1067435"/>
                  <a:gd name="T28" fmla="*/ 3158807 w 3948429"/>
                  <a:gd name="T29" fmla="*/ 3946 h 1067435"/>
                  <a:gd name="T30" fmla="*/ 3351384 w 3948429"/>
                  <a:gd name="T31" fmla="*/ 38893 h 1067435"/>
                  <a:gd name="T32" fmla="*/ 3501117 w 3948429"/>
                  <a:gd name="T33" fmla="*/ 134270 h 1067435"/>
                  <a:gd name="T34" fmla="*/ 3736216 w 3948429"/>
                  <a:gd name="T35" fmla="*/ 187856 h 1067435"/>
                  <a:gd name="T36" fmla="*/ 3859915 w 3948429"/>
                  <a:gd name="T37" fmla="*/ 302675 h 1067435"/>
                  <a:gd name="T38" fmla="*/ 3863976 w 3948429"/>
                  <a:gd name="T39" fmla="*/ 402087 h 1067435"/>
                  <a:gd name="T40" fmla="*/ 3947947 w 3948429"/>
                  <a:gd name="T41" fmla="*/ 506331 h 1067435"/>
                  <a:gd name="T42" fmla="*/ 3816122 w 3948429"/>
                  <a:gd name="T43" fmla="*/ 657861 h 1067435"/>
                  <a:gd name="T44" fmla="*/ 3617801 w 3948429"/>
                  <a:gd name="T45" fmla="*/ 718536 h 1067435"/>
                  <a:gd name="T46" fmla="*/ 3417678 w 3948429"/>
                  <a:gd name="T47" fmla="*/ 742346 h 1067435"/>
                  <a:gd name="T48" fmla="*/ 3281565 w 3948429"/>
                  <a:gd name="T49" fmla="*/ 870983 h 1067435"/>
                  <a:gd name="T50" fmla="*/ 3076527 w 3948429"/>
                  <a:gd name="T51" fmla="*/ 922571 h 1067435"/>
                  <a:gd name="T52" fmla="*/ 2827256 w 3948429"/>
                  <a:gd name="T53" fmla="*/ 933738 h 1067435"/>
                  <a:gd name="T54" fmla="*/ 2609958 w 3948429"/>
                  <a:gd name="T55" fmla="*/ 905668 h 1067435"/>
                  <a:gd name="T56" fmla="*/ 2453608 w 3948429"/>
                  <a:gd name="T57" fmla="*/ 1001502 h 1067435"/>
                  <a:gd name="T58" fmla="*/ 2257457 w 3948429"/>
                  <a:gd name="T59" fmla="*/ 1049687 h 1067435"/>
                  <a:gd name="T60" fmla="*/ 2024909 w 3948429"/>
                  <a:gd name="T61" fmla="*/ 1067268 h 1067435"/>
                  <a:gd name="T62" fmla="*/ 1784164 w 3948429"/>
                  <a:gd name="T63" fmla="*/ 1049875 h 1067435"/>
                  <a:gd name="T64" fmla="*/ 1584667 w 3948429"/>
                  <a:gd name="T65" fmla="*/ 1000718 h 1067435"/>
                  <a:gd name="T66" fmla="*/ 1404988 w 3948429"/>
                  <a:gd name="T67" fmla="*/ 984979 h 1067435"/>
                  <a:gd name="T68" fmla="*/ 1189600 w 3948429"/>
                  <a:gd name="T69" fmla="*/ 1002905 h 1067435"/>
                  <a:gd name="T70" fmla="*/ 974261 w 3948429"/>
                  <a:gd name="T71" fmla="*/ 995663 h 1067435"/>
                  <a:gd name="T72" fmla="*/ 774894 w 3948429"/>
                  <a:gd name="T73" fmla="*/ 964723 h 1067435"/>
                  <a:gd name="T74" fmla="*/ 607420 w 3948429"/>
                  <a:gd name="T75" fmla="*/ 911554 h 1067435"/>
                  <a:gd name="T76" fmla="*/ 533254 w 3948429"/>
                  <a:gd name="T77" fmla="*/ 872394 h 1067435"/>
                  <a:gd name="T78" fmla="*/ 290850 w 3948429"/>
                  <a:gd name="T79" fmla="*/ 854526 h 1067435"/>
                  <a:gd name="T80" fmla="*/ 104255 w 3948429"/>
                  <a:gd name="T81" fmla="*/ 767693 h 1067435"/>
                  <a:gd name="T82" fmla="*/ 196323 w 3948429"/>
                  <a:gd name="T83" fmla="*/ 627411 h 1067435"/>
                  <a:gd name="T84" fmla="*/ 5790 w 3948429"/>
                  <a:gd name="T85" fmla="*/ 525636 h 1067435"/>
                  <a:gd name="T86" fmla="*/ 90255 w 3948429"/>
                  <a:gd name="T87" fmla="*/ 407611 h 1067435"/>
                  <a:gd name="T88" fmla="*/ 294453 w 3948429"/>
                  <a:gd name="T89" fmla="*/ 358938 h 1067435"/>
                  <a:gd name="T90" fmla="*/ 383418 w 3948429"/>
                  <a:gd name="T91" fmla="*/ 643248 h 1067435"/>
                  <a:gd name="T92" fmla="*/ 200514 w 3948429"/>
                  <a:gd name="T93" fmla="*/ 623347 h 1067435"/>
                  <a:gd name="T94" fmla="*/ 560448 w 3948429"/>
                  <a:gd name="T95" fmla="*/ 866369 h 1067435"/>
                  <a:gd name="T96" fmla="*/ 1473895 w 3948429"/>
                  <a:gd name="T97" fmla="*/ 940958 h 1067435"/>
                  <a:gd name="T98" fmla="*/ 2631181 w 3948429"/>
                  <a:gd name="T99" fmla="*/ 866693 h 1067435"/>
                  <a:gd name="T100" fmla="*/ 3118720 w 3948429"/>
                  <a:gd name="T101" fmla="*/ 563403 h 1067435"/>
                  <a:gd name="T102" fmla="*/ 3336318 w 3948429"/>
                  <a:gd name="T103" fmla="*/ 635713 h 1067435"/>
                  <a:gd name="T104" fmla="*/ 3818744 w 3948429"/>
                  <a:gd name="T105" fmla="*/ 375697 h 1067435"/>
                  <a:gd name="T106" fmla="*/ 3686537 w 3948429"/>
                  <a:gd name="T107" fmla="*/ 441737 h 1067435"/>
                  <a:gd name="T108" fmla="*/ 3508393 w 3948429"/>
                  <a:gd name="T109" fmla="*/ 153893 h 1067435"/>
                  <a:gd name="T110" fmla="*/ 2687523 w 3948429"/>
                  <a:gd name="T111" fmla="*/ 73357 h 1067435"/>
                  <a:gd name="T112" fmla="*/ 2030411 w 3948429"/>
                  <a:gd name="T113" fmla="*/ 104256 h 1067435"/>
                  <a:gd name="T114" fmla="*/ 1281284 w 3948429"/>
                  <a:gd name="T115" fmla="*/ 124745 h 1067435"/>
                  <a:gd name="T116" fmla="*/ 1399902 w 3948429"/>
                  <a:gd name="T117" fmla="*/ 158019 h 1067435"/>
                  <a:gd name="T118" fmla="*/ 363125 w 3948429"/>
                  <a:gd name="T119" fmla="*/ 360274 h 106743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948429" h="1067435">
                    <a:moveTo>
                      <a:pt x="359391" y="351440"/>
                    </a:moveTo>
                    <a:lnTo>
                      <a:pt x="353794" y="325006"/>
                    </a:lnTo>
                    <a:lnTo>
                      <a:pt x="356444" y="299063"/>
                    </a:lnTo>
                    <a:lnTo>
                      <a:pt x="366943" y="273804"/>
                    </a:lnTo>
                    <a:lnTo>
                      <a:pt x="409902" y="226102"/>
                    </a:lnTo>
                    <a:lnTo>
                      <a:pt x="441570" y="204043"/>
                    </a:lnTo>
                    <a:lnTo>
                      <a:pt x="479501" y="183435"/>
                    </a:lnTo>
                    <a:lnTo>
                      <a:pt x="523298" y="164469"/>
                    </a:lnTo>
                    <a:lnTo>
                      <a:pt x="572566" y="147338"/>
                    </a:lnTo>
                    <a:lnTo>
                      <a:pt x="626907" y="132233"/>
                    </a:lnTo>
                    <a:lnTo>
                      <a:pt x="685925" y="119347"/>
                    </a:lnTo>
                    <a:lnTo>
                      <a:pt x="749224" y="108871"/>
                    </a:lnTo>
                    <a:lnTo>
                      <a:pt x="816406" y="100996"/>
                    </a:lnTo>
                    <a:lnTo>
                      <a:pt x="887076" y="95916"/>
                    </a:lnTo>
                    <a:lnTo>
                      <a:pt x="938384" y="94144"/>
                    </a:lnTo>
                    <a:lnTo>
                      <a:pt x="989648" y="93959"/>
                    </a:lnTo>
                    <a:lnTo>
                      <a:pt x="1040608" y="95340"/>
                    </a:lnTo>
                    <a:lnTo>
                      <a:pt x="1091006" y="98265"/>
                    </a:lnTo>
                    <a:lnTo>
                      <a:pt x="1140582" y="102715"/>
                    </a:lnTo>
                    <a:lnTo>
                      <a:pt x="1189078" y="108667"/>
                    </a:lnTo>
                    <a:lnTo>
                      <a:pt x="1236234" y="116102"/>
                    </a:lnTo>
                    <a:lnTo>
                      <a:pt x="1281792" y="124999"/>
                    </a:lnTo>
                    <a:lnTo>
                      <a:pt x="1311313" y="107087"/>
                    </a:lnTo>
                    <a:lnTo>
                      <a:pt x="1383858" y="76468"/>
                    </a:lnTo>
                    <a:lnTo>
                      <a:pt x="1425896" y="63872"/>
                    </a:lnTo>
                    <a:lnTo>
                      <a:pt x="1471118" y="53159"/>
                    </a:lnTo>
                    <a:lnTo>
                      <a:pt x="1519032" y="44386"/>
                    </a:lnTo>
                    <a:lnTo>
                      <a:pt x="1569145" y="37607"/>
                    </a:lnTo>
                    <a:lnTo>
                      <a:pt x="1620962" y="32879"/>
                    </a:lnTo>
                    <a:lnTo>
                      <a:pt x="1673991" y="30258"/>
                    </a:lnTo>
                    <a:lnTo>
                      <a:pt x="1727738" y="29799"/>
                    </a:lnTo>
                    <a:lnTo>
                      <a:pt x="1781708" y="31558"/>
                    </a:lnTo>
                    <a:lnTo>
                      <a:pt x="1835410" y="35592"/>
                    </a:lnTo>
                    <a:lnTo>
                      <a:pt x="1888349" y="41955"/>
                    </a:lnTo>
                    <a:lnTo>
                      <a:pt x="1940033" y="50704"/>
                    </a:lnTo>
                    <a:lnTo>
                      <a:pt x="1999612" y="64483"/>
                    </a:lnTo>
                    <a:lnTo>
                      <a:pt x="2053190" y="81311"/>
                    </a:lnTo>
                    <a:lnTo>
                      <a:pt x="2083324" y="62615"/>
                    </a:lnTo>
                    <a:lnTo>
                      <a:pt x="2119628" y="46151"/>
                    </a:lnTo>
                    <a:lnTo>
                      <a:pt x="2161276" y="32021"/>
                    </a:lnTo>
                    <a:lnTo>
                      <a:pt x="2207440" y="20329"/>
                    </a:lnTo>
                    <a:lnTo>
                      <a:pt x="2257293" y="11178"/>
                    </a:lnTo>
                    <a:lnTo>
                      <a:pt x="2310010" y="4671"/>
                    </a:lnTo>
                    <a:lnTo>
                      <a:pt x="2364763" y="910"/>
                    </a:lnTo>
                    <a:lnTo>
                      <a:pt x="2420726" y="0"/>
                    </a:lnTo>
                    <a:lnTo>
                      <a:pt x="2477072" y="2042"/>
                    </a:lnTo>
                    <a:lnTo>
                      <a:pt x="2532974" y="7140"/>
                    </a:lnTo>
                    <a:lnTo>
                      <a:pt x="2587606" y="15398"/>
                    </a:lnTo>
                    <a:lnTo>
                      <a:pt x="2627103" y="23740"/>
                    </a:lnTo>
                    <a:lnTo>
                      <a:pt x="2696905" y="45044"/>
                    </a:lnTo>
                    <a:lnTo>
                      <a:pt x="2726544" y="57816"/>
                    </a:lnTo>
                    <a:lnTo>
                      <a:pt x="2765146" y="43059"/>
                    </a:lnTo>
                    <a:lnTo>
                      <a:pt x="2807469" y="30453"/>
                    </a:lnTo>
                    <a:lnTo>
                      <a:pt x="2852929" y="20016"/>
                    </a:lnTo>
                    <a:lnTo>
                      <a:pt x="2900941" y="11765"/>
                    </a:lnTo>
                    <a:lnTo>
                      <a:pt x="2950919" y="5719"/>
                    </a:lnTo>
                    <a:lnTo>
                      <a:pt x="3002280" y="1897"/>
                    </a:lnTo>
                    <a:lnTo>
                      <a:pt x="3054438" y="315"/>
                    </a:lnTo>
                    <a:lnTo>
                      <a:pt x="3106808" y="992"/>
                    </a:lnTo>
                    <a:lnTo>
                      <a:pt x="3158807" y="3946"/>
                    </a:lnTo>
                    <a:lnTo>
                      <a:pt x="3209848" y="9195"/>
                    </a:lnTo>
                    <a:lnTo>
                      <a:pt x="3259348" y="16757"/>
                    </a:lnTo>
                    <a:lnTo>
                      <a:pt x="3306722" y="26650"/>
                    </a:lnTo>
                    <a:lnTo>
                      <a:pt x="3351384" y="38893"/>
                    </a:lnTo>
                    <a:lnTo>
                      <a:pt x="3405319" y="58850"/>
                    </a:lnTo>
                    <a:lnTo>
                      <a:pt x="3448824" y="81771"/>
                    </a:lnTo>
                    <a:lnTo>
                      <a:pt x="3481043" y="107098"/>
                    </a:lnTo>
                    <a:lnTo>
                      <a:pt x="3501117" y="134270"/>
                    </a:lnTo>
                    <a:lnTo>
                      <a:pt x="3569120" y="143115"/>
                    </a:lnTo>
                    <a:lnTo>
                      <a:pt x="3631324" y="155221"/>
                    </a:lnTo>
                    <a:lnTo>
                      <a:pt x="3687199" y="170248"/>
                    </a:lnTo>
                    <a:lnTo>
                      <a:pt x="3736216" y="187856"/>
                    </a:lnTo>
                    <a:lnTo>
                      <a:pt x="3777845" y="207703"/>
                    </a:lnTo>
                    <a:lnTo>
                      <a:pt x="3811559" y="229449"/>
                    </a:lnTo>
                    <a:lnTo>
                      <a:pt x="3853123" y="277275"/>
                    </a:lnTo>
                    <a:lnTo>
                      <a:pt x="3859915" y="302675"/>
                    </a:lnTo>
                    <a:lnTo>
                      <a:pt x="3856675" y="328610"/>
                    </a:lnTo>
                    <a:lnTo>
                      <a:pt x="3832841" y="366648"/>
                    </a:lnTo>
                    <a:lnTo>
                      <a:pt x="3820522" y="378364"/>
                    </a:lnTo>
                    <a:lnTo>
                      <a:pt x="3863976" y="402087"/>
                    </a:lnTo>
                    <a:lnTo>
                      <a:pt x="3898339" y="427044"/>
                    </a:lnTo>
                    <a:lnTo>
                      <a:pt x="3923717" y="452937"/>
                    </a:lnTo>
                    <a:lnTo>
                      <a:pt x="3940218" y="479465"/>
                    </a:lnTo>
                    <a:lnTo>
                      <a:pt x="3947947" y="506331"/>
                    </a:lnTo>
                    <a:lnTo>
                      <a:pt x="3947013" y="533234"/>
                    </a:lnTo>
                    <a:lnTo>
                      <a:pt x="3919581" y="585960"/>
                    </a:lnTo>
                    <a:lnTo>
                      <a:pt x="3858774" y="635251"/>
                    </a:lnTo>
                    <a:lnTo>
                      <a:pt x="3816122" y="657861"/>
                    </a:lnTo>
                    <a:lnTo>
                      <a:pt x="3765448" y="678715"/>
                    </a:lnTo>
                    <a:lnTo>
                      <a:pt x="3706857" y="697515"/>
                    </a:lnTo>
                    <a:lnTo>
                      <a:pt x="3663467" y="708747"/>
                    </a:lnTo>
                    <a:lnTo>
                      <a:pt x="3617801" y="718536"/>
                    </a:lnTo>
                    <a:lnTo>
                      <a:pt x="3570125" y="726836"/>
                    </a:lnTo>
                    <a:lnTo>
                      <a:pt x="3520703" y="733602"/>
                    </a:lnTo>
                    <a:lnTo>
                      <a:pt x="3469799" y="738787"/>
                    </a:lnTo>
                    <a:lnTo>
                      <a:pt x="3417678" y="742346"/>
                    </a:lnTo>
                    <a:lnTo>
                      <a:pt x="3413017" y="766707"/>
                    </a:lnTo>
                    <a:lnTo>
                      <a:pt x="3380572" y="812463"/>
                    </a:lnTo>
                    <a:lnTo>
                      <a:pt x="3320615" y="853065"/>
                    </a:lnTo>
                    <a:lnTo>
                      <a:pt x="3281565" y="870983"/>
                    </a:lnTo>
                    <a:lnTo>
                      <a:pt x="3237134" y="887073"/>
                    </a:lnTo>
                    <a:lnTo>
                      <a:pt x="3187818" y="901154"/>
                    </a:lnTo>
                    <a:lnTo>
                      <a:pt x="3134116" y="913047"/>
                    </a:lnTo>
                    <a:lnTo>
                      <a:pt x="3076527" y="922571"/>
                    </a:lnTo>
                    <a:lnTo>
                      <a:pt x="3015550" y="929546"/>
                    </a:lnTo>
                    <a:lnTo>
                      <a:pt x="2951681" y="933793"/>
                    </a:lnTo>
                    <a:lnTo>
                      <a:pt x="2885421" y="935132"/>
                    </a:lnTo>
                    <a:lnTo>
                      <a:pt x="2827256" y="933738"/>
                    </a:lnTo>
                    <a:lnTo>
                      <a:pt x="2770133" y="930046"/>
                    </a:lnTo>
                    <a:lnTo>
                      <a:pt x="2714547" y="924104"/>
                    </a:lnTo>
                    <a:lnTo>
                      <a:pt x="2660990" y="915962"/>
                    </a:lnTo>
                    <a:lnTo>
                      <a:pt x="2609958" y="905668"/>
                    </a:lnTo>
                    <a:lnTo>
                      <a:pt x="2588644" y="927592"/>
                    </a:lnTo>
                    <a:lnTo>
                      <a:pt x="2530310" y="967457"/>
                    </a:lnTo>
                    <a:lnTo>
                      <a:pt x="2494062" y="985245"/>
                    </a:lnTo>
                    <a:lnTo>
                      <a:pt x="2453608" y="1001502"/>
                    </a:lnTo>
                    <a:lnTo>
                      <a:pt x="2409334" y="1016150"/>
                    </a:lnTo>
                    <a:lnTo>
                      <a:pt x="2361627" y="1029115"/>
                    </a:lnTo>
                    <a:lnTo>
                      <a:pt x="2310873" y="1040320"/>
                    </a:lnTo>
                    <a:lnTo>
                      <a:pt x="2257457" y="1049687"/>
                    </a:lnTo>
                    <a:lnTo>
                      <a:pt x="2201767" y="1057143"/>
                    </a:lnTo>
                    <a:lnTo>
                      <a:pt x="2144188" y="1062609"/>
                    </a:lnTo>
                    <a:lnTo>
                      <a:pt x="2085106" y="1066009"/>
                    </a:lnTo>
                    <a:lnTo>
                      <a:pt x="2024909" y="1067268"/>
                    </a:lnTo>
                    <a:lnTo>
                      <a:pt x="1963981" y="1066309"/>
                    </a:lnTo>
                    <a:lnTo>
                      <a:pt x="1902710" y="1063056"/>
                    </a:lnTo>
                    <a:lnTo>
                      <a:pt x="1841481" y="1057433"/>
                    </a:lnTo>
                    <a:lnTo>
                      <a:pt x="1784164" y="1049875"/>
                    </a:lnTo>
                    <a:lnTo>
                      <a:pt x="1729471" y="1040330"/>
                    </a:lnTo>
                    <a:lnTo>
                      <a:pt x="1677755" y="1028891"/>
                    </a:lnTo>
                    <a:lnTo>
                      <a:pt x="1629369" y="1015655"/>
                    </a:lnTo>
                    <a:lnTo>
                      <a:pt x="1584667" y="1000718"/>
                    </a:lnTo>
                    <a:lnTo>
                      <a:pt x="1544001" y="984174"/>
                    </a:lnTo>
                    <a:lnTo>
                      <a:pt x="1507725" y="966120"/>
                    </a:lnTo>
                    <a:lnTo>
                      <a:pt x="1456977" y="976393"/>
                    </a:lnTo>
                    <a:lnTo>
                      <a:pt x="1404988" y="984979"/>
                    </a:lnTo>
                    <a:lnTo>
                      <a:pt x="1352008" y="991901"/>
                    </a:lnTo>
                    <a:lnTo>
                      <a:pt x="1298283" y="997180"/>
                    </a:lnTo>
                    <a:lnTo>
                      <a:pt x="1244065" y="1000840"/>
                    </a:lnTo>
                    <a:lnTo>
                      <a:pt x="1189600" y="1002905"/>
                    </a:lnTo>
                    <a:lnTo>
                      <a:pt x="1135139" y="1003397"/>
                    </a:lnTo>
                    <a:lnTo>
                      <a:pt x="1080930" y="1002338"/>
                    </a:lnTo>
                    <a:lnTo>
                      <a:pt x="1027221" y="999753"/>
                    </a:lnTo>
                    <a:lnTo>
                      <a:pt x="974261" y="995663"/>
                    </a:lnTo>
                    <a:lnTo>
                      <a:pt x="922300" y="990092"/>
                    </a:lnTo>
                    <a:lnTo>
                      <a:pt x="871586" y="983064"/>
                    </a:lnTo>
                    <a:lnTo>
                      <a:pt x="822367" y="974600"/>
                    </a:lnTo>
                    <a:lnTo>
                      <a:pt x="774894" y="964723"/>
                    </a:lnTo>
                    <a:lnTo>
                      <a:pt x="729413" y="953457"/>
                    </a:lnTo>
                    <a:lnTo>
                      <a:pt x="686175" y="940825"/>
                    </a:lnTo>
                    <a:lnTo>
                      <a:pt x="645428" y="926850"/>
                    </a:lnTo>
                    <a:lnTo>
                      <a:pt x="607420" y="911554"/>
                    </a:lnTo>
                    <a:lnTo>
                      <a:pt x="572401" y="894961"/>
                    </a:lnTo>
                    <a:lnTo>
                      <a:pt x="538207" y="875569"/>
                    </a:lnTo>
                    <a:lnTo>
                      <a:pt x="535667" y="874045"/>
                    </a:lnTo>
                    <a:lnTo>
                      <a:pt x="533254" y="872394"/>
                    </a:lnTo>
                    <a:lnTo>
                      <a:pt x="468529" y="873288"/>
                    </a:lnTo>
                    <a:lnTo>
                      <a:pt x="405947" y="870431"/>
                    </a:lnTo>
                    <a:lnTo>
                      <a:pt x="346418" y="864089"/>
                    </a:lnTo>
                    <a:lnTo>
                      <a:pt x="290850" y="854526"/>
                    </a:lnTo>
                    <a:lnTo>
                      <a:pt x="240154" y="842009"/>
                    </a:lnTo>
                    <a:lnTo>
                      <a:pt x="195237" y="826802"/>
                    </a:lnTo>
                    <a:lnTo>
                      <a:pt x="157008" y="809170"/>
                    </a:lnTo>
                    <a:lnTo>
                      <a:pt x="104255" y="767693"/>
                    </a:lnTo>
                    <a:lnTo>
                      <a:pt x="90917" y="712475"/>
                    </a:lnTo>
                    <a:lnTo>
                      <a:pt x="108788" y="681656"/>
                    </a:lnTo>
                    <a:lnTo>
                      <a:pt x="144233" y="652956"/>
                    </a:lnTo>
                    <a:lnTo>
                      <a:pt x="196323" y="627411"/>
                    </a:lnTo>
                    <a:lnTo>
                      <a:pt x="138007" y="612054"/>
                    </a:lnTo>
                    <a:lnTo>
                      <a:pt x="89396" y="593628"/>
                    </a:lnTo>
                    <a:lnTo>
                      <a:pt x="50889" y="572702"/>
                    </a:lnTo>
                    <a:lnTo>
                      <a:pt x="5790" y="525636"/>
                    </a:lnTo>
                    <a:lnTo>
                      <a:pt x="0" y="500637"/>
                    </a:lnTo>
                    <a:lnTo>
                      <a:pt x="5914" y="475421"/>
                    </a:lnTo>
                    <a:lnTo>
                      <a:pt x="54464" y="426624"/>
                    </a:lnTo>
                    <a:lnTo>
                      <a:pt x="90255" y="407611"/>
                    </a:lnTo>
                    <a:lnTo>
                      <a:pt x="133110" y="391111"/>
                    </a:lnTo>
                    <a:lnTo>
                      <a:pt x="182067" y="377348"/>
                    </a:lnTo>
                    <a:lnTo>
                      <a:pt x="236168" y="366548"/>
                    </a:lnTo>
                    <a:lnTo>
                      <a:pt x="294453" y="358938"/>
                    </a:lnTo>
                    <a:lnTo>
                      <a:pt x="355962" y="354742"/>
                    </a:lnTo>
                    <a:lnTo>
                      <a:pt x="359391" y="351440"/>
                    </a:lnTo>
                    <a:close/>
                  </a:path>
                  <a:path w="3948429" h="1067435">
                    <a:moveTo>
                      <a:pt x="431781" y="642905"/>
                    </a:moveTo>
                    <a:lnTo>
                      <a:pt x="383418" y="643248"/>
                    </a:lnTo>
                    <a:lnTo>
                      <a:pt x="335598" y="641415"/>
                    </a:lnTo>
                    <a:lnTo>
                      <a:pt x="288833" y="637455"/>
                    </a:lnTo>
                    <a:lnTo>
                      <a:pt x="243634" y="631416"/>
                    </a:lnTo>
                    <a:lnTo>
                      <a:pt x="200514" y="623347"/>
                    </a:lnTo>
                  </a:path>
                  <a:path w="3948429" h="1067435">
                    <a:moveTo>
                      <a:pt x="635743" y="858297"/>
                    </a:moveTo>
                    <a:lnTo>
                      <a:pt x="611105" y="861607"/>
                    </a:lnTo>
                    <a:lnTo>
                      <a:pt x="585990" y="864298"/>
                    </a:lnTo>
                    <a:lnTo>
                      <a:pt x="560448" y="866369"/>
                    </a:lnTo>
                    <a:lnTo>
                      <a:pt x="534524" y="867822"/>
                    </a:lnTo>
                  </a:path>
                  <a:path w="3948429" h="1067435">
                    <a:moveTo>
                      <a:pt x="1507471" y="961802"/>
                    </a:moveTo>
                    <a:lnTo>
                      <a:pt x="1489927" y="951541"/>
                    </a:lnTo>
                    <a:lnTo>
                      <a:pt x="1473895" y="940958"/>
                    </a:lnTo>
                    <a:lnTo>
                      <a:pt x="1459411" y="930066"/>
                    </a:lnTo>
                    <a:lnTo>
                      <a:pt x="1446511" y="918876"/>
                    </a:lnTo>
                  </a:path>
                  <a:path w="3948429" h="1067435">
                    <a:moveTo>
                      <a:pt x="2634723" y="854741"/>
                    </a:moveTo>
                    <a:lnTo>
                      <a:pt x="2631181" y="866693"/>
                    </a:lnTo>
                    <a:lnTo>
                      <a:pt x="2625912" y="878537"/>
                    </a:lnTo>
                    <a:lnTo>
                      <a:pt x="2618953" y="890263"/>
                    </a:lnTo>
                    <a:lnTo>
                      <a:pt x="2610339" y="901858"/>
                    </a:lnTo>
                  </a:path>
                  <a:path w="3948429" h="1067435">
                    <a:moveTo>
                      <a:pt x="3118720" y="563403"/>
                    </a:moveTo>
                    <a:lnTo>
                      <a:pt x="3184047" y="577311"/>
                    </a:lnTo>
                    <a:lnTo>
                      <a:pt x="3242479" y="594230"/>
                    </a:lnTo>
                    <a:lnTo>
                      <a:pt x="3293431" y="613813"/>
                    </a:lnTo>
                    <a:lnTo>
                      <a:pt x="3336318" y="635713"/>
                    </a:lnTo>
                    <a:lnTo>
                      <a:pt x="3370555" y="659584"/>
                    </a:lnTo>
                    <a:lnTo>
                      <a:pt x="3410741" y="711850"/>
                    </a:lnTo>
                    <a:lnTo>
                      <a:pt x="3415519" y="739552"/>
                    </a:lnTo>
                  </a:path>
                  <a:path w="3948429" h="1067435">
                    <a:moveTo>
                      <a:pt x="3818744" y="375697"/>
                    </a:moveTo>
                    <a:lnTo>
                      <a:pt x="3793657" y="394267"/>
                    </a:lnTo>
                    <a:lnTo>
                      <a:pt x="3763022" y="411574"/>
                    </a:lnTo>
                    <a:lnTo>
                      <a:pt x="3727197" y="427453"/>
                    </a:lnTo>
                    <a:lnTo>
                      <a:pt x="3686537" y="441737"/>
                    </a:lnTo>
                  </a:path>
                  <a:path w="3948429" h="1067435">
                    <a:moveTo>
                      <a:pt x="3501625" y="130587"/>
                    </a:moveTo>
                    <a:lnTo>
                      <a:pt x="3504913" y="138324"/>
                    </a:lnTo>
                    <a:lnTo>
                      <a:pt x="3507165" y="146097"/>
                    </a:lnTo>
                    <a:lnTo>
                      <a:pt x="3508393" y="153893"/>
                    </a:lnTo>
                    <a:lnTo>
                      <a:pt x="3508610" y="161702"/>
                    </a:lnTo>
                  </a:path>
                  <a:path w="3948429" h="1067435">
                    <a:moveTo>
                      <a:pt x="2657583" y="94138"/>
                    </a:moveTo>
                    <a:lnTo>
                      <a:pt x="2671553" y="83551"/>
                    </a:lnTo>
                    <a:lnTo>
                      <a:pt x="2687523" y="73357"/>
                    </a:lnTo>
                    <a:lnTo>
                      <a:pt x="2705446" y="63616"/>
                    </a:lnTo>
                    <a:lnTo>
                      <a:pt x="2725274" y="54387"/>
                    </a:lnTo>
                  </a:path>
                  <a:path w="3948429" h="1067435">
                    <a:moveTo>
                      <a:pt x="2024361" y="113061"/>
                    </a:moveTo>
                    <a:lnTo>
                      <a:pt x="2030411" y="104256"/>
                    </a:lnTo>
                    <a:lnTo>
                      <a:pt x="2037902" y="95582"/>
                    </a:lnTo>
                    <a:lnTo>
                      <a:pt x="2046846" y="87075"/>
                    </a:lnTo>
                    <a:lnTo>
                      <a:pt x="2057254" y="78771"/>
                    </a:lnTo>
                  </a:path>
                  <a:path w="3948429" h="1067435">
                    <a:moveTo>
                      <a:pt x="1281284" y="124745"/>
                    </a:moveTo>
                    <a:lnTo>
                      <a:pt x="1312962" y="132051"/>
                    </a:lnTo>
                    <a:lnTo>
                      <a:pt x="1343355" y="140048"/>
                    </a:lnTo>
                    <a:lnTo>
                      <a:pt x="1372366" y="148712"/>
                    </a:lnTo>
                    <a:lnTo>
                      <a:pt x="1399902" y="158019"/>
                    </a:lnTo>
                  </a:path>
                  <a:path w="3948429" h="1067435">
                    <a:moveTo>
                      <a:pt x="380092" y="386492"/>
                    </a:moveTo>
                    <a:lnTo>
                      <a:pt x="373500" y="377800"/>
                    </a:lnTo>
                    <a:lnTo>
                      <a:pt x="367836" y="369061"/>
                    </a:lnTo>
                    <a:lnTo>
                      <a:pt x="363125" y="360274"/>
                    </a:lnTo>
                    <a:lnTo>
                      <a:pt x="359391" y="351440"/>
                    </a:lnTo>
                  </a:path>
                </a:pathLst>
              </a:custGeom>
              <a:noFill/>
              <a:ln w="25400">
                <a:solidFill>
                  <a:srgbClr val="A264D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sp>
            <p:nvSpPr>
              <p:cNvPr id="5003" name="object 7">
                <a:extLst>
                  <a:ext uri="{FF2B5EF4-FFF2-40B4-BE49-F238E27FC236}">
                    <a16:creationId xmlns:a16="http://schemas.microsoft.com/office/drawing/2014/main" id="{54C507F0-1334-463F-9D80-CDF9F05E52E9}"/>
                  </a:ext>
                </a:extLst>
              </p:cNvPr>
              <p:cNvSpPr>
                <a:spLocks/>
              </p:cNvSpPr>
              <p:nvPr/>
            </p:nvSpPr>
            <p:spPr bwMode="auto">
              <a:xfrm>
                <a:off x="3981450" y="3943349"/>
                <a:ext cx="3990975" cy="1876425"/>
              </a:xfrm>
              <a:custGeom>
                <a:avLst/>
                <a:gdLst>
                  <a:gd name="T0" fmla="*/ 3990975 w 3990975"/>
                  <a:gd name="T1" fmla="*/ 1876425 h 1876425"/>
                  <a:gd name="T2" fmla="*/ 2667000 w 3990975"/>
                  <a:gd name="T3" fmla="*/ 0 h 1876425"/>
                  <a:gd name="T4" fmla="*/ 1995487 w 3990975"/>
                  <a:gd name="T5" fmla="*/ 951712 h 1876425"/>
                  <a:gd name="T6" fmla="*/ 1323975 w 3990975"/>
                  <a:gd name="T7" fmla="*/ 0 h 1876425"/>
                  <a:gd name="T8" fmla="*/ 0 w 3990975"/>
                  <a:gd name="T9" fmla="*/ 1876425 h 1876425"/>
                  <a:gd name="T10" fmla="*/ 1343025 w 3990975"/>
                  <a:gd name="T11" fmla="*/ 1876425 h 1876425"/>
                  <a:gd name="T12" fmla="*/ 2647950 w 3990975"/>
                  <a:gd name="T13" fmla="*/ 1876425 h 1876425"/>
                  <a:gd name="T14" fmla="*/ 3990975 w 3990975"/>
                  <a:gd name="T15" fmla="*/ 1876425 h 18764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90975" h="1876425">
                    <a:moveTo>
                      <a:pt x="3990975" y="1876425"/>
                    </a:moveTo>
                    <a:lnTo>
                      <a:pt x="2667000" y="0"/>
                    </a:lnTo>
                    <a:lnTo>
                      <a:pt x="1995487" y="951712"/>
                    </a:lnTo>
                    <a:lnTo>
                      <a:pt x="1323975" y="0"/>
                    </a:lnTo>
                    <a:lnTo>
                      <a:pt x="0" y="1876425"/>
                    </a:lnTo>
                    <a:lnTo>
                      <a:pt x="1343025" y="1876425"/>
                    </a:lnTo>
                    <a:lnTo>
                      <a:pt x="2647950" y="1876425"/>
                    </a:lnTo>
                    <a:lnTo>
                      <a:pt x="3990975" y="1876425"/>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04" name="object 8">
                <a:extLst>
                  <a:ext uri="{FF2B5EF4-FFF2-40B4-BE49-F238E27FC236}">
                    <a16:creationId xmlns:a16="http://schemas.microsoft.com/office/drawing/2014/main" id="{963ABAA3-7D60-C297-5E91-1ABBCD5B131A}"/>
                  </a:ext>
                </a:extLst>
              </p:cNvPr>
              <p:cNvSpPr>
                <a:spLocks/>
              </p:cNvSpPr>
              <p:nvPr/>
            </p:nvSpPr>
            <p:spPr bwMode="auto">
              <a:xfrm>
                <a:off x="3090926" y="3910076"/>
                <a:ext cx="2990850" cy="2114550"/>
              </a:xfrm>
              <a:custGeom>
                <a:avLst/>
                <a:gdLst>
                  <a:gd name="T0" fmla="*/ 1495425 w 2990850"/>
                  <a:gd name="T1" fmla="*/ 0 h 2114550"/>
                  <a:gd name="T2" fmla="*/ 0 w 2990850"/>
                  <a:gd name="T3" fmla="*/ 2114486 h 2114550"/>
                  <a:gd name="T4" fmla="*/ 2990850 w 2990850"/>
                  <a:gd name="T5" fmla="*/ 2114486 h 2114550"/>
                  <a:gd name="T6" fmla="*/ 1495425 w 2990850"/>
                  <a:gd name="T7" fmla="*/ 0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1495425" y="0"/>
                    </a:moveTo>
                    <a:lnTo>
                      <a:pt x="0" y="2114486"/>
                    </a:lnTo>
                    <a:lnTo>
                      <a:pt x="2990850" y="2114486"/>
                    </a:lnTo>
                    <a:lnTo>
                      <a:pt x="1495425"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05" name="object 9">
                <a:extLst>
                  <a:ext uri="{FF2B5EF4-FFF2-40B4-BE49-F238E27FC236}">
                    <a16:creationId xmlns:a16="http://schemas.microsoft.com/office/drawing/2014/main" id="{B5253C98-968D-BC66-2428-1632E09B231D}"/>
                  </a:ext>
                </a:extLst>
              </p:cNvPr>
              <p:cNvSpPr>
                <a:spLocks/>
              </p:cNvSpPr>
              <p:nvPr/>
            </p:nvSpPr>
            <p:spPr bwMode="auto">
              <a:xfrm>
                <a:off x="3090926" y="3910076"/>
                <a:ext cx="2990850" cy="2114550"/>
              </a:xfrm>
              <a:custGeom>
                <a:avLst/>
                <a:gdLst>
                  <a:gd name="T0" fmla="*/ 0 w 2990850"/>
                  <a:gd name="T1" fmla="*/ 2114486 h 2114550"/>
                  <a:gd name="T2" fmla="*/ 1495425 w 2990850"/>
                  <a:gd name="T3" fmla="*/ 0 h 2114550"/>
                  <a:gd name="T4" fmla="*/ 2990850 w 2990850"/>
                  <a:gd name="T5" fmla="*/ 2114486 h 2114550"/>
                  <a:gd name="T6" fmla="*/ 0 w 2990850"/>
                  <a:gd name="T7" fmla="*/ 2114486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0" y="2114486"/>
                    </a:moveTo>
                    <a:lnTo>
                      <a:pt x="1495425" y="0"/>
                    </a:lnTo>
                    <a:lnTo>
                      <a:pt x="2990850" y="2114486"/>
                    </a:lnTo>
                    <a:lnTo>
                      <a:pt x="0" y="2114486"/>
                    </a:lnTo>
                    <a:close/>
                  </a:path>
                </a:pathLst>
              </a:custGeom>
              <a:noFill/>
              <a:ln w="25399">
                <a:solidFill>
                  <a:srgbClr val="F1F1F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sp>
            <p:nvSpPr>
              <p:cNvPr id="5006" name="object 10">
                <a:extLst>
                  <a:ext uri="{FF2B5EF4-FFF2-40B4-BE49-F238E27FC236}">
                    <a16:creationId xmlns:a16="http://schemas.microsoft.com/office/drawing/2014/main" id="{C7B57C92-EA98-5EA7-86E6-39256A159706}"/>
                  </a:ext>
                </a:extLst>
              </p:cNvPr>
              <p:cNvSpPr>
                <a:spLocks/>
              </p:cNvSpPr>
              <p:nvPr/>
            </p:nvSpPr>
            <p:spPr bwMode="auto">
              <a:xfrm>
                <a:off x="5977001" y="3910076"/>
                <a:ext cx="2990850" cy="2114550"/>
              </a:xfrm>
              <a:custGeom>
                <a:avLst/>
                <a:gdLst>
                  <a:gd name="T0" fmla="*/ 1495425 w 2990850"/>
                  <a:gd name="T1" fmla="*/ 0 h 2114550"/>
                  <a:gd name="T2" fmla="*/ 0 w 2990850"/>
                  <a:gd name="T3" fmla="*/ 2114486 h 2114550"/>
                  <a:gd name="T4" fmla="*/ 2990850 w 2990850"/>
                  <a:gd name="T5" fmla="*/ 2114486 h 2114550"/>
                  <a:gd name="T6" fmla="*/ 1495425 w 2990850"/>
                  <a:gd name="T7" fmla="*/ 0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1495425" y="0"/>
                    </a:moveTo>
                    <a:lnTo>
                      <a:pt x="0" y="2114486"/>
                    </a:lnTo>
                    <a:lnTo>
                      <a:pt x="2990850" y="2114486"/>
                    </a:lnTo>
                    <a:lnTo>
                      <a:pt x="1495425"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07" name="object 11">
                <a:extLst>
                  <a:ext uri="{FF2B5EF4-FFF2-40B4-BE49-F238E27FC236}">
                    <a16:creationId xmlns:a16="http://schemas.microsoft.com/office/drawing/2014/main" id="{A1DFCFF5-B406-7395-5D0F-1B0C8B23AFAD}"/>
                  </a:ext>
                </a:extLst>
              </p:cNvPr>
              <p:cNvSpPr>
                <a:spLocks/>
              </p:cNvSpPr>
              <p:nvPr/>
            </p:nvSpPr>
            <p:spPr bwMode="auto">
              <a:xfrm>
                <a:off x="5977001" y="3910076"/>
                <a:ext cx="2990850" cy="2114550"/>
              </a:xfrm>
              <a:custGeom>
                <a:avLst/>
                <a:gdLst>
                  <a:gd name="T0" fmla="*/ 0 w 2990850"/>
                  <a:gd name="T1" fmla="*/ 2114486 h 2114550"/>
                  <a:gd name="T2" fmla="*/ 1495425 w 2990850"/>
                  <a:gd name="T3" fmla="*/ 0 h 2114550"/>
                  <a:gd name="T4" fmla="*/ 2990850 w 2990850"/>
                  <a:gd name="T5" fmla="*/ 2114486 h 2114550"/>
                  <a:gd name="T6" fmla="*/ 0 w 2990850"/>
                  <a:gd name="T7" fmla="*/ 2114486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0" y="2114486"/>
                    </a:moveTo>
                    <a:lnTo>
                      <a:pt x="1495425" y="0"/>
                    </a:lnTo>
                    <a:lnTo>
                      <a:pt x="2990850" y="2114486"/>
                    </a:lnTo>
                    <a:lnTo>
                      <a:pt x="0" y="2114486"/>
                    </a:lnTo>
                    <a:close/>
                  </a:path>
                </a:pathLst>
              </a:custGeom>
              <a:noFill/>
              <a:ln w="25399">
                <a:solidFill>
                  <a:srgbClr val="F1F1F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sp>
            <p:nvSpPr>
              <p:cNvPr id="5008" name="object 12">
                <a:extLst>
                  <a:ext uri="{FF2B5EF4-FFF2-40B4-BE49-F238E27FC236}">
                    <a16:creationId xmlns:a16="http://schemas.microsoft.com/office/drawing/2014/main" id="{45AA5F8E-AFF2-00D7-E8CE-747C84FF3402}"/>
                  </a:ext>
                </a:extLst>
              </p:cNvPr>
              <p:cNvSpPr>
                <a:spLocks/>
              </p:cNvSpPr>
              <p:nvPr/>
            </p:nvSpPr>
            <p:spPr bwMode="auto">
              <a:xfrm>
                <a:off x="5767451" y="3910076"/>
                <a:ext cx="523875" cy="371475"/>
              </a:xfrm>
              <a:custGeom>
                <a:avLst/>
                <a:gdLst>
                  <a:gd name="T0" fmla="*/ 262763 w 523875"/>
                  <a:gd name="T1" fmla="*/ 0 h 371475"/>
                  <a:gd name="T2" fmla="*/ 260985 w 523875"/>
                  <a:gd name="T3" fmla="*/ 0 h 371475"/>
                  <a:gd name="T4" fmla="*/ 0 w 523875"/>
                  <a:gd name="T5" fmla="*/ 371475 h 371475"/>
                  <a:gd name="T6" fmla="*/ 523875 w 523875"/>
                  <a:gd name="T7" fmla="*/ 371475 h 371475"/>
                  <a:gd name="T8" fmla="*/ 262763 w 5238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3875" h="371475">
                    <a:moveTo>
                      <a:pt x="262763" y="0"/>
                    </a:moveTo>
                    <a:lnTo>
                      <a:pt x="260985" y="0"/>
                    </a:lnTo>
                    <a:lnTo>
                      <a:pt x="0" y="371475"/>
                    </a:lnTo>
                    <a:lnTo>
                      <a:pt x="523875" y="371475"/>
                    </a:lnTo>
                    <a:lnTo>
                      <a:pt x="262763"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09" name="object 13">
                <a:extLst>
                  <a:ext uri="{FF2B5EF4-FFF2-40B4-BE49-F238E27FC236}">
                    <a16:creationId xmlns:a16="http://schemas.microsoft.com/office/drawing/2014/main" id="{7927798D-AD81-4CBF-70FA-345DE34F1CC4}"/>
                  </a:ext>
                </a:extLst>
              </p:cNvPr>
              <p:cNvSpPr>
                <a:spLocks/>
              </p:cNvSpPr>
              <p:nvPr/>
            </p:nvSpPr>
            <p:spPr bwMode="auto">
              <a:xfrm>
                <a:off x="5767451" y="3910076"/>
                <a:ext cx="523875" cy="371475"/>
              </a:xfrm>
              <a:custGeom>
                <a:avLst/>
                <a:gdLst>
                  <a:gd name="T0" fmla="*/ 0 w 523875"/>
                  <a:gd name="T1" fmla="*/ 371475 h 371475"/>
                  <a:gd name="T2" fmla="*/ 260985 w 523875"/>
                  <a:gd name="T3" fmla="*/ 0 h 371475"/>
                  <a:gd name="T4" fmla="*/ 262763 w 523875"/>
                  <a:gd name="T5" fmla="*/ 0 h 371475"/>
                  <a:gd name="T6" fmla="*/ 523875 w 523875"/>
                  <a:gd name="T7" fmla="*/ 371475 h 371475"/>
                  <a:gd name="T8" fmla="*/ 0 w 5238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3875" h="371475">
                    <a:moveTo>
                      <a:pt x="0" y="371475"/>
                    </a:moveTo>
                    <a:lnTo>
                      <a:pt x="260985" y="0"/>
                    </a:lnTo>
                    <a:lnTo>
                      <a:pt x="262763" y="0"/>
                    </a:lnTo>
                    <a:lnTo>
                      <a:pt x="5238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10" name="object 16">
              <a:extLst>
                <a:ext uri="{FF2B5EF4-FFF2-40B4-BE49-F238E27FC236}">
                  <a16:creationId xmlns:a16="http://schemas.microsoft.com/office/drawing/2014/main" id="{DBCC07B7-8FF5-6768-DC92-20F6AFFCF171}"/>
                </a:ext>
              </a:extLst>
            </p:cNvPr>
            <p:cNvSpPr txBox="1"/>
            <p:nvPr/>
          </p:nvSpPr>
          <p:spPr>
            <a:xfrm>
              <a:off x="4398169" y="3002756"/>
              <a:ext cx="250031" cy="121732"/>
            </a:xfrm>
            <a:prstGeom prst="rect">
              <a:avLst/>
            </a:prstGeom>
          </p:spPr>
          <p:txBody>
            <a:bodyPr lIns="0" tIns="11906" rIns="0" bIns="0">
              <a:spAutoFit/>
            </a:bodyPr>
            <a:lstStyle/>
            <a:p>
              <a:pPr marL="9525">
                <a:spcBef>
                  <a:spcPts val="94"/>
                </a:spcBef>
                <a:defRPr/>
              </a:pPr>
              <a:r>
                <a:rPr sz="1100" b="1" spc="-15" dirty="0">
                  <a:solidFill>
                    <a:sysClr val="windowText" lastClr="000000"/>
                  </a:solidFill>
                </a:rPr>
                <a:t>TTPs</a:t>
              </a:r>
              <a:endParaRPr sz="1100">
                <a:solidFill>
                  <a:sysClr val="windowText" lastClr="000000"/>
                </a:solidFill>
              </a:endParaRPr>
            </a:p>
          </p:txBody>
        </p:sp>
        <p:grpSp>
          <p:nvGrpSpPr>
            <p:cNvPr id="5011" name="object 17">
              <a:extLst>
                <a:ext uri="{FF2B5EF4-FFF2-40B4-BE49-F238E27FC236}">
                  <a16:creationId xmlns:a16="http://schemas.microsoft.com/office/drawing/2014/main" id="{FEA9F217-B709-2A30-B7E7-F9061993FD09}"/>
                </a:ext>
              </a:extLst>
            </p:cNvPr>
            <p:cNvGrpSpPr>
              <a:grpSpLocks/>
            </p:cNvGrpSpPr>
            <p:nvPr/>
          </p:nvGrpSpPr>
          <p:grpSpPr bwMode="auto">
            <a:xfrm>
              <a:off x="4123135" y="3201592"/>
              <a:ext cx="797719" cy="297656"/>
              <a:chOff x="5497576" y="4268851"/>
              <a:chExt cx="1063625" cy="396875"/>
            </a:xfrm>
          </p:grpSpPr>
          <p:sp>
            <p:nvSpPr>
              <p:cNvPr id="5012" name="object 18">
                <a:extLst>
                  <a:ext uri="{FF2B5EF4-FFF2-40B4-BE49-F238E27FC236}">
                    <a16:creationId xmlns:a16="http://schemas.microsoft.com/office/drawing/2014/main" id="{B1809A20-F458-71EE-0852-EC4F1C9B2281}"/>
                  </a:ext>
                </a:extLst>
              </p:cNvPr>
              <p:cNvSpPr>
                <a:spLocks/>
              </p:cNvSpPr>
              <p:nvPr/>
            </p:nvSpPr>
            <p:spPr bwMode="auto">
              <a:xfrm>
                <a:off x="5510276" y="4281551"/>
                <a:ext cx="1038225" cy="371475"/>
              </a:xfrm>
              <a:custGeom>
                <a:avLst/>
                <a:gdLst>
                  <a:gd name="T0" fmla="*/ 777113 w 1038225"/>
                  <a:gd name="T1" fmla="*/ 0 h 371475"/>
                  <a:gd name="T2" fmla="*/ 260985 w 1038225"/>
                  <a:gd name="T3" fmla="*/ 0 h 371475"/>
                  <a:gd name="T4" fmla="*/ 0 w 1038225"/>
                  <a:gd name="T5" fmla="*/ 371475 h 371475"/>
                  <a:gd name="T6" fmla="*/ 1038225 w 1038225"/>
                  <a:gd name="T7" fmla="*/ 371475 h 371475"/>
                  <a:gd name="T8" fmla="*/ 777113 w 103822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225" h="371475">
                    <a:moveTo>
                      <a:pt x="777113" y="0"/>
                    </a:moveTo>
                    <a:lnTo>
                      <a:pt x="260985" y="0"/>
                    </a:lnTo>
                    <a:lnTo>
                      <a:pt x="0" y="371475"/>
                    </a:lnTo>
                    <a:lnTo>
                      <a:pt x="1038225" y="371475"/>
                    </a:lnTo>
                    <a:lnTo>
                      <a:pt x="777113" y="0"/>
                    </a:ln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13" name="object 19">
                <a:extLst>
                  <a:ext uri="{FF2B5EF4-FFF2-40B4-BE49-F238E27FC236}">
                    <a16:creationId xmlns:a16="http://schemas.microsoft.com/office/drawing/2014/main" id="{1204CD58-B30D-416F-3AC4-036221D722EA}"/>
                  </a:ext>
                </a:extLst>
              </p:cNvPr>
              <p:cNvSpPr>
                <a:spLocks/>
              </p:cNvSpPr>
              <p:nvPr/>
            </p:nvSpPr>
            <p:spPr bwMode="auto">
              <a:xfrm>
                <a:off x="5510276" y="4281551"/>
                <a:ext cx="1038225" cy="371475"/>
              </a:xfrm>
              <a:custGeom>
                <a:avLst/>
                <a:gdLst>
                  <a:gd name="T0" fmla="*/ 0 w 1038225"/>
                  <a:gd name="T1" fmla="*/ 371475 h 371475"/>
                  <a:gd name="T2" fmla="*/ 260985 w 1038225"/>
                  <a:gd name="T3" fmla="*/ 0 h 371475"/>
                  <a:gd name="T4" fmla="*/ 777113 w 1038225"/>
                  <a:gd name="T5" fmla="*/ 0 h 371475"/>
                  <a:gd name="T6" fmla="*/ 1038225 w 1038225"/>
                  <a:gd name="T7" fmla="*/ 371475 h 371475"/>
                  <a:gd name="T8" fmla="*/ 0 w 103822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225" h="371475">
                    <a:moveTo>
                      <a:pt x="0" y="371475"/>
                    </a:moveTo>
                    <a:lnTo>
                      <a:pt x="260985" y="0"/>
                    </a:lnTo>
                    <a:lnTo>
                      <a:pt x="777113" y="0"/>
                    </a:lnTo>
                    <a:lnTo>
                      <a:pt x="103822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14" name="object 20">
              <a:extLst>
                <a:ext uri="{FF2B5EF4-FFF2-40B4-BE49-F238E27FC236}">
                  <a16:creationId xmlns:a16="http://schemas.microsoft.com/office/drawing/2014/main" id="{8CE81313-EB50-75D5-5638-157C1B104946}"/>
                </a:ext>
              </a:extLst>
            </p:cNvPr>
            <p:cNvSpPr txBox="1"/>
            <p:nvPr/>
          </p:nvSpPr>
          <p:spPr>
            <a:xfrm>
              <a:off x="4389835" y="3280172"/>
              <a:ext cx="270272" cy="121732"/>
            </a:xfrm>
            <a:prstGeom prst="rect">
              <a:avLst/>
            </a:prstGeom>
          </p:spPr>
          <p:txBody>
            <a:bodyPr lIns="0" tIns="11906" rIns="0" bIns="0">
              <a:spAutoFit/>
            </a:bodyPr>
            <a:lstStyle/>
            <a:p>
              <a:pPr marL="9525">
                <a:spcBef>
                  <a:spcPts val="94"/>
                </a:spcBef>
                <a:defRPr/>
              </a:pPr>
              <a:r>
                <a:rPr sz="1100" b="1" spc="-8" dirty="0">
                  <a:solidFill>
                    <a:sysClr val="windowText" lastClr="000000"/>
                  </a:solidFill>
                </a:rPr>
                <a:t>Tools</a:t>
              </a:r>
              <a:endParaRPr sz="1100">
                <a:solidFill>
                  <a:sysClr val="windowText" lastClr="000000"/>
                </a:solidFill>
              </a:endParaRPr>
            </a:p>
          </p:txBody>
        </p:sp>
        <p:grpSp>
          <p:nvGrpSpPr>
            <p:cNvPr id="5015" name="object 21">
              <a:extLst>
                <a:ext uri="{FF2B5EF4-FFF2-40B4-BE49-F238E27FC236}">
                  <a16:creationId xmlns:a16="http://schemas.microsoft.com/office/drawing/2014/main" id="{0084020B-AA37-3268-F4F8-A4C8824D7EF3}"/>
                </a:ext>
              </a:extLst>
            </p:cNvPr>
            <p:cNvGrpSpPr>
              <a:grpSpLocks/>
            </p:cNvGrpSpPr>
            <p:nvPr/>
          </p:nvGrpSpPr>
          <p:grpSpPr bwMode="auto">
            <a:xfrm>
              <a:off x="3537348" y="3480198"/>
              <a:ext cx="1969294" cy="854869"/>
              <a:chOff x="4716526" y="4640326"/>
              <a:chExt cx="2625725" cy="1139825"/>
            </a:xfrm>
          </p:grpSpPr>
          <p:sp>
            <p:nvSpPr>
              <p:cNvPr id="5016" name="object 22">
                <a:extLst>
                  <a:ext uri="{FF2B5EF4-FFF2-40B4-BE49-F238E27FC236}">
                    <a16:creationId xmlns:a16="http://schemas.microsoft.com/office/drawing/2014/main" id="{DFA7192D-1BCF-898C-F4F8-C52DC1DBABAB}"/>
                  </a:ext>
                </a:extLst>
              </p:cNvPr>
              <p:cNvSpPr>
                <a:spLocks/>
              </p:cNvSpPr>
              <p:nvPr/>
            </p:nvSpPr>
            <p:spPr bwMode="auto">
              <a:xfrm>
                <a:off x="5253101" y="4653026"/>
                <a:ext cx="1552575" cy="371475"/>
              </a:xfrm>
              <a:custGeom>
                <a:avLst/>
                <a:gdLst>
                  <a:gd name="T0" fmla="*/ 1291463 w 1552575"/>
                  <a:gd name="T1" fmla="*/ 0 h 371475"/>
                  <a:gd name="T2" fmla="*/ 260985 w 1552575"/>
                  <a:gd name="T3" fmla="*/ 0 h 371475"/>
                  <a:gd name="T4" fmla="*/ 0 w 1552575"/>
                  <a:gd name="T5" fmla="*/ 371475 h 371475"/>
                  <a:gd name="T6" fmla="*/ 1552575 w 1552575"/>
                  <a:gd name="T7" fmla="*/ 371475 h 371475"/>
                  <a:gd name="T8" fmla="*/ 1291463 w 15525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2575" h="371475">
                    <a:moveTo>
                      <a:pt x="1291463" y="0"/>
                    </a:moveTo>
                    <a:lnTo>
                      <a:pt x="260985" y="0"/>
                    </a:lnTo>
                    <a:lnTo>
                      <a:pt x="0" y="371475"/>
                    </a:lnTo>
                    <a:lnTo>
                      <a:pt x="1552575" y="371475"/>
                    </a:lnTo>
                    <a:lnTo>
                      <a:pt x="1291463"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17" name="object 23">
                <a:extLst>
                  <a:ext uri="{FF2B5EF4-FFF2-40B4-BE49-F238E27FC236}">
                    <a16:creationId xmlns:a16="http://schemas.microsoft.com/office/drawing/2014/main" id="{35CDD413-FF36-B885-212B-4C5D33DCB6E8}"/>
                  </a:ext>
                </a:extLst>
              </p:cNvPr>
              <p:cNvSpPr>
                <a:spLocks/>
              </p:cNvSpPr>
              <p:nvPr/>
            </p:nvSpPr>
            <p:spPr bwMode="auto">
              <a:xfrm>
                <a:off x="5253101" y="4653026"/>
                <a:ext cx="1552575" cy="371475"/>
              </a:xfrm>
              <a:custGeom>
                <a:avLst/>
                <a:gdLst>
                  <a:gd name="T0" fmla="*/ 0 w 1552575"/>
                  <a:gd name="T1" fmla="*/ 371475 h 371475"/>
                  <a:gd name="T2" fmla="*/ 260985 w 1552575"/>
                  <a:gd name="T3" fmla="*/ 0 h 371475"/>
                  <a:gd name="T4" fmla="*/ 1291463 w 1552575"/>
                  <a:gd name="T5" fmla="*/ 0 h 371475"/>
                  <a:gd name="T6" fmla="*/ 1552575 w 1552575"/>
                  <a:gd name="T7" fmla="*/ 371475 h 371475"/>
                  <a:gd name="T8" fmla="*/ 0 w 15525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2575" h="371475">
                    <a:moveTo>
                      <a:pt x="0" y="371475"/>
                    </a:moveTo>
                    <a:lnTo>
                      <a:pt x="260985" y="0"/>
                    </a:lnTo>
                    <a:lnTo>
                      <a:pt x="1291463" y="0"/>
                    </a:lnTo>
                    <a:lnTo>
                      <a:pt x="15525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sp>
            <p:nvSpPr>
              <p:cNvPr id="5018" name="object 24">
                <a:extLst>
                  <a:ext uri="{FF2B5EF4-FFF2-40B4-BE49-F238E27FC236}">
                    <a16:creationId xmlns:a16="http://schemas.microsoft.com/office/drawing/2014/main" id="{C642EC69-881D-C891-4490-F350234FBF6D}"/>
                  </a:ext>
                </a:extLst>
              </p:cNvPr>
              <p:cNvSpPr>
                <a:spLocks/>
              </p:cNvSpPr>
              <p:nvPr/>
            </p:nvSpPr>
            <p:spPr bwMode="auto">
              <a:xfrm>
                <a:off x="4986401" y="5024501"/>
                <a:ext cx="2085975" cy="371475"/>
              </a:xfrm>
              <a:custGeom>
                <a:avLst/>
                <a:gdLst>
                  <a:gd name="T0" fmla="*/ 1824863 w 2085975"/>
                  <a:gd name="T1" fmla="*/ 0 h 371475"/>
                  <a:gd name="T2" fmla="*/ 260985 w 2085975"/>
                  <a:gd name="T3" fmla="*/ 0 h 371475"/>
                  <a:gd name="T4" fmla="*/ 0 w 2085975"/>
                  <a:gd name="T5" fmla="*/ 371475 h 371475"/>
                  <a:gd name="T6" fmla="*/ 2085975 w 2085975"/>
                  <a:gd name="T7" fmla="*/ 371475 h 371475"/>
                  <a:gd name="T8" fmla="*/ 1824863 w 20859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5975" h="371475">
                    <a:moveTo>
                      <a:pt x="1824863" y="0"/>
                    </a:moveTo>
                    <a:lnTo>
                      <a:pt x="260985" y="0"/>
                    </a:lnTo>
                    <a:lnTo>
                      <a:pt x="0" y="371475"/>
                    </a:lnTo>
                    <a:lnTo>
                      <a:pt x="2085975" y="371475"/>
                    </a:lnTo>
                    <a:lnTo>
                      <a:pt x="1824863" y="0"/>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19" name="object 25">
                <a:extLst>
                  <a:ext uri="{FF2B5EF4-FFF2-40B4-BE49-F238E27FC236}">
                    <a16:creationId xmlns:a16="http://schemas.microsoft.com/office/drawing/2014/main" id="{71B49196-5A04-D269-D787-DDD13C3CCB0F}"/>
                  </a:ext>
                </a:extLst>
              </p:cNvPr>
              <p:cNvSpPr>
                <a:spLocks/>
              </p:cNvSpPr>
              <p:nvPr/>
            </p:nvSpPr>
            <p:spPr bwMode="auto">
              <a:xfrm>
                <a:off x="4986401" y="5024501"/>
                <a:ext cx="2085975" cy="371475"/>
              </a:xfrm>
              <a:custGeom>
                <a:avLst/>
                <a:gdLst>
                  <a:gd name="T0" fmla="*/ 0 w 2085975"/>
                  <a:gd name="T1" fmla="*/ 371475 h 371475"/>
                  <a:gd name="T2" fmla="*/ 260985 w 2085975"/>
                  <a:gd name="T3" fmla="*/ 0 h 371475"/>
                  <a:gd name="T4" fmla="*/ 1824863 w 2085975"/>
                  <a:gd name="T5" fmla="*/ 0 h 371475"/>
                  <a:gd name="T6" fmla="*/ 2085975 w 2085975"/>
                  <a:gd name="T7" fmla="*/ 371475 h 371475"/>
                  <a:gd name="T8" fmla="*/ 0 w 20859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5975" h="371475">
                    <a:moveTo>
                      <a:pt x="0" y="371475"/>
                    </a:moveTo>
                    <a:lnTo>
                      <a:pt x="260985" y="0"/>
                    </a:lnTo>
                    <a:lnTo>
                      <a:pt x="1824863" y="0"/>
                    </a:lnTo>
                    <a:lnTo>
                      <a:pt x="20859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sp>
            <p:nvSpPr>
              <p:cNvPr id="5020" name="object 26">
                <a:extLst>
                  <a:ext uri="{FF2B5EF4-FFF2-40B4-BE49-F238E27FC236}">
                    <a16:creationId xmlns:a16="http://schemas.microsoft.com/office/drawing/2014/main" id="{43DC8883-F00C-3821-638A-20960C60370E}"/>
                  </a:ext>
                </a:extLst>
              </p:cNvPr>
              <p:cNvSpPr>
                <a:spLocks/>
              </p:cNvSpPr>
              <p:nvPr/>
            </p:nvSpPr>
            <p:spPr bwMode="auto">
              <a:xfrm>
                <a:off x="4729226" y="5395976"/>
                <a:ext cx="2600325" cy="371475"/>
              </a:xfrm>
              <a:custGeom>
                <a:avLst/>
                <a:gdLst>
                  <a:gd name="T0" fmla="*/ 2339213 w 2600325"/>
                  <a:gd name="T1" fmla="*/ 0 h 371475"/>
                  <a:gd name="T2" fmla="*/ 260985 w 2600325"/>
                  <a:gd name="T3" fmla="*/ 0 h 371475"/>
                  <a:gd name="T4" fmla="*/ 0 w 2600325"/>
                  <a:gd name="T5" fmla="*/ 371411 h 371475"/>
                  <a:gd name="T6" fmla="*/ 2600325 w 2600325"/>
                  <a:gd name="T7" fmla="*/ 371411 h 371475"/>
                  <a:gd name="T8" fmla="*/ 2339213 w 260032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0325" h="371475">
                    <a:moveTo>
                      <a:pt x="2339213" y="0"/>
                    </a:moveTo>
                    <a:lnTo>
                      <a:pt x="260985" y="0"/>
                    </a:lnTo>
                    <a:lnTo>
                      <a:pt x="0" y="371411"/>
                    </a:lnTo>
                    <a:lnTo>
                      <a:pt x="2600325" y="371411"/>
                    </a:lnTo>
                    <a:lnTo>
                      <a:pt x="2339213" y="0"/>
                    </a:lnTo>
                    <a:close/>
                  </a:path>
                </a:pathLst>
              </a:custGeom>
              <a:solidFill>
                <a:srgbClr val="00AF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21" name="object 27">
                <a:extLst>
                  <a:ext uri="{FF2B5EF4-FFF2-40B4-BE49-F238E27FC236}">
                    <a16:creationId xmlns:a16="http://schemas.microsoft.com/office/drawing/2014/main" id="{C2E5386A-F772-5A4A-DD41-EB98056BC3E3}"/>
                  </a:ext>
                </a:extLst>
              </p:cNvPr>
              <p:cNvSpPr>
                <a:spLocks/>
              </p:cNvSpPr>
              <p:nvPr/>
            </p:nvSpPr>
            <p:spPr bwMode="auto">
              <a:xfrm>
                <a:off x="4729226" y="5395976"/>
                <a:ext cx="2600325" cy="371475"/>
              </a:xfrm>
              <a:custGeom>
                <a:avLst/>
                <a:gdLst>
                  <a:gd name="T0" fmla="*/ 0 w 2600325"/>
                  <a:gd name="T1" fmla="*/ 371411 h 371475"/>
                  <a:gd name="T2" fmla="*/ 260985 w 2600325"/>
                  <a:gd name="T3" fmla="*/ 0 h 371475"/>
                  <a:gd name="T4" fmla="*/ 2339213 w 2600325"/>
                  <a:gd name="T5" fmla="*/ 0 h 371475"/>
                  <a:gd name="T6" fmla="*/ 2600325 w 2600325"/>
                  <a:gd name="T7" fmla="*/ 371411 h 371475"/>
                  <a:gd name="T8" fmla="*/ 0 w 2600325"/>
                  <a:gd name="T9" fmla="*/ 371411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0325" h="371475">
                    <a:moveTo>
                      <a:pt x="0" y="371411"/>
                    </a:moveTo>
                    <a:lnTo>
                      <a:pt x="260985" y="0"/>
                    </a:lnTo>
                    <a:lnTo>
                      <a:pt x="2339213" y="0"/>
                    </a:lnTo>
                    <a:lnTo>
                      <a:pt x="2600325" y="371411"/>
                    </a:lnTo>
                    <a:lnTo>
                      <a:pt x="0" y="371411"/>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22" name="object 28">
              <a:extLst>
                <a:ext uri="{FF2B5EF4-FFF2-40B4-BE49-F238E27FC236}">
                  <a16:creationId xmlns:a16="http://schemas.microsoft.com/office/drawing/2014/main" id="{37DECFC2-8014-41DF-4165-5854EA985BDE}"/>
                </a:ext>
              </a:extLst>
            </p:cNvPr>
            <p:cNvSpPr txBox="1"/>
            <p:nvPr/>
          </p:nvSpPr>
          <p:spPr>
            <a:xfrm>
              <a:off x="4164806" y="3508773"/>
              <a:ext cx="714375" cy="732989"/>
            </a:xfrm>
            <a:prstGeom prst="rect">
              <a:avLst/>
            </a:prstGeom>
          </p:spPr>
          <p:txBody>
            <a:bodyPr lIns="0" tIns="11906" rIns="0" bIns="0">
              <a:spAutoFit/>
            </a:bodyPr>
            <a:lstStyle/>
            <a:p>
              <a:pPr algn="ctr">
                <a:lnSpc>
                  <a:spcPts val="821"/>
                </a:lnSpc>
                <a:spcBef>
                  <a:spcPts val="94"/>
                </a:spcBef>
                <a:defRPr/>
              </a:pPr>
              <a:r>
                <a:rPr sz="1100" b="1" spc="-8" dirty="0">
                  <a:solidFill>
                    <a:sysClr val="windowText" lastClr="000000"/>
                  </a:solidFill>
                </a:rPr>
                <a:t>Network/Host</a:t>
              </a:r>
              <a:endParaRPr sz="1100">
                <a:solidFill>
                  <a:sysClr val="windowText" lastClr="000000"/>
                </a:solidFill>
              </a:endParaRPr>
            </a:p>
            <a:p>
              <a:pPr marL="3334" algn="ctr">
                <a:lnSpc>
                  <a:spcPts val="821"/>
                </a:lnSpc>
                <a:defRPr/>
              </a:pPr>
              <a:r>
                <a:rPr sz="1100" b="1" spc="-8" dirty="0">
                  <a:solidFill>
                    <a:sysClr val="windowText" lastClr="000000"/>
                  </a:solidFill>
                </a:rPr>
                <a:t>Artifacts</a:t>
              </a:r>
              <a:endParaRPr sz="1100">
                <a:solidFill>
                  <a:sysClr val="windowText" lastClr="000000"/>
                </a:solidFill>
              </a:endParaRPr>
            </a:p>
            <a:p>
              <a:pPr>
                <a:spcBef>
                  <a:spcPts val="113"/>
                </a:spcBef>
                <a:defRPr/>
              </a:pPr>
              <a:endParaRPr sz="1100">
                <a:solidFill>
                  <a:sysClr val="windowText" lastClr="000000"/>
                </a:solidFill>
              </a:endParaRPr>
            </a:p>
            <a:p>
              <a:pPr algn="ctr">
                <a:defRPr/>
              </a:pPr>
              <a:r>
                <a:rPr sz="1100" b="1" dirty="0">
                  <a:solidFill>
                    <a:sysClr val="windowText" lastClr="000000"/>
                  </a:solidFill>
                </a:rPr>
                <a:t>Domain</a:t>
              </a:r>
              <a:r>
                <a:rPr sz="1100" b="1" spc="150" dirty="0">
                  <a:solidFill>
                    <a:sysClr val="windowText" lastClr="000000"/>
                  </a:solidFill>
                </a:rPr>
                <a:t> </a:t>
              </a:r>
              <a:r>
                <a:rPr sz="1100" b="1" spc="-8" dirty="0">
                  <a:solidFill>
                    <a:sysClr val="windowText" lastClr="000000"/>
                  </a:solidFill>
                </a:rPr>
                <a:t>Names</a:t>
              </a:r>
              <a:endParaRPr sz="1100">
                <a:solidFill>
                  <a:sysClr val="windowText" lastClr="000000"/>
                </a:solidFill>
              </a:endParaRPr>
            </a:p>
            <a:p>
              <a:pPr>
                <a:spcBef>
                  <a:spcPts val="518"/>
                </a:spcBef>
                <a:defRPr/>
              </a:pPr>
              <a:endParaRPr sz="1100">
                <a:solidFill>
                  <a:sysClr val="windowText" lastClr="000000"/>
                </a:solidFill>
              </a:endParaRPr>
            </a:p>
            <a:p>
              <a:pPr marL="1905" algn="ctr">
                <a:defRPr/>
              </a:pPr>
              <a:r>
                <a:rPr sz="1100" b="1" dirty="0">
                  <a:solidFill>
                    <a:sysClr val="windowText" lastClr="000000"/>
                  </a:solidFill>
                </a:rPr>
                <a:t>IP</a:t>
              </a:r>
              <a:r>
                <a:rPr sz="1100" b="1" spc="19" dirty="0">
                  <a:solidFill>
                    <a:sysClr val="windowText" lastClr="000000"/>
                  </a:solidFill>
                </a:rPr>
                <a:t> </a:t>
              </a:r>
              <a:r>
                <a:rPr sz="1100" b="1" spc="-8" dirty="0">
                  <a:solidFill>
                    <a:sysClr val="windowText" lastClr="000000"/>
                  </a:solidFill>
                </a:rPr>
                <a:t>Addresses</a:t>
              </a:r>
              <a:endParaRPr sz="1100">
                <a:solidFill>
                  <a:sysClr val="windowText" lastClr="000000"/>
                </a:solidFill>
              </a:endParaRPr>
            </a:p>
          </p:txBody>
        </p:sp>
        <p:grpSp>
          <p:nvGrpSpPr>
            <p:cNvPr id="5023" name="object 29">
              <a:extLst>
                <a:ext uri="{FF2B5EF4-FFF2-40B4-BE49-F238E27FC236}">
                  <a16:creationId xmlns:a16="http://schemas.microsoft.com/office/drawing/2014/main" id="{AA87D386-0737-060E-CBD3-681973F1A52E}"/>
                </a:ext>
              </a:extLst>
            </p:cNvPr>
            <p:cNvGrpSpPr>
              <a:grpSpLocks/>
            </p:cNvGrpSpPr>
            <p:nvPr/>
          </p:nvGrpSpPr>
          <p:grpSpPr bwMode="auto">
            <a:xfrm>
              <a:off x="3344467" y="4316017"/>
              <a:ext cx="2355056" cy="297656"/>
              <a:chOff x="4459351" y="5754687"/>
              <a:chExt cx="3140075" cy="396875"/>
            </a:xfrm>
          </p:grpSpPr>
          <p:sp>
            <p:nvSpPr>
              <p:cNvPr id="5024" name="object 30">
                <a:extLst>
                  <a:ext uri="{FF2B5EF4-FFF2-40B4-BE49-F238E27FC236}">
                    <a16:creationId xmlns:a16="http://schemas.microsoft.com/office/drawing/2014/main" id="{32C0C6CF-6848-95AB-902C-F9B31134E9F8}"/>
                  </a:ext>
                </a:extLst>
              </p:cNvPr>
              <p:cNvSpPr>
                <a:spLocks/>
              </p:cNvSpPr>
              <p:nvPr/>
            </p:nvSpPr>
            <p:spPr bwMode="auto">
              <a:xfrm>
                <a:off x="4472051" y="5767387"/>
                <a:ext cx="3114675" cy="371475"/>
              </a:xfrm>
              <a:custGeom>
                <a:avLst/>
                <a:gdLst>
                  <a:gd name="T0" fmla="*/ 2853563 w 3114675"/>
                  <a:gd name="T1" fmla="*/ 0 h 371475"/>
                  <a:gd name="T2" fmla="*/ 260985 w 3114675"/>
                  <a:gd name="T3" fmla="*/ 0 h 371475"/>
                  <a:gd name="T4" fmla="*/ 0 w 3114675"/>
                  <a:gd name="T5" fmla="*/ 371475 h 371475"/>
                  <a:gd name="T6" fmla="*/ 3114675 w 3114675"/>
                  <a:gd name="T7" fmla="*/ 371475 h 371475"/>
                  <a:gd name="T8" fmla="*/ 2853563 w 31146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14675" h="371475">
                    <a:moveTo>
                      <a:pt x="2853563" y="0"/>
                    </a:moveTo>
                    <a:lnTo>
                      <a:pt x="260985" y="0"/>
                    </a:lnTo>
                    <a:lnTo>
                      <a:pt x="0" y="371475"/>
                    </a:lnTo>
                    <a:lnTo>
                      <a:pt x="3114675" y="371475"/>
                    </a:lnTo>
                    <a:lnTo>
                      <a:pt x="2853563" y="0"/>
                    </a:lnTo>
                    <a:close/>
                  </a:path>
                </a:pathLst>
              </a:custGeom>
              <a:solidFill>
                <a:srgbClr val="00AFE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25" name="object 31">
                <a:extLst>
                  <a:ext uri="{FF2B5EF4-FFF2-40B4-BE49-F238E27FC236}">
                    <a16:creationId xmlns:a16="http://schemas.microsoft.com/office/drawing/2014/main" id="{85BE942C-5B35-AF27-AE7E-B18F5864258B}"/>
                  </a:ext>
                </a:extLst>
              </p:cNvPr>
              <p:cNvSpPr>
                <a:spLocks/>
              </p:cNvSpPr>
              <p:nvPr/>
            </p:nvSpPr>
            <p:spPr bwMode="auto">
              <a:xfrm>
                <a:off x="4472051" y="5767387"/>
                <a:ext cx="3114675" cy="371475"/>
              </a:xfrm>
              <a:custGeom>
                <a:avLst/>
                <a:gdLst>
                  <a:gd name="T0" fmla="*/ 0 w 3114675"/>
                  <a:gd name="T1" fmla="*/ 371475 h 371475"/>
                  <a:gd name="T2" fmla="*/ 260985 w 3114675"/>
                  <a:gd name="T3" fmla="*/ 0 h 371475"/>
                  <a:gd name="T4" fmla="*/ 2853563 w 3114675"/>
                  <a:gd name="T5" fmla="*/ 0 h 371475"/>
                  <a:gd name="T6" fmla="*/ 3114675 w 3114675"/>
                  <a:gd name="T7" fmla="*/ 371475 h 371475"/>
                  <a:gd name="T8" fmla="*/ 0 w 31146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14675" h="371475">
                    <a:moveTo>
                      <a:pt x="0" y="371475"/>
                    </a:moveTo>
                    <a:lnTo>
                      <a:pt x="260985" y="0"/>
                    </a:lnTo>
                    <a:lnTo>
                      <a:pt x="2853563" y="0"/>
                    </a:lnTo>
                    <a:lnTo>
                      <a:pt x="31146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26" name="object 32">
              <a:extLst>
                <a:ext uri="{FF2B5EF4-FFF2-40B4-BE49-F238E27FC236}">
                  <a16:creationId xmlns:a16="http://schemas.microsoft.com/office/drawing/2014/main" id="{AEA9E871-F228-1CF9-772D-C0802E219F5B}"/>
                </a:ext>
              </a:extLst>
            </p:cNvPr>
            <p:cNvSpPr txBox="1"/>
            <p:nvPr/>
          </p:nvSpPr>
          <p:spPr>
            <a:xfrm>
              <a:off x="4225529" y="4392216"/>
              <a:ext cx="591740" cy="121732"/>
            </a:xfrm>
            <a:prstGeom prst="rect">
              <a:avLst/>
            </a:prstGeom>
          </p:spPr>
          <p:txBody>
            <a:bodyPr lIns="0" tIns="11906" rIns="0" bIns="0">
              <a:spAutoFit/>
            </a:bodyPr>
            <a:lstStyle/>
            <a:p>
              <a:pPr marL="9525">
                <a:spcBef>
                  <a:spcPts val="94"/>
                </a:spcBef>
                <a:defRPr/>
              </a:pPr>
              <a:r>
                <a:rPr sz="1100" b="1" dirty="0">
                  <a:solidFill>
                    <a:sysClr val="windowText" lastClr="000000"/>
                  </a:solidFill>
                </a:rPr>
                <a:t>Hash</a:t>
              </a:r>
              <a:r>
                <a:rPr sz="1100" b="1" spc="75" dirty="0">
                  <a:solidFill>
                    <a:sysClr val="windowText" lastClr="000000"/>
                  </a:solidFill>
                </a:rPr>
                <a:t> </a:t>
              </a:r>
              <a:r>
                <a:rPr sz="1100" b="1" spc="-8" dirty="0">
                  <a:solidFill>
                    <a:sysClr val="windowText" lastClr="000000"/>
                  </a:solidFill>
                </a:rPr>
                <a:t>Values</a:t>
              </a:r>
              <a:endParaRPr sz="1100">
                <a:solidFill>
                  <a:sysClr val="windowText" lastClr="000000"/>
                </a:solidFill>
              </a:endParaRPr>
            </a:p>
          </p:txBody>
        </p:sp>
        <p:grpSp>
          <p:nvGrpSpPr>
            <p:cNvPr id="5027" name="object 33">
              <a:extLst>
                <a:ext uri="{FF2B5EF4-FFF2-40B4-BE49-F238E27FC236}">
                  <a16:creationId xmlns:a16="http://schemas.microsoft.com/office/drawing/2014/main" id="{481A2A99-BAD6-FF35-BA5A-9E82EC83FE6F}"/>
                </a:ext>
              </a:extLst>
            </p:cNvPr>
            <p:cNvGrpSpPr>
              <a:grpSpLocks/>
            </p:cNvGrpSpPr>
            <p:nvPr/>
          </p:nvGrpSpPr>
          <p:grpSpPr bwMode="auto">
            <a:xfrm>
              <a:off x="4151710" y="1387079"/>
              <a:ext cx="740569" cy="533400"/>
              <a:chOff x="5535676" y="1849501"/>
              <a:chExt cx="987425" cy="711200"/>
            </a:xfrm>
          </p:grpSpPr>
          <p:sp>
            <p:nvSpPr>
              <p:cNvPr id="5028" name="object 34">
                <a:extLst>
                  <a:ext uri="{FF2B5EF4-FFF2-40B4-BE49-F238E27FC236}">
                    <a16:creationId xmlns:a16="http://schemas.microsoft.com/office/drawing/2014/main" id="{6450048D-547A-ED29-65A0-D2343D578B23}"/>
                  </a:ext>
                </a:extLst>
              </p:cNvPr>
              <p:cNvSpPr>
                <a:spLocks/>
              </p:cNvSpPr>
              <p:nvPr/>
            </p:nvSpPr>
            <p:spPr bwMode="auto">
              <a:xfrm>
                <a:off x="5548376" y="1862201"/>
                <a:ext cx="962025" cy="685800"/>
              </a:xfrm>
              <a:custGeom>
                <a:avLst/>
                <a:gdLst>
                  <a:gd name="T0" fmla="*/ 480949 w 962025"/>
                  <a:gd name="T1" fmla="*/ 0 h 685800"/>
                  <a:gd name="T2" fmla="*/ 0 w 962025"/>
                  <a:gd name="T3" fmla="*/ 685800 h 685800"/>
                  <a:gd name="T4" fmla="*/ 962025 w 962025"/>
                  <a:gd name="T5" fmla="*/ 685800 h 685800"/>
                  <a:gd name="T6" fmla="*/ 480949 w 962025"/>
                  <a:gd name="T7" fmla="*/ 0 h 685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025" h="685800">
                    <a:moveTo>
                      <a:pt x="480949" y="0"/>
                    </a:moveTo>
                    <a:lnTo>
                      <a:pt x="0" y="685800"/>
                    </a:lnTo>
                    <a:lnTo>
                      <a:pt x="962025" y="685800"/>
                    </a:lnTo>
                    <a:lnTo>
                      <a:pt x="480949" y="0"/>
                    </a:lnTo>
                    <a:close/>
                  </a:path>
                </a:pathLst>
              </a:custGeom>
              <a:solidFill>
                <a:srgbClr val="6F2F9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29" name="object 35">
                <a:extLst>
                  <a:ext uri="{FF2B5EF4-FFF2-40B4-BE49-F238E27FC236}">
                    <a16:creationId xmlns:a16="http://schemas.microsoft.com/office/drawing/2014/main" id="{DCB8D232-4FE4-4AED-E7E6-14C36CFBFAA3}"/>
                  </a:ext>
                </a:extLst>
              </p:cNvPr>
              <p:cNvSpPr>
                <a:spLocks/>
              </p:cNvSpPr>
              <p:nvPr/>
            </p:nvSpPr>
            <p:spPr bwMode="auto">
              <a:xfrm>
                <a:off x="5548376" y="1862201"/>
                <a:ext cx="962025" cy="685800"/>
              </a:xfrm>
              <a:custGeom>
                <a:avLst/>
                <a:gdLst>
                  <a:gd name="T0" fmla="*/ 0 w 962025"/>
                  <a:gd name="T1" fmla="*/ 685800 h 685800"/>
                  <a:gd name="T2" fmla="*/ 480949 w 962025"/>
                  <a:gd name="T3" fmla="*/ 0 h 685800"/>
                  <a:gd name="T4" fmla="*/ 962025 w 962025"/>
                  <a:gd name="T5" fmla="*/ 685800 h 685800"/>
                  <a:gd name="T6" fmla="*/ 0 w 962025"/>
                  <a:gd name="T7" fmla="*/ 685800 h 685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025" h="685800">
                    <a:moveTo>
                      <a:pt x="0" y="685800"/>
                    </a:moveTo>
                    <a:lnTo>
                      <a:pt x="480949" y="0"/>
                    </a:lnTo>
                    <a:lnTo>
                      <a:pt x="962025" y="685800"/>
                    </a:lnTo>
                    <a:lnTo>
                      <a:pt x="0" y="685800"/>
                    </a:lnTo>
                    <a:close/>
                  </a:path>
                </a:pathLst>
              </a:custGeom>
              <a:noFill/>
              <a:ln w="25400">
                <a:solidFill>
                  <a:srgbClr val="BEBEB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30" name="object 36">
              <a:extLst>
                <a:ext uri="{FF2B5EF4-FFF2-40B4-BE49-F238E27FC236}">
                  <a16:creationId xmlns:a16="http://schemas.microsoft.com/office/drawing/2014/main" id="{7867ACC0-6515-D97E-7DF4-C0AAD91353A5}"/>
                </a:ext>
              </a:extLst>
            </p:cNvPr>
            <p:cNvSpPr txBox="1">
              <a:spLocks noChangeArrowheads="1"/>
            </p:cNvSpPr>
            <p:nvPr/>
          </p:nvSpPr>
          <p:spPr bwMode="auto">
            <a:xfrm>
              <a:off x="4183857" y="1549004"/>
              <a:ext cx="665560" cy="318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195" rIns="0" bIns="0">
              <a:spAutoFit/>
            </a:bodyPr>
            <a:lstStyle>
              <a:lvl1pPr marL="117475" indent="-1047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ts val="1069"/>
                </a:lnSpc>
                <a:spcBef>
                  <a:spcPts val="281"/>
                </a:spcBef>
              </a:pPr>
              <a:r>
                <a:rPr lang="en-AR" altLang="en-AR" sz="1700" b="1">
                  <a:solidFill>
                    <a:srgbClr val="FFFFFF"/>
                  </a:solidFill>
                  <a:cs typeface="Arial" panose="020B0604020202020204" pitchFamily="34" charset="0"/>
                </a:rPr>
                <a:t>Attributed Groups</a:t>
              </a:r>
              <a:endParaRPr lang="en-AR" altLang="en-AR" sz="1700">
                <a:solidFill>
                  <a:srgbClr val="000000"/>
                </a:solidFill>
                <a:cs typeface="Arial" panose="020B0604020202020204" pitchFamily="34" charset="0"/>
              </a:endParaRPr>
            </a:p>
          </p:txBody>
        </p:sp>
        <p:grpSp>
          <p:nvGrpSpPr>
            <p:cNvPr id="5031" name="object 37">
              <a:extLst>
                <a:ext uri="{FF2B5EF4-FFF2-40B4-BE49-F238E27FC236}">
                  <a16:creationId xmlns:a16="http://schemas.microsoft.com/office/drawing/2014/main" id="{5EA5E488-EB41-A31E-AB38-210BF9D20BE0}"/>
                </a:ext>
              </a:extLst>
            </p:cNvPr>
            <p:cNvGrpSpPr>
              <a:grpSpLocks/>
            </p:cNvGrpSpPr>
            <p:nvPr/>
          </p:nvGrpSpPr>
          <p:grpSpPr bwMode="auto">
            <a:xfrm>
              <a:off x="3794523" y="1901429"/>
              <a:ext cx="1454944" cy="526256"/>
              <a:chOff x="5059426" y="2535301"/>
              <a:chExt cx="1939925" cy="701675"/>
            </a:xfrm>
          </p:grpSpPr>
          <p:sp>
            <p:nvSpPr>
              <p:cNvPr id="5032" name="object 38">
                <a:extLst>
                  <a:ext uri="{FF2B5EF4-FFF2-40B4-BE49-F238E27FC236}">
                    <a16:creationId xmlns:a16="http://schemas.microsoft.com/office/drawing/2014/main" id="{17911621-4390-3457-7305-7C63518FBB29}"/>
                  </a:ext>
                </a:extLst>
              </p:cNvPr>
              <p:cNvSpPr>
                <a:spLocks/>
              </p:cNvSpPr>
              <p:nvPr/>
            </p:nvSpPr>
            <p:spPr bwMode="auto">
              <a:xfrm>
                <a:off x="5072126" y="2548001"/>
                <a:ext cx="1914525" cy="676275"/>
              </a:xfrm>
              <a:custGeom>
                <a:avLst/>
                <a:gdLst>
                  <a:gd name="T0" fmla="*/ 1439164 w 1914525"/>
                  <a:gd name="T1" fmla="*/ 0 h 676275"/>
                  <a:gd name="T2" fmla="*/ 475234 w 1914525"/>
                  <a:gd name="T3" fmla="*/ 0 h 676275"/>
                  <a:gd name="T4" fmla="*/ 0 w 1914525"/>
                  <a:gd name="T5" fmla="*/ 676275 h 676275"/>
                  <a:gd name="T6" fmla="*/ 1914525 w 1914525"/>
                  <a:gd name="T7" fmla="*/ 676275 h 676275"/>
                  <a:gd name="T8" fmla="*/ 1439164 w 1914525"/>
                  <a:gd name="T9" fmla="*/ 0 h 6762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525" h="676275">
                    <a:moveTo>
                      <a:pt x="1439164" y="0"/>
                    </a:moveTo>
                    <a:lnTo>
                      <a:pt x="475234" y="0"/>
                    </a:lnTo>
                    <a:lnTo>
                      <a:pt x="0" y="676275"/>
                    </a:lnTo>
                    <a:lnTo>
                      <a:pt x="1914525" y="676275"/>
                    </a:lnTo>
                    <a:lnTo>
                      <a:pt x="1439164" y="0"/>
                    </a:lnTo>
                    <a:close/>
                  </a:path>
                </a:pathLst>
              </a:custGeom>
              <a:solidFill>
                <a:srgbClr val="6F2F9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33" name="object 39">
                <a:extLst>
                  <a:ext uri="{FF2B5EF4-FFF2-40B4-BE49-F238E27FC236}">
                    <a16:creationId xmlns:a16="http://schemas.microsoft.com/office/drawing/2014/main" id="{A8701637-125B-9707-001C-F63E7D89555A}"/>
                  </a:ext>
                </a:extLst>
              </p:cNvPr>
              <p:cNvSpPr>
                <a:spLocks/>
              </p:cNvSpPr>
              <p:nvPr/>
            </p:nvSpPr>
            <p:spPr bwMode="auto">
              <a:xfrm>
                <a:off x="5072126" y="2548001"/>
                <a:ext cx="1914525" cy="676275"/>
              </a:xfrm>
              <a:custGeom>
                <a:avLst/>
                <a:gdLst>
                  <a:gd name="T0" fmla="*/ 0 w 1914525"/>
                  <a:gd name="T1" fmla="*/ 676275 h 676275"/>
                  <a:gd name="T2" fmla="*/ 475234 w 1914525"/>
                  <a:gd name="T3" fmla="*/ 0 h 676275"/>
                  <a:gd name="T4" fmla="*/ 1439164 w 1914525"/>
                  <a:gd name="T5" fmla="*/ 0 h 676275"/>
                  <a:gd name="T6" fmla="*/ 1914525 w 1914525"/>
                  <a:gd name="T7" fmla="*/ 676275 h 676275"/>
                  <a:gd name="T8" fmla="*/ 0 w 1914525"/>
                  <a:gd name="T9" fmla="*/ 676275 h 6762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525" h="676275">
                    <a:moveTo>
                      <a:pt x="0" y="676275"/>
                    </a:moveTo>
                    <a:lnTo>
                      <a:pt x="475234" y="0"/>
                    </a:lnTo>
                    <a:lnTo>
                      <a:pt x="1439164" y="0"/>
                    </a:lnTo>
                    <a:lnTo>
                      <a:pt x="1914525" y="676275"/>
                    </a:lnTo>
                    <a:lnTo>
                      <a:pt x="0" y="676275"/>
                    </a:lnTo>
                    <a:close/>
                  </a:path>
                </a:pathLst>
              </a:custGeom>
              <a:noFill/>
              <a:ln w="25400">
                <a:solidFill>
                  <a:srgbClr val="BEBEB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34" name="object 40">
              <a:extLst>
                <a:ext uri="{FF2B5EF4-FFF2-40B4-BE49-F238E27FC236}">
                  <a16:creationId xmlns:a16="http://schemas.microsoft.com/office/drawing/2014/main" id="{E8E7AF9B-21DF-13BB-46B7-CAD8B965DA56}"/>
                </a:ext>
              </a:extLst>
            </p:cNvPr>
            <p:cNvSpPr txBox="1">
              <a:spLocks noChangeArrowheads="1"/>
            </p:cNvSpPr>
            <p:nvPr/>
          </p:nvSpPr>
          <p:spPr bwMode="auto">
            <a:xfrm>
              <a:off x="4266010" y="1985963"/>
              <a:ext cx="515540" cy="31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0956"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ts val="1125"/>
                </a:lnSpc>
                <a:spcBef>
                  <a:spcPts val="244"/>
                </a:spcBef>
              </a:pPr>
              <a:r>
                <a:rPr lang="en-AR" altLang="en-AR" sz="1700" b="1">
                  <a:solidFill>
                    <a:srgbClr val="FFFFFF"/>
                  </a:solidFill>
                  <a:cs typeface="Arial" panose="020B0604020202020204" pitchFamily="34" charset="0"/>
                </a:rPr>
                <a:t>Activity Groups</a:t>
              </a:r>
              <a:endParaRPr lang="en-AR" altLang="en-AR" sz="1700">
                <a:solidFill>
                  <a:srgbClr val="000000"/>
                </a:solidFill>
                <a:cs typeface="Arial" panose="020B0604020202020204" pitchFamily="34" charset="0"/>
              </a:endParaRPr>
            </a:p>
          </p:txBody>
        </p:sp>
        <p:grpSp>
          <p:nvGrpSpPr>
            <p:cNvPr id="5035" name="object 41">
              <a:extLst>
                <a:ext uri="{FF2B5EF4-FFF2-40B4-BE49-F238E27FC236}">
                  <a16:creationId xmlns:a16="http://schemas.microsoft.com/office/drawing/2014/main" id="{4AB51D20-A1A6-77E5-A02F-885FA1A8A8D2}"/>
                </a:ext>
              </a:extLst>
            </p:cNvPr>
            <p:cNvGrpSpPr>
              <a:grpSpLocks/>
            </p:cNvGrpSpPr>
            <p:nvPr/>
          </p:nvGrpSpPr>
          <p:grpSpPr bwMode="auto">
            <a:xfrm>
              <a:off x="3437335" y="2408635"/>
              <a:ext cx="2176463" cy="533400"/>
              <a:chOff x="4583176" y="3211576"/>
              <a:chExt cx="2901950" cy="711200"/>
            </a:xfrm>
          </p:grpSpPr>
          <p:sp>
            <p:nvSpPr>
              <p:cNvPr id="5036" name="object 42">
                <a:extLst>
                  <a:ext uri="{FF2B5EF4-FFF2-40B4-BE49-F238E27FC236}">
                    <a16:creationId xmlns:a16="http://schemas.microsoft.com/office/drawing/2014/main" id="{1693C596-67B3-B1E1-9362-D33BEBB8953F}"/>
                  </a:ext>
                </a:extLst>
              </p:cNvPr>
              <p:cNvSpPr>
                <a:spLocks/>
              </p:cNvSpPr>
              <p:nvPr/>
            </p:nvSpPr>
            <p:spPr bwMode="auto">
              <a:xfrm>
                <a:off x="4595876" y="3224276"/>
                <a:ext cx="2876550" cy="685800"/>
              </a:xfrm>
              <a:custGeom>
                <a:avLst/>
                <a:gdLst>
                  <a:gd name="T0" fmla="*/ 2394584 w 2876550"/>
                  <a:gd name="T1" fmla="*/ 0 h 685800"/>
                  <a:gd name="T2" fmla="*/ 481838 w 2876550"/>
                  <a:gd name="T3" fmla="*/ 0 h 685800"/>
                  <a:gd name="T4" fmla="*/ 0 w 2876550"/>
                  <a:gd name="T5" fmla="*/ 685800 h 685800"/>
                  <a:gd name="T6" fmla="*/ 2876550 w 2876550"/>
                  <a:gd name="T7" fmla="*/ 685800 h 685800"/>
                  <a:gd name="T8" fmla="*/ 2394584 w 2876550"/>
                  <a:gd name="T9" fmla="*/ 0 h 68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6550" h="685800">
                    <a:moveTo>
                      <a:pt x="2394584" y="0"/>
                    </a:moveTo>
                    <a:lnTo>
                      <a:pt x="481838" y="0"/>
                    </a:lnTo>
                    <a:lnTo>
                      <a:pt x="0" y="685800"/>
                    </a:lnTo>
                    <a:lnTo>
                      <a:pt x="2876550" y="685800"/>
                    </a:lnTo>
                    <a:lnTo>
                      <a:pt x="2394584" y="0"/>
                    </a:lnTo>
                    <a:close/>
                  </a:path>
                </a:pathLst>
              </a:custGeom>
              <a:solidFill>
                <a:srgbClr val="6F2F9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37" name="object 43">
                <a:extLst>
                  <a:ext uri="{FF2B5EF4-FFF2-40B4-BE49-F238E27FC236}">
                    <a16:creationId xmlns:a16="http://schemas.microsoft.com/office/drawing/2014/main" id="{74D6761A-EFBE-08A9-692B-509091FB698B}"/>
                  </a:ext>
                </a:extLst>
              </p:cNvPr>
              <p:cNvSpPr>
                <a:spLocks/>
              </p:cNvSpPr>
              <p:nvPr/>
            </p:nvSpPr>
            <p:spPr bwMode="auto">
              <a:xfrm>
                <a:off x="4595876" y="3224276"/>
                <a:ext cx="2876550" cy="685800"/>
              </a:xfrm>
              <a:custGeom>
                <a:avLst/>
                <a:gdLst>
                  <a:gd name="T0" fmla="*/ 0 w 2876550"/>
                  <a:gd name="T1" fmla="*/ 685800 h 685800"/>
                  <a:gd name="T2" fmla="*/ 481838 w 2876550"/>
                  <a:gd name="T3" fmla="*/ 0 h 685800"/>
                  <a:gd name="T4" fmla="*/ 2394584 w 2876550"/>
                  <a:gd name="T5" fmla="*/ 0 h 685800"/>
                  <a:gd name="T6" fmla="*/ 2876550 w 2876550"/>
                  <a:gd name="T7" fmla="*/ 685800 h 685800"/>
                  <a:gd name="T8" fmla="*/ 0 w 2876550"/>
                  <a:gd name="T9" fmla="*/ 685800 h 68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6550" h="685800">
                    <a:moveTo>
                      <a:pt x="0" y="685800"/>
                    </a:moveTo>
                    <a:lnTo>
                      <a:pt x="481838" y="0"/>
                    </a:lnTo>
                    <a:lnTo>
                      <a:pt x="2394584" y="0"/>
                    </a:lnTo>
                    <a:lnTo>
                      <a:pt x="2876550" y="685800"/>
                    </a:lnTo>
                    <a:lnTo>
                      <a:pt x="0" y="685800"/>
                    </a:lnTo>
                    <a:close/>
                  </a:path>
                </a:pathLst>
              </a:custGeom>
              <a:noFill/>
              <a:ln w="25400">
                <a:solidFill>
                  <a:srgbClr val="BEBEB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38" name="object 44">
              <a:extLst>
                <a:ext uri="{FF2B5EF4-FFF2-40B4-BE49-F238E27FC236}">
                  <a16:creationId xmlns:a16="http://schemas.microsoft.com/office/drawing/2014/main" id="{B051150D-EDCD-74CD-8CF9-711E6DE965EA}"/>
                </a:ext>
              </a:extLst>
            </p:cNvPr>
            <p:cNvSpPr txBox="1"/>
            <p:nvPr/>
          </p:nvSpPr>
          <p:spPr>
            <a:xfrm>
              <a:off x="4138613" y="2568179"/>
              <a:ext cx="759619" cy="173605"/>
            </a:xfrm>
            <a:prstGeom prst="rect">
              <a:avLst/>
            </a:prstGeom>
          </p:spPr>
          <p:txBody>
            <a:bodyPr lIns="0" tIns="11906" rIns="0" bIns="0">
              <a:spAutoFit/>
            </a:bodyPr>
            <a:lstStyle/>
            <a:p>
              <a:pPr marL="9525">
                <a:spcBef>
                  <a:spcPts val="94"/>
                </a:spcBef>
                <a:defRPr/>
              </a:pPr>
              <a:r>
                <a:rPr sz="1700" b="1" spc="-8" dirty="0">
                  <a:solidFill>
                    <a:srgbClr val="FFFFFF"/>
                  </a:solidFill>
                </a:rPr>
                <a:t>Campaigns</a:t>
              </a:r>
              <a:endParaRPr sz="1700">
                <a:solidFill>
                  <a:sysClr val="windowText" lastClr="000000"/>
                </a:solidFill>
              </a:endParaRPr>
            </a:p>
          </p:txBody>
        </p:sp>
        <p:grpSp>
          <p:nvGrpSpPr>
            <p:cNvPr id="5039" name="object 46">
              <a:extLst>
                <a:ext uri="{FF2B5EF4-FFF2-40B4-BE49-F238E27FC236}">
                  <a16:creationId xmlns:a16="http://schemas.microsoft.com/office/drawing/2014/main" id="{2FA2536F-B61D-4361-571D-0559EABFD587}"/>
                </a:ext>
              </a:extLst>
            </p:cNvPr>
            <p:cNvGrpSpPr>
              <a:grpSpLocks/>
            </p:cNvGrpSpPr>
            <p:nvPr/>
          </p:nvGrpSpPr>
          <p:grpSpPr bwMode="auto">
            <a:xfrm>
              <a:off x="801291" y="2944416"/>
              <a:ext cx="1047750" cy="990600"/>
              <a:chOff x="1068387" y="3925951"/>
              <a:chExt cx="1397635" cy="1320800"/>
            </a:xfrm>
          </p:grpSpPr>
          <p:sp>
            <p:nvSpPr>
              <p:cNvPr id="5040" name="object 47">
                <a:extLst>
                  <a:ext uri="{FF2B5EF4-FFF2-40B4-BE49-F238E27FC236}">
                    <a16:creationId xmlns:a16="http://schemas.microsoft.com/office/drawing/2014/main" id="{75E9F2EE-AA1E-FFFC-1177-811AC3CCC752}"/>
                  </a:ext>
                </a:extLst>
              </p:cNvPr>
              <p:cNvSpPr>
                <a:spLocks/>
              </p:cNvSpPr>
              <p:nvPr/>
            </p:nvSpPr>
            <p:spPr bwMode="auto">
              <a:xfrm>
                <a:off x="1081087" y="3938651"/>
                <a:ext cx="1372235" cy="1295400"/>
              </a:xfrm>
              <a:custGeom>
                <a:avLst/>
                <a:gdLst>
                  <a:gd name="T0" fmla="*/ 636876 w 1372235"/>
                  <a:gd name="T1" fmla="*/ 1626 h 1295400"/>
                  <a:gd name="T2" fmla="*/ 541808 w 1372235"/>
                  <a:gd name="T3" fmla="*/ 14305 h 1295400"/>
                  <a:gd name="T4" fmla="*/ 451391 w 1372235"/>
                  <a:gd name="T5" fmla="*/ 38824 h 1295400"/>
                  <a:gd name="T6" fmla="*/ 366552 w 1372235"/>
                  <a:gd name="T7" fmla="*/ 74307 h 1295400"/>
                  <a:gd name="T8" fmla="*/ 288219 w 1372235"/>
                  <a:gd name="T9" fmla="*/ 119877 h 1295400"/>
                  <a:gd name="T10" fmla="*/ 217320 w 1372235"/>
                  <a:gd name="T11" fmla="*/ 174658 h 1295400"/>
                  <a:gd name="T12" fmla="*/ 154783 w 1372235"/>
                  <a:gd name="T13" fmla="*/ 237774 h 1295400"/>
                  <a:gd name="T14" fmla="*/ 101535 w 1372235"/>
                  <a:gd name="T15" fmla="*/ 308347 h 1295400"/>
                  <a:gd name="T16" fmla="*/ 58505 w 1372235"/>
                  <a:gd name="T17" fmla="*/ 385503 h 1295400"/>
                  <a:gd name="T18" fmla="*/ 26621 w 1372235"/>
                  <a:gd name="T19" fmla="*/ 468365 h 1295400"/>
                  <a:gd name="T20" fmla="*/ 6809 w 1372235"/>
                  <a:gd name="T21" fmla="*/ 556056 h 1295400"/>
                  <a:gd name="T22" fmla="*/ 0 w 1372235"/>
                  <a:gd name="T23" fmla="*/ 647700 h 1295400"/>
                  <a:gd name="T24" fmla="*/ 6809 w 1372235"/>
                  <a:gd name="T25" fmla="*/ 739316 h 1295400"/>
                  <a:gd name="T26" fmla="*/ 26621 w 1372235"/>
                  <a:gd name="T27" fmla="*/ 826989 h 1295400"/>
                  <a:gd name="T28" fmla="*/ 58505 w 1372235"/>
                  <a:gd name="T29" fmla="*/ 909842 h 1295400"/>
                  <a:gd name="T30" fmla="*/ 101535 w 1372235"/>
                  <a:gd name="T31" fmla="*/ 986995 h 1295400"/>
                  <a:gd name="T32" fmla="*/ 154783 w 1372235"/>
                  <a:gd name="T33" fmla="*/ 1057572 h 1295400"/>
                  <a:gd name="T34" fmla="*/ 217320 w 1372235"/>
                  <a:gd name="T35" fmla="*/ 1120695 h 1295400"/>
                  <a:gd name="T36" fmla="*/ 288219 w 1372235"/>
                  <a:gd name="T37" fmla="*/ 1175486 h 1295400"/>
                  <a:gd name="T38" fmla="*/ 366552 w 1372235"/>
                  <a:gd name="T39" fmla="*/ 1221067 h 1295400"/>
                  <a:gd name="T40" fmla="*/ 451391 w 1372235"/>
                  <a:gd name="T41" fmla="*/ 1256560 h 1295400"/>
                  <a:gd name="T42" fmla="*/ 541808 w 1372235"/>
                  <a:gd name="T43" fmla="*/ 1281088 h 1295400"/>
                  <a:gd name="T44" fmla="*/ 636876 w 1372235"/>
                  <a:gd name="T45" fmla="*/ 1293773 h 1295400"/>
                  <a:gd name="T46" fmla="*/ 734835 w 1372235"/>
                  <a:gd name="T47" fmla="*/ 1293773 h 1295400"/>
                  <a:gd name="T48" fmla="*/ 829877 w 1372235"/>
                  <a:gd name="T49" fmla="*/ 1281088 h 1295400"/>
                  <a:gd name="T50" fmla="*/ 920276 w 1372235"/>
                  <a:gd name="T51" fmla="*/ 1256560 h 1295400"/>
                  <a:gd name="T52" fmla="*/ 1005103 w 1372235"/>
                  <a:gd name="T53" fmla="*/ 1221067 h 1295400"/>
                  <a:gd name="T54" fmla="*/ 1083430 w 1372235"/>
                  <a:gd name="T55" fmla="*/ 1175486 h 1295400"/>
                  <a:gd name="T56" fmla="*/ 1154326 w 1372235"/>
                  <a:gd name="T57" fmla="*/ 1120695 h 1295400"/>
                  <a:gd name="T58" fmla="*/ 1216864 w 1372235"/>
                  <a:gd name="T59" fmla="*/ 1057572 h 1295400"/>
                  <a:gd name="T60" fmla="*/ 1270115 w 1372235"/>
                  <a:gd name="T61" fmla="*/ 986995 h 1295400"/>
                  <a:gd name="T62" fmla="*/ 1313149 w 1372235"/>
                  <a:gd name="T63" fmla="*/ 909842 h 1295400"/>
                  <a:gd name="T64" fmla="*/ 1345037 w 1372235"/>
                  <a:gd name="T65" fmla="*/ 826989 h 1295400"/>
                  <a:gd name="T66" fmla="*/ 1364852 w 1372235"/>
                  <a:gd name="T67" fmla="*/ 739316 h 1295400"/>
                  <a:gd name="T68" fmla="*/ 1371663 w 1372235"/>
                  <a:gd name="T69" fmla="*/ 647700 h 1295400"/>
                  <a:gd name="T70" fmla="*/ 1364852 w 1372235"/>
                  <a:gd name="T71" fmla="*/ 556056 h 1295400"/>
                  <a:gd name="T72" fmla="*/ 1345037 w 1372235"/>
                  <a:gd name="T73" fmla="*/ 468365 h 1295400"/>
                  <a:gd name="T74" fmla="*/ 1313149 w 1372235"/>
                  <a:gd name="T75" fmla="*/ 385503 h 1295400"/>
                  <a:gd name="T76" fmla="*/ 1270115 w 1372235"/>
                  <a:gd name="T77" fmla="*/ 308347 h 1295400"/>
                  <a:gd name="T78" fmla="*/ 1216864 w 1372235"/>
                  <a:gd name="T79" fmla="*/ 237774 h 1295400"/>
                  <a:gd name="T80" fmla="*/ 1154326 w 1372235"/>
                  <a:gd name="T81" fmla="*/ 174658 h 1295400"/>
                  <a:gd name="T82" fmla="*/ 1083430 w 1372235"/>
                  <a:gd name="T83" fmla="*/ 119877 h 1295400"/>
                  <a:gd name="T84" fmla="*/ 1005103 w 1372235"/>
                  <a:gd name="T85" fmla="*/ 74307 h 1295400"/>
                  <a:gd name="T86" fmla="*/ 920276 w 1372235"/>
                  <a:gd name="T87" fmla="*/ 38824 h 1295400"/>
                  <a:gd name="T88" fmla="*/ 829877 w 1372235"/>
                  <a:gd name="T89" fmla="*/ 14305 h 1295400"/>
                  <a:gd name="T90" fmla="*/ 734835 w 1372235"/>
                  <a:gd name="T91" fmla="*/ 162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685863" y="0"/>
                    </a:moveTo>
                    <a:lnTo>
                      <a:pt x="636876" y="1626"/>
                    </a:lnTo>
                    <a:lnTo>
                      <a:pt x="588819" y="6431"/>
                    </a:lnTo>
                    <a:lnTo>
                      <a:pt x="541808" y="14305"/>
                    </a:lnTo>
                    <a:lnTo>
                      <a:pt x="495961" y="25140"/>
                    </a:lnTo>
                    <a:lnTo>
                      <a:pt x="451391" y="38824"/>
                    </a:lnTo>
                    <a:lnTo>
                      <a:pt x="408217" y="55250"/>
                    </a:lnTo>
                    <a:lnTo>
                      <a:pt x="366552" y="74307"/>
                    </a:lnTo>
                    <a:lnTo>
                      <a:pt x="326515" y="95886"/>
                    </a:lnTo>
                    <a:lnTo>
                      <a:pt x="288219" y="119877"/>
                    </a:lnTo>
                    <a:lnTo>
                      <a:pt x="251783" y="146171"/>
                    </a:lnTo>
                    <a:lnTo>
                      <a:pt x="217320" y="174658"/>
                    </a:lnTo>
                    <a:lnTo>
                      <a:pt x="184948" y="205229"/>
                    </a:lnTo>
                    <a:lnTo>
                      <a:pt x="154783" y="237774"/>
                    </a:lnTo>
                    <a:lnTo>
                      <a:pt x="126940" y="272183"/>
                    </a:lnTo>
                    <a:lnTo>
                      <a:pt x="101535" y="308347"/>
                    </a:lnTo>
                    <a:lnTo>
                      <a:pt x="78685" y="346157"/>
                    </a:lnTo>
                    <a:lnTo>
                      <a:pt x="58505" y="385503"/>
                    </a:lnTo>
                    <a:lnTo>
                      <a:pt x="41112" y="426275"/>
                    </a:lnTo>
                    <a:lnTo>
                      <a:pt x="26621" y="468365"/>
                    </a:lnTo>
                    <a:lnTo>
                      <a:pt x="15148" y="511661"/>
                    </a:lnTo>
                    <a:lnTo>
                      <a:pt x="6809" y="556056"/>
                    </a:lnTo>
                    <a:lnTo>
                      <a:pt x="1721" y="601438"/>
                    </a:lnTo>
                    <a:lnTo>
                      <a:pt x="0" y="647700"/>
                    </a:lnTo>
                    <a:lnTo>
                      <a:pt x="1721" y="693946"/>
                    </a:lnTo>
                    <a:lnTo>
                      <a:pt x="6809" y="739316"/>
                    </a:lnTo>
                    <a:lnTo>
                      <a:pt x="15148" y="783700"/>
                    </a:lnTo>
                    <a:lnTo>
                      <a:pt x="26621" y="826989"/>
                    </a:lnTo>
                    <a:lnTo>
                      <a:pt x="41112" y="869073"/>
                    </a:lnTo>
                    <a:lnTo>
                      <a:pt x="58505" y="909842"/>
                    </a:lnTo>
                    <a:lnTo>
                      <a:pt x="78685" y="949186"/>
                    </a:lnTo>
                    <a:lnTo>
                      <a:pt x="101535" y="986995"/>
                    </a:lnTo>
                    <a:lnTo>
                      <a:pt x="126940" y="1023161"/>
                    </a:lnTo>
                    <a:lnTo>
                      <a:pt x="154783" y="1057572"/>
                    </a:lnTo>
                    <a:lnTo>
                      <a:pt x="184948" y="1090121"/>
                    </a:lnTo>
                    <a:lnTo>
                      <a:pt x="217320" y="1120695"/>
                    </a:lnTo>
                    <a:lnTo>
                      <a:pt x="251783" y="1149187"/>
                    </a:lnTo>
                    <a:lnTo>
                      <a:pt x="288219" y="1175486"/>
                    </a:lnTo>
                    <a:lnTo>
                      <a:pt x="326515" y="1199483"/>
                    </a:lnTo>
                    <a:lnTo>
                      <a:pt x="366552" y="1221067"/>
                    </a:lnTo>
                    <a:lnTo>
                      <a:pt x="408217" y="1240130"/>
                    </a:lnTo>
                    <a:lnTo>
                      <a:pt x="451391" y="1256560"/>
                    </a:lnTo>
                    <a:lnTo>
                      <a:pt x="495961" y="1270250"/>
                    </a:lnTo>
                    <a:lnTo>
                      <a:pt x="541808" y="1281088"/>
                    </a:lnTo>
                    <a:lnTo>
                      <a:pt x="588819" y="1288966"/>
                    </a:lnTo>
                    <a:lnTo>
                      <a:pt x="636876" y="1293773"/>
                    </a:lnTo>
                    <a:lnTo>
                      <a:pt x="685863" y="1295400"/>
                    </a:lnTo>
                    <a:lnTo>
                      <a:pt x="734835" y="1293773"/>
                    </a:lnTo>
                    <a:lnTo>
                      <a:pt x="782878" y="1288966"/>
                    </a:lnTo>
                    <a:lnTo>
                      <a:pt x="829877" y="1281088"/>
                    </a:lnTo>
                    <a:lnTo>
                      <a:pt x="875715" y="1270250"/>
                    </a:lnTo>
                    <a:lnTo>
                      <a:pt x="920276" y="1256560"/>
                    </a:lnTo>
                    <a:lnTo>
                      <a:pt x="963444" y="1240130"/>
                    </a:lnTo>
                    <a:lnTo>
                      <a:pt x="1005103" y="1221067"/>
                    </a:lnTo>
                    <a:lnTo>
                      <a:pt x="1045137" y="1199483"/>
                    </a:lnTo>
                    <a:lnTo>
                      <a:pt x="1083430" y="1175486"/>
                    </a:lnTo>
                    <a:lnTo>
                      <a:pt x="1119865" y="1149187"/>
                    </a:lnTo>
                    <a:lnTo>
                      <a:pt x="1154326" y="1120695"/>
                    </a:lnTo>
                    <a:lnTo>
                      <a:pt x="1186698" y="1090121"/>
                    </a:lnTo>
                    <a:lnTo>
                      <a:pt x="1216864" y="1057572"/>
                    </a:lnTo>
                    <a:lnTo>
                      <a:pt x="1244709" y="1023161"/>
                    </a:lnTo>
                    <a:lnTo>
                      <a:pt x="1270115" y="986995"/>
                    </a:lnTo>
                    <a:lnTo>
                      <a:pt x="1292967" y="949186"/>
                    </a:lnTo>
                    <a:lnTo>
                      <a:pt x="1313149" y="909842"/>
                    </a:lnTo>
                    <a:lnTo>
                      <a:pt x="1330544" y="869073"/>
                    </a:lnTo>
                    <a:lnTo>
                      <a:pt x="1345037" y="826989"/>
                    </a:lnTo>
                    <a:lnTo>
                      <a:pt x="1356512" y="783700"/>
                    </a:lnTo>
                    <a:lnTo>
                      <a:pt x="1364852" y="739316"/>
                    </a:lnTo>
                    <a:lnTo>
                      <a:pt x="1369941" y="693946"/>
                    </a:lnTo>
                    <a:lnTo>
                      <a:pt x="1371663" y="647700"/>
                    </a:lnTo>
                    <a:lnTo>
                      <a:pt x="1369941" y="601438"/>
                    </a:lnTo>
                    <a:lnTo>
                      <a:pt x="1364852" y="556056"/>
                    </a:lnTo>
                    <a:lnTo>
                      <a:pt x="1356512" y="511661"/>
                    </a:lnTo>
                    <a:lnTo>
                      <a:pt x="1345037" y="468365"/>
                    </a:lnTo>
                    <a:lnTo>
                      <a:pt x="1330544" y="426275"/>
                    </a:lnTo>
                    <a:lnTo>
                      <a:pt x="1313149" y="385503"/>
                    </a:lnTo>
                    <a:lnTo>
                      <a:pt x="1292967" y="346157"/>
                    </a:lnTo>
                    <a:lnTo>
                      <a:pt x="1270115" y="308347"/>
                    </a:lnTo>
                    <a:lnTo>
                      <a:pt x="1244709" y="272183"/>
                    </a:lnTo>
                    <a:lnTo>
                      <a:pt x="1216864" y="237774"/>
                    </a:lnTo>
                    <a:lnTo>
                      <a:pt x="1186698" y="205229"/>
                    </a:lnTo>
                    <a:lnTo>
                      <a:pt x="1154326" y="174658"/>
                    </a:lnTo>
                    <a:lnTo>
                      <a:pt x="1119865" y="146171"/>
                    </a:lnTo>
                    <a:lnTo>
                      <a:pt x="1083430" y="119877"/>
                    </a:lnTo>
                    <a:lnTo>
                      <a:pt x="1045137" y="95886"/>
                    </a:lnTo>
                    <a:lnTo>
                      <a:pt x="1005103" y="74307"/>
                    </a:lnTo>
                    <a:lnTo>
                      <a:pt x="963444" y="55250"/>
                    </a:lnTo>
                    <a:lnTo>
                      <a:pt x="920276" y="38824"/>
                    </a:lnTo>
                    <a:lnTo>
                      <a:pt x="875715" y="25140"/>
                    </a:lnTo>
                    <a:lnTo>
                      <a:pt x="829877" y="14305"/>
                    </a:lnTo>
                    <a:lnTo>
                      <a:pt x="782878" y="6431"/>
                    </a:lnTo>
                    <a:lnTo>
                      <a:pt x="734835" y="1626"/>
                    </a:lnTo>
                    <a:lnTo>
                      <a:pt x="6858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41" name="object 48">
                <a:extLst>
                  <a:ext uri="{FF2B5EF4-FFF2-40B4-BE49-F238E27FC236}">
                    <a16:creationId xmlns:a16="http://schemas.microsoft.com/office/drawing/2014/main" id="{C11A202F-6962-3D9C-B0D8-94D7E569F647}"/>
                  </a:ext>
                </a:extLst>
              </p:cNvPr>
              <p:cNvSpPr>
                <a:spLocks/>
              </p:cNvSpPr>
              <p:nvPr/>
            </p:nvSpPr>
            <p:spPr bwMode="auto">
              <a:xfrm>
                <a:off x="1081087" y="3938651"/>
                <a:ext cx="1372235" cy="1295400"/>
              </a:xfrm>
              <a:custGeom>
                <a:avLst/>
                <a:gdLst>
                  <a:gd name="T0" fmla="*/ 1721 w 1372235"/>
                  <a:gd name="T1" fmla="*/ 601438 h 1295400"/>
                  <a:gd name="T2" fmla="*/ 15148 w 1372235"/>
                  <a:gd name="T3" fmla="*/ 511661 h 1295400"/>
                  <a:gd name="T4" fmla="*/ 41112 w 1372235"/>
                  <a:gd name="T5" fmla="*/ 426275 h 1295400"/>
                  <a:gd name="T6" fmla="*/ 78685 w 1372235"/>
                  <a:gd name="T7" fmla="*/ 346157 h 1295400"/>
                  <a:gd name="T8" fmla="*/ 126940 w 1372235"/>
                  <a:gd name="T9" fmla="*/ 272183 h 1295400"/>
                  <a:gd name="T10" fmla="*/ 184948 w 1372235"/>
                  <a:gd name="T11" fmla="*/ 205229 h 1295400"/>
                  <a:gd name="T12" fmla="*/ 251783 w 1372235"/>
                  <a:gd name="T13" fmla="*/ 146171 h 1295400"/>
                  <a:gd name="T14" fmla="*/ 326515 w 1372235"/>
                  <a:gd name="T15" fmla="*/ 95886 h 1295400"/>
                  <a:gd name="T16" fmla="*/ 408217 w 1372235"/>
                  <a:gd name="T17" fmla="*/ 55250 h 1295400"/>
                  <a:gd name="T18" fmla="*/ 495961 w 1372235"/>
                  <a:gd name="T19" fmla="*/ 25140 h 1295400"/>
                  <a:gd name="T20" fmla="*/ 588819 w 1372235"/>
                  <a:gd name="T21" fmla="*/ 6431 h 1295400"/>
                  <a:gd name="T22" fmla="*/ 685863 w 1372235"/>
                  <a:gd name="T23" fmla="*/ 0 h 1295400"/>
                  <a:gd name="T24" fmla="*/ 782878 w 1372235"/>
                  <a:gd name="T25" fmla="*/ 6431 h 1295400"/>
                  <a:gd name="T26" fmla="*/ 875715 w 1372235"/>
                  <a:gd name="T27" fmla="*/ 25140 h 1295400"/>
                  <a:gd name="T28" fmla="*/ 963444 w 1372235"/>
                  <a:gd name="T29" fmla="*/ 55250 h 1295400"/>
                  <a:gd name="T30" fmla="*/ 1045137 w 1372235"/>
                  <a:gd name="T31" fmla="*/ 95886 h 1295400"/>
                  <a:gd name="T32" fmla="*/ 1119865 w 1372235"/>
                  <a:gd name="T33" fmla="*/ 146171 h 1295400"/>
                  <a:gd name="T34" fmla="*/ 1186698 w 1372235"/>
                  <a:gd name="T35" fmla="*/ 205229 h 1295400"/>
                  <a:gd name="T36" fmla="*/ 1244709 w 1372235"/>
                  <a:gd name="T37" fmla="*/ 272183 h 1295400"/>
                  <a:gd name="T38" fmla="*/ 1292967 w 1372235"/>
                  <a:gd name="T39" fmla="*/ 346157 h 1295400"/>
                  <a:gd name="T40" fmla="*/ 1330544 w 1372235"/>
                  <a:gd name="T41" fmla="*/ 426275 h 1295400"/>
                  <a:gd name="T42" fmla="*/ 1356512 w 1372235"/>
                  <a:gd name="T43" fmla="*/ 511661 h 1295400"/>
                  <a:gd name="T44" fmla="*/ 1369941 w 1372235"/>
                  <a:gd name="T45" fmla="*/ 601438 h 1295400"/>
                  <a:gd name="T46" fmla="*/ 1369941 w 1372235"/>
                  <a:gd name="T47" fmla="*/ 693946 h 1295400"/>
                  <a:gd name="T48" fmla="*/ 1356512 w 1372235"/>
                  <a:gd name="T49" fmla="*/ 783700 h 1295400"/>
                  <a:gd name="T50" fmla="*/ 1330544 w 1372235"/>
                  <a:gd name="T51" fmla="*/ 869073 h 1295400"/>
                  <a:gd name="T52" fmla="*/ 1292967 w 1372235"/>
                  <a:gd name="T53" fmla="*/ 949186 h 1295400"/>
                  <a:gd name="T54" fmla="*/ 1244709 w 1372235"/>
                  <a:gd name="T55" fmla="*/ 1023161 h 1295400"/>
                  <a:gd name="T56" fmla="*/ 1186698 w 1372235"/>
                  <a:gd name="T57" fmla="*/ 1090121 h 1295400"/>
                  <a:gd name="T58" fmla="*/ 1119865 w 1372235"/>
                  <a:gd name="T59" fmla="*/ 1149187 h 1295400"/>
                  <a:gd name="T60" fmla="*/ 1045137 w 1372235"/>
                  <a:gd name="T61" fmla="*/ 1199483 h 1295400"/>
                  <a:gd name="T62" fmla="*/ 963444 w 1372235"/>
                  <a:gd name="T63" fmla="*/ 1240130 h 1295400"/>
                  <a:gd name="T64" fmla="*/ 875715 w 1372235"/>
                  <a:gd name="T65" fmla="*/ 1270250 h 1295400"/>
                  <a:gd name="T66" fmla="*/ 782878 w 1372235"/>
                  <a:gd name="T67" fmla="*/ 1288966 h 1295400"/>
                  <a:gd name="T68" fmla="*/ 685863 w 1372235"/>
                  <a:gd name="T69" fmla="*/ 1295400 h 1295400"/>
                  <a:gd name="T70" fmla="*/ 588819 w 1372235"/>
                  <a:gd name="T71" fmla="*/ 1288966 h 1295400"/>
                  <a:gd name="T72" fmla="*/ 495961 w 1372235"/>
                  <a:gd name="T73" fmla="*/ 1270250 h 1295400"/>
                  <a:gd name="T74" fmla="*/ 408217 w 1372235"/>
                  <a:gd name="T75" fmla="*/ 1240130 h 1295400"/>
                  <a:gd name="T76" fmla="*/ 326515 w 1372235"/>
                  <a:gd name="T77" fmla="*/ 1199483 h 1295400"/>
                  <a:gd name="T78" fmla="*/ 251783 w 1372235"/>
                  <a:gd name="T79" fmla="*/ 1149187 h 1295400"/>
                  <a:gd name="T80" fmla="*/ 184948 w 1372235"/>
                  <a:gd name="T81" fmla="*/ 1090121 h 1295400"/>
                  <a:gd name="T82" fmla="*/ 126940 w 1372235"/>
                  <a:gd name="T83" fmla="*/ 1023161 h 1295400"/>
                  <a:gd name="T84" fmla="*/ 78685 w 1372235"/>
                  <a:gd name="T85" fmla="*/ 949186 h 1295400"/>
                  <a:gd name="T86" fmla="*/ 41112 w 1372235"/>
                  <a:gd name="T87" fmla="*/ 869073 h 1295400"/>
                  <a:gd name="T88" fmla="*/ 15148 w 1372235"/>
                  <a:gd name="T89" fmla="*/ 783700 h 1295400"/>
                  <a:gd name="T90" fmla="*/ 1721 w 1372235"/>
                  <a:gd name="T91" fmla="*/ 69394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0" y="647700"/>
                    </a:moveTo>
                    <a:lnTo>
                      <a:pt x="1721" y="601438"/>
                    </a:lnTo>
                    <a:lnTo>
                      <a:pt x="6809" y="556056"/>
                    </a:lnTo>
                    <a:lnTo>
                      <a:pt x="15148" y="511661"/>
                    </a:lnTo>
                    <a:lnTo>
                      <a:pt x="26621" y="468365"/>
                    </a:lnTo>
                    <a:lnTo>
                      <a:pt x="41112" y="426275"/>
                    </a:lnTo>
                    <a:lnTo>
                      <a:pt x="58505" y="385503"/>
                    </a:lnTo>
                    <a:lnTo>
                      <a:pt x="78685" y="346157"/>
                    </a:lnTo>
                    <a:lnTo>
                      <a:pt x="101535" y="308347"/>
                    </a:lnTo>
                    <a:lnTo>
                      <a:pt x="126940" y="272183"/>
                    </a:lnTo>
                    <a:lnTo>
                      <a:pt x="154783" y="237774"/>
                    </a:lnTo>
                    <a:lnTo>
                      <a:pt x="184948" y="205229"/>
                    </a:lnTo>
                    <a:lnTo>
                      <a:pt x="217320" y="174658"/>
                    </a:lnTo>
                    <a:lnTo>
                      <a:pt x="251783" y="146171"/>
                    </a:lnTo>
                    <a:lnTo>
                      <a:pt x="288219" y="119877"/>
                    </a:lnTo>
                    <a:lnTo>
                      <a:pt x="326515" y="95886"/>
                    </a:lnTo>
                    <a:lnTo>
                      <a:pt x="366552" y="74307"/>
                    </a:lnTo>
                    <a:lnTo>
                      <a:pt x="408217" y="55250"/>
                    </a:lnTo>
                    <a:lnTo>
                      <a:pt x="451391" y="38824"/>
                    </a:lnTo>
                    <a:lnTo>
                      <a:pt x="495961" y="25140"/>
                    </a:lnTo>
                    <a:lnTo>
                      <a:pt x="541808" y="14305"/>
                    </a:lnTo>
                    <a:lnTo>
                      <a:pt x="588819" y="6431"/>
                    </a:lnTo>
                    <a:lnTo>
                      <a:pt x="636876" y="1626"/>
                    </a:lnTo>
                    <a:lnTo>
                      <a:pt x="685863" y="0"/>
                    </a:lnTo>
                    <a:lnTo>
                      <a:pt x="734835" y="1626"/>
                    </a:lnTo>
                    <a:lnTo>
                      <a:pt x="782878" y="6431"/>
                    </a:lnTo>
                    <a:lnTo>
                      <a:pt x="829877" y="14305"/>
                    </a:lnTo>
                    <a:lnTo>
                      <a:pt x="875715" y="25140"/>
                    </a:lnTo>
                    <a:lnTo>
                      <a:pt x="920276" y="38824"/>
                    </a:lnTo>
                    <a:lnTo>
                      <a:pt x="963444" y="55250"/>
                    </a:lnTo>
                    <a:lnTo>
                      <a:pt x="1005103" y="74307"/>
                    </a:lnTo>
                    <a:lnTo>
                      <a:pt x="1045137" y="95886"/>
                    </a:lnTo>
                    <a:lnTo>
                      <a:pt x="1083430" y="119877"/>
                    </a:lnTo>
                    <a:lnTo>
                      <a:pt x="1119865" y="146171"/>
                    </a:lnTo>
                    <a:lnTo>
                      <a:pt x="1154326" y="174658"/>
                    </a:lnTo>
                    <a:lnTo>
                      <a:pt x="1186698" y="205229"/>
                    </a:lnTo>
                    <a:lnTo>
                      <a:pt x="1216864" y="237774"/>
                    </a:lnTo>
                    <a:lnTo>
                      <a:pt x="1244709" y="272183"/>
                    </a:lnTo>
                    <a:lnTo>
                      <a:pt x="1270115" y="308347"/>
                    </a:lnTo>
                    <a:lnTo>
                      <a:pt x="1292967" y="346157"/>
                    </a:lnTo>
                    <a:lnTo>
                      <a:pt x="1313149" y="385503"/>
                    </a:lnTo>
                    <a:lnTo>
                      <a:pt x="1330544" y="426275"/>
                    </a:lnTo>
                    <a:lnTo>
                      <a:pt x="1345037" y="468365"/>
                    </a:lnTo>
                    <a:lnTo>
                      <a:pt x="1356512" y="511661"/>
                    </a:lnTo>
                    <a:lnTo>
                      <a:pt x="1364852" y="556056"/>
                    </a:lnTo>
                    <a:lnTo>
                      <a:pt x="1369941" y="601438"/>
                    </a:lnTo>
                    <a:lnTo>
                      <a:pt x="1371663" y="647700"/>
                    </a:lnTo>
                    <a:lnTo>
                      <a:pt x="1369941" y="693946"/>
                    </a:lnTo>
                    <a:lnTo>
                      <a:pt x="1364852" y="739316"/>
                    </a:lnTo>
                    <a:lnTo>
                      <a:pt x="1356512" y="783700"/>
                    </a:lnTo>
                    <a:lnTo>
                      <a:pt x="1345037" y="826989"/>
                    </a:lnTo>
                    <a:lnTo>
                      <a:pt x="1330544" y="869073"/>
                    </a:lnTo>
                    <a:lnTo>
                      <a:pt x="1313149" y="909842"/>
                    </a:lnTo>
                    <a:lnTo>
                      <a:pt x="1292967" y="949186"/>
                    </a:lnTo>
                    <a:lnTo>
                      <a:pt x="1270115" y="986995"/>
                    </a:lnTo>
                    <a:lnTo>
                      <a:pt x="1244709" y="1023161"/>
                    </a:lnTo>
                    <a:lnTo>
                      <a:pt x="1216864" y="1057572"/>
                    </a:lnTo>
                    <a:lnTo>
                      <a:pt x="1186698" y="1090121"/>
                    </a:lnTo>
                    <a:lnTo>
                      <a:pt x="1154326" y="1120695"/>
                    </a:lnTo>
                    <a:lnTo>
                      <a:pt x="1119865" y="1149187"/>
                    </a:lnTo>
                    <a:lnTo>
                      <a:pt x="1083430" y="1175486"/>
                    </a:lnTo>
                    <a:lnTo>
                      <a:pt x="1045137" y="1199483"/>
                    </a:lnTo>
                    <a:lnTo>
                      <a:pt x="1005103" y="1221067"/>
                    </a:lnTo>
                    <a:lnTo>
                      <a:pt x="963444" y="1240130"/>
                    </a:lnTo>
                    <a:lnTo>
                      <a:pt x="920276" y="1256560"/>
                    </a:lnTo>
                    <a:lnTo>
                      <a:pt x="875715" y="1270250"/>
                    </a:lnTo>
                    <a:lnTo>
                      <a:pt x="829877" y="1281088"/>
                    </a:lnTo>
                    <a:lnTo>
                      <a:pt x="782878" y="1288966"/>
                    </a:lnTo>
                    <a:lnTo>
                      <a:pt x="734835" y="1293773"/>
                    </a:lnTo>
                    <a:lnTo>
                      <a:pt x="685863" y="1295400"/>
                    </a:lnTo>
                    <a:lnTo>
                      <a:pt x="636876" y="1293773"/>
                    </a:lnTo>
                    <a:lnTo>
                      <a:pt x="588819" y="1288966"/>
                    </a:lnTo>
                    <a:lnTo>
                      <a:pt x="541808" y="1281088"/>
                    </a:lnTo>
                    <a:lnTo>
                      <a:pt x="495961" y="1270250"/>
                    </a:lnTo>
                    <a:lnTo>
                      <a:pt x="451391" y="1256560"/>
                    </a:lnTo>
                    <a:lnTo>
                      <a:pt x="408217" y="1240130"/>
                    </a:lnTo>
                    <a:lnTo>
                      <a:pt x="366552" y="1221067"/>
                    </a:lnTo>
                    <a:lnTo>
                      <a:pt x="326515" y="1199483"/>
                    </a:lnTo>
                    <a:lnTo>
                      <a:pt x="288219" y="1175486"/>
                    </a:lnTo>
                    <a:lnTo>
                      <a:pt x="251783" y="1149187"/>
                    </a:lnTo>
                    <a:lnTo>
                      <a:pt x="217320" y="1120695"/>
                    </a:lnTo>
                    <a:lnTo>
                      <a:pt x="184948" y="1090121"/>
                    </a:lnTo>
                    <a:lnTo>
                      <a:pt x="154783" y="1057572"/>
                    </a:lnTo>
                    <a:lnTo>
                      <a:pt x="126940" y="1023161"/>
                    </a:lnTo>
                    <a:lnTo>
                      <a:pt x="101535" y="986995"/>
                    </a:lnTo>
                    <a:lnTo>
                      <a:pt x="78685" y="949186"/>
                    </a:lnTo>
                    <a:lnTo>
                      <a:pt x="58505" y="909842"/>
                    </a:lnTo>
                    <a:lnTo>
                      <a:pt x="41112" y="869073"/>
                    </a:lnTo>
                    <a:lnTo>
                      <a:pt x="26621" y="826989"/>
                    </a:lnTo>
                    <a:lnTo>
                      <a:pt x="15148" y="783700"/>
                    </a:lnTo>
                    <a:lnTo>
                      <a:pt x="6809" y="739316"/>
                    </a:lnTo>
                    <a:lnTo>
                      <a:pt x="1721" y="693946"/>
                    </a:lnTo>
                    <a:lnTo>
                      <a:pt x="0" y="647700"/>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42" name="object 49">
              <a:extLst>
                <a:ext uri="{FF2B5EF4-FFF2-40B4-BE49-F238E27FC236}">
                  <a16:creationId xmlns:a16="http://schemas.microsoft.com/office/drawing/2014/main" id="{5B8BF108-CDAA-2C29-6EA1-095BF5746823}"/>
                </a:ext>
              </a:extLst>
            </p:cNvPr>
            <p:cNvSpPr txBox="1"/>
            <p:nvPr/>
          </p:nvSpPr>
          <p:spPr>
            <a:xfrm>
              <a:off x="800100" y="3283744"/>
              <a:ext cx="1014413" cy="194284"/>
            </a:xfrm>
            <a:prstGeom prst="rect">
              <a:avLst/>
            </a:prstGeom>
          </p:spPr>
          <p:txBody>
            <a:bodyPr lIns="0" tIns="9525" rIns="0" bIns="0">
              <a:spAutoFit/>
            </a:bodyPr>
            <a:lstStyle/>
            <a:p>
              <a:pPr marL="9525">
                <a:spcBef>
                  <a:spcPts val="75"/>
                </a:spcBef>
                <a:defRPr/>
              </a:pPr>
              <a:r>
                <a:rPr lang="es-419" sz="1900" spc="-8" dirty="0">
                  <a:solidFill>
                    <a:srgbClr val="FFFFFF"/>
                  </a:solidFill>
                  <a:latin typeface="Arial MT"/>
                  <a:cs typeface="Arial MT"/>
                </a:rPr>
                <a:t>Capacidades</a:t>
              </a:r>
              <a:endParaRPr sz="1900" dirty="0">
                <a:solidFill>
                  <a:sysClr val="windowText" lastClr="000000"/>
                </a:solidFill>
                <a:latin typeface="Arial MT"/>
                <a:cs typeface="Arial MT"/>
              </a:endParaRPr>
            </a:p>
          </p:txBody>
        </p:sp>
        <p:grpSp>
          <p:nvGrpSpPr>
            <p:cNvPr id="5043" name="object 50">
              <a:extLst>
                <a:ext uri="{FF2B5EF4-FFF2-40B4-BE49-F238E27FC236}">
                  <a16:creationId xmlns:a16="http://schemas.microsoft.com/office/drawing/2014/main" id="{F0552C9A-0ABD-CFA5-92EF-133B67BEF9F3}"/>
                </a:ext>
              </a:extLst>
            </p:cNvPr>
            <p:cNvGrpSpPr>
              <a:grpSpLocks/>
            </p:cNvGrpSpPr>
            <p:nvPr/>
          </p:nvGrpSpPr>
          <p:grpSpPr bwMode="auto">
            <a:xfrm>
              <a:off x="796529" y="1718073"/>
              <a:ext cx="1028700" cy="2169319"/>
              <a:chOff x="1062037" y="2290826"/>
              <a:chExt cx="1372235" cy="2891842"/>
            </a:xfrm>
          </p:grpSpPr>
          <p:pic>
            <p:nvPicPr>
              <p:cNvPr id="5044" name="object 51">
                <a:extLst>
                  <a:ext uri="{FF2B5EF4-FFF2-40B4-BE49-F238E27FC236}">
                    <a16:creationId xmlns:a16="http://schemas.microsoft.com/office/drawing/2014/main" id="{70D06151-C8B7-6EBF-589D-1D890DD4FA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5483" y="4701656"/>
                <a:ext cx="595312"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5" name="object 52">
                <a:extLst>
                  <a:ext uri="{FF2B5EF4-FFF2-40B4-BE49-F238E27FC236}">
                    <a16:creationId xmlns:a16="http://schemas.microsoft.com/office/drawing/2014/main" id="{1F755182-B7AF-9D12-7967-AA12305C6F6A}"/>
                  </a:ext>
                </a:extLst>
              </p:cNvPr>
              <p:cNvSpPr>
                <a:spLocks/>
              </p:cNvSpPr>
              <p:nvPr/>
            </p:nvSpPr>
            <p:spPr bwMode="auto">
              <a:xfrm>
                <a:off x="1062037" y="2290826"/>
                <a:ext cx="1372235" cy="1295400"/>
              </a:xfrm>
              <a:custGeom>
                <a:avLst/>
                <a:gdLst>
                  <a:gd name="T0" fmla="*/ 636876 w 1372235"/>
                  <a:gd name="T1" fmla="*/ 1626 h 1295400"/>
                  <a:gd name="T2" fmla="*/ 541808 w 1372235"/>
                  <a:gd name="T3" fmla="*/ 14305 h 1295400"/>
                  <a:gd name="T4" fmla="*/ 451391 w 1372235"/>
                  <a:gd name="T5" fmla="*/ 38824 h 1295400"/>
                  <a:gd name="T6" fmla="*/ 366552 w 1372235"/>
                  <a:gd name="T7" fmla="*/ 74307 h 1295400"/>
                  <a:gd name="T8" fmla="*/ 288219 w 1372235"/>
                  <a:gd name="T9" fmla="*/ 119877 h 1295400"/>
                  <a:gd name="T10" fmla="*/ 217320 w 1372235"/>
                  <a:gd name="T11" fmla="*/ 174658 h 1295400"/>
                  <a:gd name="T12" fmla="*/ 154783 w 1372235"/>
                  <a:gd name="T13" fmla="*/ 237774 h 1295400"/>
                  <a:gd name="T14" fmla="*/ 101535 w 1372235"/>
                  <a:gd name="T15" fmla="*/ 308347 h 1295400"/>
                  <a:gd name="T16" fmla="*/ 58505 w 1372235"/>
                  <a:gd name="T17" fmla="*/ 385503 h 1295400"/>
                  <a:gd name="T18" fmla="*/ 26621 w 1372235"/>
                  <a:gd name="T19" fmla="*/ 468365 h 1295400"/>
                  <a:gd name="T20" fmla="*/ 6809 w 1372235"/>
                  <a:gd name="T21" fmla="*/ 556056 h 1295400"/>
                  <a:gd name="T22" fmla="*/ 0 w 1372235"/>
                  <a:gd name="T23" fmla="*/ 647700 h 1295400"/>
                  <a:gd name="T24" fmla="*/ 6809 w 1372235"/>
                  <a:gd name="T25" fmla="*/ 739316 h 1295400"/>
                  <a:gd name="T26" fmla="*/ 26621 w 1372235"/>
                  <a:gd name="T27" fmla="*/ 826989 h 1295400"/>
                  <a:gd name="T28" fmla="*/ 58505 w 1372235"/>
                  <a:gd name="T29" fmla="*/ 909842 h 1295400"/>
                  <a:gd name="T30" fmla="*/ 101535 w 1372235"/>
                  <a:gd name="T31" fmla="*/ 986995 h 1295400"/>
                  <a:gd name="T32" fmla="*/ 154783 w 1372235"/>
                  <a:gd name="T33" fmla="*/ 1057572 h 1295400"/>
                  <a:gd name="T34" fmla="*/ 217320 w 1372235"/>
                  <a:gd name="T35" fmla="*/ 1120695 h 1295400"/>
                  <a:gd name="T36" fmla="*/ 288219 w 1372235"/>
                  <a:gd name="T37" fmla="*/ 1175486 h 1295400"/>
                  <a:gd name="T38" fmla="*/ 366552 w 1372235"/>
                  <a:gd name="T39" fmla="*/ 1221067 h 1295400"/>
                  <a:gd name="T40" fmla="*/ 451391 w 1372235"/>
                  <a:gd name="T41" fmla="*/ 1256560 h 1295400"/>
                  <a:gd name="T42" fmla="*/ 541808 w 1372235"/>
                  <a:gd name="T43" fmla="*/ 1281088 h 1295400"/>
                  <a:gd name="T44" fmla="*/ 636876 w 1372235"/>
                  <a:gd name="T45" fmla="*/ 1293773 h 1295400"/>
                  <a:gd name="T46" fmla="*/ 734835 w 1372235"/>
                  <a:gd name="T47" fmla="*/ 1293773 h 1295400"/>
                  <a:gd name="T48" fmla="*/ 829877 w 1372235"/>
                  <a:gd name="T49" fmla="*/ 1281088 h 1295400"/>
                  <a:gd name="T50" fmla="*/ 920276 w 1372235"/>
                  <a:gd name="T51" fmla="*/ 1256560 h 1295400"/>
                  <a:gd name="T52" fmla="*/ 1005103 w 1372235"/>
                  <a:gd name="T53" fmla="*/ 1221067 h 1295400"/>
                  <a:gd name="T54" fmla="*/ 1083430 w 1372235"/>
                  <a:gd name="T55" fmla="*/ 1175486 h 1295400"/>
                  <a:gd name="T56" fmla="*/ 1154326 w 1372235"/>
                  <a:gd name="T57" fmla="*/ 1120695 h 1295400"/>
                  <a:gd name="T58" fmla="*/ 1216864 w 1372235"/>
                  <a:gd name="T59" fmla="*/ 1057572 h 1295400"/>
                  <a:gd name="T60" fmla="*/ 1270115 w 1372235"/>
                  <a:gd name="T61" fmla="*/ 986995 h 1295400"/>
                  <a:gd name="T62" fmla="*/ 1313149 w 1372235"/>
                  <a:gd name="T63" fmla="*/ 909842 h 1295400"/>
                  <a:gd name="T64" fmla="*/ 1345037 w 1372235"/>
                  <a:gd name="T65" fmla="*/ 826989 h 1295400"/>
                  <a:gd name="T66" fmla="*/ 1364852 w 1372235"/>
                  <a:gd name="T67" fmla="*/ 739316 h 1295400"/>
                  <a:gd name="T68" fmla="*/ 1371663 w 1372235"/>
                  <a:gd name="T69" fmla="*/ 647700 h 1295400"/>
                  <a:gd name="T70" fmla="*/ 1364852 w 1372235"/>
                  <a:gd name="T71" fmla="*/ 556056 h 1295400"/>
                  <a:gd name="T72" fmla="*/ 1345037 w 1372235"/>
                  <a:gd name="T73" fmla="*/ 468365 h 1295400"/>
                  <a:gd name="T74" fmla="*/ 1313149 w 1372235"/>
                  <a:gd name="T75" fmla="*/ 385503 h 1295400"/>
                  <a:gd name="T76" fmla="*/ 1270115 w 1372235"/>
                  <a:gd name="T77" fmla="*/ 308347 h 1295400"/>
                  <a:gd name="T78" fmla="*/ 1216864 w 1372235"/>
                  <a:gd name="T79" fmla="*/ 237774 h 1295400"/>
                  <a:gd name="T80" fmla="*/ 1154326 w 1372235"/>
                  <a:gd name="T81" fmla="*/ 174658 h 1295400"/>
                  <a:gd name="T82" fmla="*/ 1083430 w 1372235"/>
                  <a:gd name="T83" fmla="*/ 119877 h 1295400"/>
                  <a:gd name="T84" fmla="*/ 1005103 w 1372235"/>
                  <a:gd name="T85" fmla="*/ 74307 h 1295400"/>
                  <a:gd name="T86" fmla="*/ 920276 w 1372235"/>
                  <a:gd name="T87" fmla="*/ 38824 h 1295400"/>
                  <a:gd name="T88" fmla="*/ 829877 w 1372235"/>
                  <a:gd name="T89" fmla="*/ 14305 h 1295400"/>
                  <a:gd name="T90" fmla="*/ 734835 w 1372235"/>
                  <a:gd name="T91" fmla="*/ 162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685863" y="0"/>
                    </a:moveTo>
                    <a:lnTo>
                      <a:pt x="636876" y="1626"/>
                    </a:lnTo>
                    <a:lnTo>
                      <a:pt x="588819" y="6431"/>
                    </a:lnTo>
                    <a:lnTo>
                      <a:pt x="541808" y="14305"/>
                    </a:lnTo>
                    <a:lnTo>
                      <a:pt x="495961" y="25140"/>
                    </a:lnTo>
                    <a:lnTo>
                      <a:pt x="451391" y="38824"/>
                    </a:lnTo>
                    <a:lnTo>
                      <a:pt x="408217" y="55250"/>
                    </a:lnTo>
                    <a:lnTo>
                      <a:pt x="366552" y="74307"/>
                    </a:lnTo>
                    <a:lnTo>
                      <a:pt x="326515" y="95886"/>
                    </a:lnTo>
                    <a:lnTo>
                      <a:pt x="288219" y="119877"/>
                    </a:lnTo>
                    <a:lnTo>
                      <a:pt x="251783" y="146171"/>
                    </a:lnTo>
                    <a:lnTo>
                      <a:pt x="217320" y="174658"/>
                    </a:lnTo>
                    <a:lnTo>
                      <a:pt x="184948" y="205229"/>
                    </a:lnTo>
                    <a:lnTo>
                      <a:pt x="154783" y="237774"/>
                    </a:lnTo>
                    <a:lnTo>
                      <a:pt x="126940" y="272183"/>
                    </a:lnTo>
                    <a:lnTo>
                      <a:pt x="101535" y="308347"/>
                    </a:lnTo>
                    <a:lnTo>
                      <a:pt x="78685" y="346157"/>
                    </a:lnTo>
                    <a:lnTo>
                      <a:pt x="58505" y="385503"/>
                    </a:lnTo>
                    <a:lnTo>
                      <a:pt x="41112" y="426275"/>
                    </a:lnTo>
                    <a:lnTo>
                      <a:pt x="26621" y="468365"/>
                    </a:lnTo>
                    <a:lnTo>
                      <a:pt x="15148" y="511661"/>
                    </a:lnTo>
                    <a:lnTo>
                      <a:pt x="6809" y="556056"/>
                    </a:lnTo>
                    <a:lnTo>
                      <a:pt x="1721" y="601438"/>
                    </a:lnTo>
                    <a:lnTo>
                      <a:pt x="0" y="647700"/>
                    </a:lnTo>
                    <a:lnTo>
                      <a:pt x="1721" y="693946"/>
                    </a:lnTo>
                    <a:lnTo>
                      <a:pt x="6809" y="739316"/>
                    </a:lnTo>
                    <a:lnTo>
                      <a:pt x="15148" y="783700"/>
                    </a:lnTo>
                    <a:lnTo>
                      <a:pt x="26621" y="826989"/>
                    </a:lnTo>
                    <a:lnTo>
                      <a:pt x="41112" y="869073"/>
                    </a:lnTo>
                    <a:lnTo>
                      <a:pt x="58505" y="909842"/>
                    </a:lnTo>
                    <a:lnTo>
                      <a:pt x="78685" y="949186"/>
                    </a:lnTo>
                    <a:lnTo>
                      <a:pt x="101535" y="986995"/>
                    </a:lnTo>
                    <a:lnTo>
                      <a:pt x="126940" y="1023161"/>
                    </a:lnTo>
                    <a:lnTo>
                      <a:pt x="154783" y="1057572"/>
                    </a:lnTo>
                    <a:lnTo>
                      <a:pt x="184948" y="1090121"/>
                    </a:lnTo>
                    <a:lnTo>
                      <a:pt x="217320" y="1120695"/>
                    </a:lnTo>
                    <a:lnTo>
                      <a:pt x="251783" y="1149187"/>
                    </a:lnTo>
                    <a:lnTo>
                      <a:pt x="288219" y="1175486"/>
                    </a:lnTo>
                    <a:lnTo>
                      <a:pt x="326515" y="1199483"/>
                    </a:lnTo>
                    <a:lnTo>
                      <a:pt x="366552" y="1221067"/>
                    </a:lnTo>
                    <a:lnTo>
                      <a:pt x="408217" y="1240130"/>
                    </a:lnTo>
                    <a:lnTo>
                      <a:pt x="451391" y="1256560"/>
                    </a:lnTo>
                    <a:lnTo>
                      <a:pt x="495961" y="1270250"/>
                    </a:lnTo>
                    <a:lnTo>
                      <a:pt x="541808" y="1281088"/>
                    </a:lnTo>
                    <a:lnTo>
                      <a:pt x="588819" y="1288966"/>
                    </a:lnTo>
                    <a:lnTo>
                      <a:pt x="636876" y="1293773"/>
                    </a:lnTo>
                    <a:lnTo>
                      <a:pt x="685863" y="1295400"/>
                    </a:lnTo>
                    <a:lnTo>
                      <a:pt x="734835" y="1293773"/>
                    </a:lnTo>
                    <a:lnTo>
                      <a:pt x="782878" y="1288966"/>
                    </a:lnTo>
                    <a:lnTo>
                      <a:pt x="829877" y="1281088"/>
                    </a:lnTo>
                    <a:lnTo>
                      <a:pt x="875715" y="1270250"/>
                    </a:lnTo>
                    <a:lnTo>
                      <a:pt x="920276" y="1256560"/>
                    </a:lnTo>
                    <a:lnTo>
                      <a:pt x="963444" y="1240130"/>
                    </a:lnTo>
                    <a:lnTo>
                      <a:pt x="1005103" y="1221067"/>
                    </a:lnTo>
                    <a:lnTo>
                      <a:pt x="1045137" y="1199483"/>
                    </a:lnTo>
                    <a:lnTo>
                      <a:pt x="1083430" y="1175486"/>
                    </a:lnTo>
                    <a:lnTo>
                      <a:pt x="1119865" y="1149187"/>
                    </a:lnTo>
                    <a:lnTo>
                      <a:pt x="1154326" y="1120695"/>
                    </a:lnTo>
                    <a:lnTo>
                      <a:pt x="1186698" y="1090121"/>
                    </a:lnTo>
                    <a:lnTo>
                      <a:pt x="1216864" y="1057572"/>
                    </a:lnTo>
                    <a:lnTo>
                      <a:pt x="1244709" y="1023161"/>
                    </a:lnTo>
                    <a:lnTo>
                      <a:pt x="1270115" y="986995"/>
                    </a:lnTo>
                    <a:lnTo>
                      <a:pt x="1292967" y="949186"/>
                    </a:lnTo>
                    <a:lnTo>
                      <a:pt x="1313149" y="909842"/>
                    </a:lnTo>
                    <a:lnTo>
                      <a:pt x="1330544" y="869073"/>
                    </a:lnTo>
                    <a:lnTo>
                      <a:pt x="1345037" y="826989"/>
                    </a:lnTo>
                    <a:lnTo>
                      <a:pt x="1356512" y="783700"/>
                    </a:lnTo>
                    <a:lnTo>
                      <a:pt x="1364852" y="739316"/>
                    </a:lnTo>
                    <a:lnTo>
                      <a:pt x="1369941" y="693946"/>
                    </a:lnTo>
                    <a:lnTo>
                      <a:pt x="1371663" y="647700"/>
                    </a:lnTo>
                    <a:lnTo>
                      <a:pt x="1369941" y="601438"/>
                    </a:lnTo>
                    <a:lnTo>
                      <a:pt x="1364852" y="556056"/>
                    </a:lnTo>
                    <a:lnTo>
                      <a:pt x="1356512" y="511661"/>
                    </a:lnTo>
                    <a:lnTo>
                      <a:pt x="1345037" y="468365"/>
                    </a:lnTo>
                    <a:lnTo>
                      <a:pt x="1330544" y="426275"/>
                    </a:lnTo>
                    <a:lnTo>
                      <a:pt x="1313149" y="385503"/>
                    </a:lnTo>
                    <a:lnTo>
                      <a:pt x="1292967" y="346157"/>
                    </a:lnTo>
                    <a:lnTo>
                      <a:pt x="1270115" y="308347"/>
                    </a:lnTo>
                    <a:lnTo>
                      <a:pt x="1244709" y="272183"/>
                    </a:lnTo>
                    <a:lnTo>
                      <a:pt x="1216864" y="237774"/>
                    </a:lnTo>
                    <a:lnTo>
                      <a:pt x="1186698" y="205229"/>
                    </a:lnTo>
                    <a:lnTo>
                      <a:pt x="1154326" y="174658"/>
                    </a:lnTo>
                    <a:lnTo>
                      <a:pt x="1119865" y="146171"/>
                    </a:lnTo>
                    <a:lnTo>
                      <a:pt x="1083430" y="119877"/>
                    </a:lnTo>
                    <a:lnTo>
                      <a:pt x="1045137" y="95886"/>
                    </a:lnTo>
                    <a:lnTo>
                      <a:pt x="1005103" y="74307"/>
                    </a:lnTo>
                    <a:lnTo>
                      <a:pt x="963444" y="55250"/>
                    </a:lnTo>
                    <a:lnTo>
                      <a:pt x="920276" y="38824"/>
                    </a:lnTo>
                    <a:lnTo>
                      <a:pt x="875715" y="25140"/>
                    </a:lnTo>
                    <a:lnTo>
                      <a:pt x="829877" y="14305"/>
                    </a:lnTo>
                    <a:lnTo>
                      <a:pt x="782878" y="6431"/>
                    </a:lnTo>
                    <a:lnTo>
                      <a:pt x="734835" y="1626"/>
                    </a:lnTo>
                    <a:lnTo>
                      <a:pt x="6858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46" name="object 53">
                <a:extLst>
                  <a:ext uri="{FF2B5EF4-FFF2-40B4-BE49-F238E27FC236}">
                    <a16:creationId xmlns:a16="http://schemas.microsoft.com/office/drawing/2014/main" id="{AD07ED93-9D23-6545-2D63-1348422D3372}"/>
                  </a:ext>
                </a:extLst>
              </p:cNvPr>
              <p:cNvSpPr>
                <a:spLocks/>
              </p:cNvSpPr>
              <p:nvPr/>
            </p:nvSpPr>
            <p:spPr bwMode="auto">
              <a:xfrm>
                <a:off x="1062037" y="2290826"/>
                <a:ext cx="1372235" cy="1295400"/>
              </a:xfrm>
              <a:custGeom>
                <a:avLst/>
                <a:gdLst>
                  <a:gd name="T0" fmla="*/ 1721 w 1372235"/>
                  <a:gd name="T1" fmla="*/ 601438 h 1295400"/>
                  <a:gd name="T2" fmla="*/ 15148 w 1372235"/>
                  <a:gd name="T3" fmla="*/ 511661 h 1295400"/>
                  <a:gd name="T4" fmla="*/ 41112 w 1372235"/>
                  <a:gd name="T5" fmla="*/ 426275 h 1295400"/>
                  <a:gd name="T6" fmla="*/ 78685 w 1372235"/>
                  <a:gd name="T7" fmla="*/ 346157 h 1295400"/>
                  <a:gd name="T8" fmla="*/ 126940 w 1372235"/>
                  <a:gd name="T9" fmla="*/ 272183 h 1295400"/>
                  <a:gd name="T10" fmla="*/ 184948 w 1372235"/>
                  <a:gd name="T11" fmla="*/ 205229 h 1295400"/>
                  <a:gd name="T12" fmla="*/ 251783 w 1372235"/>
                  <a:gd name="T13" fmla="*/ 146171 h 1295400"/>
                  <a:gd name="T14" fmla="*/ 326515 w 1372235"/>
                  <a:gd name="T15" fmla="*/ 95886 h 1295400"/>
                  <a:gd name="T16" fmla="*/ 408217 w 1372235"/>
                  <a:gd name="T17" fmla="*/ 55250 h 1295400"/>
                  <a:gd name="T18" fmla="*/ 495961 w 1372235"/>
                  <a:gd name="T19" fmla="*/ 25140 h 1295400"/>
                  <a:gd name="T20" fmla="*/ 588819 w 1372235"/>
                  <a:gd name="T21" fmla="*/ 6431 h 1295400"/>
                  <a:gd name="T22" fmla="*/ 685863 w 1372235"/>
                  <a:gd name="T23" fmla="*/ 0 h 1295400"/>
                  <a:gd name="T24" fmla="*/ 782878 w 1372235"/>
                  <a:gd name="T25" fmla="*/ 6431 h 1295400"/>
                  <a:gd name="T26" fmla="*/ 875715 w 1372235"/>
                  <a:gd name="T27" fmla="*/ 25140 h 1295400"/>
                  <a:gd name="T28" fmla="*/ 963444 w 1372235"/>
                  <a:gd name="T29" fmla="*/ 55250 h 1295400"/>
                  <a:gd name="T30" fmla="*/ 1045137 w 1372235"/>
                  <a:gd name="T31" fmla="*/ 95886 h 1295400"/>
                  <a:gd name="T32" fmla="*/ 1119865 w 1372235"/>
                  <a:gd name="T33" fmla="*/ 146171 h 1295400"/>
                  <a:gd name="T34" fmla="*/ 1186698 w 1372235"/>
                  <a:gd name="T35" fmla="*/ 205229 h 1295400"/>
                  <a:gd name="T36" fmla="*/ 1244709 w 1372235"/>
                  <a:gd name="T37" fmla="*/ 272183 h 1295400"/>
                  <a:gd name="T38" fmla="*/ 1292967 w 1372235"/>
                  <a:gd name="T39" fmla="*/ 346157 h 1295400"/>
                  <a:gd name="T40" fmla="*/ 1330544 w 1372235"/>
                  <a:gd name="T41" fmla="*/ 426275 h 1295400"/>
                  <a:gd name="T42" fmla="*/ 1356512 w 1372235"/>
                  <a:gd name="T43" fmla="*/ 511661 h 1295400"/>
                  <a:gd name="T44" fmla="*/ 1369941 w 1372235"/>
                  <a:gd name="T45" fmla="*/ 601438 h 1295400"/>
                  <a:gd name="T46" fmla="*/ 1369941 w 1372235"/>
                  <a:gd name="T47" fmla="*/ 693946 h 1295400"/>
                  <a:gd name="T48" fmla="*/ 1356512 w 1372235"/>
                  <a:gd name="T49" fmla="*/ 783700 h 1295400"/>
                  <a:gd name="T50" fmla="*/ 1330544 w 1372235"/>
                  <a:gd name="T51" fmla="*/ 869073 h 1295400"/>
                  <a:gd name="T52" fmla="*/ 1292967 w 1372235"/>
                  <a:gd name="T53" fmla="*/ 949186 h 1295400"/>
                  <a:gd name="T54" fmla="*/ 1244709 w 1372235"/>
                  <a:gd name="T55" fmla="*/ 1023161 h 1295400"/>
                  <a:gd name="T56" fmla="*/ 1186698 w 1372235"/>
                  <a:gd name="T57" fmla="*/ 1090121 h 1295400"/>
                  <a:gd name="T58" fmla="*/ 1119865 w 1372235"/>
                  <a:gd name="T59" fmla="*/ 1149187 h 1295400"/>
                  <a:gd name="T60" fmla="*/ 1045137 w 1372235"/>
                  <a:gd name="T61" fmla="*/ 1199483 h 1295400"/>
                  <a:gd name="T62" fmla="*/ 963444 w 1372235"/>
                  <a:gd name="T63" fmla="*/ 1240130 h 1295400"/>
                  <a:gd name="T64" fmla="*/ 875715 w 1372235"/>
                  <a:gd name="T65" fmla="*/ 1270250 h 1295400"/>
                  <a:gd name="T66" fmla="*/ 782878 w 1372235"/>
                  <a:gd name="T67" fmla="*/ 1288966 h 1295400"/>
                  <a:gd name="T68" fmla="*/ 685863 w 1372235"/>
                  <a:gd name="T69" fmla="*/ 1295400 h 1295400"/>
                  <a:gd name="T70" fmla="*/ 588819 w 1372235"/>
                  <a:gd name="T71" fmla="*/ 1288966 h 1295400"/>
                  <a:gd name="T72" fmla="*/ 495961 w 1372235"/>
                  <a:gd name="T73" fmla="*/ 1270250 h 1295400"/>
                  <a:gd name="T74" fmla="*/ 408217 w 1372235"/>
                  <a:gd name="T75" fmla="*/ 1240130 h 1295400"/>
                  <a:gd name="T76" fmla="*/ 326515 w 1372235"/>
                  <a:gd name="T77" fmla="*/ 1199483 h 1295400"/>
                  <a:gd name="T78" fmla="*/ 251783 w 1372235"/>
                  <a:gd name="T79" fmla="*/ 1149187 h 1295400"/>
                  <a:gd name="T80" fmla="*/ 184948 w 1372235"/>
                  <a:gd name="T81" fmla="*/ 1090121 h 1295400"/>
                  <a:gd name="T82" fmla="*/ 126940 w 1372235"/>
                  <a:gd name="T83" fmla="*/ 1023161 h 1295400"/>
                  <a:gd name="T84" fmla="*/ 78685 w 1372235"/>
                  <a:gd name="T85" fmla="*/ 949186 h 1295400"/>
                  <a:gd name="T86" fmla="*/ 41112 w 1372235"/>
                  <a:gd name="T87" fmla="*/ 869073 h 1295400"/>
                  <a:gd name="T88" fmla="*/ 15148 w 1372235"/>
                  <a:gd name="T89" fmla="*/ 783700 h 1295400"/>
                  <a:gd name="T90" fmla="*/ 1721 w 1372235"/>
                  <a:gd name="T91" fmla="*/ 69394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0" y="647700"/>
                    </a:moveTo>
                    <a:lnTo>
                      <a:pt x="1721" y="601438"/>
                    </a:lnTo>
                    <a:lnTo>
                      <a:pt x="6809" y="556056"/>
                    </a:lnTo>
                    <a:lnTo>
                      <a:pt x="15148" y="511661"/>
                    </a:lnTo>
                    <a:lnTo>
                      <a:pt x="26621" y="468365"/>
                    </a:lnTo>
                    <a:lnTo>
                      <a:pt x="41112" y="426275"/>
                    </a:lnTo>
                    <a:lnTo>
                      <a:pt x="58505" y="385503"/>
                    </a:lnTo>
                    <a:lnTo>
                      <a:pt x="78685" y="346157"/>
                    </a:lnTo>
                    <a:lnTo>
                      <a:pt x="101535" y="308347"/>
                    </a:lnTo>
                    <a:lnTo>
                      <a:pt x="126940" y="272183"/>
                    </a:lnTo>
                    <a:lnTo>
                      <a:pt x="154783" y="237774"/>
                    </a:lnTo>
                    <a:lnTo>
                      <a:pt x="184948" y="205229"/>
                    </a:lnTo>
                    <a:lnTo>
                      <a:pt x="217320" y="174658"/>
                    </a:lnTo>
                    <a:lnTo>
                      <a:pt x="251783" y="146171"/>
                    </a:lnTo>
                    <a:lnTo>
                      <a:pt x="288219" y="119877"/>
                    </a:lnTo>
                    <a:lnTo>
                      <a:pt x="326515" y="95886"/>
                    </a:lnTo>
                    <a:lnTo>
                      <a:pt x="366552" y="74307"/>
                    </a:lnTo>
                    <a:lnTo>
                      <a:pt x="408217" y="55250"/>
                    </a:lnTo>
                    <a:lnTo>
                      <a:pt x="451391" y="38824"/>
                    </a:lnTo>
                    <a:lnTo>
                      <a:pt x="495961" y="25140"/>
                    </a:lnTo>
                    <a:lnTo>
                      <a:pt x="541808" y="14305"/>
                    </a:lnTo>
                    <a:lnTo>
                      <a:pt x="588819" y="6431"/>
                    </a:lnTo>
                    <a:lnTo>
                      <a:pt x="636876" y="1626"/>
                    </a:lnTo>
                    <a:lnTo>
                      <a:pt x="685863" y="0"/>
                    </a:lnTo>
                    <a:lnTo>
                      <a:pt x="734835" y="1626"/>
                    </a:lnTo>
                    <a:lnTo>
                      <a:pt x="782878" y="6431"/>
                    </a:lnTo>
                    <a:lnTo>
                      <a:pt x="829877" y="14305"/>
                    </a:lnTo>
                    <a:lnTo>
                      <a:pt x="875715" y="25140"/>
                    </a:lnTo>
                    <a:lnTo>
                      <a:pt x="920276" y="38824"/>
                    </a:lnTo>
                    <a:lnTo>
                      <a:pt x="963444" y="55250"/>
                    </a:lnTo>
                    <a:lnTo>
                      <a:pt x="1005103" y="74307"/>
                    </a:lnTo>
                    <a:lnTo>
                      <a:pt x="1045137" y="95886"/>
                    </a:lnTo>
                    <a:lnTo>
                      <a:pt x="1083430" y="119877"/>
                    </a:lnTo>
                    <a:lnTo>
                      <a:pt x="1119865" y="146171"/>
                    </a:lnTo>
                    <a:lnTo>
                      <a:pt x="1154326" y="174658"/>
                    </a:lnTo>
                    <a:lnTo>
                      <a:pt x="1186698" y="205229"/>
                    </a:lnTo>
                    <a:lnTo>
                      <a:pt x="1216864" y="237774"/>
                    </a:lnTo>
                    <a:lnTo>
                      <a:pt x="1244709" y="272183"/>
                    </a:lnTo>
                    <a:lnTo>
                      <a:pt x="1270115" y="308347"/>
                    </a:lnTo>
                    <a:lnTo>
                      <a:pt x="1292967" y="346157"/>
                    </a:lnTo>
                    <a:lnTo>
                      <a:pt x="1313149" y="385503"/>
                    </a:lnTo>
                    <a:lnTo>
                      <a:pt x="1330544" y="426275"/>
                    </a:lnTo>
                    <a:lnTo>
                      <a:pt x="1345037" y="468365"/>
                    </a:lnTo>
                    <a:lnTo>
                      <a:pt x="1356512" y="511661"/>
                    </a:lnTo>
                    <a:lnTo>
                      <a:pt x="1364852" y="556056"/>
                    </a:lnTo>
                    <a:lnTo>
                      <a:pt x="1369941" y="601438"/>
                    </a:lnTo>
                    <a:lnTo>
                      <a:pt x="1371663" y="647700"/>
                    </a:lnTo>
                    <a:lnTo>
                      <a:pt x="1369941" y="693946"/>
                    </a:lnTo>
                    <a:lnTo>
                      <a:pt x="1364852" y="739316"/>
                    </a:lnTo>
                    <a:lnTo>
                      <a:pt x="1356512" y="783700"/>
                    </a:lnTo>
                    <a:lnTo>
                      <a:pt x="1345037" y="826989"/>
                    </a:lnTo>
                    <a:lnTo>
                      <a:pt x="1330544" y="869073"/>
                    </a:lnTo>
                    <a:lnTo>
                      <a:pt x="1313149" y="909842"/>
                    </a:lnTo>
                    <a:lnTo>
                      <a:pt x="1292967" y="949186"/>
                    </a:lnTo>
                    <a:lnTo>
                      <a:pt x="1270115" y="986995"/>
                    </a:lnTo>
                    <a:lnTo>
                      <a:pt x="1244709" y="1023161"/>
                    </a:lnTo>
                    <a:lnTo>
                      <a:pt x="1216864" y="1057572"/>
                    </a:lnTo>
                    <a:lnTo>
                      <a:pt x="1186698" y="1090121"/>
                    </a:lnTo>
                    <a:lnTo>
                      <a:pt x="1154326" y="1120695"/>
                    </a:lnTo>
                    <a:lnTo>
                      <a:pt x="1119865" y="1149187"/>
                    </a:lnTo>
                    <a:lnTo>
                      <a:pt x="1083430" y="1175486"/>
                    </a:lnTo>
                    <a:lnTo>
                      <a:pt x="1045137" y="1199483"/>
                    </a:lnTo>
                    <a:lnTo>
                      <a:pt x="1005103" y="1221067"/>
                    </a:lnTo>
                    <a:lnTo>
                      <a:pt x="963444" y="1240130"/>
                    </a:lnTo>
                    <a:lnTo>
                      <a:pt x="920276" y="1256560"/>
                    </a:lnTo>
                    <a:lnTo>
                      <a:pt x="875715" y="1270250"/>
                    </a:lnTo>
                    <a:lnTo>
                      <a:pt x="829877" y="1281088"/>
                    </a:lnTo>
                    <a:lnTo>
                      <a:pt x="782878" y="1288966"/>
                    </a:lnTo>
                    <a:lnTo>
                      <a:pt x="734835" y="1293773"/>
                    </a:lnTo>
                    <a:lnTo>
                      <a:pt x="685863" y="1295400"/>
                    </a:lnTo>
                    <a:lnTo>
                      <a:pt x="636876" y="1293773"/>
                    </a:lnTo>
                    <a:lnTo>
                      <a:pt x="588819" y="1288966"/>
                    </a:lnTo>
                    <a:lnTo>
                      <a:pt x="541808" y="1281088"/>
                    </a:lnTo>
                    <a:lnTo>
                      <a:pt x="495961" y="1270250"/>
                    </a:lnTo>
                    <a:lnTo>
                      <a:pt x="451391" y="1256560"/>
                    </a:lnTo>
                    <a:lnTo>
                      <a:pt x="408217" y="1240130"/>
                    </a:lnTo>
                    <a:lnTo>
                      <a:pt x="366552" y="1221067"/>
                    </a:lnTo>
                    <a:lnTo>
                      <a:pt x="326515" y="1199483"/>
                    </a:lnTo>
                    <a:lnTo>
                      <a:pt x="288219" y="1175486"/>
                    </a:lnTo>
                    <a:lnTo>
                      <a:pt x="251783" y="1149187"/>
                    </a:lnTo>
                    <a:lnTo>
                      <a:pt x="217320" y="1120695"/>
                    </a:lnTo>
                    <a:lnTo>
                      <a:pt x="184948" y="1090121"/>
                    </a:lnTo>
                    <a:lnTo>
                      <a:pt x="154783" y="1057572"/>
                    </a:lnTo>
                    <a:lnTo>
                      <a:pt x="126940" y="1023161"/>
                    </a:lnTo>
                    <a:lnTo>
                      <a:pt x="101535" y="986995"/>
                    </a:lnTo>
                    <a:lnTo>
                      <a:pt x="78685" y="949186"/>
                    </a:lnTo>
                    <a:lnTo>
                      <a:pt x="58505" y="909842"/>
                    </a:lnTo>
                    <a:lnTo>
                      <a:pt x="41112" y="869073"/>
                    </a:lnTo>
                    <a:lnTo>
                      <a:pt x="26621" y="826989"/>
                    </a:lnTo>
                    <a:lnTo>
                      <a:pt x="15148" y="783700"/>
                    </a:lnTo>
                    <a:lnTo>
                      <a:pt x="6809" y="739316"/>
                    </a:lnTo>
                    <a:lnTo>
                      <a:pt x="1721" y="693946"/>
                    </a:lnTo>
                    <a:lnTo>
                      <a:pt x="0" y="647700"/>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700"/>
              </a:p>
            </p:txBody>
          </p:sp>
        </p:grpSp>
        <p:sp>
          <p:nvSpPr>
            <p:cNvPr id="5047" name="object 54">
              <a:extLst>
                <a:ext uri="{FF2B5EF4-FFF2-40B4-BE49-F238E27FC236}">
                  <a16:creationId xmlns:a16="http://schemas.microsoft.com/office/drawing/2014/main" id="{AF80842B-6BEE-3767-513F-688C017DA6A6}"/>
                </a:ext>
              </a:extLst>
            </p:cNvPr>
            <p:cNvSpPr txBox="1"/>
            <p:nvPr/>
          </p:nvSpPr>
          <p:spPr>
            <a:xfrm>
              <a:off x="971550" y="1982392"/>
              <a:ext cx="701279" cy="171201"/>
            </a:xfrm>
            <a:prstGeom prst="rect">
              <a:avLst/>
            </a:prstGeom>
          </p:spPr>
          <p:txBody>
            <a:bodyPr lIns="0" tIns="9525" rIns="0" bIns="0">
              <a:spAutoFit/>
            </a:bodyPr>
            <a:lstStyle/>
            <a:p>
              <a:pPr marL="9525">
                <a:spcBef>
                  <a:spcPts val="75"/>
                </a:spcBef>
                <a:defRPr/>
              </a:pPr>
              <a:r>
                <a:rPr lang="es-419" sz="1700" spc="-8" dirty="0">
                  <a:solidFill>
                    <a:srgbClr val="FFFFFF"/>
                  </a:solidFill>
                  <a:latin typeface="Arial MT"/>
                  <a:cs typeface="Arial MT"/>
                </a:rPr>
                <a:t>Intención</a:t>
              </a:r>
              <a:endParaRPr sz="1700" dirty="0">
                <a:solidFill>
                  <a:sysClr val="windowText" lastClr="000000"/>
                </a:solidFill>
                <a:latin typeface="Arial MT"/>
                <a:cs typeface="Arial MT"/>
              </a:endParaRPr>
            </a:p>
          </p:txBody>
        </p:sp>
        <p:sp>
          <p:nvSpPr>
            <p:cNvPr id="5048" name="object 63">
              <a:extLst>
                <a:ext uri="{FF2B5EF4-FFF2-40B4-BE49-F238E27FC236}">
                  <a16:creationId xmlns:a16="http://schemas.microsoft.com/office/drawing/2014/main" id="{C50CE3BC-7B39-11FB-A8E2-25D08BC3B458}"/>
                </a:ext>
              </a:extLst>
            </p:cNvPr>
            <p:cNvSpPr txBox="1"/>
            <p:nvPr/>
          </p:nvSpPr>
          <p:spPr>
            <a:xfrm>
              <a:off x="5042297" y="1524001"/>
              <a:ext cx="870347" cy="171201"/>
            </a:xfrm>
            <a:prstGeom prst="rect">
              <a:avLst/>
            </a:prstGeom>
          </p:spPr>
          <p:txBody>
            <a:bodyPr lIns="0" tIns="9525" rIns="0" bIns="0">
              <a:spAutoFit/>
            </a:bodyPr>
            <a:lstStyle/>
            <a:p>
              <a:pPr marL="9525">
                <a:spcBef>
                  <a:spcPts val="75"/>
                </a:spcBef>
                <a:defRPr/>
              </a:pPr>
              <a:r>
                <a:rPr sz="1700" spc="-8" dirty="0" err="1">
                  <a:solidFill>
                    <a:srgbClr val="FFFFFF"/>
                  </a:solidFill>
                  <a:latin typeface="Arial MT"/>
                  <a:cs typeface="Arial MT"/>
                </a:rPr>
                <a:t>Geopolítica</a:t>
              </a:r>
              <a:endParaRPr sz="1700" dirty="0">
                <a:solidFill>
                  <a:sysClr val="windowText" lastClr="000000"/>
                </a:solidFill>
                <a:latin typeface="Arial MT"/>
                <a:cs typeface="Arial MT"/>
              </a:endParaRPr>
            </a:p>
          </p:txBody>
        </p:sp>
        <p:pic>
          <p:nvPicPr>
            <p:cNvPr id="5049" name="object 56">
              <a:extLst>
                <a:ext uri="{FF2B5EF4-FFF2-40B4-BE49-F238E27FC236}">
                  <a16:creationId xmlns:a16="http://schemas.microsoft.com/office/drawing/2014/main" id="{52AAFB5F-E590-7DCA-6044-B307CDEE9C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0416" y="2178537"/>
              <a:ext cx="489841" cy="360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50" name="object 55">
              <a:extLst>
                <a:ext uri="{FF2B5EF4-FFF2-40B4-BE49-F238E27FC236}">
                  <a16:creationId xmlns:a16="http://schemas.microsoft.com/office/drawing/2014/main" id="{95FC52DB-0018-D3B0-D8B1-6EBFF486DE45}"/>
                </a:ext>
              </a:extLst>
            </p:cNvPr>
            <p:cNvGrpSpPr>
              <a:grpSpLocks/>
            </p:cNvGrpSpPr>
            <p:nvPr/>
          </p:nvGrpSpPr>
          <p:grpSpPr bwMode="auto">
            <a:xfrm>
              <a:off x="1185320" y="1410891"/>
              <a:ext cx="5508374" cy="3184922"/>
              <a:chOff x="2230501" y="1880615"/>
              <a:chExt cx="6694424" cy="4247135"/>
            </a:xfrm>
          </p:grpSpPr>
          <p:sp>
            <p:nvSpPr>
              <p:cNvPr id="5051" name="object 57">
                <a:extLst>
                  <a:ext uri="{FF2B5EF4-FFF2-40B4-BE49-F238E27FC236}">
                    <a16:creationId xmlns:a16="http://schemas.microsoft.com/office/drawing/2014/main" id="{844C71F4-1541-0518-5FB4-731841EB17DA}"/>
                  </a:ext>
                </a:extLst>
              </p:cNvPr>
              <p:cNvSpPr>
                <a:spLocks/>
              </p:cNvSpPr>
              <p:nvPr/>
            </p:nvSpPr>
            <p:spPr bwMode="auto">
              <a:xfrm>
                <a:off x="8753475" y="1914525"/>
                <a:ext cx="171450" cy="4213225"/>
              </a:xfrm>
              <a:custGeom>
                <a:avLst/>
                <a:gdLst>
                  <a:gd name="T0" fmla="*/ 57150 w 171450"/>
                  <a:gd name="T1" fmla="*/ 4041559 h 4213225"/>
                  <a:gd name="T2" fmla="*/ 0 w 171450"/>
                  <a:gd name="T3" fmla="*/ 4041559 h 4213225"/>
                  <a:gd name="T4" fmla="*/ 85725 w 171450"/>
                  <a:gd name="T5" fmla="*/ 4213009 h 4213225"/>
                  <a:gd name="T6" fmla="*/ 157156 w 171450"/>
                  <a:gd name="T7" fmla="*/ 4070146 h 4213225"/>
                  <a:gd name="T8" fmla="*/ 57150 w 171450"/>
                  <a:gd name="T9" fmla="*/ 4070146 h 4213225"/>
                  <a:gd name="T10" fmla="*/ 57150 w 171450"/>
                  <a:gd name="T11" fmla="*/ 4041559 h 4213225"/>
                  <a:gd name="T12" fmla="*/ 114300 w 171450"/>
                  <a:gd name="T13" fmla="*/ 142875 h 4213225"/>
                  <a:gd name="T14" fmla="*/ 57150 w 171450"/>
                  <a:gd name="T15" fmla="*/ 142875 h 4213225"/>
                  <a:gd name="T16" fmla="*/ 57150 w 171450"/>
                  <a:gd name="T17" fmla="*/ 4070146 h 4213225"/>
                  <a:gd name="T18" fmla="*/ 114300 w 171450"/>
                  <a:gd name="T19" fmla="*/ 4070146 h 4213225"/>
                  <a:gd name="T20" fmla="*/ 114300 w 171450"/>
                  <a:gd name="T21" fmla="*/ 142875 h 4213225"/>
                  <a:gd name="T22" fmla="*/ 171450 w 171450"/>
                  <a:gd name="T23" fmla="*/ 4041559 h 4213225"/>
                  <a:gd name="T24" fmla="*/ 114300 w 171450"/>
                  <a:gd name="T25" fmla="*/ 4041559 h 4213225"/>
                  <a:gd name="T26" fmla="*/ 114300 w 171450"/>
                  <a:gd name="T27" fmla="*/ 4070146 h 4213225"/>
                  <a:gd name="T28" fmla="*/ 157156 w 171450"/>
                  <a:gd name="T29" fmla="*/ 4070146 h 4213225"/>
                  <a:gd name="T30" fmla="*/ 171450 w 171450"/>
                  <a:gd name="T31" fmla="*/ 4041559 h 4213225"/>
                  <a:gd name="T32" fmla="*/ 85725 w 171450"/>
                  <a:gd name="T33" fmla="*/ 0 h 4213225"/>
                  <a:gd name="T34" fmla="*/ 0 w 171450"/>
                  <a:gd name="T35" fmla="*/ 171450 h 4213225"/>
                  <a:gd name="T36" fmla="*/ 57150 w 171450"/>
                  <a:gd name="T37" fmla="*/ 171450 h 4213225"/>
                  <a:gd name="T38" fmla="*/ 57150 w 171450"/>
                  <a:gd name="T39" fmla="*/ 142875 h 4213225"/>
                  <a:gd name="T40" fmla="*/ 157162 w 171450"/>
                  <a:gd name="T41" fmla="*/ 142875 h 4213225"/>
                  <a:gd name="T42" fmla="*/ 85725 w 171450"/>
                  <a:gd name="T43" fmla="*/ 0 h 4213225"/>
                  <a:gd name="T44" fmla="*/ 157162 w 171450"/>
                  <a:gd name="T45" fmla="*/ 142875 h 4213225"/>
                  <a:gd name="T46" fmla="*/ 114300 w 171450"/>
                  <a:gd name="T47" fmla="*/ 142875 h 4213225"/>
                  <a:gd name="T48" fmla="*/ 114300 w 171450"/>
                  <a:gd name="T49" fmla="*/ 171450 h 4213225"/>
                  <a:gd name="T50" fmla="*/ 171450 w 171450"/>
                  <a:gd name="T51" fmla="*/ 171450 h 4213225"/>
                  <a:gd name="T52" fmla="*/ 157162 w 171450"/>
                  <a:gd name="T53" fmla="*/ 142875 h 421322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71450" h="4213225">
                    <a:moveTo>
                      <a:pt x="57150" y="4041559"/>
                    </a:moveTo>
                    <a:lnTo>
                      <a:pt x="0" y="4041559"/>
                    </a:lnTo>
                    <a:lnTo>
                      <a:pt x="85725" y="4213009"/>
                    </a:lnTo>
                    <a:lnTo>
                      <a:pt x="157156" y="4070146"/>
                    </a:lnTo>
                    <a:lnTo>
                      <a:pt x="57150" y="4070146"/>
                    </a:lnTo>
                    <a:lnTo>
                      <a:pt x="57150" y="4041559"/>
                    </a:lnTo>
                    <a:close/>
                  </a:path>
                  <a:path w="171450" h="4213225">
                    <a:moveTo>
                      <a:pt x="114300" y="142875"/>
                    </a:moveTo>
                    <a:lnTo>
                      <a:pt x="57150" y="142875"/>
                    </a:lnTo>
                    <a:lnTo>
                      <a:pt x="57150" y="4070146"/>
                    </a:lnTo>
                    <a:lnTo>
                      <a:pt x="114300" y="4070146"/>
                    </a:lnTo>
                    <a:lnTo>
                      <a:pt x="114300" y="142875"/>
                    </a:lnTo>
                    <a:close/>
                  </a:path>
                  <a:path w="171450" h="4213225">
                    <a:moveTo>
                      <a:pt x="171450" y="4041559"/>
                    </a:moveTo>
                    <a:lnTo>
                      <a:pt x="114300" y="4041559"/>
                    </a:lnTo>
                    <a:lnTo>
                      <a:pt x="114300" y="4070146"/>
                    </a:lnTo>
                    <a:lnTo>
                      <a:pt x="157156" y="4070146"/>
                    </a:lnTo>
                    <a:lnTo>
                      <a:pt x="171450" y="4041559"/>
                    </a:lnTo>
                    <a:close/>
                  </a:path>
                  <a:path w="171450" h="4213225">
                    <a:moveTo>
                      <a:pt x="85725" y="0"/>
                    </a:moveTo>
                    <a:lnTo>
                      <a:pt x="0" y="171450"/>
                    </a:lnTo>
                    <a:lnTo>
                      <a:pt x="57150" y="171450"/>
                    </a:lnTo>
                    <a:lnTo>
                      <a:pt x="57150" y="142875"/>
                    </a:lnTo>
                    <a:lnTo>
                      <a:pt x="157162" y="142875"/>
                    </a:lnTo>
                    <a:lnTo>
                      <a:pt x="85725" y="0"/>
                    </a:lnTo>
                    <a:close/>
                  </a:path>
                  <a:path w="171450" h="4213225">
                    <a:moveTo>
                      <a:pt x="157162" y="142875"/>
                    </a:moveTo>
                    <a:lnTo>
                      <a:pt x="114300" y="142875"/>
                    </a:lnTo>
                    <a:lnTo>
                      <a:pt x="114300" y="171450"/>
                    </a:lnTo>
                    <a:lnTo>
                      <a:pt x="171450" y="171450"/>
                    </a:lnTo>
                    <a:lnTo>
                      <a:pt x="157162" y="142875"/>
                    </a:lnTo>
                    <a:close/>
                  </a:path>
                </a:pathLst>
              </a:custGeom>
              <a:solidFill>
                <a:srgbClr val="00AFE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sp>
            <p:nvSpPr>
              <p:cNvPr id="5052" name="object 58">
                <a:extLst>
                  <a:ext uri="{FF2B5EF4-FFF2-40B4-BE49-F238E27FC236}">
                    <a16:creationId xmlns:a16="http://schemas.microsoft.com/office/drawing/2014/main" id="{96B6B964-2576-1592-0F8B-9948529B2C3B}"/>
                  </a:ext>
                </a:extLst>
              </p:cNvPr>
              <p:cNvSpPr>
                <a:spLocks/>
              </p:cNvSpPr>
              <p:nvPr/>
            </p:nvSpPr>
            <p:spPr bwMode="auto">
              <a:xfrm>
                <a:off x="2230501" y="1880615"/>
                <a:ext cx="2687955" cy="3698875"/>
              </a:xfrm>
              <a:custGeom>
                <a:avLst/>
                <a:gdLst>
                  <a:gd name="T0" fmla="*/ 59944 w 2687954"/>
                  <a:gd name="T1" fmla="*/ 502920 h 3698875"/>
                  <a:gd name="T2" fmla="*/ 60198 w 2687954"/>
                  <a:gd name="T3" fmla="*/ 3182874 h 3698875"/>
                  <a:gd name="T4" fmla="*/ 96901 w 2687954"/>
                  <a:gd name="T5" fmla="*/ 3253232 h 3698875"/>
                  <a:gd name="T6" fmla="*/ 171323 w 2687954"/>
                  <a:gd name="T7" fmla="*/ 3293618 h 3698875"/>
                  <a:gd name="T8" fmla="*/ 186309 w 2687954"/>
                  <a:gd name="T9" fmla="*/ 409194 h 3698875"/>
                  <a:gd name="T10" fmla="*/ 166243 w 2687954"/>
                  <a:gd name="T11" fmla="*/ 3347847 h 3698875"/>
                  <a:gd name="T12" fmla="*/ 240665 w 2687954"/>
                  <a:gd name="T13" fmla="*/ 357759 h 3698875"/>
                  <a:gd name="T14" fmla="*/ 273685 w 2687954"/>
                  <a:gd name="T15" fmla="*/ 3399917 h 3698875"/>
                  <a:gd name="T16" fmla="*/ 310769 w 2687954"/>
                  <a:gd name="T17" fmla="*/ 3429635 h 3698875"/>
                  <a:gd name="T18" fmla="*/ 339598 w 2687954"/>
                  <a:gd name="T19" fmla="*/ 235966 h 3698875"/>
                  <a:gd name="T20" fmla="*/ 344043 w 2687954"/>
                  <a:gd name="T21" fmla="*/ 3498596 h 3698875"/>
                  <a:gd name="T22" fmla="*/ 391922 w 2687954"/>
                  <a:gd name="T23" fmla="*/ 249047 h 3698875"/>
                  <a:gd name="T24" fmla="*/ 445897 w 2687954"/>
                  <a:gd name="T25" fmla="*/ 3555365 h 3698875"/>
                  <a:gd name="T26" fmla="*/ 488442 w 2687954"/>
                  <a:gd name="T27" fmla="*/ 196596 h 3698875"/>
                  <a:gd name="T28" fmla="*/ 516509 w 2687954"/>
                  <a:gd name="T29" fmla="*/ 3586480 h 3698875"/>
                  <a:gd name="T30" fmla="*/ 558038 w 2687954"/>
                  <a:gd name="T31" fmla="*/ 165735 h 3698875"/>
                  <a:gd name="T32" fmla="*/ 588899 w 2687954"/>
                  <a:gd name="T33" fmla="*/ 3613150 h 3698875"/>
                  <a:gd name="T34" fmla="*/ 672846 w 2687954"/>
                  <a:gd name="T35" fmla="*/ 3598926 h 3698875"/>
                  <a:gd name="T36" fmla="*/ 701929 w 2687954"/>
                  <a:gd name="T37" fmla="*/ 115443 h 3698875"/>
                  <a:gd name="T38" fmla="*/ 700278 w 2687954"/>
                  <a:gd name="T39" fmla="*/ 3645916 h 3698875"/>
                  <a:gd name="T40" fmla="*/ 774573 w 2687954"/>
                  <a:gd name="T41" fmla="*/ 95885 h 3698875"/>
                  <a:gd name="T42" fmla="*/ 840105 w 2687954"/>
                  <a:gd name="T43" fmla="*/ 42164 h 3698875"/>
                  <a:gd name="T44" fmla="*/ 889000 w 2687954"/>
                  <a:gd name="T45" fmla="*/ 3681222 h 3698875"/>
                  <a:gd name="T46" fmla="*/ 969264 w 2687954"/>
                  <a:gd name="T47" fmla="*/ 3651758 h 3698875"/>
                  <a:gd name="T48" fmla="*/ 954278 w 2687954"/>
                  <a:gd name="T49" fmla="*/ 22352 h 3698875"/>
                  <a:gd name="T50" fmla="*/ 1044575 w 2687954"/>
                  <a:gd name="T51" fmla="*/ 3657219 h 3698875"/>
                  <a:gd name="T52" fmla="*/ 1040752 w 2687954"/>
                  <a:gd name="T53" fmla="*/ 49911 h 3698875"/>
                  <a:gd name="T54" fmla="*/ 1146937 w 2687954"/>
                  <a:gd name="T55" fmla="*/ 41656 h 3698875"/>
                  <a:gd name="T56" fmla="*/ 1146937 w 2687954"/>
                  <a:gd name="T57" fmla="*/ 41656 h 3698875"/>
                  <a:gd name="T58" fmla="*/ 1195832 w 2687954"/>
                  <a:gd name="T59" fmla="*/ 3698240 h 3698875"/>
                  <a:gd name="T60" fmla="*/ 1185037 w 2687954"/>
                  <a:gd name="T61" fmla="*/ 40005 h 3698875"/>
                  <a:gd name="T62" fmla="*/ 1234567 w 2687954"/>
                  <a:gd name="T63" fmla="*/ 3697478 h 3698875"/>
                  <a:gd name="T64" fmla="*/ 1349376 w 2687954"/>
                  <a:gd name="T65" fmla="*/ 3691128 h 3698875"/>
                  <a:gd name="T66" fmla="*/ 1336040 w 2687954"/>
                  <a:gd name="T67" fmla="*/ 38354 h 3698875"/>
                  <a:gd name="T68" fmla="*/ 1387349 w 2687954"/>
                  <a:gd name="T69" fmla="*/ 3688207 h 3698875"/>
                  <a:gd name="T70" fmla="*/ 1414146 w 2687954"/>
                  <a:gd name="T71" fmla="*/ 40640 h 3698875"/>
                  <a:gd name="T72" fmla="*/ 1463676 w 2687954"/>
                  <a:gd name="T73" fmla="*/ 3680079 h 3698875"/>
                  <a:gd name="T74" fmla="*/ 1512571 w 2687954"/>
                  <a:gd name="T75" fmla="*/ 47117 h 3698875"/>
                  <a:gd name="T76" fmla="*/ 1539749 w 2687954"/>
                  <a:gd name="T77" fmla="*/ 3669792 h 3698875"/>
                  <a:gd name="T78" fmla="*/ 1604519 w 2687954"/>
                  <a:gd name="T79" fmla="*/ 17907 h 3698875"/>
                  <a:gd name="T80" fmla="*/ 1653668 w 2687954"/>
                  <a:gd name="T81" fmla="*/ 3650615 h 3698875"/>
                  <a:gd name="T82" fmla="*/ 1720724 w 2687954"/>
                  <a:gd name="T83" fmla="*/ 3598164 h 3698875"/>
                  <a:gd name="T84" fmla="*/ 1713459 w 2687954"/>
                  <a:gd name="T85" fmla="*/ 70358 h 3698875"/>
                  <a:gd name="T86" fmla="*/ 1766063 w 2687954"/>
                  <a:gd name="T87" fmla="*/ 3626866 h 3698875"/>
                  <a:gd name="T88" fmla="*/ 1825118 w 2687954"/>
                  <a:gd name="T89" fmla="*/ 88646 h 3698875"/>
                  <a:gd name="T90" fmla="*/ 1907160 w 2687954"/>
                  <a:gd name="T91" fmla="*/ 65913 h 3698875"/>
                  <a:gd name="T92" fmla="*/ 1904874 w 2687954"/>
                  <a:gd name="T93" fmla="*/ 3552190 h 3698875"/>
                  <a:gd name="T94" fmla="*/ 1973708 w 2687954"/>
                  <a:gd name="T95" fmla="*/ 119380 h 3698875"/>
                  <a:gd name="T96" fmla="*/ 2004442 w 2687954"/>
                  <a:gd name="T97" fmla="*/ 3562223 h 3698875"/>
                  <a:gd name="T98" fmla="*/ 2047368 w 2687954"/>
                  <a:gd name="T99" fmla="*/ 136779 h 3698875"/>
                  <a:gd name="T100" fmla="*/ 2094612 w 2687954"/>
                  <a:gd name="T101" fmla="*/ 3532378 h 3698875"/>
                  <a:gd name="T102" fmla="*/ 2204467 w 2687954"/>
                  <a:gd name="T103" fmla="*/ 139954 h 3698875"/>
                  <a:gd name="T104" fmla="*/ 2133156 w 2687954"/>
                  <a:gd name="T105" fmla="*/ 3477564 h 3698875"/>
                  <a:gd name="T106" fmla="*/ 2278000 w 2687954"/>
                  <a:gd name="T107" fmla="*/ 162052 h 3698875"/>
                  <a:gd name="T108" fmla="*/ 2350517 w 2687954"/>
                  <a:gd name="T109" fmla="*/ 185293 h 3698875"/>
                  <a:gd name="T110" fmla="*/ 2374393 w 2687954"/>
                  <a:gd name="T111" fmla="*/ 233680 h 3698875"/>
                  <a:gd name="T112" fmla="*/ 2460753 w 2687954"/>
                  <a:gd name="T113" fmla="*/ 264033 h 3698875"/>
                  <a:gd name="T114" fmla="*/ 2566290 w 2687954"/>
                  <a:gd name="T115" fmla="*/ 263906 h 36988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687954" h="3698875">
                    <a:moveTo>
                      <a:pt x="51816" y="587502"/>
                    </a:moveTo>
                    <a:lnTo>
                      <a:pt x="18669" y="568706"/>
                    </a:lnTo>
                    <a:lnTo>
                      <a:pt x="0" y="601980"/>
                    </a:lnTo>
                    <a:lnTo>
                      <a:pt x="33147" y="620649"/>
                    </a:lnTo>
                    <a:lnTo>
                      <a:pt x="51816" y="587502"/>
                    </a:lnTo>
                    <a:close/>
                  </a:path>
                  <a:path w="2687954" h="3698875">
                    <a:moveTo>
                      <a:pt x="91440" y="524256"/>
                    </a:moveTo>
                    <a:lnTo>
                      <a:pt x="59944" y="502920"/>
                    </a:lnTo>
                    <a:lnTo>
                      <a:pt x="38608" y="534543"/>
                    </a:lnTo>
                    <a:lnTo>
                      <a:pt x="70104" y="555879"/>
                    </a:lnTo>
                    <a:lnTo>
                      <a:pt x="91440" y="524256"/>
                    </a:lnTo>
                    <a:close/>
                  </a:path>
                  <a:path w="2687954" h="3698875">
                    <a:moveTo>
                      <a:pt x="95123" y="3167761"/>
                    </a:moveTo>
                    <a:lnTo>
                      <a:pt x="80010" y="3132709"/>
                    </a:lnTo>
                    <a:lnTo>
                      <a:pt x="45085" y="3147822"/>
                    </a:lnTo>
                    <a:lnTo>
                      <a:pt x="60198" y="3182874"/>
                    </a:lnTo>
                    <a:lnTo>
                      <a:pt x="95123" y="3167761"/>
                    </a:lnTo>
                    <a:close/>
                  </a:path>
                  <a:path w="2687954" h="3698875">
                    <a:moveTo>
                      <a:pt x="128778" y="3232404"/>
                    </a:moveTo>
                    <a:lnTo>
                      <a:pt x="127254" y="3230245"/>
                    </a:lnTo>
                    <a:lnTo>
                      <a:pt x="111125" y="3200400"/>
                    </a:lnTo>
                    <a:lnTo>
                      <a:pt x="77597" y="3218434"/>
                    </a:lnTo>
                    <a:lnTo>
                      <a:pt x="93726" y="3248279"/>
                    </a:lnTo>
                    <a:lnTo>
                      <a:pt x="96901" y="3253232"/>
                    </a:lnTo>
                    <a:lnTo>
                      <a:pt x="128778" y="3232404"/>
                    </a:lnTo>
                    <a:close/>
                  </a:path>
                  <a:path w="2687954" h="3698875">
                    <a:moveTo>
                      <a:pt x="136525" y="464693"/>
                    </a:moveTo>
                    <a:lnTo>
                      <a:pt x="106680" y="440944"/>
                    </a:lnTo>
                    <a:lnTo>
                      <a:pt x="82931" y="470789"/>
                    </a:lnTo>
                    <a:lnTo>
                      <a:pt x="112776" y="494538"/>
                    </a:lnTo>
                    <a:lnTo>
                      <a:pt x="136525" y="464693"/>
                    </a:lnTo>
                    <a:close/>
                  </a:path>
                  <a:path w="2687954" h="3698875">
                    <a:moveTo>
                      <a:pt x="171323" y="3293618"/>
                    </a:moveTo>
                    <a:lnTo>
                      <a:pt x="156464" y="3274695"/>
                    </a:lnTo>
                    <a:lnTo>
                      <a:pt x="149606" y="3264281"/>
                    </a:lnTo>
                    <a:lnTo>
                      <a:pt x="117729" y="3285109"/>
                    </a:lnTo>
                    <a:lnTo>
                      <a:pt x="124587" y="3295650"/>
                    </a:lnTo>
                    <a:lnTo>
                      <a:pt x="141224" y="3316986"/>
                    </a:lnTo>
                    <a:lnTo>
                      <a:pt x="171323" y="3293618"/>
                    </a:lnTo>
                    <a:close/>
                  </a:path>
                  <a:path w="2687954" h="3698875">
                    <a:moveTo>
                      <a:pt x="186309" y="409194"/>
                    </a:moveTo>
                    <a:lnTo>
                      <a:pt x="158496" y="383159"/>
                    </a:lnTo>
                    <a:lnTo>
                      <a:pt x="132461" y="410972"/>
                    </a:lnTo>
                    <a:lnTo>
                      <a:pt x="160401" y="437007"/>
                    </a:lnTo>
                    <a:lnTo>
                      <a:pt x="186309" y="409194"/>
                    </a:lnTo>
                    <a:close/>
                  </a:path>
                  <a:path w="2687954" h="3698875">
                    <a:moveTo>
                      <a:pt x="220091" y="3350018"/>
                    </a:moveTo>
                    <a:lnTo>
                      <a:pt x="194310" y="3321939"/>
                    </a:lnTo>
                    <a:lnTo>
                      <a:pt x="166243" y="3347847"/>
                    </a:lnTo>
                    <a:lnTo>
                      <a:pt x="192024" y="3375787"/>
                    </a:lnTo>
                    <a:lnTo>
                      <a:pt x="220091" y="3350018"/>
                    </a:lnTo>
                    <a:close/>
                  </a:path>
                  <a:path w="2687954" h="3698875">
                    <a:moveTo>
                      <a:pt x="240665" y="357759"/>
                    </a:moveTo>
                    <a:lnTo>
                      <a:pt x="214757" y="329692"/>
                    </a:lnTo>
                    <a:lnTo>
                      <a:pt x="186817" y="355600"/>
                    </a:lnTo>
                    <a:lnTo>
                      <a:pt x="212598" y="383540"/>
                    </a:lnTo>
                    <a:lnTo>
                      <a:pt x="240665" y="357759"/>
                    </a:lnTo>
                    <a:close/>
                  </a:path>
                  <a:path w="2687954" h="3698875">
                    <a:moveTo>
                      <a:pt x="273685" y="3399917"/>
                    </a:moveTo>
                    <a:lnTo>
                      <a:pt x="266827" y="3394456"/>
                    </a:lnTo>
                    <a:lnTo>
                      <a:pt x="246380" y="3375406"/>
                    </a:lnTo>
                    <a:lnTo>
                      <a:pt x="220472" y="3403346"/>
                    </a:lnTo>
                    <a:lnTo>
                      <a:pt x="240919" y="3422396"/>
                    </a:lnTo>
                    <a:lnTo>
                      <a:pt x="249936" y="3429635"/>
                    </a:lnTo>
                    <a:lnTo>
                      <a:pt x="273685" y="3399917"/>
                    </a:lnTo>
                    <a:close/>
                  </a:path>
                  <a:path w="2687954" h="3698875">
                    <a:moveTo>
                      <a:pt x="298704" y="310642"/>
                    </a:moveTo>
                    <a:lnTo>
                      <a:pt x="274955" y="280797"/>
                    </a:lnTo>
                    <a:lnTo>
                      <a:pt x="245237" y="304673"/>
                    </a:lnTo>
                    <a:lnTo>
                      <a:pt x="268986" y="334391"/>
                    </a:lnTo>
                    <a:lnTo>
                      <a:pt x="298704" y="310642"/>
                    </a:lnTo>
                    <a:close/>
                  </a:path>
                  <a:path w="2687954" h="3698875">
                    <a:moveTo>
                      <a:pt x="333248" y="3445256"/>
                    </a:moveTo>
                    <a:lnTo>
                      <a:pt x="310769" y="3429635"/>
                    </a:lnTo>
                    <a:lnTo>
                      <a:pt x="303403" y="3423793"/>
                    </a:lnTo>
                    <a:lnTo>
                      <a:pt x="279654" y="3453511"/>
                    </a:lnTo>
                    <a:lnTo>
                      <a:pt x="286893" y="3459353"/>
                    </a:lnTo>
                    <a:lnTo>
                      <a:pt x="311531" y="3476498"/>
                    </a:lnTo>
                    <a:lnTo>
                      <a:pt x="333248" y="3445256"/>
                    </a:lnTo>
                    <a:close/>
                  </a:path>
                  <a:path w="2687954" h="3698875">
                    <a:moveTo>
                      <a:pt x="359791" y="268224"/>
                    </a:moveTo>
                    <a:lnTo>
                      <a:pt x="339598" y="235966"/>
                    </a:lnTo>
                    <a:lnTo>
                      <a:pt x="338201" y="236982"/>
                    </a:lnTo>
                    <a:lnTo>
                      <a:pt x="307213" y="258191"/>
                    </a:lnTo>
                    <a:lnTo>
                      <a:pt x="328930" y="289560"/>
                    </a:lnTo>
                    <a:lnTo>
                      <a:pt x="359791" y="268224"/>
                    </a:lnTo>
                    <a:close/>
                  </a:path>
                  <a:path w="2687954" h="3698875">
                    <a:moveTo>
                      <a:pt x="396367" y="3485642"/>
                    </a:moveTo>
                    <a:lnTo>
                      <a:pt x="363855" y="3465957"/>
                    </a:lnTo>
                    <a:lnTo>
                      <a:pt x="344043" y="3498596"/>
                    </a:lnTo>
                    <a:lnTo>
                      <a:pt x="376682" y="3518281"/>
                    </a:lnTo>
                    <a:lnTo>
                      <a:pt x="396367" y="3485642"/>
                    </a:lnTo>
                    <a:close/>
                  </a:path>
                  <a:path w="2687954" h="3698875">
                    <a:moveTo>
                      <a:pt x="423672" y="230124"/>
                    </a:moveTo>
                    <a:lnTo>
                      <a:pt x="406146" y="196342"/>
                    </a:lnTo>
                    <a:lnTo>
                      <a:pt x="402717" y="198120"/>
                    </a:lnTo>
                    <a:lnTo>
                      <a:pt x="372364" y="216408"/>
                    </a:lnTo>
                    <a:lnTo>
                      <a:pt x="391922" y="249047"/>
                    </a:lnTo>
                    <a:lnTo>
                      <a:pt x="422275" y="230886"/>
                    </a:lnTo>
                    <a:lnTo>
                      <a:pt x="423672" y="230124"/>
                    </a:lnTo>
                    <a:close/>
                  </a:path>
                  <a:path w="2687954" h="3698875">
                    <a:moveTo>
                      <a:pt x="462407" y="3521075"/>
                    </a:moveTo>
                    <a:lnTo>
                      <a:pt x="428752" y="3503549"/>
                    </a:lnTo>
                    <a:lnTo>
                      <a:pt x="411099" y="3537331"/>
                    </a:lnTo>
                    <a:lnTo>
                      <a:pt x="444754" y="3554857"/>
                    </a:lnTo>
                    <a:lnTo>
                      <a:pt x="445897" y="3555365"/>
                    </a:lnTo>
                    <a:lnTo>
                      <a:pt x="462407" y="3521075"/>
                    </a:lnTo>
                    <a:close/>
                  </a:path>
                  <a:path w="2687954" h="3698875">
                    <a:moveTo>
                      <a:pt x="490347" y="195834"/>
                    </a:moveTo>
                    <a:lnTo>
                      <a:pt x="474853" y="161036"/>
                    </a:lnTo>
                    <a:lnTo>
                      <a:pt x="470916" y="162814"/>
                    </a:lnTo>
                    <a:lnTo>
                      <a:pt x="439928" y="178816"/>
                    </a:lnTo>
                    <a:lnTo>
                      <a:pt x="457454" y="212725"/>
                    </a:lnTo>
                    <a:lnTo>
                      <a:pt x="488442" y="196596"/>
                    </a:lnTo>
                    <a:lnTo>
                      <a:pt x="490347" y="195834"/>
                    </a:lnTo>
                    <a:close/>
                  </a:path>
                  <a:path w="2687954" h="3698875">
                    <a:moveTo>
                      <a:pt x="530352" y="3550920"/>
                    </a:moveTo>
                    <a:lnTo>
                      <a:pt x="519049" y="3546602"/>
                    </a:lnTo>
                    <a:lnTo>
                      <a:pt x="496189" y="3536315"/>
                    </a:lnTo>
                    <a:lnTo>
                      <a:pt x="480568" y="3570986"/>
                    </a:lnTo>
                    <a:lnTo>
                      <a:pt x="503428" y="3581273"/>
                    </a:lnTo>
                    <a:lnTo>
                      <a:pt x="516509" y="3586480"/>
                    </a:lnTo>
                    <a:lnTo>
                      <a:pt x="530352" y="3550920"/>
                    </a:lnTo>
                    <a:close/>
                  </a:path>
                  <a:path w="2687954" h="3698875">
                    <a:moveTo>
                      <a:pt x="559054" y="165354"/>
                    </a:moveTo>
                    <a:lnTo>
                      <a:pt x="545592" y="129667"/>
                    </a:lnTo>
                    <a:lnTo>
                      <a:pt x="542417" y="130937"/>
                    </a:lnTo>
                    <a:lnTo>
                      <a:pt x="509651" y="145542"/>
                    </a:lnTo>
                    <a:lnTo>
                      <a:pt x="525145" y="180340"/>
                    </a:lnTo>
                    <a:lnTo>
                      <a:pt x="558038" y="165735"/>
                    </a:lnTo>
                    <a:lnTo>
                      <a:pt x="559054" y="165354"/>
                    </a:lnTo>
                    <a:close/>
                  </a:path>
                  <a:path w="2687954" h="3698875">
                    <a:moveTo>
                      <a:pt x="600837" y="3576955"/>
                    </a:moveTo>
                    <a:lnTo>
                      <a:pt x="578739" y="3569716"/>
                    </a:lnTo>
                    <a:lnTo>
                      <a:pt x="565785" y="3564763"/>
                    </a:lnTo>
                    <a:lnTo>
                      <a:pt x="552069" y="3600196"/>
                    </a:lnTo>
                    <a:lnTo>
                      <a:pt x="564896" y="3605276"/>
                    </a:lnTo>
                    <a:lnTo>
                      <a:pt x="588899" y="3613150"/>
                    </a:lnTo>
                    <a:lnTo>
                      <a:pt x="600837" y="3576955"/>
                    </a:lnTo>
                    <a:close/>
                  </a:path>
                  <a:path w="2687954" h="3698875">
                    <a:moveTo>
                      <a:pt x="630301" y="138303"/>
                    </a:moveTo>
                    <a:lnTo>
                      <a:pt x="616839" y="102743"/>
                    </a:lnTo>
                    <a:lnTo>
                      <a:pt x="581152" y="116205"/>
                    </a:lnTo>
                    <a:lnTo>
                      <a:pt x="594614" y="151892"/>
                    </a:lnTo>
                    <a:lnTo>
                      <a:pt x="630301" y="138303"/>
                    </a:lnTo>
                    <a:close/>
                  </a:path>
                  <a:path w="2687954" h="3698875">
                    <a:moveTo>
                      <a:pt x="672846" y="3598926"/>
                    </a:moveTo>
                    <a:lnTo>
                      <a:pt x="641096" y="3590290"/>
                    </a:lnTo>
                    <a:lnTo>
                      <a:pt x="637032" y="3588893"/>
                    </a:lnTo>
                    <a:lnTo>
                      <a:pt x="625094" y="3625088"/>
                    </a:lnTo>
                    <a:lnTo>
                      <a:pt x="629285" y="3626485"/>
                    </a:lnTo>
                    <a:lnTo>
                      <a:pt x="662686" y="3635756"/>
                    </a:lnTo>
                    <a:lnTo>
                      <a:pt x="672846" y="3598926"/>
                    </a:lnTo>
                    <a:close/>
                  </a:path>
                  <a:path w="2687954" h="3698875">
                    <a:moveTo>
                      <a:pt x="701929" y="115443"/>
                    </a:moveTo>
                    <a:lnTo>
                      <a:pt x="690372" y="79121"/>
                    </a:lnTo>
                    <a:lnTo>
                      <a:pt x="654050" y="90805"/>
                    </a:lnTo>
                    <a:lnTo>
                      <a:pt x="665607" y="127000"/>
                    </a:lnTo>
                    <a:lnTo>
                      <a:pt x="701929" y="115443"/>
                    </a:lnTo>
                    <a:close/>
                  </a:path>
                  <a:path w="2687954" h="3698875">
                    <a:moveTo>
                      <a:pt x="745871" y="3617214"/>
                    </a:moveTo>
                    <a:lnTo>
                      <a:pt x="708787" y="3608705"/>
                    </a:lnTo>
                    <a:lnTo>
                      <a:pt x="700278" y="3645916"/>
                    </a:lnTo>
                    <a:lnTo>
                      <a:pt x="737362" y="3654425"/>
                    </a:lnTo>
                    <a:lnTo>
                      <a:pt x="745871" y="3617214"/>
                    </a:lnTo>
                    <a:close/>
                  </a:path>
                  <a:path w="2687954" h="3698875">
                    <a:moveTo>
                      <a:pt x="774573" y="95885"/>
                    </a:moveTo>
                    <a:lnTo>
                      <a:pt x="764794" y="59055"/>
                    </a:lnTo>
                    <a:lnTo>
                      <a:pt x="727964" y="68834"/>
                    </a:lnTo>
                    <a:lnTo>
                      <a:pt x="737743" y="105664"/>
                    </a:lnTo>
                    <a:lnTo>
                      <a:pt x="774573" y="95885"/>
                    </a:lnTo>
                    <a:close/>
                  </a:path>
                  <a:path w="2687954" h="3698875">
                    <a:moveTo>
                      <a:pt x="819785" y="3631946"/>
                    </a:moveTo>
                    <a:lnTo>
                      <a:pt x="782320" y="3625088"/>
                    </a:lnTo>
                    <a:lnTo>
                      <a:pt x="775462" y="3662680"/>
                    </a:lnTo>
                    <a:lnTo>
                      <a:pt x="812927" y="3669411"/>
                    </a:lnTo>
                    <a:lnTo>
                      <a:pt x="819785" y="3631946"/>
                    </a:lnTo>
                    <a:close/>
                  </a:path>
                  <a:path w="2687954" h="3698875">
                    <a:moveTo>
                      <a:pt x="848106" y="79502"/>
                    </a:moveTo>
                    <a:lnTo>
                      <a:pt x="840105" y="42164"/>
                    </a:lnTo>
                    <a:lnTo>
                      <a:pt x="802767" y="50165"/>
                    </a:lnTo>
                    <a:lnTo>
                      <a:pt x="810768" y="87503"/>
                    </a:lnTo>
                    <a:lnTo>
                      <a:pt x="848106" y="79502"/>
                    </a:lnTo>
                    <a:close/>
                  </a:path>
                  <a:path w="2687954" h="3698875">
                    <a:moveTo>
                      <a:pt x="894334" y="3643503"/>
                    </a:moveTo>
                    <a:lnTo>
                      <a:pt x="856615" y="3638169"/>
                    </a:lnTo>
                    <a:lnTo>
                      <a:pt x="851281" y="3675888"/>
                    </a:lnTo>
                    <a:lnTo>
                      <a:pt x="889000" y="3681222"/>
                    </a:lnTo>
                    <a:lnTo>
                      <a:pt x="894334" y="3643503"/>
                    </a:lnTo>
                    <a:close/>
                  </a:path>
                  <a:path w="2687954" h="3698875">
                    <a:moveTo>
                      <a:pt x="922147" y="66040"/>
                    </a:moveTo>
                    <a:lnTo>
                      <a:pt x="915797" y="28448"/>
                    </a:lnTo>
                    <a:lnTo>
                      <a:pt x="878205" y="34798"/>
                    </a:lnTo>
                    <a:lnTo>
                      <a:pt x="884555" y="72390"/>
                    </a:lnTo>
                    <a:lnTo>
                      <a:pt x="922147" y="66040"/>
                    </a:lnTo>
                    <a:close/>
                  </a:path>
                  <a:path w="2687954" h="3698875">
                    <a:moveTo>
                      <a:pt x="969264" y="3651758"/>
                    </a:moveTo>
                    <a:lnTo>
                      <a:pt x="931291" y="3648075"/>
                    </a:lnTo>
                    <a:lnTo>
                      <a:pt x="927481" y="3685921"/>
                    </a:lnTo>
                    <a:lnTo>
                      <a:pt x="965454" y="3689731"/>
                    </a:lnTo>
                    <a:lnTo>
                      <a:pt x="969264" y="3651758"/>
                    </a:lnTo>
                    <a:close/>
                  </a:path>
                  <a:path w="2687954" h="3698875">
                    <a:moveTo>
                      <a:pt x="996823" y="55372"/>
                    </a:moveTo>
                    <a:lnTo>
                      <a:pt x="992124" y="17653"/>
                    </a:lnTo>
                    <a:lnTo>
                      <a:pt x="954278" y="22352"/>
                    </a:lnTo>
                    <a:lnTo>
                      <a:pt x="958977" y="60071"/>
                    </a:lnTo>
                    <a:lnTo>
                      <a:pt x="996823" y="55372"/>
                    </a:lnTo>
                    <a:close/>
                  </a:path>
                  <a:path w="2687954" h="3698875">
                    <a:moveTo>
                      <a:pt x="1044575" y="3657219"/>
                    </a:moveTo>
                    <a:lnTo>
                      <a:pt x="1006475" y="3654933"/>
                    </a:lnTo>
                    <a:lnTo>
                      <a:pt x="1004189" y="3692906"/>
                    </a:lnTo>
                    <a:lnTo>
                      <a:pt x="1042162" y="3695319"/>
                    </a:lnTo>
                    <a:lnTo>
                      <a:pt x="1044575" y="3657219"/>
                    </a:lnTo>
                    <a:close/>
                  </a:path>
                  <a:path w="2687954" h="3698875">
                    <a:moveTo>
                      <a:pt x="1071740" y="47371"/>
                    </a:moveTo>
                    <a:lnTo>
                      <a:pt x="1068565" y="9398"/>
                    </a:lnTo>
                    <a:lnTo>
                      <a:pt x="1036053" y="12192"/>
                    </a:lnTo>
                    <a:lnTo>
                      <a:pt x="1029843" y="12954"/>
                    </a:lnTo>
                    <a:lnTo>
                      <a:pt x="1034440" y="49911"/>
                    </a:lnTo>
                    <a:lnTo>
                      <a:pt x="1034529" y="50673"/>
                    </a:lnTo>
                    <a:lnTo>
                      <a:pt x="1040752" y="49911"/>
                    </a:lnTo>
                    <a:lnTo>
                      <a:pt x="1071740" y="47371"/>
                    </a:lnTo>
                    <a:close/>
                  </a:path>
                  <a:path w="2687954" h="3698875">
                    <a:moveTo>
                      <a:pt x="1120013" y="3660013"/>
                    </a:moveTo>
                    <a:lnTo>
                      <a:pt x="1081913" y="3658997"/>
                    </a:lnTo>
                    <a:lnTo>
                      <a:pt x="1080897" y="3697097"/>
                    </a:lnTo>
                    <a:lnTo>
                      <a:pt x="1118997" y="3698113"/>
                    </a:lnTo>
                    <a:lnTo>
                      <a:pt x="1120013" y="3660013"/>
                    </a:lnTo>
                    <a:close/>
                  </a:path>
                  <a:path w="2687954" h="3698875">
                    <a:moveTo>
                      <a:pt x="1146937" y="41656"/>
                    </a:moveTo>
                    <a:lnTo>
                      <a:pt x="1145387" y="6223"/>
                    </a:lnTo>
                    <a:lnTo>
                      <a:pt x="1145286" y="3683"/>
                    </a:lnTo>
                    <a:lnTo>
                      <a:pt x="1127506" y="4445"/>
                    </a:lnTo>
                    <a:lnTo>
                      <a:pt x="1106551" y="6223"/>
                    </a:lnTo>
                    <a:lnTo>
                      <a:pt x="1109726" y="44196"/>
                    </a:lnTo>
                    <a:lnTo>
                      <a:pt x="1130808" y="42418"/>
                    </a:lnTo>
                    <a:lnTo>
                      <a:pt x="1146937" y="41656"/>
                    </a:lnTo>
                    <a:close/>
                  </a:path>
                  <a:path w="2687954" h="3698875">
                    <a:moveTo>
                      <a:pt x="1195832" y="3698240"/>
                    </a:moveTo>
                    <a:lnTo>
                      <a:pt x="1195451" y="3660521"/>
                    </a:lnTo>
                    <a:lnTo>
                      <a:pt x="1195451" y="3660140"/>
                    </a:lnTo>
                    <a:lnTo>
                      <a:pt x="1157351" y="3660521"/>
                    </a:lnTo>
                    <a:lnTo>
                      <a:pt x="1157719" y="3698240"/>
                    </a:lnTo>
                    <a:lnTo>
                      <a:pt x="1157732" y="3698621"/>
                    </a:lnTo>
                    <a:lnTo>
                      <a:pt x="1195832" y="3698240"/>
                    </a:lnTo>
                    <a:close/>
                  </a:path>
                  <a:path w="2687954" h="3698875">
                    <a:moveTo>
                      <a:pt x="1223010" y="38354"/>
                    </a:moveTo>
                    <a:lnTo>
                      <a:pt x="1222273" y="2032"/>
                    </a:lnTo>
                    <a:lnTo>
                      <a:pt x="1222248" y="254"/>
                    </a:lnTo>
                    <a:lnTo>
                      <a:pt x="1221359" y="254"/>
                    </a:lnTo>
                    <a:lnTo>
                      <a:pt x="1183386" y="2032"/>
                    </a:lnTo>
                    <a:lnTo>
                      <a:pt x="1184960" y="38354"/>
                    </a:lnTo>
                    <a:lnTo>
                      <a:pt x="1185037" y="40005"/>
                    </a:lnTo>
                    <a:lnTo>
                      <a:pt x="1223010" y="38354"/>
                    </a:lnTo>
                    <a:close/>
                  </a:path>
                  <a:path w="2687954" h="3698875">
                    <a:moveTo>
                      <a:pt x="1272667" y="3695954"/>
                    </a:moveTo>
                    <a:lnTo>
                      <a:pt x="1271079" y="3659505"/>
                    </a:lnTo>
                    <a:lnTo>
                      <a:pt x="1271016" y="3657854"/>
                    </a:lnTo>
                    <a:lnTo>
                      <a:pt x="1232916" y="3659505"/>
                    </a:lnTo>
                    <a:lnTo>
                      <a:pt x="1234490" y="3695954"/>
                    </a:lnTo>
                    <a:lnTo>
                      <a:pt x="1234567" y="3697478"/>
                    </a:lnTo>
                    <a:lnTo>
                      <a:pt x="1272667" y="3695954"/>
                    </a:lnTo>
                    <a:close/>
                  </a:path>
                  <a:path w="2687954" h="3698875">
                    <a:moveTo>
                      <a:pt x="1298575" y="38100"/>
                    </a:moveTo>
                    <a:lnTo>
                      <a:pt x="1298321" y="0"/>
                    </a:lnTo>
                    <a:lnTo>
                      <a:pt x="1260221" y="0"/>
                    </a:lnTo>
                    <a:lnTo>
                      <a:pt x="1260475" y="38100"/>
                    </a:lnTo>
                    <a:lnTo>
                      <a:pt x="1298575" y="38100"/>
                    </a:lnTo>
                    <a:close/>
                  </a:path>
                  <a:path w="2687954" h="3698875">
                    <a:moveTo>
                      <a:pt x="1349375" y="3691128"/>
                    </a:moveTo>
                    <a:lnTo>
                      <a:pt x="1346454" y="3653155"/>
                    </a:lnTo>
                    <a:lnTo>
                      <a:pt x="1308481" y="3656076"/>
                    </a:lnTo>
                    <a:lnTo>
                      <a:pt x="1311275" y="3694049"/>
                    </a:lnTo>
                    <a:lnTo>
                      <a:pt x="1349375" y="3691128"/>
                    </a:lnTo>
                    <a:close/>
                  </a:path>
                  <a:path w="2687954" h="3698875">
                    <a:moveTo>
                      <a:pt x="1375156" y="1397"/>
                    </a:moveTo>
                    <a:lnTo>
                      <a:pt x="1337183" y="254"/>
                    </a:lnTo>
                    <a:lnTo>
                      <a:pt x="1336040" y="38354"/>
                    </a:lnTo>
                    <a:lnTo>
                      <a:pt x="1374140" y="39497"/>
                    </a:lnTo>
                    <a:lnTo>
                      <a:pt x="1375156" y="1397"/>
                    </a:lnTo>
                    <a:close/>
                  </a:path>
                  <a:path w="2687954" h="3698875">
                    <a:moveTo>
                      <a:pt x="1425829" y="3684143"/>
                    </a:moveTo>
                    <a:lnTo>
                      <a:pt x="1421638" y="3646297"/>
                    </a:lnTo>
                    <a:lnTo>
                      <a:pt x="1387221" y="3649980"/>
                    </a:lnTo>
                    <a:lnTo>
                      <a:pt x="1384427" y="3650234"/>
                    </a:lnTo>
                    <a:lnTo>
                      <a:pt x="1387348" y="3688207"/>
                    </a:lnTo>
                    <a:lnTo>
                      <a:pt x="1388986" y="3688207"/>
                    </a:lnTo>
                    <a:lnTo>
                      <a:pt x="1425829" y="3684143"/>
                    </a:lnTo>
                    <a:close/>
                  </a:path>
                  <a:path w="2687954" h="3698875">
                    <a:moveTo>
                      <a:pt x="1451991" y="4953"/>
                    </a:moveTo>
                    <a:lnTo>
                      <a:pt x="1415288" y="2540"/>
                    </a:lnTo>
                    <a:lnTo>
                      <a:pt x="1413256" y="2540"/>
                    </a:lnTo>
                    <a:lnTo>
                      <a:pt x="1412240" y="40640"/>
                    </a:lnTo>
                    <a:lnTo>
                      <a:pt x="1414145" y="40640"/>
                    </a:lnTo>
                    <a:lnTo>
                      <a:pt x="1449578" y="42926"/>
                    </a:lnTo>
                    <a:lnTo>
                      <a:pt x="1451991" y="4953"/>
                    </a:lnTo>
                    <a:close/>
                  </a:path>
                  <a:path w="2687954" h="3698875">
                    <a:moveTo>
                      <a:pt x="1502029" y="3675126"/>
                    </a:moveTo>
                    <a:lnTo>
                      <a:pt x="1496695" y="3637280"/>
                    </a:lnTo>
                    <a:lnTo>
                      <a:pt x="1471041" y="3640963"/>
                    </a:lnTo>
                    <a:lnTo>
                      <a:pt x="1459611" y="3642233"/>
                    </a:lnTo>
                    <a:lnTo>
                      <a:pt x="1463675" y="3680079"/>
                    </a:lnTo>
                    <a:lnTo>
                      <a:pt x="1475105" y="3678809"/>
                    </a:lnTo>
                    <a:lnTo>
                      <a:pt x="1502029" y="3675126"/>
                    </a:lnTo>
                    <a:close/>
                  </a:path>
                  <a:path w="2687954" h="3698875">
                    <a:moveTo>
                      <a:pt x="1528572" y="10414"/>
                    </a:moveTo>
                    <a:lnTo>
                      <a:pt x="1515110" y="9144"/>
                    </a:lnTo>
                    <a:lnTo>
                      <a:pt x="1489964" y="7493"/>
                    </a:lnTo>
                    <a:lnTo>
                      <a:pt x="1487551" y="45466"/>
                    </a:lnTo>
                    <a:lnTo>
                      <a:pt x="1512570" y="47117"/>
                    </a:lnTo>
                    <a:lnTo>
                      <a:pt x="1524889" y="48387"/>
                    </a:lnTo>
                    <a:lnTo>
                      <a:pt x="1528572" y="10414"/>
                    </a:lnTo>
                    <a:close/>
                  </a:path>
                  <a:path w="2687954" h="3698875">
                    <a:moveTo>
                      <a:pt x="1577975" y="3663823"/>
                    </a:moveTo>
                    <a:lnTo>
                      <a:pt x="1571498" y="3626358"/>
                    </a:lnTo>
                    <a:lnTo>
                      <a:pt x="1556131" y="3629025"/>
                    </a:lnTo>
                    <a:lnTo>
                      <a:pt x="1534541" y="3632073"/>
                    </a:lnTo>
                    <a:lnTo>
                      <a:pt x="1539748" y="3669792"/>
                    </a:lnTo>
                    <a:lnTo>
                      <a:pt x="1561338" y="3666744"/>
                    </a:lnTo>
                    <a:lnTo>
                      <a:pt x="1577975" y="3663823"/>
                    </a:lnTo>
                    <a:close/>
                  </a:path>
                  <a:path w="2687954" h="3698875">
                    <a:moveTo>
                      <a:pt x="1604518" y="17907"/>
                    </a:moveTo>
                    <a:lnTo>
                      <a:pt x="1566545" y="14097"/>
                    </a:lnTo>
                    <a:lnTo>
                      <a:pt x="1562862" y="52070"/>
                    </a:lnTo>
                    <a:lnTo>
                      <a:pt x="1600708" y="55753"/>
                    </a:lnTo>
                    <a:lnTo>
                      <a:pt x="1604518" y="17907"/>
                    </a:lnTo>
                    <a:close/>
                  </a:path>
                  <a:path w="2687954" h="3698875">
                    <a:moveTo>
                      <a:pt x="1653667" y="3650615"/>
                    </a:moveTo>
                    <a:lnTo>
                      <a:pt x="1646047" y="3613277"/>
                    </a:lnTo>
                    <a:lnTo>
                      <a:pt x="1642110" y="3614166"/>
                    </a:lnTo>
                    <a:lnTo>
                      <a:pt x="1609090" y="3619881"/>
                    </a:lnTo>
                    <a:lnTo>
                      <a:pt x="1615567" y="3657346"/>
                    </a:lnTo>
                    <a:lnTo>
                      <a:pt x="1648587" y="3651758"/>
                    </a:lnTo>
                    <a:lnTo>
                      <a:pt x="1653667" y="3650615"/>
                    </a:lnTo>
                    <a:close/>
                  </a:path>
                  <a:path w="2687954" h="3698875">
                    <a:moveTo>
                      <a:pt x="1680718" y="27432"/>
                    </a:moveTo>
                    <a:lnTo>
                      <a:pt x="1642872" y="22479"/>
                    </a:lnTo>
                    <a:lnTo>
                      <a:pt x="1637919" y="60325"/>
                    </a:lnTo>
                    <a:lnTo>
                      <a:pt x="1675765" y="65278"/>
                    </a:lnTo>
                    <a:lnTo>
                      <a:pt x="1680718" y="27432"/>
                    </a:lnTo>
                    <a:close/>
                  </a:path>
                  <a:path w="2687954" h="3698875">
                    <a:moveTo>
                      <a:pt x="1728343" y="3635502"/>
                    </a:moveTo>
                    <a:lnTo>
                      <a:pt x="1720723" y="3598164"/>
                    </a:lnTo>
                    <a:lnTo>
                      <a:pt x="1683385" y="3605784"/>
                    </a:lnTo>
                    <a:lnTo>
                      <a:pt x="1691005" y="3643122"/>
                    </a:lnTo>
                    <a:lnTo>
                      <a:pt x="1728343" y="3635502"/>
                    </a:lnTo>
                    <a:close/>
                  </a:path>
                  <a:path w="2687954" h="3698875">
                    <a:moveTo>
                      <a:pt x="1756664" y="38608"/>
                    </a:moveTo>
                    <a:lnTo>
                      <a:pt x="1719580" y="32512"/>
                    </a:lnTo>
                    <a:lnTo>
                      <a:pt x="1718411" y="32512"/>
                    </a:lnTo>
                    <a:lnTo>
                      <a:pt x="1713458" y="70358"/>
                    </a:lnTo>
                    <a:lnTo>
                      <a:pt x="1714627" y="70358"/>
                    </a:lnTo>
                    <a:lnTo>
                      <a:pt x="1750441" y="76200"/>
                    </a:lnTo>
                    <a:lnTo>
                      <a:pt x="1756664" y="38608"/>
                    </a:lnTo>
                    <a:close/>
                  </a:path>
                  <a:path w="2687954" h="3698875">
                    <a:moveTo>
                      <a:pt x="1803146" y="3618103"/>
                    </a:moveTo>
                    <a:lnTo>
                      <a:pt x="1794383" y="3581019"/>
                    </a:lnTo>
                    <a:lnTo>
                      <a:pt x="1757299" y="3589782"/>
                    </a:lnTo>
                    <a:lnTo>
                      <a:pt x="1766062" y="3626866"/>
                    </a:lnTo>
                    <a:lnTo>
                      <a:pt x="1803146" y="3618103"/>
                    </a:lnTo>
                    <a:close/>
                  </a:path>
                  <a:path w="2687954" h="3698875">
                    <a:moveTo>
                      <a:pt x="1832356" y="51308"/>
                    </a:moveTo>
                    <a:lnTo>
                      <a:pt x="1824101" y="49657"/>
                    </a:lnTo>
                    <a:lnTo>
                      <a:pt x="1794256" y="44831"/>
                    </a:lnTo>
                    <a:lnTo>
                      <a:pt x="1788033" y="82423"/>
                    </a:lnTo>
                    <a:lnTo>
                      <a:pt x="1818005" y="87249"/>
                    </a:lnTo>
                    <a:lnTo>
                      <a:pt x="1825117" y="88646"/>
                    </a:lnTo>
                    <a:lnTo>
                      <a:pt x="1832356" y="51308"/>
                    </a:lnTo>
                    <a:close/>
                  </a:path>
                  <a:path w="2687954" h="3698875">
                    <a:moveTo>
                      <a:pt x="1877441" y="3598926"/>
                    </a:moveTo>
                    <a:lnTo>
                      <a:pt x="1867662" y="3562223"/>
                    </a:lnTo>
                    <a:lnTo>
                      <a:pt x="1830832" y="3572002"/>
                    </a:lnTo>
                    <a:lnTo>
                      <a:pt x="1840611" y="3608832"/>
                    </a:lnTo>
                    <a:lnTo>
                      <a:pt x="1877441" y="3598926"/>
                    </a:lnTo>
                    <a:close/>
                  </a:path>
                  <a:path w="2687954" h="3698875">
                    <a:moveTo>
                      <a:pt x="1907159" y="65913"/>
                    </a:moveTo>
                    <a:lnTo>
                      <a:pt x="1869821" y="58547"/>
                    </a:lnTo>
                    <a:lnTo>
                      <a:pt x="1862455" y="96012"/>
                    </a:lnTo>
                    <a:lnTo>
                      <a:pt x="1899920" y="103251"/>
                    </a:lnTo>
                    <a:lnTo>
                      <a:pt x="1907159" y="65913"/>
                    </a:lnTo>
                    <a:close/>
                  </a:path>
                  <a:path w="2687954" h="3698875">
                    <a:moveTo>
                      <a:pt x="1951355" y="3578098"/>
                    </a:moveTo>
                    <a:lnTo>
                      <a:pt x="1940433" y="3541649"/>
                    </a:lnTo>
                    <a:lnTo>
                      <a:pt x="1904873" y="3552190"/>
                    </a:lnTo>
                    <a:lnTo>
                      <a:pt x="1904365" y="3552317"/>
                    </a:lnTo>
                    <a:lnTo>
                      <a:pt x="1914271" y="3589147"/>
                    </a:lnTo>
                    <a:lnTo>
                      <a:pt x="1951355" y="3578098"/>
                    </a:lnTo>
                    <a:close/>
                  </a:path>
                  <a:path w="2687954" h="3698875">
                    <a:moveTo>
                      <a:pt x="1982216" y="82169"/>
                    </a:moveTo>
                    <a:lnTo>
                      <a:pt x="1945005" y="73787"/>
                    </a:lnTo>
                    <a:lnTo>
                      <a:pt x="1936623" y="110998"/>
                    </a:lnTo>
                    <a:lnTo>
                      <a:pt x="1973707" y="119380"/>
                    </a:lnTo>
                    <a:lnTo>
                      <a:pt x="1982216" y="82169"/>
                    </a:lnTo>
                    <a:close/>
                  </a:path>
                  <a:path w="2687954" h="3698875">
                    <a:moveTo>
                      <a:pt x="2024634" y="3555492"/>
                    </a:moveTo>
                    <a:lnTo>
                      <a:pt x="2012696" y="3519424"/>
                    </a:lnTo>
                    <a:lnTo>
                      <a:pt x="1993519" y="3525774"/>
                    </a:lnTo>
                    <a:lnTo>
                      <a:pt x="1976882" y="3530727"/>
                    </a:lnTo>
                    <a:lnTo>
                      <a:pt x="1987804" y="3567176"/>
                    </a:lnTo>
                    <a:lnTo>
                      <a:pt x="2004441" y="3562223"/>
                    </a:lnTo>
                    <a:lnTo>
                      <a:pt x="2024634" y="3555492"/>
                    </a:lnTo>
                    <a:close/>
                  </a:path>
                  <a:path w="2687954" h="3698875">
                    <a:moveTo>
                      <a:pt x="2056892" y="99822"/>
                    </a:moveTo>
                    <a:lnTo>
                      <a:pt x="2036953" y="94615"/>
                    </a:lnTo>
                    <a:lnTo>
                      <a:pt x="2019300" y="90678"/>
                    </a:lnTo>
                    <a:lnTo>
                      <a:pt x="2010918" y="127889"/>
                    </a:lnTo>
                    <a:lnTo>
                      <a:pt x="2028444" y="131826"/>
                    </a:lnTo>
                    <a:lnTo>
                      <a:pt x="2047367" y="136779"/>
                    </a:lnTo>
                    <a:lnTo>
                      <a:pt x="2056892" y="99822"/>
                    </a:lnTo>
                    <a:close/>
                  </a:path>
                  <a:path w="2687954" h="3698875">
                    <a:moveTo>
                      <a:pt x="2097532" y="3531362"/>
                    </a:moveTo>
                    <a:lnTo>
                      <a:pt x="2084451" y="3495548"/>
                    </a:lnTo>
                    <a:lnTo>
                      <a:pt x="2082673" y="3496310"/>
                    </a:lnTo>
                    <a:lnTo>
                      <a:pt x="2048891" y="3507359"/>
                    </a:lnTo>
                    <a:lnTo>
                      <a:pt x="2060829" y="3543554"/>
                    </a:lnTo>
                    <a:lnTo>
                      <a:pt x="2094611" y="3532378"/>
                    </a:lnTo>
                    <a:lnTo>
                      <a:pt x="2097532" y="3531362"/>
                    </a:lnTo>
                    <a:close/>
                  </a:path>
                  <a:path w="2687954" h="3698875">
                    <a:moveTo>
                      <a:pt x="2130679" y="118999"/>
                    </a:moveTo>
                    <a:lnTo>
                      <a:pt x="2093849" y="109347"/>
                    </a:lnTo>
                    <a:lnTo>
                      <a:pt x="2084197" y="146304"/>
                    </a:lnTo>
                    <a:lnTo>
                      <a:pt x="2121154" y="155829"/>
                    </a:lnTo>
                    <a:lnTo>
                      <a:pt x="2130679" y="118999"/>
                    </a:lnTo>
                    <a:close/>
                  </a:path>
                  <a:path w="2687954" h="3698875">
                    <a:moveTo>
                      <a:pt x="2204466" y="139954"/>
                    </a:moveTo>
                    <a:lnTo>
                      <a:pt x="2167890" y="129286"/>
                    </a:lnTo>
                    <a:lnTo>
                      <a:pt x="2157222" y="165862"/>
                    </a:lnTo>
                    <a:lnTo>
                      <a:pt x="2193925" y="176530"/>
                    </a:lnTo>
                    <a:lnTo>
                      <a:pt x="2204466" y="139954"/>
                    </a:lnTo>
                    <a:close/>
                  </a:path>
                  <a:path w="2687954" h="3698875">
                    <a:moveTo>
                      <a:pt x="2246757" y="3454654"/>
                    </a:moveTo>
                    <a:lnTo>
                      <a:pt x="2119630" y="3442208"/>
                    </a:lnTo>
                    <a:lnTo>
                      <a:pt x="2133155" y="3477564"/>
                    </a:lnTo>
                    <a:lnTo>
                      <a:pt x="2120138" y="3482340"/>
                    </a:lnTo>
                    <a:lnTo>
                      <a:pt x="2133346" y="3518154"/>
                    </a:lnTo>
                    <a:lnTo>
                      <a:pt x="2146795" y="3513163"/>
                    </a:lnTo>
                    <a:lnTo>
                      <a:pt x="2160524" y="3549015"/>
                    </a:lnTo>
                    <a:lnTo>
                      <a:pt x="2231898" y="3470910"/>
                    </a:lnTo>
                    <a:lnTo>
                      <a:pt x="2246757" y="3454654"/>
                    </a:lnTo>
                    <a:close/>
                  </a:path>
                  <a:path w="2687954" h="3698875">
                    <a:moveTo>
                      <a:pt x="2277999" y="162052"/>
                    </a:moveTo>
                    <a:lnTo>
                      <a:pt x="2253615" y="154178"/>
                    </a:lnTo>
                    <a:lnTo>
                      <a:pt x="2241042" y="150495"/>
                    </a:lnTo>
                    <a:lnTo>
                      <a:pt x="2230501" y="187198"/>
                    </a:lnTo>
                    <a:lnTo>
                      <a:pt x="2243074" y="190754"/>
                    </a:lnTo>
                    <a:lnTo>
                      <a:pt x="2266315" y="198247"/>
                    </a:lnTo>
                    <a:lnTo>
                      <a:pt x="2277999" y="162052"/>
                    </a:lnTo>
                    <a:close/>
                  </a:path>
                  <a:path w="2687954" h="3698875">
                    <a:moveTo>
                      <a:pt x="2350516" y="185293"/>
                    </a:moveTo>
                    <a:lnTo>
                      <a:pt x="2314194" y="173609"/>
                    </a:lnTo>
                    <a:lnTo>
                      <a:pt x="2302637" y="209931"/>
                    </a:lnTo>
                    <a:lnTo>
                      <a:pt x="2338959" y="221488"/>
                    </a:lnTo>
                    <a:lnTo>
                      <a:pt x="2350516" y="185293"/>
                    </a:lnTo>
                    <a:close/>
                  </a:path>
                  <a:path w="2687954" h="3698875">
                    <a:moveTo>
                      <a:pt x="2423033" y="210439"/>
                    </a:moveTo>
                    <a:lnTo>
                      <a:pt x="2387092" y="197739"/>
                    </a:lnTo>
                    <a:lnTo>
                      <a:pt x="2374392" y="233680"/>
                    </a:lnTo>
                    <a:lnTo>
                      <a:pt x="2410333" y="246380"/>
                    </a:lnTo>
                    <a:lnTo>
                      <a:pt x="2423033" y="210439"/>
                    </a:lnTo>
                    <a:close/>
                  </a:path>
                  <a:path w="2687954" h="3698875">
                    <a:moveTo>
                      <a:pt x="2495169" y="236601"/>
                    </a:moveTo>
                    <a:lnTo>
                      <a:pt x="2473325" y="228219"/>
                    </a:lnTo>
                    <a:lnTo>
                      <a:pt x="2458974" y="223139"/>
                    </a:lnTo>
                    <a:lnTo>
                      <a:pt x="2446274" y="258953"/>
                    </a:lnTo>
                    <a:lnTo>
                      <a:pt x="2460752" y="264033"/>
                    </a:lnTo>
                    <a:lnTo>
                      <a:pt x="2481453" y="272161"/>
                    </a:lnTo>
                    <a:lnTo>
                      <a:pt x="2495169" y="236601"/>
                    </a:lnTo>
                    <a:close/>
                  </a:path>
                  <a:path w="2687954" h="3698875">
                    <a:moveTo>
                      <a:pt x="2566289" y="263906"/>
                    </a:moveTo>
                    <a:lnTo>
                      <a:pt x="2530729" y="250317"/>
                    </a:lnTo>
                    <a:lnTo>
                      <a:pt x="2517013" y="285750"/>
                    </a:lnTo>
                    <a:lnTo>
                      <a:pt x="2552573" y="299466"/>
                    </a:lnTo>
                    <a:lnTo>
                      <a:pt x="2566289" y="263906"/>
                    </a:lnTo>
                    <a:close/>
                  </a:path>
                  <a:path w="2687954" h="3698875">
                    <a:moveTo>
                      <a:pt x="2687447" y="334518"/>
                    </a:moveTo>
                    <a:lnTo>
                      <a:pt x="2670987" y="315468"/>
                    </a:lnTo>
                    <a:lnTo>
                      <a:pt x="2638971" y="278384"/>
                    </a:lnTo>
                    <a:lnTo>
                      <a:pt x="2603881" y="237744"/>
                    </a:lnTo>
                    <a:lnTo>
                      <a:pt x="2559939" y="343281"/>
                    </a:lnTo>
                    <a:lnTo>
                      <a:pt x="2687447" y="3345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700"/>
              </a:p>
            </p:txBody>
          </p:sp>
        </p:grpSp>
      </p:grpSp>
      <p:sp>
        <p:nvSpPr>
          <p:cNvPr id="9058" name="TextBox 9057"/>
          <p:cNvSpPr txBox="1"/>
          <p:nvPr/>
        </p:nvSpPr>
        <p:spPr>
          <a:xfrm>
            <a:off x="6126480" y="9114881"/>
            <a:ext cx="9509760" cy="457200"/>
          </a:xfrm>
          <a:prstGeom prst="rect">
            <a:avLst/>
          </a:prstGeom>
          <a:noFill/>
        </p:spPr>
        <p:txBody>
          <a:bodyPr wrap="square" lIns="73152" tIns="73152" rIns="73152" bIns="73152" anchor="t">
            <a:noAutofit/>
          </a:bodyPr>
          <a:lstStyle/>
          <a:p>
            <a:pPr algn="ctr">
              <a:lnSpc>
                <a:spcPct val="100000"/>
              </a:lnSpc>
              <a:spcAft>
                <a:spcPts val="800"/>
              </a:spcAft>
            </a:pPr>
            <a:r>
              <a:rPr sz="1500" b="0" i="1">
                <a:solidFill>
                  <a:srgbClr val="555B6E"/>
                </a:solidFill>
                <a:latin typeface="Arial"/>
                <a:ea typeface="Arial"/>
                <a:cs typeface="Arial"/>
              </a:rPr>
              <a:t>Pirámide del Dolor, extendida con intención (Fase III) y geopolítica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6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6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6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La metodología: tres fases encadenadas</a:t>
            </a:r>
          </a:p>
        </p:txBody>
      </p:sp>
      <p:sp>
        <p:nvSpPr>
          <p:cNvPr id="9064" name="TextBox 906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65" name="TextBox 906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7</a:t>
            </a:r>
          </a:p>
        </p:txBody>
      </p:sp>
      <p:sp>
        <p:nvSpPr>
          <p:cNvPr id="9066" name="TextBox 906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Sección 2 del trabajo. La salida de cada fase es la entrada de la siguiente: un flujo continuo, no tres actividades sueltas.</a:t>
            </a:r>
          </a:p>
        </p:txBody>
      </p:sp>
      <p:sp>
        <p:nvSpPr>
          <p:cNvPr id="9067" name="TextBox 9066"/>
          <p:cNvSpPr txBox="1"/>
          <p:nvPr/>
        </p:nvSpPr>
        <p:spPr>
          <a:xfrm>
            <a:off x="822960" y="2148840"/>
            <a:ext cx="14447520" cy="1371600"/>
          </a:xfrm>
          <a:prstGeom prst="rect">
            <a:avLst/>
          </a:prstGeom>
          <a:noFill/>
        </p:spPr>
        <p:txBody>
          <a:bodyPr wrap="square" lIns="73152" tIns="73152" rIns="73152" bIns="73152" anchor="t">
            <a:noAutofit/>
          </a:bodyPr>
          <a:lstStyle/>
          <a:p>
            <a:pPr algn="l">
              <a:lnSpc>
                <a:spcPct val="100000"/>
              </a:lnSpc>
              <a:spcAft>
                <a:spcPts val="200"/>
              </a:spcAft>
            </a:pPr>
            <a:r>
              <a:rPr sz="2100" b="1" i="0">
                <a:solidFill>
                  <a:srgbClr val="221666"/>
                </a:solidFill>
                <a:latin typeface="Arial"/>
                <a:ea typeface="Arial"/>
                <a:cs typeface="Arial"/>
              </a:rPr>
              <a:t>Este es el aporte central del trabajo: no una técnica suelta, sino un flujo ordenado donde la salida de cada fase alimenta a la siguiente. </a:t>
            </a:r>
            <a:r>
              <a:rPr sz="2100" b="0" i="0">
                <a:solidFill>
                  <a:srgbClr val="221666"/>
                </a:solidFill>
                <a:latin typeface="Arial"/>
                <a:ea typeface="Arial"/>
                <a:cs typeface="Arial"/>
              </a:rPr>
              <a:t>Traslada al dominio cibernético el tradecraft de la inteligencia clásica y lo hace replicable y auditable. Lo que sigue lo expone y lo prueba con casos.</a:t>
            </a:r>
          </a:p>
        </p:txBody>
      </p:sp>
      <p:sp>
        <p:nvSpPr>
          <p:cNvPr id="9068" name="Rectangle 9067"/>
          <p:cNvSpPr/>
          <p:nvPr/>
        </p:nvSpPr>
        <p:spPr>
          <a:xfrm>
            <a:off x="822960" y="3840480"/>
            <a:ext cx="4206240" cy="251460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000" b="1" i="0">
                <a:solidFill>
                  <a:srgbClr val="FFFFFF"/>
                </a:solidFill>
                <a:latin typeface="Oswald"/>
                <a:ea typeface="Oswald"/>
                <a:cs typeface="Oswald"/>
              </a:rPr>
              <a:t>FASE I</a:t>
            </a:r>
          </a:p>
          <a:p>
            <a:pPr algn="ctr">
              <a:spcAft>
                <a:spcPts val="200"/>
              </a:spcAft>
            </a:pPr>
            <a:r>
              <a:rPr sz="2200" b="0" i="0">
                <a:solidFill>
                  <a:srgbClr val="FFFFFF"/>
                </a:solidFill>
                <a:latin typeface="Arial"/>
                <a:ea typeface="Arial"/>
                <a:cs typeface="Arial"/>
              </a:rPr>
              <a:t>Recolección y evaluación</a:t>
            </a:r>
          </a:p>
          <a:p>
            <a:pPr algn="ctr">
              <a:spcAft>
                <a:spcPts val="200"/>
              </a:spcAft>
            </a:pPr>
            <a:r>
              <a:rPr sz="2200" b="0" i="0">
                <a:solidFill>
                  <a:srgbClr val="FFFFFF"/>
                </a:solidFill>
                <a:latin typeface="Arial"/>
                <a:ea typeface="Arial"/>
                <a:cs typeface="Arial"/>
              </a:rPr>
              <a:t>en la Dark Web</a:t>
            </a:r>
          </a:p>
        </p:txBody>
      </p:sp>
      <p:sp>
        <p:nvSpPr>
          <p:cNvPr id="9069" name="Rectangle 9068"/>
          <p:cNvSpPr/>
          <p:nvPr/>
        </p:nvSpPr>
        <p:spPr>
          <a:xfrm>
            <a:off x="822960" y="6629400"/>
            <a:ext cx="4206240" cy="123444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900" b="1" i="0">
                <a:solidFill>
                  <a:srgbClr val="221666"/>
                </a:solidFill>
                <a:latin typeface="Arial"/>
                <a:ea typeface="Arial"/>
                <a:cs typeface="Arial"/>
              </a:rPr>
              <a:t>→ hallazgos evaluados</a:t>
            </a:r>
          </a:p>
        </p:txBody>
      </p:sp>
      <p:cxnSp>
        <p:nvCxnSpPr>
          <p:cNvPr id="9070" name="Connector 9069"/>
          <p:cNvCxnSpPr/>
          <p:nvPr/>
        </p:nvCxnSpPr>
        <p:spPr>
          <a:xfrm>
            <a:off x="5138928" y="5097780"/>
            <a:ext cx="1106424" cy="0"/>
          </a:xfrm>
          <a:prstGeom prst="line">
            <a:avLst/>
          </a:prstGeom>
          <a:ln w="635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1" name="Rectangle 9070"/>
          <p:cNvSpPr/>
          <p:nvPr/>
        </p:nvSpPr>
        <p:spPr>
          <a:xfrm>
            <a:off x="6355080" y="3840480"/>
            <a:ext cx="4206240" cy="251460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000" b="1" i="0">
                <a:solidFill>
                  <a:srgbClr val="FFFFFF"/>
                </a:solidFill>
                <a:latin typeface="Oswald"/>
                <a:ea typeface="Oswald"/>
                <a:cs typeface="Oswald"/>
              </a:rPr>
              <a:t>FASE II</a:t>
            </a:r>
          </a:p>
          <a:p>
            <a:pPr algn="ctr">
              <a:spcAft>
                <a:spcPts val="200"/>
              </a:spcAft>
            </a:pPr>
            <a:r>
              <a:rPr sz="2200" b="0" i="0">
                <a:solidFill>
                  <a:srgbClr val="FFFFFF"/>
                </a:solidFill>
                <a:latin typeface="Arial"/>
                <a:ea typeface="Arial"/>
                <a:cs typeface="Arial"/>
              </a:rPr>
              <a:t>Del indicador</a:t>
            </a:r>
          </a:p>
          <a:p>
            <a:pPr algn="ctr">
              <a:spcAft>
                <a:spcPts val="200"/>
              </a:spcAft>
            </a:pPr>
            <a:r>
              <a:rPr sz="2200" b="0" i="0">
                <a:solidFill>
                  <a:srgbClr val="FFFFFF"/>
                </a:solidFill>
                <a:latin typeface="Arial"/>
                <a:ea typeface="Arial"/>
                <a:cs typeface="Arial"/>
              </a:rPr>
              <a:t>al comportamiento</a:t>
            </a:r>
          </a:p>
        </p:txBody>
      </p:sp>
      <p:sp>
        <p:nvSpPr>
          <p:cNvPr id="9072" name="Rectangle 9071"/>
          <p:cNvSpPr/>
          <p:nvPr/>
        </p:nvSpPr>
        <p:spPr>
          <a:xfrm>
            <a:off x="6355080" y="6629400"/>
            <a:ext cx="4206240" cy="123444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900" b="1" i="0">
                <a:solidFill>
                  <a:srgbClr val="221666"/>
                </a:solidFill>
                <a:latin typeface="Arial"/>
                <a:ea typeface="Arial"/>
                <a:cs typeface="Arial"/>
              </a:rPr>
              <a:t>→ TTPs priorizados</a:t>
            </a:r>
          </a:p>
        </p:txBody>
      </p:sp>
      <p:cxnSp>
        <p:nvCxnSpPr>
          <p:cNvPr id="9073" name="Connector 9072"/>
          <p:cNvCxnSpPr/>
          <p:nvPr/>
        </p:nvCxnSpPr>
        <p:spPr>
          <a:xfrm>
            <a:off x="10671048" y="5097780"/>
            <a:ext cx="1106424" cy="0"/>
          </a:xfrm>
          <a:prstGeom prst="line">
            <a:avLst/>
          </a:prstGeom>
          <a:ln w="635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4" name="Rectangle 9073"/>
          <p:cNvSpPr/>
          <p:nvPr/>
        </p:nvSpPr>
        <p:spPr>
          <a:xfrm>
            <a:off x="11887200" y="3840480"/>
            <a:ext cx="4206240" cy="251460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000" b="1" i="0">
                <a:solidFill>
                  <a:srgbClr val="FFFFFF"/>
                </a:solidFill>
                <a:latin typeface="Oswald"/>
                <a:ea typeface="Oswald"/>
                <a:cs typeface="Oswald"/>
              </a:rPr>
              <a:t>FASE III</a:t>
            </a:r>
          </a:p>
          <a:p>
            <a:pPr algn="ctr">
              <a:spcAft>
                <a:spcPts val="200"/>
              </a:spcAft>
            </a:pPr>
            <a:r>
              <a:rPr sz="2200" b="0" i="0">
                <a:solidFill>
                  <a:srgbClr val="FFFFFF"/>
                </a:solidFill>
                <a:latin typeface="Arial"/>
                <a:ea typeface="Arial"/>
                <a:cs typeface="Arial"/>
              </a:rPr>
              <a:t>Atribución estructurada</a:t>
            </a:r>
          </a:p>
          <a:p>
            <a:pPr algn="ctr">
              <a:spcAft>
                <a:spcPts val="200"/>
              </a:spcAft>
            </a:pPr>
            <a:r>
              <a:rPr sz="2200" b="0" i="0">
                <a:solidFill>
                  <a:srgbClr val="FFFFFF"/>
                </a:solidFill>
                <a:latin typeface="Arial"/>
                <a:ea typeface="Arial"/>
                <a:cs typeface="Arial"/>
              </a:rPr>
              <a:t>y mitigación de sesgos</a:t>
            </a:r>
          </a:p>
        </p:txBody>
      </p:sp>
      <p:sp>
        <p:nvSpPr>
          <p:cNvPr id="9075" name="Rectangle 9074"/>
          <p:cNvSpPr/>
          <p:nvPr/>
        </p:nvSpPr>
        <p:spPr>
          <a:xfrm>
            <a:off x="11887200" y="6629400"/>
            <a:ext cx="4206240" cy="123444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900" b="1" i="0">
                <a:solidFill>
                  <a:srgbClr val="221666"/>
                </a:solidFill>
                <a:latin typeface="Arial"/>
                <a:ea typeface="Arial"/>
                <a:cs typeface="Arial"/>
              </a:rPr>
              <a:t>→ juicio con nivel</a:t>
            </a:r>
          </a:p>
          <a:p>
            <a:pPr algn="ctr">
              <a:spcAft>
                <a:spcPts val="0"/>
              </a:spcAft>
            </a:pPr>
            <a:r>
              <a:rPr sz="1900" b="1" i="0">
                <a:solidFill>
                  <a:srgbClr val="221666"/>
                </a:solidFill>
                <a:latin typeface="Arial"/>
                <a:ea typeface="Arial"/>
                <a:cs typeface="Arial"/>
              </a:rPr>
              <a:t>de confianza</a:t>
            </a:r>
          </a:p>
        </p:txBody>
      </p:sp>
      <p:sp>
        <p:nvSpPr>
          <p:cNvPr id="9076" name="TextBox 9075"/>
          <p:cNvSpPr txBox="1"/>
          <p:nvPr/>
        </p:nvSpPr>
        <p:spPr>
          <a:xfrm>
            <a:off x="822960" y="8183879"/>
            <a:ext cx="14447520" cy="2377440"/>
          </a:xfrm>
          <a:prstGeom prst="rect">
            <a:avLst/>
          </a:prstGeom>
          <a:noFill/>
        </p:spPr>
        <p:txBody>
          <a:bodyPr wrap="square" lIns="73152" tIns="73152" rIns="73152" bIns="73152" anchor="t">
            <a:noAutofit/>
          </a:bodyPr>
          <a:lstStyle/>
          <a:p>
            <a:pPr marL="320040" indent="-320040" algn="l">
              <a:lnSpc>
                <a:spcPct val="100000"/>
              </a:lnSpc>
              <a:spcAft>
                <a:spcPts val="1100"/>
              </a:spcAft>
              <a:buClr>
                <a:srgbClr val="221666"/>
              </a:buClr>
              <a:buFont typeface="Arial"/>
              <a:buChar char="•"/>
            </a:pPr>
            <a:r>
              <a:rPr sz="2100" b="1" i="0">
                <a:solidFill>
                  <a:srgbClr val="000000"/>
                </a:solidFill>
                <a:latin typeface="Arial"/>
                <a:ea typeface="Arial"/>
                <a:cs typeface="Arial"/>
              </a:rPr>
              <a:t>Fase I — la pregunta: </a:t>
            </a:r>
            <a:r>
              <a:rPr sz="2100" b="0" i="0">
                <a:solidFill>
                  <a:srgbClr val="000000"/>
                </a:solidFill>
                <a:latin typeface="Arial"/>
                <a:ea typeface="Arial"/>
                <a:cs typeface="Arial"/>
              </a:rPr>
              <a:t>¿qué se dice del adversario en el ecosistema criminal, y cuánto vale ese dato? Recolectar y, sobre todo, evaluar.</a:t>
            </a:r>
          </a:p>
          <a:p>
            <a:pPr marL="320040" indent="-320040" algn="l">
              <a:lnSpc>
                <a:spcPct val="100000"/>
              </a:lnSpc>
              <a:spcAft>
                <a:spcPts val="1100"/>
              </a:spcAft>
              <a:buClr>
                <a:srgbClr val="221666"/>
              </a:buClr>
              <a:buFont typeface="Arial"/>
              <a:buChar char="•"/>
            </a:pPr>
            <a:r>
              <a:rPr sz="2100" b="1" i="0">
                <a:solidFill>
                  <a:srgbClr val="000000"/>
                </a:solidFill>
                <a:latin typeface="Arial"/>
                <a:ea typeface="Arial"/>
                <a:cs typeface="Arial"/>
              </a:rPr>
              <a:t>Fase II — la pregunta: </a:t>
            </a:r>
            <a:r>
              <a:rPr sz="2100" b="0" i="0">
                <a:solidFill>
                  <a:srgbClr val="000000"/>
                </a:solidFill>
                <a:latin typeface="Arial"/>
                <a:ea typeface="Arial"/>
                <a:cs typeface="Arial"/>
              </a:rPr>
              <a:t>¿cómo opera, más allá de los artefactos que rota en cada campaña? Del indicador al comportamiento.</a:t>
            </a:r>
          </a:p>
          <a:p>
            <a:pPr marL="320040" indent="-320040" algn="l">
              <a:lnSpc>
                <a:spcPct val="100000"/>
              </a:lnSpc>
              <a:spcAft>
                <a:spcPts val="1100"/>
              </a:spcAft>
              <a:buClr>
                <a:srgbClr val="221666"/>
              </a:buClr>
              <a:buFont typeface="Arial"/>
              <a:buChar char="•"/>
            </a:pPr>
            <a:r>
              <a:rPr sz="2100" b="1" i="0">
                <a:solidFill>
                  <a:srgbClr val="000000"/>
                </a:solidFill>
                <a:latin typeface="Arial"/>
                <a:ea typeface="Arial"/>
                <a:cs typeface="Arial"/>
              </a:rPr>
              <a:t>Fase III — la pregunta: </a:t>
            </a:r>
            <a:r>
              <a:rPr sz="2100" b="0" i="0">
                <a:solidFill>
                  <a:srgbClr val="000000"/>
                </a:solidFill>
                <a:latin typeface="Arial"/>
                <a:ea typeface="Arial"/>
                <a:cs typeface="Arial"/>
              </a:rPr>
              <a:t>¿quién es, con qué confianza, y quién está habilitado a afirmarlo? La atribución: el corazón de la charla.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7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7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7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 · Recolección y evaluación en la Dark Web</a:t>
            </a:r>
          </a:p>
        </p:txBody>
      </p:sp>
      <p:sp>
        <p:nvSpPr>
          <p:cNvPr id="9074" name="TextBox 907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75" name="TextBox 907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8</a:t>
            </a:r>
          </a:p>
        </p:txBody>
      </p:sp>
      <p:sp>
        <p:nvSpPr>
          <p:cNvPr id="9076" name="TextBox 907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código Admiralty: sistema de evaluación de fuentes de la OTAN (AJP-2.1). Detalle de las escalas en anexo.</a:t>
            </a:r>
          </a:p>
        </p:txBody>
      </p:sp>
      <p:sp>
        <p:nvSpPr>
          <p:cNvPr id="9077" name="TextBox 9076"/>
          <p:cNvSpPr txBox="1"/>
          <p:nvPr/>
        </p:nvSpPr>
        <p:spPr>
          <a:xfrm>
            <a:off x="822960" y="2148840"/>
            <a:ext cx="14447520" cy="1005840"/>
          </a:xfrm>
          <a:prstGeom prst="rect">
            <a:avLst/>
          </a:prstGeom>
          <a:noFill/>
        </p:spPr>
        <p:txBody>
          <a:bodyPr wrap="square" lIns="73152" tIns="73152" rIns="73152" bIns="73152" anchor="t">
            <a:noAutofit/>
          </a:bodyPr>
          <a:lstStyle/>
          <a:p>
            <a:pPr algn="l">
              <a:lnSpc>
                <a:spcPct val="100000"/>
              </a:lnSpc>
              <a:spcAft>
                <a:spcPts val="800"/>
              </a:spcAft>
            </a:pPr>
            <a:r>
              <a:rPr sz="2200" b="0" i="0">
                <a:solidFill>
                  <a:srgbClr val="221666"/>
                </a:solidFill>
                <a:latin typeface="Arial"/>
                <a:ea typeface="Arial"/>
                <a:cs typeface="Arial"/>
              </a:rPr>
              <a:t>La materia prima está en foros, mercados y canales del ecosistema criminal. El desafío no es encontrar datos: es no tratar todo rumor como un hecho. Tres disciplinas lo resuelven.</a:t>
            </a:r>
          </a:p>
        </p:txBody>
      </p:sp>
      <p:sp>
        <p:nvSpPr>
          <p:cNvPr id="9078" name="Rectangle 9077"/>
          <p:cNvSpPr/>
          <p:nvPr/>
        </p:nvSpPr>
        <p:spPr>
          <a:xfrm>
            <a:off x="822960" y="3383280"/>
            <a:ext cx="4663440" cy="91440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300" b="1" i="0">
                <a:solidFill>
                  <a:srgbClr val="FFFFFF"/>
                </a:solidFill>
                <a:latin typeface="Oswald"/>
                <a:ea typeface="Oswald"/>
                <a:cs typeface="Oswald"/>
              </a:rPr>
              <a:t>Código Admiralty</a:t>
            </a:r>
          </a:p>
          <a:p>
            <a:pPr algn="ctr">
              <a:spcAft>
                <a:spcPts val="200"/>
              </a:spcAft>
            </a:pPr>
            <a:r>
              <a:rPr sz="1600" b="0" i="0">
                <a:solidFill>
                  <a:srgbClr val="FFFFFF"/>
                </a:solidFill>
                <a:latin typeface="Arial"/>
                <a:ea typeface="Arial"/>
                <a:cs typeface="Arial"/>
              </a:rPr>
              <a:t>Cómo se califica un dato.</a:t>
            </a:r>
          </a:p>
        </p:txBody>
      </p:sp>
      <p:sp>
        <p:nvSpPr>
          <p:cNvPr id="9079" name="TextBox 9078"/>
          <p:cNvSpPr txBox="1"/>
          <p:nvPr/>
        </p:nvSpPr>
        <p:spPr>
          <a:xfrm>
            <a:off x="822960" y="4343400"/>
            <a:ext cx="4663440" cy="5943600"/>
          </a:xfrm>
          <a:prstGeom prst="rect">
            <a:avLst/>
          </a:prstGeom>
          <a:solidFill>
            <a:srgbClr val="E8EEFB"/>
          </a:solid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Fiabilidad de la fuente: A–F.</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Credibilidad de la información: 1–6.</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Se califican por separado; el grado de confianza viaja con cada hallazgo. Ej.: C2 = fuente bastante fiable, dato probablemente cierto.</a:t>
            </a:r>
          </a:p>
        </p:txBody>
      </p:sp>
      <p:sp>
        <p:nvSpPr>
          <p:cNvPr id="9080" name="Rectangle 9079"/>
          <p:cNvSpPr/>
          <p:nvPr/>
        </p:nvSpPr>
        <p:spPr>
          <a:xfrm>
            <a:off x="5806440" y="3383280"/>
            <a:ext cx="4663440" cy="91440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300" b="1" i="0">
                <a:solidFill>
                  <a:srgbClr val="FFFFFF"/>
                </a:solidFill>
                <a:latin typeface="Oswald"/>
                <a:ea typeface="Oswald"/>
                <a:cs typeface="Oswald"/>
              </a:rPr>
              <a:t>OPSEC</a:t>
            </a:r>
          </a:p>
          <a:p>
            <a:pPr algn="ctr">
              <a:spcAft>
                <a:spcPts val="200"/>
              </a:spcAft>
            </a:pPr>
            <a:r>
              <a:rPr sz="1600" b="0" i="0">
                <a:solidFill>
                  <a:srgbClr val="FFFFFF"/>
                </a:solidFill>
                <a:latin typeface="Arial"/>
                <a:ea typeface="Arial"/>
                <a:cs typeface="Arial"/>
              </a:rPr>
              <a:t>Seguridad operacional del analista.</a:t>
            </a:r>
          </a:p>
        </p:txBody>
      </p:sp>
      <p:sp>
        <p:nvSpPr>
          <p:cNvPr id="9081" name="TextBox 9080"/>
          <p:cNvSpPr txBox="1"/>
          <p:nvPr/>
        </p:nvSpPr>
        <p:spPr>
          <a:xfrm>
            <a:off x="5806440" y="4343400"/>
            <a:ext cx="4663440" cy="5943600"/>
          </a:xfrm>
          <a:prstGeom prst="rect">
            <a:avLst/>
          </a:prstGeom>
          <a:solidFill>
            <a:srgbClr val="E8EEFB"/>
          </a:solid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Identidades de investigación separadas.</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Infraestructura de acceso segmentada.</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No contaminar la fuente ni exponer la actividad de inteligencia. El analista no debe convertirse en un indicador del otro lado.</a:t>
            </a:r>
          </a:p>
        </p:txBody>
      </p:sp>
      <p:sp>
        <p:nvSpPr>
          <p:cNvPr id="9082" name="Rectangle 9081"/>
          <p:cNvSpPr/>
          <p:nvPr/>
        </p:nvSpPr>
        <p:spPr>
          <a:xfrm>
            <a:off x="10789919" y="3383280"/>
            <a:ext cx="4663440" cy="91440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300" b="1" i="0">
                <a:solidFill>
                  <a:srgbClr val="FFFFFF"/>
                </a:solidFill>
                <a:latin typeface="Oswald"/>
                <a:ea typeface="Oswald"/>
                <a:cs typeface="Oswald"/>
              </a:rPr>
              <a:t>PIR</a:t>
            </a:r>
          </a:p>
          <a:p>
            <a:pPr algn="ctr">
              <a:spcAft>
                <a:spcPts val="200"/>
              </a:spcAft>
            </a:pPr>
            <a:r>
              <a:rPr sz="1600" b="0" i="0">
                <a:solidFill>
                  <a:srgbClr val="FFFFFF"/>
                </a:solidFill>
                <a:latin typeface="Arial"/>
                <a:ea typeface="Arial"/>
                <a:cs typeface="Arial"/>
              </a:rPr>
              <a:t>Requerimientos de inteligencia prioritarios.</a:t>
            </a:r>
          </a:p>
        </p:txBody>
      </p:sp>
      <p:sp>
        <p:nvSpPr>
          <p:cNvPr id="9083" name="TextBox 9082"/>
          <p:cNvSpPr txBox="1"/>
          <p:nvPr/>
        </p:nvSpPr>
        <p:spPr>
          <a:xfrm>
            <a:off x="10789919" y="4343400"/>
            <a:ext cx="4663440" cy="5943600"/>
          </a:xfrm>
          <a:prstGeom prst="rect">
            <a:avLst/>
          </a:prstGeom>
          <a:solidFill>
            <a:srgbClr val="E8EEFB"/>
          </a:solid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La recolección responde a decisiones pendientes de la organización.</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No se acumulan datos sin propósito.</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Primero las preguntas que importan (¿aparecen mis dominios, mis credenciales?), después se recolecta.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8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8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8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 aplicada · La economía de credenciales</a:t>
            </a:r>
          </a:p>
        </p:txBody>
      </p:sp>
      <p:sp>
        <p:nvSpPr>
          <p:cNvPr id="9084" name="TextBox 908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85" name="TextBox 908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9</a:t>
            </a:r>
          </a:p>
        </p:txBody>
      </p:sp>
      <p:sp>
        <p:nvSpPr>
          <p:cNvPr id="9086" name="TextBox 908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[7] ENISA Threat Landscape 2024 · [16] Verizon DBIR 2025 · búsqueda por dominio: herramienta gratuita de Hudson Rock [14].</a:t>
            </a:r>
          </a:p>
        </p:txBody>
      </p:sp>
      <p:sp>
        <p:nvSpPr>
          <p:cNvPr id="9087" name="TextBox 9086"/>
          <p:cNvSpPr txBox="1"/>
          <p:nvPr/>
        </p:nvSpPr>
        <p:spPr>
          <a:xfrm>
            <a:off x="822960" y="2148840"/>
            <a:ext cx="14447520" cy="822960"/>
          </a:xfrm>
          <a:prstGeom prst="rect">
            <a:avLst/>
          </a:prstGeom>
          <a:noFill/>
        </p:spPr>
        <p:txBody>
          <a:bodyPr wrap="square" lIns="73152" tIns="73152" rIns="73152" bIns="73152" anchor="t">
            <a:noAutofit/>
          </a:bodyPr>
          <a:lstStyle/>
          <a:p>
            <a:pPr algn="l">
              <a:lnSpc>
                <a:spcPct val="100000"/>
              </a:lnSpc>
              <a:spcAft>
                <a:spcPts val="800"/>
              </a:spcAft>
            </a:pPr>
            <a:r>
              <a:rPr sz="2200" b="0" i="0">
                <a:solidFill>
                  <a:srgbClr val="221666"/>
                </a:solidFill>
                <a:latin typeface="Arial"/>
                <a:ea typeface="Arial"/>
                <a:cs typeface="Arial"/>
              </a:rPr>
              <a:t>El PIR más rentable para un Estado: vigilar credenciales institucionales expuestas. Así funciona la cadena.</a:t>
            </a:r>
          </a:p>
        </p:txBody>
      </p:sp>
      <p:sp>
        <p:nvSpPr>
          <p:cNvPr id="9088" name="Rectangle 9087"/>
          <p:cNvSpPr/>
          <p:nvPr/>
        </p:nvSpPr>
        <p:spPr>
          <a:xfrm>
            <a:off x="822960" y="3200400"/>
            <a:ext cx="3246120" cy="123444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100"/>
              </a:spcAft>
            </a:pPr>
            <a:r>
              <a:rPr sz="1900" b="1" i="0">
                <a:solidFill>
                  <a:srgbClr val="FFFFFF"/>
                </a:solidFill>
                <a:latin typeface="Arial"/>
                <a:ea typeface="Arial"/>
                <a:cs typeface="Arial"/>
              </a:rPr>
              <a:t>Infostealer</a:t>
            </a:r>
          </a:p>
          <a:p>
            <a:pPr algn="ctr">
              <a:spcAft>
                <a:spcPts val="100"/>
              </a:spcAft>
            </a:pPr>
            <a:r>
              <a:rPr sz="1800" b="0" i="0">
                <a:solidFill>
                  <a:srgbClr val="FFFFFF"/>
                </a:solidFill>
                <a:latin typeface="Arial"/>
                <a:ea typeface="Arial"/>
                <a:cs typeface="Arial"/>
              </a:rPr>
              <a:t>roba credenciales</a:t>
            </a:r>
          </a:p>
        </p:txBody>
      </p:sp>
      <p:cxnSp>
        <p:nvCxnSpPr>
          <p:cNvPr id="9089" name="Connector 9088"/>
          <p:cNvCxnSpPr/>
          <p:nvPr/>
        </p:nvCxnSpPr>
        <p:spPr>
          <a:xfrm>
            <a:off x="4114800" y="3813048"/>
            <a:ext cx="411480" cy="0"/>
          </a:xfrm>
          <a:prstGeom prst="line">
            <a:avLst/>
          </a:prstGeom>
          <a:ln w="381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90" name="Rectangle 9089"/>
          <p:cNvSpPr/>
          <p:nvPr/>
        </p:nvSpPr>
        <p:spPr>
          <a:xfrm>
            <a:off x="4572000" y="3200400"/>
            <a:ext cx="3246120" cy="123444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100"/>
              </a:spcAft>
            </a:pPr>
            <a:r>
              <a:rPr sz="1900" b="1" i="0">
                <a:solidFill>
                  <a:srgbClr val="FFFFFF"/>
                </a:solidFill>
                <a:latin typeface="Arial"/>
                <a:ea typeface="Arial"/>
                <a:cs typeface="Arial"/>
              </a:rPr>
              <a:t>Log</a:t>
            </a:r>
          </a:p>
          <a:p>
            <a:pPr algn="ctr">
              <a:spcAft>
                <a:spcPts val="100"/>
              </a:spcAft>
            </a:pPr>
            <a:r>
              <a:rPr sz="1800" b="0" i="0">
                <a:solidFill>
                  <a:srgbClr val="FFFFFF"/>
                </a:solidFill>
                <a:latin typeface="Arial"/>
                <a:ea typeface="Arial"/>
                <a:cs typeface="Arial"/>
              </a:rPr>
              <a:t>(credenciales, cookies)</a:t>
            </a:r>
          </a:p>
        </p:txBody>
      </p:sp>
      <p:cxnSp>
        <p:nvCxnSpPr>
          <p:cNvPr id="9091" name="Connector 9090"/>
          <p:cNvCxnSpPr/>
          <p:nvPr/>
        </p:nvCxnSpPr>
        <p:spPr>
          <a:xfrm>
            <a:off x="7863840" y="3813048"/>
            <a:ext cx="411479" cy="0"/>
          </a:xfrm>
          <a:prstGeom prst="line">
            <a:avLst/>
          </a:prstGeom>
          <a:ln w="381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92" name="Rectangle 9091"/>
          <p:cNvSpPr/>
          <p:nvPr/>
        </p:nvSpPr>
        <p:spPr>
          <a:xfrm>
            <a:off x="8321040" y="3200400"/>
            <a:ext cx="3246120" cy="123444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100"/>
              </a:spcAft>
            </a:pPr>
            <a:r>
              <a:rPr sz="1900" b="1" i="0">
                <a:solidFill>
                  <a:srgbClr val="FFFFFF"/>
                </a:solidFill>
                <a:latin typeface="Arial"/>
                <a:ea typeface="Arial"/>
                <a:cs typeface="Arial"/>
              </a:rPr>
              <a:t>Broker de acceso</a:t>
            </a:r>
          </a:p>
          <a:p>
            <a:pPr algn="ctr">
              <a:spcAft>
                <a:spcPts val="100"/>
              </a:spcAft>
            </a:pPr>
            <a:r>
              <a:rPr sz="1800" b="0" i="0">
                <a:solidFill>
                  <a:srgbClr val="FFFFFF"/>
                </a:solidFill>
                <a:latin typeface="Arial"/>
                <a:ea typeface="Arial"/>
                <a:cs typeface="Arial"/>
              </a:rPr>
              <a:t>inicial (IAB)</a:t>
            </a:r>
          </a:p>
        </p:txBody>
      </p:sp>
      <p:cxnSp>
        <p:nvCxnSpPr>
          <p:cNvPr id="9093" name="Connector 9092"/>
          <p:cNvCxnSpPr/>
          <p:nvPr/>
        </p:nvCxnSpPr>
        <p:spPr>
          <a:xfrm>
            <a:off x="11612880" y="3813048"/>
            <a:ext cx="411479" cy="0"/>
          </a:xfrm>
          <a:prstGeom prst="line">
            <a:avLst/>
          </a:prstGeom>
          <a:ln w="381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94" name="Rectangle 9093"/>
          <p:cNvSpPr/>
          <p:nvPr/>
        </p:nvSpPr>
        <p:spPr>
          <a:xfrm>
            <a:off x="12070080" y="3200400"/>
            <a:ext cx="3246120" cy="12344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100"/>
              </a:spcAft>
            </a:pPr>
            <a:r>
              <a:rPr sz="1900" b="1" i="0">
                <a:solidFill>
                  <a:srgbClr val="FFFFFF"/>
                </a:solidFill>
                <a:latin typeface="Arial"/>
                <a:ea typeface="Arial"/>
                <a:cs typeface="Arial"/>
              </a:rPr>
              <a:t>Ransomware /</a:t>
            </a:r>
          </a:p>
          <a:p>
            <a:pPr algn="ctr">
              <a:spcAft>
                <a:spcPts val="100"/>
              </a:spcAft>
            </a:pPr>
            <a:r>
              <a:rPr sz="1800" b="0" i="0">
                <a:solidFill>
                  <a:srgbClr val="FFFFFF"/>
                </a:solidFill>
                <a:latin typeface="Arial"/>
                <a:ea typeface="Arial"/>
                <a:cs typeface="Arial"/>
              </a:rPr>
              <a:t>actor estatal</a:t>
            </a:r>
          </a:p>
        </p:txBody>
      </p:sp>
      <p:sp>
        <p:nvSpPr>
          <p:cNvPr id="9095" name="TextBox 9094"/>
          <p:cNvSpPr txBox="1"/>
          <p:nvPr/>
        </p:nvSpPr>
        <p:spPr>
          <a:xfrm>
            <a:off x="822960" y="4892040"/>
            <a:ext cx="9509760" cy="3657600"/>
          </a:xfrm>
          <a:prstGeom prst="rect">
            <a:avLst/>
          </a:prstGeom>
          <a:noFill/>
        </p:spPr>
        <p:txBody>
          <a:bodyPr wrap="square" lIns="73152" tIns="73152" rIns="73152" bIns="73152" anchor="t">
            <a:noAutofit/>
          </a:bodyPr>
          <a:lstStyle/>
          <a:p>
            <a:pPr algn="l">
              <a:lnSpc>
                <a:spcPct val="100000"/>
              </a:lnSpc>
              <a:spcAft>
                <a:spcPts val="1200"/>
              </a:spcAft>
            </a:pPr>
            <a:r>
              <a:rPr sz="3400" b="1" i="0">
                <a:solidFill>
                  <a:srgbClr val="221666"/>
                </a:solidFill>
                <a:latin typeface="Arial"/>
                <a:ea typeface="Arial"/>
                <a:cs typeface="Arial"/>
              </a:rPr>
              <a:t>54 %</a:t>
            </a:r>
            <a:r>
              <a:rPr sz="2100" b="0" i="0">
                <a:solidFill>
                  <a:srgbClr val="000000"/>
                </a:solidFill>
                <a:latin typeface="Arial"/>
                <a:ea typeface="Arial"/>
                <a:cs typeface="Arial"/>
              </a:rPr>
              <a:t> de las víctimas publicadas en sitios de extorsión de ransomware ya tenían su dominio en logs de infostealer antes del ataque; el intervalo más frecuente entre exposición y ataque ronda los </a:t>
            </a:r>
            <a:r>
              <a:rPr sz="2100" b="1" i="0">
                <a:solidFill>
                  <a:srgbClr val="221666"/>
                </a:solidFill>
                <a:latin typeface="Arial"/>
                <a:ea typeface="Arial"/>
                <a:cs typeface="Arial"/>
              </a:rPr>
              <a:t>dos días</a:t>
            </a:r>
            <a:r>
              <a:rPr sz="2100" b="0" i="0">
                <a:solidFill>
                  <a:srgbClr val="000000"/>
                </a:solidFill>
                <a:latin typeface="Arial"/>
                <a:ea typeface="Arial"/>
                <a:cs typeface="Arial"/>
              </a:rPr>
              <a:t> [16].</a:t>
            </a:r>
          </a:p>
          <a:p>
            <a:pPr algn="l">
              <a:lnSpc>
                <a:spcPct val="100000"/>
              </a:lnSpc>
              <a:spcAft>
                <a:spcPts val="1200"/>
              </a:spcAft>
            </a:pPr>
            <a:r>
              <a:rPr sz="2100" b="0" i="0">
                <a:solidFill>
                  <a:srgbClr val="000000"/>
                </a:solidFill>
                <a:latin typeface="Arial"/>
                <a:ea typeface="Arial"/>
                <a:cs typeface="Arial"/>
              </a:rPr>
              <a:t>Un dominio institucional —</a:t>
            </a:r>
            <a:r>
              <a:rPr sz="2100" b="1" i="0">
                <a:solidFill>
                  <a:srgbClr val="000000"/>
                </a:solidFill>
                <a:latin typeface="Arial"/>
                <a:ea typeface="Arial"/>
                <a:cs typeface="Arial"/>
              </a:rPr>
              <a:t>.mil o su equivalente nacional</a:t>
            </a:r>
            <a:r>
              <a:rPr sz="2100" b="0" i="0">
                <a:solidFill>
                  <a:srgbClr val="000000"/>
                </a:solidFill>
                <a:latin typeface="Arial"/>
                <a:ea typeface="Arial"/>
                <a:cs typeface="Arial"/>
              </a:rPr>
              <a:t>— en un log es </a:t>
            </a:r>
            <a:r>
              <a:rPr sz="2100" b="1" i="0">
                <a:solidFill>
                  <a:srgbClr val="221666"/>
                </a:solidFill>
                <a:latin typeface="Arial"/>
                <a:ea typeface="Arial"/>
                <a:cs typeface="Arial"/>
              </a:rPr>
              <a:t>alerta temprana accionable</a:t>
            </a:r>
            <a:r>
              <a:rPr sz="2100" b="0" i="0">
                <a:solidFill>
                  <a:srgbClr val="000000"/>
                </a:solidFill>
                <a:latin typeface="Arial"/>
                <a:ea typeface="Arial"/>
                <a:cs typeface="Arial"/>
              </a:rPr>
              <a:t>: rotar la credencial y bloquear el acceso antes de que el broker concrete la venta. Ahí las Fuerzas Armadas ganan tiempo al adversario.</a:t>
            </a:r>
          </a:p>
        </p:txBody>
      </p:sp>
      <p:sp>
        <p:nvSpPr>
          <p:cNvPr id="9096" name="Rectangle 9095"/>
          <p:cNvSpPr/>
          <p:nvPr/>
        </p:nvSpPr>
        <p:spPr>
          <a:xfrm>
            <a:off x="10789920" y="4892040"/>
            <a:ext cx="4480560" cy="3657600"/>
          </a:xfrm>
          <a:prstGeom prst="rect">
            <a:avLst/>
          </a:prstGeom>
          <a:solidFill>
            <a:srgbClr val="F7F6FD"/>
          </a:solidFill>
          <a:ln w="19050">
            <a:solidFill>
              <a:srgbClr val="3C98FE"/>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lstStyle/>
          <a:p>
            <a:pPr algn="l">
              <a:spcAft>
                <a:spcPts val="800"/>
              </a:spcAft>
            </a:pPr>
            <a:r>
              <a:rPr sz="1900" b="1" i="0">
                <a:solidFill>
                  <a:srgbClr val="221666"/>
                </a:solidFill>
                <a:latin typeface="Arial"/>
                <a:ea typeface="Arial"/>
                <a:cs typeface="Arial"/>
              </a:rPr>
              <a:t>Búsqueda por dominio</a:t>
            </a:r>
          </a:p>
          <a:p>
            <a:pPr algn="l">
              <a:spcAft>
                <a:spcPts val="800"/>
              </a:spcAft>
            </a:pPr>
            <a:r>
              <a:rPr sz="1600" b="0" i="0">
                <a:solidFill>
                  <a:srgbClr val="555B6E"/>
                </a:solidFill>
                <a:latin typeface="Arial"/>
                <a:ea typeface="Arial"/>
                <a:cs typeface="Arial"/>
              </a:rPr>
              <a:t>En vivo si hay red; captura de respaldo si no.</a:t>
            </a:r>
          </a:p>
          <a:p>
            <a:pPr algn="l">
              <a:spcAft>
                <a:spcPts val="800"/>
              </a:spcAft>
            </a:pPr>
            <a:r>
              <a:rPr sz="1600" b="0" i="0">
                <a:solidFill>
                  <a:srgbClr val="555B6E"/>
                </a:solidFill>
                <a:latin typeface="Arial"/>
                <a:ea typeface="Arial"/>
                <a:cs typeface="Arial"/>
              </a:rPr>
              <a:t>Devuelve cuántas máquinas y credenciales por dominio están expuestas —sin exponer credenciales.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9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9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9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 · Caso propio: la capacidad del Estado, a la venta</a:t>
            </a:r>
          </a:p>
        </p:txBody>
      </p:sp>
      <p:sp>
        <p:nvSpPr>
          <p:cNvPr id="9094" name="TextBox 909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95" name="TextBox 909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10</a:t>
            </a:r>
          </a:p>
        </p:txBody>
      </p:sp>
      <p:sp>
        <p:nvSpPr>
          <p:cNvPr id="9096" name="TextBox 909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investigación propia del autor (2025–2026); reportado al CERT.ar. Capturas sanitizadas por OPSEC: dominios, enlaces, hashes e identificadores tapados.</a:t>
            </a:r>
          </a:p>
        </p:txBody>
      </p:sp>
      <p:pic>
        <p:nvPicPr>
          <p:cNvPr id="9097" name="Picture 9096" descr="ufed_blur.jpg"/>
          <p:cNvPicPr>
            <a:picLocks noChangeAspect="1"/>
          </p:cNvPicPr>
          <p:nvPr/>
        </p:nvPicPr>
        <p:blipFill>
          <a:blip r:embed="rId4"/>
          <a:stretch>
            <a:fillRect/>
          </a:stretch>
        </p:blipFill>
        <p:spPr>
          <a:xfrm>
            <a:off x="822960" y="2148840"/>
            <a:ext cx="6035040" cy="3856073"/>
          </a:xfrm>
          <a:prstGeom prst="rect">
            <a:avLst/>
          </a:prstGeom>
        </p:spPr>
      </p:pic>
      <p:pic>
        <p:nvPicPr>
          <p:cNvPr id="9098" name="Picture 9097" descr="reporte2_ok.jpg"/>
          <p:cNvPicPr>
            <a:picLocks noChangeAspect="1"/>
          </p:cNvPicPr>
          <p:nvPr/>
        </p:nvPicPr>
        <p:blipFill>
          <a:blip r:embed="rId5"/>
          <a:stretch>
            <a:fillRect/>
          </a:stretch>
        </p:blipFill>
        <p:spPr>
          <a:xfrm>
            <a:off x="822960" y="5577840"/>
            <a:ext cx="6035040" cy="3017520"/>
          </a:xfrm>
          <a:prstGeom prst="rect">
            <a:avLst/>
          </a:prstGeom>
        </p:spPr>
      </p:pic>
      <p:sp>
        <p:nvSpPr>
          <p:cNvPr id="9099" name="TextBox 9098"/>
          <p:cNvSpPr txBox="1"/>
          <p:nvPr/>
        </p:nvSpPr>
        <p:spPr>
          <a:xfrm>
            <a:off x="822960" y="8595360"/>
            <a:ext cx="6035040" cy="365760"/>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Post del vendedor (Foro Exploit.in) · acuse del CERT.ar al reporte.</a:t>
            </a:r>
          </a:p>
        </p:txBody>
      </p:sp>
      <p:sp>
        <p:nvSpPr>
          <p:cNvPr id="9100" name="Rectangle 9099"/>
          <p:cNvSpPr/>
          <p:nvPr/>
        </p:nvSpPr>
        <p:spPr>
          <a:xfrm>
            <a:off x="7040880" y="2148840"/>
            <a:ext cx="822960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100" b="1" i="0">
                <a:solidFill>
                  <a:srgbClr val="FFFFFF"/>
                </a:solidFill>
                <a:latin typeface="Oswald"/>
                <a:ea typeface="Oswald"/>
                <a:cs typeface="Oswald"/>
              </a:rPr>
              <a:t>El hallazgo</a:t>
            </a:r>
          </a:p>
        </p:txBody>
      </p:sp>
      <p:sp>
        <p:nvSpPr>
          <p:cNvPr id="9101" name="TextBox 9100"/>
          <p:cNvSpPr txBox="1"/>
          <p:nvPr/>
        </p:nvSpPr>
        <p:spPr>
          <a:xfrm>
            <a:off x="7040880" y="2788920"/>
            <a:ext cx="8229600" cy="283464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Software forense a la venta: </a:t>
            </a:r>
            <a:r>
              <a:rPr sz="1700" b="0" i="0">
                <a:solidFill>
                  <a:srgbClr val="000000"/>
                </a:solidFill>
                <a:latin typeface="Arial"/>
                <a:ea typeface="Arial"/>
                <a:cs typeface="Arial"/>
              </a:rPr>
              <a:t>Cellebrite UFED Inseyets 10.4.0.410 —instalador, dongle y llaves de usuario— de una unidad Cyber en Argentina.</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Log del equipo central de la Policía Federal Argentina: </a:t>
            </a:r>
            <a:r>
              <a:rPr sz="1700" b="0" i="0">
                <a:solidFill>
                  <a:srgbClr val="000000"/>
                </a:solidFill>
                <a:latin typeface="Arial"/>
                <a:ea typeface="Arial"/>
                <a:cs typeface="Arial"/>
              </a:rPr>
              <a:t>credenciales y correos de servicios de gobierno.</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Los dos vectores de la charla en un hecho: </a:t>
            </a:r>
            <a:r>
              <a:rPr sz="1700" b="0" i="0">
                <a:solidFill>
                  <a:srgbClr val="000000"/>
                </a:solidFill>
                <a:latin typeface="Arial"/>
                <a:ea typeface="Arial"/>
                <a:cs typeface="Arial"/>
              </a:rPr>
              <a:t>herramienta legítima comprometida y economía de credenciales.</a:t>
            </a:r>
          </a:p>
        </p:txBody>
      </p:sp>
      <p:sp>
        <p:nvSpPr>
          <p:cNvPr id="9102" name="Rectangle 9101"/>
          <p:cNvSpPr/>
          <p:nvPr/>
        </p:nvSpPr>
        <p:spPr>
          <a:xfrm>
            <a:off x="7040880" y="5852160"/>
            <a:ext cx="8229600" cy="54864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900" b="1" i="0">
                <a:solidFill>
                  <a:srgbClr val="FFFFFF"/>
                </a:solidFill>
                <a:latin typeface="Oswald"/>
                <a:ea typeface="Oswald"/>
                <a:cs typeface="Oswald"/>
              </a:rPr>
              <a:t>Fase I en acción — el ciclo completo</a:t>
            </a:r>
          </a:p>
        </p:txBody>
      </p:sp>
      <p:sp>
        <p:nvSpPr>
          <p:cNvPr id="9103" name="TextBox 9102"/>
          <p:cNvSpPr txBox="1"/>
          <p:nvPr/>
        </p:nvSpPr>
        <p:spPr>
          <a:xfrm>
            <a:off x="7040880" y="6492240"/>
            <a:ext cx="8229600" cy="1280160"/>
          </a:xfrm>
          <a:prstGeom prst="rect">
            <a:avLst/>
          </a:prstGeom>
          <a:noFill/>
        </p:spPr>
        <p:txBody>
          <a:bodyPr wrap="square" lIns="73152" tIns="73152" rIns="73152" bIns="73152" anchor="t">
            <a:noAutofit/>
          </a:bodyPr>
          <a:lstStyle/>
          <a:p>
            <a:pPr marL="320040" indent="-320040" algn="l">
              <a:lnSpc>
                <a:spcPct val="100000"/>
              </a:lnSpc>
              <a:spcAft>
                <a:spcPts val="600"/>
              </a:spcAft>
              <a:buClr>
                <a:srgbClr val="221666"/>
              </a:buClr>
              <a:buFont typeface="Arial"/>
              <a:buChar char="•"/>
            </a:pPr>
            <a:r>
              <a:rPr sz="1700" b="1" i="0">
                <a:solidFill>
                  <a:srgbClr val="000000"/>
                </a:solidFill>
                <a:latin typeface="Arial"/>
                <a:ea typeface="Arial"/>
                <a:cs typeface="Arial"/>
              </a:rPr>
              <a:t>Evaluación (Admiralty): </a:t>
            </a:r>
            <a:r>
              <a:rPr sz="1700" b="0" i="0">
                <a:solidFill>
                  <a:srgbClr val="000000"/>
                </a:solidFill>
                <a:latin typeface="Arial"/>
                <a:ea typeface="Arial"/>
                <a:cs typeface="Arial"/>
              </a:rPr>
              <a:t>fuente </a:t>
            </a:r>
            <a:r>
              <a:rPr sz="1700" b="1" i="0">
                <a:solidFill>
                  <a:srgbClr val="221666"/>
                </a:solidFill>
                <a:latin typeface="Arial"/>
                <a:ea typeface="Arial"/>
                <a:cs typeface="Arial"/>
              </a:rPr>
              <a:t>C</a:t>
            </a:r>
            <a:r>
              <a:rPr sz="1700" b="0" i="0">
                <a:solidFill>
                  <a:srgbClr val="000000"/>
                </a:solidFill>
                <a:latin typeface="Arial"/>
                <a:ea typeface="Arial"/>
                <a:cs typeface="Arial"/>
              </a:rPr>
              <a:t> (vendedor con historial acotado); información </a:t>
            </a:r>
            <a:r>
              <a:rPr sz="1700" b="1" i="0">
                <a:solidFill>
                  <a:srgbClr val="221666"/>
                </a:solidFill>
                <a:latin typeface="Arial"/>
                <a:ea typeface="Arial"/>
                <a:cs typeface="Arial"/>
              </a:rPr>
              <a:t>2</a:t>
            </a:r>
            <a:r>
              <a:rPr sz="1700" b="0" i="0">
                <a:solidFill>
                  <a:srgbClr val="000000"/>
                </a:solidFill>
                <a:latin typeface="Arial"/>
                <a:ea typeface="Arial"/>
                <a:cs typeface="Arial"/>
              </a:rPr>
              <a:t> (artefactos verificables, dominios reales; binario no verificado). Ejemplo real de la calificación que definimos antes.</a:t>
            </a:r>
          </a:p>
        </p:txBody>
      </p:sp>
      <p:sp>
        <p:nvSpPr>
          <p:cNvPr id="9104" name="Rectangle 9103"/>
          <p:cNvSpPr/>
          <p:nvPr/>
        </p:nvSpPr>
        <p:spPr>
          <a:xfrm>
            <a:off x="7040880" y="7955279"/>
            <a:ext cx="2651760" cy="54864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600" b="1" i="0">
                <a:solidFill>
                  <a:srgbClr val="FFFFFF"/>
                </a:solidFill>
                <a:latin typeface="Arial"/>
                <a:ea typeface="Arial"/>
                <a:cs typeface="Arial"/>
              </a:rPr>
              <a:t>Detección</a:t>
            </a:r>
          </a:p>
        </p:txBody>
      </p:sp>
      <p:sp>
        <p:nvSpPr>
          <p:cNvPr id="9105" name="TextBox 9104"/>
          <p:cNvSpPr txBox="1"/>
          <p:nvPr/>
        </p:nvSpPr>
        <p:spPr>
          <a:xfrm>
            <a:off x="7040880" y="8531352"/>
            <a:ext cx="2651760" cy="1188720"/>
          </a:xfrm>
          <a:prstGeom prst="rect">
            <a:avLst/>
          </a:prstGeom>
          <a:solidFill>
            <a:srgbClr val="E8EEFB"/>
          </a:solidFill>
        </p:spPr>
        <p:txBody>
          <a:bodyPr wrap="square" tIns="91440" bIns="91440" anchor="t">
            <a:noAutofit/>
          </a:bodyPr>
          <a:lstStyle/>
          <a:p>
            <a:pPr algn="l">
              <a:lnSpc>
                <a:spcPct val="100000"/>
              </a:lnSpc>
              <a:spcAft>
                <a:spcPts val="800"/>
              </a:spcAft>
            </a:pPr>
            <a:r>
              <a:rPr sz="1400" b="0" i="0">
                <a:solidFill>
                  <a:srgbClr val="000000"/>
                </a:solidFill>
                <a:latin typeface="Arial"/>
                <a:ea typeface="Arial"/>
                <a:cs typeface="Arial"/>
              </a:rPr>
              <a:t>hallazgo en el foro</a:t>
            </a:r>
          </a:p>
        </p:txBody>
      </p:sp>
      <p:cxnSp>
        <p:nvCxnSpPr>
          <p:cNvPr id="9106" name="Connector 9105"/>
          <p:cNvCxnSpPr/>
          <p:nvPr/>
        </p:nvCxnSpPr>
        <p:spPr>
          <a:xfrm>
            <a:off x="9710928" y="8229600"/>
            <a:ext cx="73152" cy="0"/>
          </a:xfrm>
          <a:prstGeom prst="line">
            <a:avLst/>
          </a:prstGeom>
          <a:ln w="3175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07" name="Rectangle 9106"/>
          <p:cNvSpPr/>
          <p:nvPr/>
        </p:nvSpPr>
        <p:spPr>
          <a:xfrm>
            <a:off x="9802368" y="7955279"/>
            <a:ext cx="2651760" cy="54864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600" b="1" i="0">
                <a:solidFill>
                  <a:srgbClr val="FFFFFF"/>
                </a:solidFill>
                <a:latin typeface="Arial"/>
                <a:ea typeface="Arial"/>
                <a:cs typeface="Arial"/>
              </a:rPr>
              <a:t>Notificación</a:t>
            </a:r>
          </a:p>
        </p:txBody>
      </p:sp>
      <p:sp>
        <p:nvSpPr>
          <p:cNvPr id="9108" name="TextBox 9107"/>
          <p:cNvSpPr txBox="1"/>
          <p:nvPr/>
        </p:nvSpPr>
        <p:spPr>
          <a:xfrm>
            <a:off x="9802368" y="8531352"/>
            <a:ext cx="2651760" cy="1188720"/>
          </a:xfrm>
          <a:prstGeom prst="rect">
            <a:avLst/>
          </a:prstGeom>
          <a:solidFill>
            <a:srgbClr val="E8EEFB"/>
          </a:solidFill>
        </p:spPr>
        <p:txBody>
          <a:bodyPr wrap="square" tIns="91440" bIns="91440" anchor="t">
            <a:noAutofit/>
          </a:bodyPr>
          <a:lstStyle/>
          <a:p>
            <a:pPr algn="l">
              <a:lnSpc>
                <a:spcPct val="100000"/>
              </a:lnSpc>
              <a:spcAft>
                <a:spcPts val="800"/>
              </a:spcAft>
            </a:pPr>
            <a:r>
              <a:rPr sz="1400" b="0" i="0">
                <a:solidFill>
                  <a:srgbClr val="000000"/>
                </a:solidFill>
                <a:latin typeface="Arial"/>
                <a:ea typeface="Arial"/>
                <a:cs typeface="Arial"/>
              </a:rPr>
              <a:t>reporte al CERT.ar</a:t>
            </a:r>
          </a:p>
        </p:txBody>
      </p:sp>
      <p:cxnSp>
        <p:nvCxnSpPr>
          <p:cNvPr id="9109" name="Connector 9108"/>
          <p:cNvCxnSpPr/>
          <p:nvPr/>
        </p:nvCxnSpPr>
        <p:spPr>
          <a:xfrm>
            <a:off x="12472416" y="8229600"/>
            <a:ext cx="73152" cy="0"/>
          </a:xfrm>
          <a:prstGeom prst="line">
            <a:avLst/>
          </a:prstGeom>
          <a:ln w="3175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10" name="Rectangle 9109"/>
          <p:cNvSpPr/>
          <p:nvPr/>
        </p:nvSpPr>
        <p:spPr>
          <a:xfrm>
            <a:off x="12563856" y="7955279"/>
            <a:ext cx="265176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600" b="1" i="0">
                <a:solidFill>
                  <a:srgbClr val="FFFFFF"/>
                </a:solidFill>
                <a:latin typeface="Arial"/>
                <a:ea typeface="Arial"/>
                <a:cs typeface="Arial"/>
              </a:rPr>
              <a:t>Respuesta</a:t>
            </a:r>
          </a:p>
        </p:txBody>
      </p:sp>
      <p:sp>
        <p:nvSpPr>
          <p:cNvPr id="9111" name="TextBox 9110"/>
          <p:cNvSpPr txBox="1"/>
          <p:nvPr/>
        </p:nvSpPr>
        <p:spPr>
          <a:xfrm>
            <a:off x="12563856" y="8531352"/>
            <a:ext cx="2651760" cy="1188720"/>
          </a:xfrm>
          <a:prstGeom prst="rect">
            <a:avLst/>
          </a:prstGeom>
          <a:solidFill>
            <a:srgbClr val="E8EEFB"/>
          </a:solidFill>
        </p:spPr>
        <p:txBody>
          <a:bodyPr wrap="square" tIns="91440" bIns="91440" anchor="t">
            <a:noAutofit/>
          </a:bodyPr>
          <a:lstStyle/>
          <a:p>
            <a:pPr algn="l">
              <a:lnSpc>
                <a:spcPct val="100000"/>
              </a:lnSpc>
              <a:spcAft>
                <a:spcPts val="800"/>
              </a:spcAft>
            </a:pPr>
            <a:r>
              <a:rPr sz="1400" b="0" i="0">
                <a:solidFill>
                  <a:srgbClr val="000000"/>
                </a:solidFill>
                <a:latin typeface="Arial"/>
                <a:ea typeface="Arial"/>
                <a:cs typeface="Arial"/>
              </a:rPr>
              <a:t>acuse: «estaremos gestionando el incidente»</a:t>
            </a:r>
          </a:p>
        </p:txBody>
      </p:sp>
      <p:sp>
        <p:nvSpPr>
          <p:cNvPr id="9112" name="TextBox 9111"/>
          <p:cNvSpPr txBox="1"/>
          <p:nvPr/>
        </p:nvSpPr>
        <p:spPr>
          <a:xfrm>
            <a:off x="7040880" y="9784080"/>
            <a:ext cx="8229600" cy="822960"/>
          </a:xfrm>
          <a:prstGeom prst="rect">
            <a:avLst/>
          </a:prstGeom>
          <a:noFill/>
        </p:spPr>
        <p:txBody>
          <a:bodyPr wrap="square" lIns="73152" tIns="73152" rIns="73152" bIns="73152" anchor="t">
            <a:noAutofit/>
          </a:bodyPr>
          <a:lstStyle/>
          <a:p>
            <a:pPr algn="l">
              <a:lnSpc>
                <a:spcPct val="100000"/>
              </a:lnSpc>
              <a:spcAft>
                <a:spcPts val="800"/>
              </a:spcAft>
            </a:pPr>
            <a:r>
              <a:rPr sz="1500" b="0" i="1">
                <a:solidFill>
                  <a:srgbClr val="221666"/>
                </a:solidFill>
                <a:latin typeface="Arial"/>
                <a:ea typeface="Arial"/>
                <a:cs typeface="Arial"/>
              </a:rPr>
              <a:t>La alerta temprana de la Fase I, ejecutada en la región y con final: detectar, calificar y notificar la exposición de una capacidad del Estado.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9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9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9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 · Caso propio II: FF.AA. e infraestructura crítica, hoy</a:t>
            </a:r>
          </a:p>
        </p:txBody>
      </p:sp>
      <p:sp>
        <p:nvSpPr>
          <p:cNvPr id="9094" name="TextBox 909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95" name="TextBox 909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11</a:t>
            </a:r>
          </a:p>
        </p:txBody>
      </p:sp>
      <p:sp>
        <p:nvSpPr>
          <p:cNvPr id="9096" name="TextBox 909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capturas propias de plataformas de CTI e inteligencia de identidades (sep 2026); notificado al CERT.ar el 16/09/2026. Sanitizado por OPSEC: usuarios, tokens y enlaces de Telegram tapados.</a:t>
            </a:r>
          </a:p>
        </p:txBody>
      </p:sp>
      <p:pic>
        <p:nvPicPr>
          <p:cNvPr id="9097" name="Picture 9096" descr="busqueda_s.png"/>
          <p:cNvPicPr>
            <a:picLocks noChangeAspect="1"/>
          </p:cNvPicPr>
          <p:nvPr/>
        </p:nvPicPr>
        <p:blipFill>
          <a:blip r:embed="rId4"/>
          <a:stretch>
            <a:fillRect/>
          </a:stretch>
        </p:blipFill>
        <p:spPr>
          <a:xfrm>
            <a:off x="822960" y="2148840"/>
            <a:ext cx="6949440" cy="3769099"/>
          </a:xfrm>
          <a:prstGeom prst="rect">
            <a:avLst/>
          </a:prstGeom>
        </p:spPr>
      </p:pic>
      <p:sp>
        <p:nvSpPr>
          <p:cNvPr id="9098" name="TextBox 9097"/>
          <p:cNvSpPr txBox="1"/>
          <p:nvPr/>
        </p:nvSpPr>
        <p:spPr>
          <a:xfrm>
            <a:off x="822960" y="5945370"/>
            <a:ext cx="6949440" cy="658368"/>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Búsqueda «ejercito.mil.ar» en la plataforma de CTI: el mismo portal del gancho, ahora también en un canal de Telegram, con fecha de ayer (15/09/2026).</a:t>
            </a:r>
          </a:p>
        </p:txBody>
      </p:sp>
      <p:pic>
        <p:nvPicPr>
          <p:cNvPr id="9099" name="Picture 9098" descr="notificacion_s.png"/>
          <p:cNvPicPr>
            <a:picLocks noChangeAspect="1"/>
          </p:cNvPicPr>
          <p:nvPr/>
        </p:nvPicPr>
        <p:blipFill>
          <a:blip r:embed="rId5"/>
          <a:stretch>
            <a:fillRect/>
          </a:stretch>
        </p:blipFill>
        <p:spPr>
          <a:xfrm>
            <a:off x="822960" y="6812280"/>
            <a:ext cx="6949440" cy="1809444"/>
          </a:xfrm>
          <a:prstGeom prst="rect">
            <a:avLst/>
          </a:prstGeom>
        </p:spPr>
      </p:pic>
      <p:sp>
        <p:nvSpPr>
          <p:cNvPr id="9100" name="TextBox 9099"/>
          <p:cNvSpPr txBox="1"/>
          <p:nvPr/>
        </p:nvSpPr>
        <p:spPr>
          <a:xfrm>
            <a:off x="822960" y="8649155"/>
            <a:ext cx="6949440" cy="411480"/>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Notificación del hallazgo al CERT.ar (16/09/2026), con enlace al reporte.</a:t>
            </a:r>
          </a:p>
        </p:txBody>
      </p:sp>
      <p:sp>
        <p:nvSpPr>
          <p:cNvPr id="9101" name="Rectangle 9100"/>
          <p:cNvSpPr/>
          <p:nvPr/>
        </p:nvSpPr>
        <p:spPr>
          <a:xfrm>
            <a:off x="822960" y="9253728"/>
            <a:ext cx="2206752" cy="56692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1700" b="1" i="0">
                <a:solidFill>
                  <a:srgbClr val="FFFFFF"/>
                </a:solidFill>
                <a:latin typeface="Oswald"/>
                <a:ea typeface="Oswald"/>
                <a:cs typeface="Oswald"/>
              </a:rPr>
              <a:t>Detección</a:t>
            </a:r>
          </a:p>
        </p:txBody>
      </p:sp>
      <p:sp>
        <p:nvSpPr>
          <p:cNvPr id="9102" name="TextBox 9101"/>
          <p:cNvSpPr txBox="1"/>
          <p:nvPr/>
        </p:nvSpPr>
        <p:spPr>
          <a:xfrm>
            <a:off x="822960" y="9848087"/>
            <a:ext cx="2206752" cy="1024128"/>
          </a:xfrm>
          <a:prstGeom prst="rect">
            <a:avLst/>
          </a:prstGeom>
          <a:noFill/>
        </p:spPr>
        <p:txBody>
          <a:bodyPr wrap="square" lIns="73152" tIns="73152" rIns="73152" bIns="73152" anchor="t">
            <a:noAutofit/>
          </a:bodyPr>
          <a:lstStyle/>
          <a:p>
            <a:pPr algn="l">
              <a:lnSpc>
                <a:spcPct val="100000"/>
              </a:lnSpc>
              <a:spcAft>
                <a:spcPts val="800"/>
              </a:spcAft>
            </a:pPr>
            <a:r>
              <a:rPr sz="1400" b="0" i="0">
                <a:solidFill>
                  <a:srgbClr val="000000"/>
                </a:solidFill>
                <a:latin typeface="Arial"/>
                <a:ea typeface="Arial"/>
                <a:cs typeface="Arial"/>
              </a:rPr>
              <a:t>hallazgo en plataforma, mercado y Telegram (13–15/09)</a:t>
            </a:r>
          </a:p>
        </p:txBody>
      </p:sp>
      <p:cxnSp>
        <p:nvCxnSpPr>
          <p:cNvPr id="9103" name="Connector 9102"/>
          <p:cNvCxnSpPr/>
          <p:nvPr/>
        </p:nvCxnSpPr>
        <p:spPr>
          <a:xfrm>
            <a:off x="3047999" y="9537192"/>
            <a:ext cx="128017" cy="0"/>
          </a:xfrm>
          <a:prstGeom prst="line">
            <a:avLst/>
          </a:prstGeom>
          <a:ln w="25400">
            <a:solidFill>
              <a:srgbClr val="221666"/>
            </a:solidFill>
          </a:ln>
        </p:spPr>
        <p:style>
          <a:lnRef idx="2">
            <a:schemeClr val="accent1"/>
          </a:lnRef>
          <a:fillRef idx="0">
            <a:schemeClr val="accent1"/>
          </a:fillRef>
          <a:effectRef idx="1">
            <a:schemeClr val="accent1"/>
          </a:effectRef>
          <a:fontRef idx="minor">
            <a:schemeClr val="tx1"/>
          </a:fontRef>
        </p:style>
      </p:cxnSp>
      <p:sp>
        <p:nvSpPr>
          <p:cNvPr id="9104" name="Rectangle 9103"/>
          <p:cNvSpPr/>
          <p:nvPr/>
        </p:nvSpPr>
        <p:spPr>
          <a:xfrm>
            <a:off x="3194304" y="9253728"/>
            <a:ext cx="2206752" cy="56692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1700" b="1" i="0">
                <a:solidFill>
                  <a:srgbClr val="FFFFFF"/>
                </a:solidFill>
                <a:latin typeface="Oswald"/>
                <a:ea typeface="Oswald"/>
                <a:cs typeface="Oswald"/>
              </a:rPr>
              <a:t>Notificación</a:t>
            </a:r>
          </a:p>
        </p:txBody>
      </p:sp>
      <p:sp>
        <p:nvSpPr>
          <p:cNvPr id="9105" name="TextBox 9104"/>
          <p:cNvSpPr txBox="1"/>
          <p:nvPr/>
        </p:nvSpPr>
        <p:spPr>
          <a:xfrm>
            <a:off x="3194304" y="9848087"/>
            <a:ext cx="2206752" cy="1024128"/>
          </a:xfrm>
          <a:prstGeom prst="rect">
            <a:avLst/>
          </a:prstGeom>
          <a:noFill/>
        </p:spPr>
        <p:txBody>
          <a:bodyPr wrap="square" lIns="73152" tIns="73152" rIns="73152" bIns="73152" anchor="t">
            <a:noAutofit/>
          </a:bodyPr>
          <a:lstStyle/>
          <a:p>
            <a:pPr algn="l">
              <a:lnSpc>
                <a:spcPct val="100000"/>
              </a:lnSpc>
              <a:spcAft>
                <a:spcPts val="800"/>
              </a:spcAft>
            </a:pPr>
            <a:r>
              <a:rPr sz="1400" b="0" i="0">
                <a:solidFill>
                  <a:srgbClr val="000000"/>
                </a:solidFill>
                <a:latin typeface="Arial"/>
                <a:ea typeface="Arial"/>
                <a:cs typeface="Arial"/>
              </a:rPr>
              <a:t>reporte al CERT.ar (16/09), antes de esta charla</a:t>
            </a:r>
          </a:p>
        </p:txBody>
      </p:sp>
      <p:cxnSp>
        <p:nvCxnSpPr>
          <p:cNvPr id="9106" name="Connector 9105"/>
          <p:cNvCxnSpPr/>
          <p:nvPr/>
        </p:nvCxnSpPr>
        <p:spPr>
          <a:xfrm>
            <a:off x="5419343" y="9537192"/>
            <a:ext cx="128017" cy="0"/>
          </a:xfrm>
          <a:prstGeom prst="line">
            <a:avLst/>
          </a:prstGeom>
          <a:ln w="25400">
            <a:solidFill>
              <a:srgbClr val="221666"/>
            </a:solidFill>
          </a:ln>
        </p:spPr>
        <p:style>
          <a:lnRef idx="2">
            <a:schemeClr val="accent1"/>
          </a:lnRef>
          <a:fillRef idx="0">
            <a:schemeClr val="accent1"/>
          </a:fillRef>
          <a:effectRef idx="1">
            <a:schemeClr val="accent1"/>
          </a:effectRef>
          <a:fontRef idx="minor">
            <a:schemeClr val="tx1"/>
          </a:fontRef>
        </p:style>
      </p:cxnSp>
      <p:sp>
        <p:nvSpPr>
          <p:cNvPr id="9107" name="Rectangle 9106"/>
          <p:cNvSpPr/>
          <p:nvPr/>
        </p:nvSpPr>
        <p:spPr>
          <a:xfrm>
            <a:off x="5565648" y="9253728"/>
            <a:ext cx="2206752" cy="56692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1700" b="1" i="0">
                <a:solidFill>
                  <a:srgbClr val="FFFFFF"/>
                </a:solidFill>
                <a:latin typeface="Oswald"/>
                <a:ea typeface="Oswald"/>
                <a:cs typeface="Oswald"/>
              </a:rPr>
              <a:t>Objetivo</a:t>
            </a:r>
          </a:p>
        </p:txBody>
      </p:sp>
      <p:sp>
        <p:nvSpPr>
          <p:cNvPr id="9108" name="TextBox 9107"/>
          <p:cNvSpPr txBox="1"/>
          <p:nvPr/>
        </p:nvSpPr>
        <p:spPr>
          <a:xfrm>
            <a:off x="5565648" y="9848087"/>
            <a:ext cx="2206752" cy="1024128"/>
          </a:xfrm>
          <a:prstGeom prst="rect">
            <a:avLst/>
          </a:prstGeom>
          <a:noFill/>
        </p:spPr>
        <p:txBody>
          <a:bodyPr wrap="square" lIns="73152" tIns="73152" rIns="73152" bIns="73152" anchor="t">
            <a:noAutofit/>
          </a:bodyPr>
          <a:lstStyle/>
          <a:p>
            <a:pPr algn="l">
              <a:lnSpc>
                <a:spcPct val="100000"/>
              </a:lnSpc>
              <a:spcAft>
                <a:spcPts val="800"/>
              </a:spcAft>
            </a:pPr>
            <a:r>
              <a:rPr sz="1400" b="0" i="0">
                <a:solidFill>
                  <a:srgbClr val="000000"/>
                </a:solidFill>
                <a:latin typeface="Arial"/>
                <a:ea typeface="Arial"/>
                <a:cs typeface="Arial"/>
              </a:rPr>
              <a:t>rotación y bloqueo antes de la venta y la explotación</a:t>
            </a:r>
          </a:p>
        </p:txBody>
      </p:sp>
      <p:sp>
        <p:nvSpPr>
          <p:cNvPr id="9109" name="Rectangle 9108"/>
          <p:cNvSpPr/>
          <p:nvPr/>
        </p:nvSpPr>
        <p:spPr>
          <a:xfrm>
            <a:off x="8046720" y="2148840"/>
            <a:ext cx="722376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2100" b="1" i="0">
                <a:solidFill>
                  <a:srgbClr val="FFFFFF"/>
                </a:solidFill>
                <a:latin typeface="Oswald"/>
                <a:ea typeface="Oswald"/>
                <a:cs typeface="Oswald"/>
              </a:rPr>
              <a:t>El hallazgo · 13 al 15 de septiembre de 2026</a:t>
            </a:r>
          </a:p>
        </p:txBody>
      </p:sp>
      <p:pic>
        <p:nvPicPr>
          <p:cNvPr id="9110" name="Picture 9109" descr="invap_s.png"/>
          <p:cNvPicPr>
            <a:picLocks noChangeAspect="1"/>
          </p:cNvPicPr>
          <p:nvPr/>
        </p:nvPicPr>
        <p:blipFill>
          <a:blip r:embed="rId6"/>
          <a:stretch>
            <a:fillRect/>
          </a:stretch>
        </p:blipFill>
        <p:spPr>
          <a:xfrm>
            <a:off x="8046720" y="2788920"/>
            <a:ext cx="7223760" cy="1573519"/>
          </a:xfrm>
          <a:prstGeom prst="rect">
            <a:avLst/>
          </a:prstGeom>
        </p:spPr>
      </p:pic>
      <p:sp>
        <p:nvSpPr>
          <p:cNvPr id="9111" name="TextBox 9110"/>
          <p:cNvSpPr txBox="1"/>
          <p:nvPr/>
        </p:nvSpPr>
        <p:spPr>
          <a:xfrm>
            <a:off x="8046720" y="4389870"/>
            <a:ext cx="7223760" cy="658368"/>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INVAP (invap.com.ar), infraestructura crítica: credencial corporativa comprometida por infostealer. Brecha 13/09 → detección 14/09: un día.</a:t>
            </a:r>
          </a:p>
        </p:txBody>
      </p:sp>
      <p:sp>
        <p:nvSpPr>
          <p:cNvPr id="9112" name="TextBox 9111"/>
          <p:cNvSpPr txBox="1"/>
          <p:nvPr/>
        </p:nvSpPr>
        <p:spPr>
          <a:xfrm>
            <a:off x="8046720" y="5138928"/>
            <a:ext cx="7223760" cy="425196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Ejército Argentino (.mil.ar): </a:t>
            </a:r>
            <a:r>
              <a:rPr sz="1700" b="0" i="0">
                <a:solidFill>
                  <a:srgbClr val="000000"/>
                </a:solidFill>
                <a:latin typeface="Arial"/>
                <a:ea typeface="Arial"/>
                <a:cs typeface="Arial"/>
              </a:rPr>
              <a:t>credenciales y cookies de sesión —incluido un portal de acceso remoto— a la venta en Russian Market y difundidas en un canal de Telegram. El mercado no es el único canal.</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INVAP, infraestructura crítica: </a:t>
            </a:r>
            <a:r>
              <a:rPr sz="1700" b="0" i="0">
                <a:solidFill>
                  <a:srgbClr val="000000"/>
                </a:solidFill>
                <a:latin typeface="Arial"/>
                <a:ea typeface="Arial"/>
                <a:cs typeface="Arial"/>
              </a:rPr>
              <a:t>credencial corporativa expuesta por infostealer, detectada un día después de la brecha. La alerta temprana existe y es medible.</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Distribución en cloud público: </a:t>
            </a:r>
            <a:r>
              <a:rPr sz="1700" b="0" i="0">
                <a:solidFill>
                  <a:srgbClr val="000000"/>
                </a:solidFill>
                <a:latin typeface="Arial"/>
                <a:ea typeface="Arial"/>
                <a:cs typeface="Arial"/>
              </a:rPr>
              <a:t>combolists de cientos de MB alojados en MediaFire. No hace falta Tor: la barrera de entrada es trivial (detalle en anexo).</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Acción: </a:t>
            </a:r>
            <a:r>
              <a:rPr sz="1700" b="0" i="0">
                <a:solidFill>
                  <a:srgbClr val="000000"/>
                </a:solidFill>
                <a:latin typeface="Arial"/>
                <a:ea typeface="Arial"/>
                <a:cs typeface="Arial"/>
              </a:rPr>
              <a:t>hallazgos notificados al CERT.ar antes de esta presentación, para habilitar la rotación y el bloqueo antes de la venta y la explotación.</a:t>
            </a:r>
          </a:p>
        </p:txBody>
      </p:sp>
      <p:sp>
        <p:nvSpPr>
          <p:cNvPr id="9113" name="TextBox 9112"/>
          <p:cNvSpPr txBox="1"/>
          <p:nvPr/>
        </p:nvSpPr>
        <p:spPr>
          <a:xfrm>
            <a:off x="8046720" y="9509760"/>
            <a:ext cx="7223760" cy="1325880"/>
          </a:xfrm>
          <a:prstGeom prst="rect">
            <a:avLst/>
          </a:prstGeom>
          <a:noFill/>
        </p:spPr>
        <p:txBody>
          <a:bodyPr wrap="square" lIns="73152" tIns="73152" rIns="73152" bIns="73152" anchor="t">
            <a:noAutofit/>
          </a:bodyPr>
          <a:lstStyle/>
          <a:p>
            <a:pPr algn="l">
              <a:lnSpc>
                <a:spcPct val="100000"/>
              </a:lnSpc>
              <a:spcAft>
                <a:spcPts val="800"/>
              </a:spcAft>
            </a:pPr>
            <a:r>
              <a:rPr sz="1500" b="0" i="1">
                <a:solidFill>
                  <a:srgbClr val="221666"/>
                </a:solidFill>
                <a:latin typeface="Arial"/>
                <a:ea typeface="Arial"/>
                <a:cs typeface="Arial"/>
              </a:rPr>
              <a:t>Lo que suma este caso: el PIR sobre dominios institucionales debe cubrir mercados, canales de Telegram y cloud público; y el «un día» de INVAP muestra que la alerta temprana es medible.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09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09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9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 · Del log al oleoducto: Oldelval y The Gentlemen (julio 2026)</a:t>
            </a:r>
          </a:p>
        </p:txBody>
      </p:sp>
      <p:sp>
        <p:nvSpPr>
          <p:cNvPr id="9094" name="TextBox 909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095" name="TextBox 909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12</a:t>
            </a:r>
          </a:p>
        </p:txBody>
      </p:sp>
      <p:sp>
        <p:nvSpPr>
          <p:cNvPr id="9096" name="TextBox 909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hecho relevante de Oldelval ante la CNV (31/07/2026); Infobae, Ámbito, iProfesional (ago 2026); perfil del grupo: Microsoft Threat Intelligence (may 2026), Unit 42 (jul 2026). Caso público.</a:t>
            </a:r>
          </a:p>
        </p:txBody>
      </p:sp>
      <p:pic>
        <p:nvPicPr>
          <p:cNvPr id="9097" name="Picture 9096" descr="gentlemen_s.png"/>
          <p:cNvPicPr>
            <a:picLocks noChangeAspect="1"/>
          </p:cNvPicPr>
          <p:nvPr/>
        </p:nvPicPr>
        <p:blipFill>
          <a:blip r:embed="rId4"/>
          <a:stretch>
            <a:fillRect/>
          </a:stretch>
        </p:blipFill>
        <p:spPr>
          <a:xfrm>
            <a:off x="822960" y="2148840"/>
            <a:ext cx="6949440" cy="1816879"/>
          </a:xfrm>
          <a:prstGeom prst="rect">
            <a:avLst/>
          </a:prstGeom>
        </p:spPr>
      </p:pic>
      <p:sp>
        <p:nvSpPr>
          <p:cNvPr id="9098" name="TextBox 9097"/>
          <p:cNvSpPr txBox="1"/>
          <p:nvPr/>
        </p:nvSpPr>
        <p:spPr>
          <a:xfrm>
            <a:off x="822960" y="3993150"/>
            <a:ext cx="6949440" cy="658368"/>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Ficha del grupo en la plataforma (al 15/09/2026): RaaS activo, reparto del 90 % a afiliados; 41,2 % de las víctimas con dominio en logs de infostealer.</a:t>
            </a:r>
          </a:p>
        </p:txBody>
      </p:sp>
      <p:pic>
        <p:nvPicPr>
          <p:cNvPr id="9099" name="Picture 9098" descr="oldelval_s.png"/>
          <p:cNvPicPr>
            <a:picLocks noChangeAspect="1"/>
          </p:cNvPicPr>
          <p:nvPr/>
        </p:nvPicPr>
        <p:blipFill>
          <a:blip r:embed="rId5"/>
          <a:stretch>
            <a:fillRect/>
          </a:stretch>
        </p:blipFill>
        <p:spPr>
          <a:xfrm>
            <a:off x="822960" y="4754880"/>
            <a:ext cx="6949440" cy="3062546"/>
          </a:xfrm>
          <a:prstGeom prst="rect">
            <a:avLst/>
          </a:prstGeom>
        </p:spPr>
      </p:pic>
      <p:sp>
        <p:nvSpPr>
          <p:cNvPr id="9100" name="TextBox 9099"/>
          <p:cNvSpPr txBox="1"/>
          <p:nvPr/>
        </p:nvSpPr>
        <p:spPr>
          <a:xfrm>
            <a:off x="822960" y="7844858"/>
            <a:ext cx="6949440" cy="658368"/>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Ficha de la víctima: Oldelval (oldelval.com), Argentina, energía; reivindicada por The Gentlemen, 23/07/2026. La plataforma la marca como posible duplicado.</a:t>
            </a:r>
          </a:p>
        </p:txBody>
      </p:sp>
      <p:sp>
        <p:nvSpPr>
          <p:cNvPr id="9101" name="Rectangle 9100"/>
          <p:cNvSpPr/>
          <p:nvPr/>
        </p:nvSpPr>
        <p:spPr>
          <a:xfrm>
            <a:off x="822960" y="8705088"/>
            <a:ext cx="2206752" cy="56692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1700" b="1" i="0">
                <a:solidFill>
                  <a:srgbClr val="FFFFFF"/>
                </a:solidFill>
                <a:latin typeface="Oswald"/>
                <a:ea typeface="Oswald"/>
                <a:cs typeface="Oswald"/>
              </a:rPr>
              <a:t>Credencial expuesta</a:t>
            </a:r>
          </a:p>
        </p:txBody>
      </p:sp>
      <p:sp>
        <p:nvSpPr>
          <p:cNvPr id="9102" name="TextBox 9101"/>
          <p:cNvSpPr txBox="1"/>
          <p:nvPr/>
        </p:nvSpPr>
        <p:spPr>
          <a:xfrm>
            <a:off x="822960" y="9299447"/>
            <a:ext cx="2206752" cy="1024128"/>
          </a:xfrm>
          <a:prstGeom prst="rect">
            <a:avLst/>
          </a:prstGeom>
          <a:noFill/>
        </p:spPr>
        <p:txBody>
          <a:bodyPr wrap="square" lIns="73152" tIns="73152" rIns="73152" bIns="73152" anchor="t">
            <a:noAutofit/>
          </a:bodyPr>
          <a:lstStyle/>
          <a:p>
            <a:pPr algn="l">
              <a:lnSpc>
                <a:spcPct val="100000"/>
              </a:lnSpc>
              <a:spcAft>
                <a:spcPts val="800"/>
              </a:spcAft>
            </a:pPr>
            <a:r>
              <a:rPr sz="1400" b="0" i="0">
                <a:solidFill>
                  <a:srgbClr val="000000"/>
                </a:solidFill>
                <a:latin typeface="Arial"/>
                <a:ea typeface="Arial"/>
                <a:cs typeface="Arial"/>
              </a:rPr>
              <a:t>log de infostealer → broker de acceso inicial (IAB)</a:t>
            </a:r>
          </a:p>
        </p:txBody>
      </p:sp>
      <p:cxnSp>
        <p:nvCxnSpPr>
          <p:cNvPr id="9103" name="Connector 9102"/>
          <p:cNvCxnSpPr/>
          <p:nvPr/>
        </p:nvCxnSpPr>
        <p:spPr>
          <a:xfrm>
            <a:off x="3047999" y="8988552"/>
            <a:ext cx="128017" cy="0"/>
          </a:xfrm>
          <a:prstGeom prst="line">
            <a:avLst/>
          </a:prstGeom>
          <a:ln w="25400">
            <a:solidFill>
              <a:srgbClr val="221666"/>
            </a:solidFill>
          </a:ln>
        </p:spPr>
        <p:style>
          <a:lnRef idx="2">
            <a:schemeClr val="accent1"/>
          </a:lnRef>
          <a:fillRef idx="0">
            <a:schemeClr val="accent1"/>
          </a:fillRef>
          <a:effectRef idx="1">
            <a:schemeClr val="accent1"/>
          </a:effectRef>
          <a:fontRef idx="minor">
            <a:schemeClr val="tx1"/>
          </a:fontRef>
        </p:style>
      </p:cxnSp>
      <p:sp>
        <p:nvSpPr>
          <p:cNvPr id="9104" name="Rectangle 9103"/>
          <p:cNvSpPr/>
          <p:nvPr/>
        </p:nvSpPr>
        <p:spPr>
          <a:xfrm>
            <a:off x="3194304" y="8705088"/>
            <a:ext cx="2206752" cy="56692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1700" b="1" i="0">
                <a:solidFill>
                  <a:srgbClr val="FFFFFF"/>
                </a:solidFill>
                <a:latin typeface="Oswald"/>
                <a:ea typeface="Oswald"/>
                <a:cs typeface="Oswald"/>
              </a:rPr>
              <a:t>Afiliado RaaS</a:t>
            </a:r>
          </a:p>
        </p:txBody>
      </p:sp>
      <p:sp>
        <p:nvSpPr>
          <p:cNvPr id="9105" name="TextBox 9104"/>
          <p:cNvSpPr txBox="1"/>
          <p:nvPr/>
        </p:nvSpPr>
        <p:spPr>
          <a:xfrm>
            <a:off x="3194304" y="9299447"/>
            <a:ext cx="2206752" cy="1024128"/>
          </a:xfrm>
          <a:prstGeom prst="rect">
            <a:avLst/>
          </a:prstGeom>
          <a:noFill/>
        </p:spPr>
        <p:txBody>
          <a:bodyPr wrap="square" lIns="73152" tIns="73152" rIns="73152" bIns="73152" anchor="t">
            <a:noAutofit/>
          </a:bodyPr>
          <a:lstStyle/>
          <a:p>
            <a:pPr algn="l">
              <a:lnSpc>
                <a:spcPct val="100000"/>
              </a:lnSpc>
              <a:spcAft>
                <a:spcPts val="800"/>
              </a:spcAft>
            </a:pPr>
            <a:r>
              <a:rPr sz="1400" b="0" i="0">
                <a:solidFill>
                  <a:srgbClr val="000000"/>
                </a:solidFill>
                <a:latin typeface="Arial"/>
                <a:ea typeface="Arial"/>
                <a:cs typeface="Arial"/>
              </a:rPr>
              <a:t>compra el acceso; 90 % del rescate para él</a:t>
            </a:r>
          </a:p>
        </p:txBody>
      </p:sp>
      <p:cxnSp>
        <p:nvCxnSpPr>
          <p:cNvPr id="9106" name="Connector 9105"/>
          <p:cNvCxnSpPr/>
          <p:nvPr/>
        </p:nvCxnSpPr>
        <p:spPr>
          <a:xfrm>
            <a:off x="5419343" y="8988552"/>
            <a:ext cx="128017" cy="0"/>
          </a:xfrm>
          <a:prstGeom prst="line">
            <a:avLst/>
          </a:prstGeom>
          <a:ln w="25400">
            <a:solidFill>
              <a:srgbClr val="221666"/>
            </a:solidFill>
          </a:ln>
        </p:spPr>
        <p:style>
          <a:lnRef idx="2">
            <a:schemeClr val="accent1"/>
          </a:lnRef>
          <a:fillRef idx="0">
            <a:schemeClr val="accent1"/>
          </a:fillRef>
          <a:effectRef idx="1">
            <a:schemeClr val="accent1"/>
          </a:effectRef>
          <a:fontRef idx="minor">
            <a:schemeClr val="tx1"/>
          </a:fontRef>
        </p:style>
      </p:cxnSp>
      <p:sp>
        <p:nvSpPr>
          <p:cNvPr id="9107" name="Rectangle 9106"/>
          <p:cNvSpPr/>
          <p:nvPr/>
        </p:nvSpPr>
        <p:spPr>
          <a:xfrm>
            <a:off x="5565648" y="8705088"/>
            <a:ext cx="2206752" cy="566928"/>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1700" b="1" i="0">
                <a:solidFill>
                  <a:srgbClr val="FFFFFF"/>
                </a:solidFill>
                <a:latin typeface="Oswald"/>
                <a:ea typeface="Oswald"/>
                <a:cs typeface="Oswald"/>
              </a:rPr>
              <a:t>Infraestructura crítica</a:t>
            </a:r>
          </a:p>
        </p:txBody>
      </p:sp>
      <p:sp>
        <p:nvSpPr>
          <p:cNvPr id="9108" name="TextBox 9107"/>
          <p:cNvSpPr txBox="1"/>
          <p:nvPr/>
        </p:nvSpPr>
        <p:spPr>
          <a:xfrm>
            <a:off x="5565648" y="9299447"/>
            <a:ext cx="2206752" cy="1024128"/>
          </a:xfrm>
          <a:prstGeom prst="rect">
            <a:avLst/>
          </a:prstGeom>
          <a:noFill/>
        </p:spPr>
        <p:txBody>
          <a:bodyPr wrap="square" lIns="73152" tIns="73152" rIns="73152" bIns="73152" anchor="t">
            <a:noAutofit/>
          </a:bodyPr>
          <a:lstStyle/>
          <a:p>
            <a:pPr algn="l">
              <a:lnSpc>
                <a:spcPct val="100000"/>
              </a:lnSpc>
              <a:spcAft>
                <a:spcPts val="800"/>
              </a:spcAft>
            </a:pPr>
            <a:r>
              <a:rPr sz="1400" b="0" i="0">
                <a:solidFill>
                  <a:srgbClr val="000000"/>
                </a:solidFill>
                <a:latin typeface="Arial"/>
                <a:ea typeface="Arial"/>
                <a:cs typeface="Arial"/>
              </a:rPr>
              <a:t>ransomware en la transportista de Vaca Muerta</a:t>
            </a:r>
          </a:p>
        </p:txBody>
      </p:sp>
      <p:sp>
        <p:nvSpPr>
          <p:cNvPr id="9109" name="Rectangle 9108"/>
          <p:cNvSpPr/>
          <p:nvPr/>
        </p:nvSpPr>
        <p:spPr>
          <a:xfrm>
            <a:off x="8046720" y="2148840"/>
            <a:ext cx="722376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2100" b="1" i="0">
                <a:solidFill>
                  <a:srgbClr val="FFFFFF"/>
                </a:solidFill>
                <a:latin typeface="Oswald"/>
                <a:ea typeface="Oswald"/>
                <a:cs typeface="Oswald"/>
              </a:rPr>
              <a:t>Qué pasó</a:t>
            </a:r>
          </a:p>
        </p:txBody>
      </p:sp>
      <p:sp>
        <p:nvSpPr>
          <p:cNvPr id="9110" name="TextBox 9109"/>
          <p:cNvSpPr txBox="1"/>
          <p:nvPr/>
        </p:nvSpPr>
        <p:spPr>
          <a:xfrm>
            <a:off x="8046720" y="2788920"/>
            <a:ext cx="7223760" cy="315468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Oldelval </a:t>
            </a:r>
            <a:r>
              <a:rPr sz="1700" b="0" i="0">
                <a:solidFill>
                  <a:srgbClr val="000000"/>
                </a:solidFill>
                <a:latin typeface="Arial"/>
                <a:ea typeface="Arial"/>
                <a:cs typeface="Arial"/>
              </a:rPr>
              <a:t>—transportista troncal de Vaca Muerta (~75 % del crudo; YPF, 37 %)— sufrió ransomware reivindicado por The Gentlemen (RaaS, Storm-2697).</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Informado a la CNV </a:t>
            </a:r>
            <a:r>
              <a:rPr sz="1700" b="0" i="0">
                <a:solidFill>
                  <a:srgbClr val="000000"/>
                </a:solidFill>
                <a:latin typeface="Arial"/>
                <a:ea typeface="Arial"/>
                <a:cs typeface="Arial"/>
              </a:rPr>
              <a:t>como hecho relevante (31/07/2026). Afectó sistemas administrativos; el transporte de crudo no se interrumpió; sin rescate reportado.</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Una semana antes, Ecopetrol </a:t>
            </a:r>
            <a:r>
              <a:rPr sz="1700" b="0" i="0">
                <a:solidFill>
                  <a:srgbClr val="000000"/>
                </a:solidFill>
                <a:latin typeface="Arial"/>
                <a:ea typeface="Arial"/>
                <a:cs typeface="Arial"/>
              </a:rPr>
              <a:t>(Colombia): ~3.300 cuentas exfiltradas por el mismo grupo. Patrón regional sobre el sector energético.</a:t>
            </a:r>
          </a:p>
        </p:txBody>
      </p:sp>
      <p:sp>
        <p:nvSpPr>
          <p:cNvPr id="9111" name="Rectangle 9110"/>
          <p:cNvSpPr/>
          <p:nvPr/>
        </p:nvSpPr>
        <p:spPr>
          <a:xfrm>
            <a:off x="8046720" y="6035040"/>
            <a:ext cx="722376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2100" b="1" i="0">
                <a:solidFill>
                  <a:srgbClr val="FFFFFF"/>
                </a:solidFill>
                <a:latin typeface="Oswald"/>
                <a:ea typeface="Oswald"/>
                <a:cs typeface="Oswald"/>
              </a:rPr>
              <a:t>El puente con la Fase I</a:t>
            </a:r>
          </a:p>
        </p:txBody>
      </p:sp>
      <p:sp>
        <p:nvSpPr>
          <p:cNvPr id="9112" name="TextBox 9111"/>
          <p:cNvSpPr txBox="1"/>
          <p:nvPr/>
        </p:nvSpPr>
        <p:spPr>
          <a:xfrm>
            <a:off x="8046720" y="6675120"/>
            <a:ext cx="7223760" cy="278892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Reparto del 90 % </a:t>
            </a:r>
            <a:r>
              <a:rPr sz="1700" b="0" i="0">
                <a:solidFill>
                  <a:srgbClr val="000000"/>
                </a:solidFill>
                <a:latin typeface="Arial"/>
                <a:ea typeface="Arial"/>
                <a:cs typeface="Arial"/>
              </a:rPr>
              <a:t>a afiliados y reclutamiento de brokers de acceso inicial (acuerdo con BreachForums). Sus afiliados compran los accesos que vimos a la venta.</a:t>
            </a:r>
          </a:p>
          <a:p>
            <a:pPr marL="320040" indent="-320040" algn="l">
              <a:lnSpc>
                <a:spcPct val="100000"/>
              </a:lnSpc>
              <a:spcAft>
                <a:spcPts val="800"/>
              </a:spcAft>
              <a:buClr>
                <a:srgbClr val="221666"/>
              </a:buClr>
              <a:buFont typeface="Arial"/>
              <a:buChar char="•"/>
            </a:pPr>
            <a:r>
              <a:rPr sz="1700" b="1" i="0">
                <a:solidFill>
                  <a:srgbClr val="000000"/>
                </a:solidFill>
                <a:latin typeface="Arial"/>
                <a:ea typeface="Arial"/>
                <a:cs typeface="Arial"/>
              </a:rPr>
              <a:t>41,2 % </a:t>
            </a:r>
            <a:r>
              <a:rPr sz="1700" b="0" i="0">
                <a:solidFill>
                  <a:srgbClr val="000000"/>
                </a:solidFill>
                <a:latin typeface="Arial"/>
                <a:ea typeface="Arial"/>
                <a:cs typeface="Arial"/>
              </a:rPr>
              <a:t>de sus víctimas con dominio ya figuraban en logs de infostealer (según la plataforma): la cadena del slide 9, terminando en un oleoducto argentino.</a:t>
            </a:r>
          </a:p>
        </p:txBody>
      </p:sp>
      <p:sp>
        <p:nvSpPr>
          <p:cNvPr id="9113" name="TextBox 9112"/>
          <p:cNvSpPr txBox="1"/>
          <p:nvPr/>
        </p:nvSpPr>
        <p:spPr>
          <a:xfrm>
            <a:off x="8046720" y="9509760"/>
            <a:ext cx="7223760" cy="1325880"/>
          </a:xfrm>
          <a:prstGeom prst="rect">
            <a:avLst/>
          </a:prstGeom>
          <a:noFill/>
        </p:spPr>
        <p:txBody>
          <a:bodyPr wrap="square" lIns="73152" tIns="73152" rIns="73152" bIns="73152" anchor="t">
            <a:noAutofit/>
          </a:bodyPr>
          <a:lstStyle/>
          <a:p>
            <a:pPr algn="l">
              <a:lnSpc>
                <a:spcPct val="100000"/>
              </a:lnSpc>
              <a:spcAft>
                <a:spcPts val="800"/>
              </a:spcAft>
            </a:pPr>
            <a:r>
              <a:rPr sz="1500" b="0" i="1">
                <a:solidFill>
                  <a:srgbClr val="221666"/>
                </a:solidFill>
                <a:latin typeface="Arial"/>
                <a:ea typeface="Arial"/>
                <a:cs typeface="Arial"/>
              </a:rPr>
              <a:t>El actor era conocido, activo y rastreable; su cadena empieza en una credencial filtrada que se podía detectar antes. Eso es lo que la Fase I propone institucionalizar.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0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0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0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II · Del indicador al comportamiento</a:t>
            </a:r>
          </a:p>
        </p:txBody>
      </p:sp>
      <p:sp>
        <p:nvSpPr>
          <p:cNvPr id="9104" name="TextBox 910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05" name="TextBox 910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13</a:t>
            </a:r>
          </a:p>
        </p:txBody>
      </p:sp>
      <p:sp>
        <p:nvSpPr>
          <p:cNvPr id="9106" name="TextBox 910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[3] Strom et al. (2018), MITRE ATT&amp;CK: Design and Philosophy · criterios de priorización de TTPs: Tabla 1 (Sección 2.2.1), en anexo.</a:t>
            </a:r>
          </a:p>
        </p:txBody>
      </p:sp>
      <p:sp>
        <p:nvSpPr>
          <p:cNvPr id="9107" name="TextBox 9106"/>
          <p:cNvSpPr txBox="1"/>
          <p:nvPr/>
        </p:nvSpPr>
        <p:spPr>
          <a:xfrm>
            <a:off x="822960" y="2148840"/>
            <a:ext cx="5760720" cy="8778240"/>
          </a:xfrm>
          <a:prstGeom prst="rect">
            <a:avLst/>
          </a:prstGeom>
          <a:noFill/>
        </p:spPr>
        <p:txBody>
          <a:bodyPr wrap="square" lIns="73152" tIns="73152" rIns="73152" bIns="73152" anchor="t">
            <a:noAutofit/>
          </a:bodyPr>
          <a:lstStyle/>
          <a:p>
            <a:pPr algn="l">
              <a:lnSpc>
                <a:spcPct val="100000"/>
              </a:lnSpc>
              <a:spcAft>
                <a:spcPts val="1300"/>
              </a:spcAft>
            </a:pPr>
            <a:r>
              <a:rPr sz="2200" b="1" i="0">
                <a:solidFill>
                  <a:srgbClr val="221666"/>
                </a:solidFill>
                <a:latin typeface="Arial"/>
                <a:ea typeface="Arial"/>
                <a:cs typeface="Arial"/>
              </a:rPr>
              <a:t>Volvamos a la pirámide: la Fase I entregó hallazgos; la Fase II los sube del artefacto al comportamiento.</a:t>
            </a:r>
          </a:p>
          <a:p>
            <a:pPr algn="l">
              <a:lnSpc>
                <a:spcPct val="100000"/>
              </a:lnSpc>
              <a:spcAft>
                <a:spcPts val="1300"/>
              </a:spcAft>
            </a:pPr>
            <a:r>
              <a:rPr sz="2300" b="1" i="0">
                <a:solidFill>
                  <a:srgbClr val="221666"/>
                </a:solidFill>
                <a:latin typeface="Arial"/>
                <a:ea typeface="Arial"/>
                <a:cs typeface="Arial"/>
              </a:rPr>
              <a:t>MITRE ATT&amp;CK</a:t>
            </a:r>
            <a:r>
              <a:rPr sz="2200" b="0" i="0">
                <a:solidFill>
                  <a:srgbClr val="000000"/>
                </a:solidFill>
                <a:latin typeface="Arial"/>
                <a:ea typeface="Arial"/>
                <a:cs typeface="Arial"/>
              </a:rPr>
              <a:t> es el lenguaje estándar para describir ese comportamiento:</a:t>
            </a:r>
          </a:p>
          <a:p>
            <a:pPr algn="l">
              <a:lnSpc>
                <a:spcPct val="100000"/>
              </a:lnSpc>
              <a:spcAft>
                <a:spcPts val="1300"/>
              </a:spcAft>
            </a:pPr>
            <a:r>
              <a:rPr sz="2200" b="1" i="0">
                <a:solidFill>
                  <a:srgbClr val="000000"/>
                </a:solidFill>
                <a:latin typeface="Arial"/>
                <a:ea typeface="Arial"/>
                <a:cs typeface="Arial"/>
              </a:rPr>
              <a:t>Táctica</a:t>
            </a:r>
            <a:r>
              <a:rPr sz="2200" b="0" i="0">
                <a:solidFill>
                  <a:srgbClr val="000000"/>
                </a:solidFill>
                <a:latin typeface="Arial"/>
                <a:ea typeface="Arial"/>
                <a:cs typeface="Arial"/>
              </a:rPr>
              <a:t> — el objetivo que persigue.</a:t>
            </a:r>
          </a:p>
          <a:p>
            <a:pPr algn="l">
              <a:lnSpc>
                <a:spcPct val="100000"/>
              </a:lnSpc>
              <a:spcAft>
                <a:spcPts val="1300"/>
              </a:spcAft>
            </a:pPr>
            <a:r>
              <a:rPr sz="2200" b="1" i="0">
                <a:solidFill>
                  <a:srgbClr val="000000"/>
                </a:solidFill>
                <a:latin typeface="Arial"/>
                <a:ea typeface="Arial"/>
                <a:cs typeface="Arial"/>
              </a:rPr>
              <a:t>Técnica</a:t>
            </a:r>
            <a:r>
              <a:rPr sz="2200" b="0" i="0">
                <a:solidFill>
                  <a:srgbClr val="000000"/>
                </a:solidFill>
                <a:latin typeface="Arial"/>
                <a:ea typeface="Arial"/>
                <a:cs typeface="Arial"/>
              </a:rPr>
              <a:t> — el medio para lograrlo.</a:t>
            </a:r>
          </a:p>
          <a:p>
            <a:pPr algn="l">
              <a:lnSpc>
                <a:spcPct val="100000"/>
              </a:lnSpc>
              <a:spcAft>
                <a:spcPts val="1300"/>
              </a:spcAft>
            </a:pPr>
            <a:r>
              <a:rPr sz="2200" b="1" i="0">
                <a:solidFill>
                  <a:srgbClr val="000000"/>
                </a:solidFill>
                <a:latin typeface="Arial"/>
                <a:ea typeface="Arial"/>
                <a:cs typeface="Arial"/>
              </a:rPr>
              <a:t>Procedimiento</a:t>
            </a:r>
            <a:r>
              <a:rPr sz="2200" b="0" i="0">
                <a:solidFill>
                  <a:srgbClr val="000000"/>
                </a:solidFill>
                <a:latin typeface="Arial"/>
                <a:ea typeface="Arial"/>
                <a:cs typeface="Arial"/>
              </a:rPr>
              <a:t> — la implementación concreta observada.</a:t>
            </a:r>
          </a:p>
          <a:p>
            <a:pPr algn="l">
              <a:lnSpc>
                <a:spcPct val="100000"/>
              </a:lnSpc>
              <a:spcAft>
                <a:spcPts val="1300"/>
              </a:spcAft>
            </a:pPr>
            <a:r>
              <a:rPr sz="2200" b="0" i="0">
                <a:solidFill>
                  <a:srgbClr val="000000"/>
                </a:solidFill>
                <a:latin typeface="Arial"/>
                <a:ea typeface="Arial"/>
                <a:cs typeface="Arial"/>
              </a:rPr>
              <a:t>Un </a:t>
            </a:r>
            <a:r>
              <a:rPr sz="2200" b="1" i="0">
                <a:solidFill>
                  <a:srgbClr val="221666"/>
                </a:solidFill>
                <a:latin typeface="Arial"/>
                <a:ea typeface="Arial"/>
                <a:cs typeface="Arial"/>
              </a:rPr>
              <a:t>TTP</a:t>
            </a:r>
            <a:r>
              <a:rPr sz="2200" b="0" i="0">
                <a:solidFill>
                  <a:srgbClr val="000000"/>
                </a:solidFill>
                <a:latin typeface="Arial"/>
                <a:ea typeface="Arial"/>
                <a:cs typeface="Arial"/>
              </a:rPr>
              <a:t> es esa tríada. Es más estable que un dominio o un hash: por eso la detección anclada en TTPs sobrevive a la rotación de indicadores.</a:t>
            </a:r>
          </a:p>
        </p:txBody>
      </p:sp>
      <p:sp>
        <p:nvSpPr>
          <p:cNvPr id="9108" name="Rectangle 9107"/>
          <p:cNvSpPr/>
          <p:nvPr/>
        </p:nvSpPr>
        <p:spPr>
          <a:xfrm>
            <a:off x="7040880" y="2423160"/>
            <a:ext cx="2377440" cy="109728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Táctica</a:t>
            </a:r>
          </a:p>
        </p:txBody>
      </p:sp>
      <p:sp>
        <p:nvSpPr>
          <p:cNvPr id="9109" name="TextBox 9108"/>
          <p:cNvSpPr txBox="1"/>
          <p:nvPr/>
        </p:nvSpPr>
        <p:spPr>
          <a:xfrm>
            <a:off x="9509760" y="2423160"/>
            <a:ext cx="5760720" cy="1097280"/>
          </a:xfrm>
          <a:prstGeom prst="rect">
            <a:avLst/>
          </a:prstGeom>
          <a:solidFill>
            <a:srgbClr val="E8EEFB"/>
          </a:solidFill>
        </p:spPr>
        <p:txBody>
          <a:bodyPr wrap="square" lIns="73152" tIns="73152" rIns="73152" bIns="73152" anchor="ctr">
            <a:noAutofit/>
          </a:bodyPr>
          <a:lstStyle/>
          <a:p>
            <a:pPr algn="l">
              <a:lnSpc>
                <a:spcPct val="100000"/>
              </a:lnSpc>
              <a:spcAft>
                <a:spcPts val="800"/>
              </a:spcAft>
            </a:pPr>
            <a:r>
              <a:rPr sz="2000" b="0" i="0">
                <a:solidFill>
                  <a:srgbClr val="000000"/>
                </a:solidFill>
                <a:latin typeface="Arial"/>
                <a:ea typeface="Arial"/>
                <a:cs typeface="Arial"/>
              </a:rPr>
              <a:t>Comando y control</a:t>
            </a:r>
          </a:p>
        </p:txBody>
      </p:sp>
      <p:cxnSp>
        <p:nvCxnSpPr>
          <p:cNvPr id="9110" name="Connector 9109"/>
          <p:cNvCxnSpPr/>
          <p:nvPr/>
        </p:nvCxnSpPr>
        <p:spPr>
          <a:xfrm>
            <a:off x="8229600" y="3538728"/>
            <a:ext cx="0" cy="237744"/>
          </a:xfrm>
          <a:prstGeom prst="line">
            <a:avLst/>
          </a:prstGeom>
          <a:ln w="254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11" name="Rectangle 9110"/>
          <p:cNvSpPr/>
          <p:nvPr/>
        </p:nvSpPr>
        <p:spPr>
          <a:xfrm>
            <a:off x="7040880" y="3794760"/>
            <a:ext cx="2377440" cy="109728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Técnica</a:t>
            </a:r>
          </a:p>
        </p:txBody>
      </p:sp>
      <p:sp>
        <p:nvSpPr>
          <p:cNvPr id="9112" name="TextBox 9111"/>
          <p:cNvSpPr txBox="1"/>
          <p:nvPr/>
        </p:nvSpPr>
        <p:spPr>
          <a:xfrm>
            <a:off x="9509760" y="3794760"/>
            <a:ext cx="5760720" cy="1097280"/>
          </a:xfrm>
          <a:prstGeom prst="rect">
            <a:avLst/>
          </a:prstGeom>
          <a:solidFill>
            <a:srgbClr val="E8EEFB"/>
          </a:solidFill>
        </p:spPr>
        <p:txBody>
          <a:bodyPr wrap="square" lIns="73152" tIns="73152" rIns="73152" bIns="73152" anchor="ctr">
            <a:noAutofit/>
          </a:bodyPr>
          <a:lstStyle/>
          <a:p>
            <a:pPr algn="l">
              <a:lnSpc>
                <a:spcPct val="100000"/>
              </a:lnSpc>
              <a:spcAft>
                <a:spcPts val="800"/>
              </a:spcAft>
            </a:pPr>
            <a:r>
              <a:rPr sz="2000" b="0" i="0">
                <a:solidFill>
                  <a:srgbClr val="000000"/>
                </a:solidFill>
                <a:latin typeface="Arial"/>
                <a:ea typeface="Arial"/>
                <a:cs typeface="Arial"/>
              </a:rPr>
              <a:t>T1219 · Remote Access Software</a:t>
            </a:r>
          </a:p>
        </p:txBody>
      </p:sp>
      <p:cxnSp>
        <p:nvCxnSpPr>
          <p:cNvPr id="9113" name="Connector 9112"/>
          <p:cNvCxnSpPr/>
          <p:nvPr/>
        </p:nvCxnSpPr>
        <p:spPr>
          <a:xfrm>
            <a:off x="8229600" y="4910328"/>
            <a:ext cx="0" cy="237744"/>
          </a:xfrm>
          <a:prstGeom prst="line">
            <a:avLst/>
          </a:prstGeom>
          <a:ln w="2540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14" name="Rectangle 9113"/>
          <p:cNvSpPr/>
          <p:nvPr/>
        </p:nvSpPr>
        <p:spPr>
          <a:xfrm>
            <a:off x="7040880" y="5166360"/>
            <a:ext cx="2377440" cy="109728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Procedimiento</a:t>
            </a:r>
          </a:p>
        </p:txBody>
      </p:sp>
      <p:sp>
        <p:nvSpPr>
          <p:cNvPr id="9115" name="TextBox 9114"/>
          <p:cNvSpPr txBox="1"/>
          <p:nvPr/>
        </p:nvSpPr>
        <p:spPr>
          <a:xfrm>
            <a:off x="9509760" y="5166360"/>
            <a:ext cx="5760720" cy="1097280"/>
          </a:xfrm>
          <a:prstGeom prst="rect">
            <a:avLst/>
          </a:prstGeom>
          <a:solidFill>
            <a:srgbClr val="E8EEFB"/>
          </a:solidFill>
        </p:spPr>
        <p:txBody>
          <a:bodyPr wrap="square" lIns="73152" tIns="73152" rIns="73152" bIns="73152" anchor="ctr">
            <a:noAutofit/>
          </a:bodyPr>
          <a:lstStyle/>
          <a:p>
            <a:pPr algn="l">
              <a:lnSpc>
                <a:spcPct val="100000"/>
              </a:lnSpc>
              <a:spcAft>
                <a:spcPts val="800"/>
              </a:spcAft>
            </a:pPr>
            <a:r>
              <a:rPr sz="2000" b="0" i="0">
                <a:solidFill>
                  <a:srgbClr val="000000"/>
                </a:solidFill>
                <a:latin typeface="Arial"/>
                <a:ea typeface="Arial"/>
                <a:cs typeface="Arial"/>
              </a:rPr>
              <a:t>ScreenConnect portátil entregado por phishing</a:t>
            </a:r>
          </a:p>
        </p:txBody>
      </p:sp>
      <p:sp>
        <p:nvSpPr>
          <p:cNvPr id="9116" name="TextBox 9115"/>
          <p:cNvSpPr txBox="1"/>
          <p:nvPr/>
        </p:nvSpPr>
        <p:spPr>
          <a:xfrm>
            <a:off x="7040880" y="6720840"/>
            <a:ext cx="8229600" cy="4023360"/>
          </a:xfrm>
          <a:prstGeom prst="rect">
            <a:avLst/>
          </a:prstGeom>
          <a:noFill/>
        </p:spPr>
        <p:txBody>
          <a:bodyPr wrap="square" lIns="73152" tIns="73152" rIns="73152" bIns="73152" anchor="t">
            <a:noAutofit/>
          </a:bodyPr>
          <a:lstStyle/>
          <a:p>
            <a:pPr algn="l">
              <a:lnSpc>
                <a:spcPct val="100000"/>
              </a:lnSpc>
              <a:spcAft>
                <a:spcPts val="1100"/>
              </a:spcAft>
            </a:pPr>
            <a:r>
              <a:rPr sz="2100" b="1" i="0">
                <a:solidFill>
                  <a:srgbClr val="221666"/>
                </a:solidFill>
                <a:latin typeface="Arial"/>
                <a:ea typeface="Arial"/>
                <a:cs typeface="Arial"/>
              </a:rPr>
              <a:t>Ejemplo real: </a:t>
            </a:r>
            <a:r>
              <a:rPr sz="2100" b="0" i="0">
                <a:solidFill>
                  <a:srgbClr val="000000"/>
                </a:solidFill>
                <a:latin typeface="Arial"/>
                <a:ea typeface="Arial"/>
                <a:cs typeface="Arial"/>
              </a:rPr>
              <a:t>el mismo TTP —usar software de acceso remoto legítimo— aparece del fraude financiero al espionaje estatal. Los dominios de cada campaña se rotan; el comportamiento persiste.</a:t>
            </a:r>
          </a:p>
          <a:p>
            <a:pPr algn="l">
              <a:lnSpc>
                <a:spcPct val="100000"/>
              </a:lnSpc>
              <a:spcAft>
                <a:spcPts val="1100"/>
              </a:spcAft>
            </a:pPr>
            <a:r>
              <a:rPr sz="2100" b="0" i="1">
                <a:solidFill>
                  <a:srgbClr val="555B6E"/>
                </a:solidFill>
                <a:latin typeface="Arial"/>
                <a:ea typeface="Arial"/>
                <a:cs typeface="Arial"/>
              </a:rPr>
              <a:t>Por eso la defensa se ancla en el comportamiento, no en el artefacto. Los casos de la Sección 3 lo muestran.</a:t>
            </a:r>
          </a:p>
          <a:p>
            <a:pPr algn="l">
              <a:lnSpc>
                <a:spcPct val="100000"/>
              </a:lnSpc>
              <a:spcAft>
                <a:spcPts val="1100"/>
              </a:spcAft>
            </a:pPr>
            <a:r>
              <a:rPr sz="1800" b="0" i="0">
                <a:solidFill>
                  <a:srgbClr val="555B6E"/>
                </a:solidFill>
                <a:latin typeface="Arial"/>
                <a:ea typeface="Arial"/>
                <a:cs typeface="Arial"/>
              </a:rPr>
              <a:t>La priorización de qué TTP atacar primero sigue cinco criterios explícitos (costo de sustitución, transversalidad, exposición, observabilidad, alineación con PIR). Tabla completa en anexo.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1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1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1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III · La atribución: por qué importa</a:t>
            </a:r>
          </a:p>
        </p:txBody>
      </p:sp>
      <p:sp>
        <p:nvSpPr>
          <p:cNvPr id="9114" name="TextBox 911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15" name="TextBox 911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14</a:t>
            </a:r>
          </a:p>
        </p:txBody>
      </p:sp>
      <p:sp>
        <p:nvSpPr>
          <p:cNvPr id="9116" name="TextBox 911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[24] Mandiant (2020) · [28] CrowdStrike (2022) · [27] TrendAI (2026). El «por qué» antes del «cómo».</a:t>
            </a:r>
          </a:p>
        </p:txBody>
      </p:sp>
      <p:sp>
        <p:nvSpPr>
          <p:cNvPr id="9117" name="TextBox 9116"/>
          <p:cNvSpPr txBox="1"/>
          <p:nvPr/>
        </p:nvSpPr>
        <p:spPr>
          <a:xfrm>
            <a:off x="822960" y="2148840"/>
            <a:ext cx="14447520" cy="1371600"/>
          </a:xfrm>
          <a:prstGeom prst="rect">
            <a:avLst/>
          </a:prstGeom>
          <a:noFill/>
        </p:spPr>
        <p:txBody>
          <a:bodyPr wrap="square" lIns="73152" tIns="73152" rIns="73152" bIns="73152" anchor="t">
            <a:noAutofit/>
          </a:bodyPr>
          <a:lstStyle/>
          <a:p>
            <a:pPr>
              <a:spcAft>
                <a:spcPts val="600"/>
              </a:spcAft>
            </a:pPr>
            <a:r>
              <a:rPr sz="2400" b="1" i="0" dirty="0" err="1">
                <a:solidFill>
                  <a:srgbClr val="221666"/>
                </a:solidFill>
                <a:latin typeface="Arial"/>
                <a:ea typeface="Arial"/>
                <a:cs typeface="Arial"/>
              </a:rPr>
              <a:t>Llegamos</a:t>
            </a:r>
            <a:r>
              <a:rPr sz="2400" b="1" i="0" dirty="0">
                <a:solidFill>
                  <a:srgbClr val="221666"/>
                </a:solidFill>
                <a:latin typeface="Arial"/>
                <a:ea typeface="Arial"/>
                <a:cs typeface="Arial"/>
              </a:rPr>
              <a:t> al </a:t>
            </a:r>
            <a:r>
              <a:rPr sz="2400" b="1" i="0" dirty="0" err="1">
                <a:solidFill>
                  <a:srgbClr val="221666"/>
                </a:solidFill>
                <a:latin typeface="Arial"/>
                <a:ea typeface="Arial"/>
                <a:cs typeface="Arial"/>
              </a:rPr>
              <a:t>corazón</a:t>
            </a:r>
            <a:r>
              <a:rPr sz="2400" b="1" i="0" dirty="0">
                <a:solidFill>
                  <a:srgbClr val="221666"/>
                </a:solidFill>
                <a:latin typeface="Arial"/>
                <a:ea typeface="Arial"/>
                <a:cs typeface="Arial"/>
              </a:rPr>
              <a:t> de la </a:t>
            </a:r>
            <a:r>
              <a:rPr sz="2400" b="1" i="0" dirty="0" err="1">
                <a:solidFill>
                  <a:srgbClr val="221666"/>
                </a:solidFill>
                <a:latin typeface="Arial"/>
                <a:ea typeface="Arial"/>
                <a:cs typeface="Arial"/>
              </a:rPr>
              <a:t>charla</a:t>
            </a:r>
            <a:r>
              <a:rPr sz="2400" b="1" i="0" dirty="0">
                <a:solidFill>
                  <a:srgbClr val="221666"/>
                </a:solidFill>
                <a:latin typeface="Arial"/>
                <a:ea typeface="Arial"/>
                <a:cs typeface="Arial"/>
              </a:rPr>
              <a:t>. </a:t>
            </a:r>
            <a:r>
              <a:rPr sz="2200" b="0" i="0" dirty="0">
                <a:solidFill>
                  <a:srgbClr val="000000"/>
                </a:solidFill>
                <a:latin typeface="Arial"/>
                <a:ea typeface="Arial"/>
                <a:cs typeface="Arial"/>
              </a:rPr>
              <a:t>Atribuir es responder </a:t>
            </a:r>
            <a:r>
              <a:rPr sz="2200" b="0" i="0" dirty="0" err="1">
                <a:solidFill>
                  <a:srgbClr val="000000"/>
                </a:solidFill>
                <a:latin typeface="Arial"/>
                <a:ea typeface="Arial"/>
                <a:cs typeface="Arial"/>
              </a:rPr>
              <a:t>quién</a:t>
            </a:r>
            <a:r>
              <a:rPr sz="2200" b="0" i="0" dirty="0">
                <a:solidFill>
                  <a:srgbClr val="000000"/>
                </a:solidFill>
                <a:latin typeface="Arial"/>
                <a:ea typeface="Arial"/>
                <a:cs typeface="Arial"/>
              </a:rPr>
              <a:t> </a:t>
            </a:r>
            <a:r>
              <a:rPr sz="2200" b="0" i="0" dirty="0" err="1">
                <a:solidFill>
                  <a:srgbClr val="000000"/>
                </a:solidFill>
                <a:latin typeface="Arial"/>
                <a:ea typeface="Arial"/>
                <a:cs typeface="Arial"/>
              </a:rPr>
              <a:t>está</a:t>
            </a:r>
            <a:r>
              <a:rPr sz="2200" b="0" i="0" dirty="0">
                <a:solidFill>
                  <a:srgbClr val="000000"/>
                </a:solidFill>
                <a:latin typeface="Arial"/>
                <a:ea typeface="Arial"/>
                <a:cs typeface="Arial"/>
              </a:rPr>
              <a:t> </a:t>
            </a:r>
            <a:r>
              <a:rPr sz="2200" b="0" i="0" dirty="0" err="1">
                <a:solidFill>
                  <a:srgbClr val="000000"/>
                </a:solidFill>
                <a:latin typeface="Arial"/>
                <a:ea typeface="Arial"/>
                <a:cs typeface="Arial"/>
              </a:rPr>
              <a:t>detrás</a:t>
            </a:r>
            <a:r>
              <a:rPr sz="2200" b="0" i="0" dirty="0">
                <a:solidFill>
                  <a:srgbClr val="000000"/>
                </a:solidFill>
                <a:latin typeface="Arial"/>
                <a:ea typeface="Arial"/>
                <a:cs typeface="Arial"/>
              </a:rPr>
              <a:t> de la </a:t>
            </a:r>
            <a:r>
              <a:rPr sz="2200" b="0" i="0" dirty="0" err="1">
                <a:solidFill>
                  <a:srgbClr val="000000"/>
                </a:solidFill>
                <a:latin typeface="Arial"/>
                <a:ea typeface="Arial"/>
                <a:cs typeface="Arial"/>
              </a:rPr>
              <a:t>actividad</a:t>
            </a:r>
            <a:r>
              <a:rPr sz="2200" b="0" i="0" dirty="0">
                <a:solidFill>
                  <a:srgbClr val="000000"/>
                </a:solidFill>
                <a:latin typeface="Arial"/>
                <a:ea typeface="Arial"/>
                <a:cs typeface="Arial"/>
              </a:rPr>
              <a:t>. Antes del «</a:t>
            </a:r>
            <a:r>
              <a:rPr sz="2200" b="0" i="0" dirty="0" err="1">
                <a:solidFill>
                  <a:srgbClr val="000000"/>
                </a:solidFill>
                <a:latin typeface="Arial"/>
                <a:ea typeface="Arial"/>
                <a:cs typeface="Arial"/>
              </a:rPr>
              <a:t>cómo</a:t>
            </a:r>
            <a:r>
              <a:rPr sz="2200" b="0" i="0" dirty="0">
                <a:solidFill>
                  <a:srgbClr val="000000"/>
                </a:solidFill>
                <a:latin typeface="Arial"/>
                <a:ea typeface="Arial"/>
                <a:cs typeface="Arial"/>
              </a:rPr>
              <a:t>», el «para </a:t>
            </a:r>
            <a:r>
              <a:rPr sz="2200" b="0" i="0" dirty="0" err="1">
                <a:solidFill>
                  <a:srgbClr val="000000"/>
                </a:solidFill>
                <a:latin typeface="Arial"/>
                <a:ea typeface="Arial"/>
                <a:cs typeface="Arial"/>
              </a:rPr>
              <a:t>qué</a:t>
            </a:r>
            <a:r>
              <a:rPr sz="2200" b="0" i="0" dirty="0">
                <a:solidFill>
                  <a:srgbClr val="000000"/>
                </a:solidFill>
                <a:latin typeface="Arial"/>
                <a:ea typeface="Arial"/>
                <a:cs typeface="Arial"/>
              </a:rPr>
              <a:t>»: </a:t>
            </a:r>
            <a:br>
              <a:rPr lang="en-US" sz="2200" b="0" i="0" dirty="0">
                <a:solidFill>
                  <a:srgbClr val="000000"/>
                </a:solidFill>
                <a:latin typeface="Arial"/>
                <a:ea typeface="Arial"/>
                <a:cs typeface="Arial"/>
              </a:rPr>
            </a:br>
            <a:r>
              <a:rPr lang="en-AR" sz="2200" dirty="0"/>
              <a:t>¿Qué tiene que ver un Panda, un Oso (Bear), una Tormenta (Storm) o Neptuno con la ciberseguridad?. 🐼🐻🌩️</a:t>
            </a:r>
            <a:endParaRPr sz="2200" dirty="0"/>
          </a:p>
        </p:txBody>
      </p:sp>
      <p:sp>
        <p:nvSpPr>
          <p:cNvPr id="9118" name="Rectangle 9117"/>
          <p:cNvSpPr/>
          <p:nvPr/>
        </p:nvSpPr>
        <p:spPr>
          <a:xfrm>
            <a:off x="822960" y="3977639"/>
            <a:ext cx="4663440" cy="64008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200" b="1" i="0">
                <a:solidFill>
                  <a:srgbClr val="FFFFFF"/>
                </a:solidFill>
                <a:latin typeface="Oswald"/>
                <a:ea typeface="Oswald"/>
                <a:cs typeface="Oswald"/>
              </a:rPr>
              <a:t>Táctico</a:t>
            </a:r>
          </a:p>
        </p:txBody>
      </p:sp>
      <p:sp>
        <p:nvSpPr>
          <p:cNvPr id="9119" name="TextBox 9118"/>
          <p:cNvSpPr txBox="1"/>
          <p:nvPr/>
        </p:nvSpPr>
        <p:spPr>
          <a:xfrm>
            <a:off x="822960" y="4663440"/>
            <a:ext cx="4663440" cy="2194560"/>
          </a:xfrm>
          <a:prstGeom prst="rect">
            <a:avLst/>
          </a:prstGeom>
          <a:solidFill>
            <a:srgbClr val="E8EEFB"/>
          </a:solidFill>
        </p:spPr>
        <p:txBody>
          <a:bodyPr wrap="square" lIns="137160" tIns="137160" rIns="137160" bIns="137160" anchor="t">
            <a:noAutofit/>
          </a:bodyPr>
          <a:lstStyle/>
          <a:p>
            <a:pPr algn="l">
              <a:lnSpc>
                <a:spcPct val="100000"/>
              </a:lnSpc>
              <a:spcAft>
                <a:spcPts val="800"/>
              </a:spcAft>
            </a:pPr>
            <a:r>
              <a:rPr sz="2000" b="0" i="0">
                <a:solidFill>
                  <a:srgbClr val="000000"/>
                </a:solidFill>
                <a:latin typeface="Arial"/>
                <a:ea typeface="Arial"/>
                <a:cs typeface="Arial"/>
              </a:rPr>
              <a:t>Bloquear, firmar, parchear lo que este adversario usa hoy.</a:t>
            </a:r>
          </a:p>
        </p:txBody>
      </p:sp>
      <p:sp>
        <p:nvSpPr>
          <p:cNvPr id="9120" name="Rectangle 9119"/>
          <p:cNvSpPr/>
          <p:nvPr/>
        </p:nvSpPr>
        <p:spPr>
          <a:xfrm>
            <a:off x="5806440" y="3977639"/>
            <a:ext cx="4663440" cy="64008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200" b="1" i="0">
                <a:solidFill>
                  <a:srgbClr val="FFFFFF"/>
                </a:solidFill>
                <a:latin typeface="Oswald"/>
                <a:ea typeface="Oswald"/>
                <a:cs typeface="Oswald"/>
              </a:rPr>
              <a:t>Operacional</a:t>
            </a:r>
          </a:p>
        </p:txBody>
      </p:sp>
      <p:sp>
        <p:nvSpPr>
          <p:cNvPr id="9121" name="TextBox 9120"/>
          <p:cNvSpPr txBox="1"/>
          <p:nvPr/>
        </p:nvSpPr>
        <p:spPr>
          <a:xfrm>
            <a:off x="5806440" y="4663440"/>
            <a:ext cx="4663440" cy="2194560"/>
          </a:xfrm>
          <a:prstGeom prst="rect">
            <a:avLst/>
          </a:prstGeom>
          <a:solidFill>
            <a:srgbClr val="E8EEFB"/>
          </a:solidFill>
        </p:spPr>
        <p:txBody>
          <a:bodyPr wrap="square" lIns="137160" tIns="137160" rIns="137160" bIns="137160" anchor="t">
            <a:noAutofit/>
          </a:bodyPr>
          <a:lstStyle/>
          <a:p>
            <a:pPr algn="l">
              <a:lnSpc>
                <a:spcPct val="100000"/>
              </a:lnSpc>
              <a:spcAft>
                <a:spcPts val="800"/>
              </a:spcAft>
            </a:pPr>
            <a:r>
              <a:rPr sz="2000" b="0" i="0">
                <a:solidFill>
                  <a:srgbClr val="000000"/>
                </a:solidFill>
                <a:latin typeface="Arial"/>
                <a:ea typeface="Arial"/>
                <a:cs typeface="Arial"/>
              </a:rPr>
              <a:t>Anticipar su próxima infraestructura y campaña conociendo cómo opera.</a:t>
            </a:r>
          </a:p>
        </p:txBody>
      </p:sp>
      <p:sp>
        <p:nvSpPr>
          <p:cNvPr id="9122" name="Rectangle 9121"/>
          <p:cNvSpPr/>
          <p:nvPr/>
        </p:nvSpPr>
        <p:spPr>
          <a:xfrm>
            <a:off x="10789919" y="3977639"/>
            <a:ext cx="4663440" cy="64008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200" b="1" i="0">
                <a:solidFill>
                  <a:srgbClr val="FFFFFF"/>
                </a:solidFill>
                <a:latin typeface="Oswald"/>
                <a:ea typeface="Oswald"/>
                <a:cs typeface="Oswald"/>
              </a:rPr>
              <a:t>Estratégico</a:t>
            </a:r>
          </a:p>
        </p:txBody>
      </p:sp>
      <p:sp>
        <p:nvSpPr>
          <p:cNvPr id="9123" name="TextBox 9122"/>
          <p:cNvSpPr txBox="1"/>
          <p:nvPr/>
        </p:nvSpPr>
        <p:spPr>
          <a:xfrm>
            <a:off x="10789919" y="4663440"/>
            <a:ext cx="4663440" cy="2194560"/>
          </a:xfrm>
          <a:prstGeom prst="rect">
            <a:avLst/>
          </a:prstGeom>
          <a:solidFill>
            <a:srgbClr val="E8EEFB"/>
          </a:solidFill>
        </p:spPr>
        <p:txBody>
          <a:bodyPr wrap="square" lIns="137160" tIns="137160" rIns="137160" bIns="137160" anchor="t">
            <a:noAutofit/>
          </a:bodyPr>
          <a:lstStyle/>
          <a:p>
            <a:pPr algn="l">
              <a:lnSpc>
                <a:spcPct val="100000"/>
              </a:lnSpc>
              <a:spcAft>
                <a:spcPts val="800"/>
              </a:spcAft>
            </a:pPr>
            <a:r>
              <a:rPr sz="2000" b="0" i="0">
                <a:solidFill>
                  <a:srgbClr val="000000"/>
                </a:solidFill>
                <a:latin typeface="Arial"/>
                <a:ea typeface="Arial"/>
                <a:cs typeface="Arial"/>
              </a:rPr>
              <a:t>Evaluar el riesgo real para la organización y priorizar la inversión en defensa.</a:t>
            </a:r>
          </a:p>
        </p:txBody>
      </p:sp>
      <p:sp>
        <p:nvSpPr>
          <p:cNvPr id="9125" name="TextBox 9124"/>
          <p:cNvSpPr txBox="1"/>
          <p:nvPr/>
        </p:nvSpPr>
        <p:spPr>
          <a:xfrm>
            <a:off x="822960" y="7909560"/>
            <a:ext cx="14447520" cy="2926080"/>
          </a:xfrm>
          <a:prstGeom prst="rect">
            <a:avLst/>
          </a:prstGeom>
          <a:noFill/>
        </p:spPr>
        <p:txBody>
          <a:bodyPr wrap="square" lIns="73152" tIns="73152" rIns="73152" bIns="73152" anchor="t">
            <a:noAutofit/>
          </a:bodyPr>
          <a:lstStyle/>
          <a:p>
            <a:pPr marL="320040" indent="-320040" algn="l">
              <a:lnSpc>
                <a:spcPct val="100000"/>
              </a:lnSpc>
              <a:spcAft>
                <a:spcPts val="1000"/>
              </a:spcAft>
              <a:buClr>
                <a:srgbClr val="221666"/>
              </a:buClr>
              <a:buFont typeface="Arial"/>
              <a:buChar char="•"/>
            </a:pPr>
            <a:r>
              <a:rPr sz="2100" b="1" i="0">
                <a:solidFill>
                  <a:srgbClr val="000000"/>
                </a:solidFill>
                <a:latin typeface="Arial"/>
                <a:ea typeface="Arial"/>
                <a:cs typeface="Arial"/>
              </a:rPr>
              <a:t>CrowdStrike: </a:t>
            </a:r>
            <a:r>
              <a:rPr sz="2100" b="0" i="0">
                <a:solidFill>
                  <a:srgbClr val="000000"/>
                </a:solidFill>
                <a:latin typeface="Arial"/>
                <a:ea typeface="Arial"/>
                <a:cs typeface="Arial"/>
              </a:rPr>
              <a:t>«no tenés un problema de ransomware, tenés un problema de adversario». Conocer al adversario dice dónde defender y filtra el ruido a quien realmente te apunta.</a:t>
            </a:r>
          </a:p>
          <a:p>
            <a:pPr marL="320040" indent="-320040" algn="l">
              <a:lnSpc>
                <a:spcPct val="100000"/>
              </a:lnSpc>
              <a:spcAft>
                <a:spcPts val="1000"/>
              </a:spcAft>
              <a:buClr>
                <a:srgbClr val="221666"/>
              </a:buClr>
              <a:buFont typeface="Arial"/>
              <a:buChar char="•"/>
            </a:pPr>
            <a:r>
              <a:rPr sz="2100" b="1" i="0">
                <a:solidFill>
                  <a:srgbClr val="000000"/>
                </a:solidFill>
                <a:latin typeface="Arial"/>
                <a:ea typeface="Arial"/>
                <a:cs typeface="Arial"/>
              </a:rPr>
              <a:t>Trend Micro: </a:t>
            </a:r>
            <a:r>
              <a:rPr sz="2100" b="0" i="0">
                <a:solidFill>
                  <a:srgbClr val="000000"/>
                </a:solidFill>
                <a:latin typeface="Arial"/>
                <a:ea typeface="Arial"/>
                <a:cs typeface="Arial"/>
              </a:rPr>
              <a:t>tratar un nombre como un hecho «crea una falsa certeza que distorsiona prioridades». La atribución mal hecha es peor que no atribuir.</a:t>
            </a:r>
          </a:p>
          <a:p>
            <a:pPr marL="320040" indent="-320040" algn="l">
              <a:lnSpc>
                <a:spcPct val="100000"/>
              </a:lnSpc>
              <a:spcAft>
                <a:spcPts val="1000"/>
              </a:spcAft>
              <a:buClr>
                <a:srgbClr val="221666"/>
              </a:buClr>
              <a:buFont typeface="Arial"/>
              <a:buChar char="•"/>
            </a:pPr>
            <a:r>
              <a:rPr sz="2100" b="1" i="0">
                <a:solidFill>
                  <a:srgbClr val="000000"/>
                </a:solidFill>
                <a:latin typeface="Arial"/>
                <a:ea typeface="Arial"/>
                <a:cs typeface="Arial"/>
              </a:rPr>
              <a:t>En ciberdefensa hay un plano más: </a:t>
            </a:r>
            <a:r>
              <a:rPr sz="2100" b="0" i="0">
                <a:solidFill>
                  <a:srgbClr val="000000"/>
                </a:solidFill>
                <a:latin typeface="Arial"/>
                <a:ea typeface="Arial"/>
                <a:cs typeface="Arial"/>
              </a:rPr>
              <a:t>el político. Y ahí el error no es técnico, es riesgo de escalamiento. Por eso lo estructuramos en niveles.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2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2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2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III · Cómo atribuir: tres niveles, tres umbrales</a:t>
            </a:r>
          </a:p>
        </p:txBody>
      </p:sp>
      <p:sp>
        <p:nvSpPr>
          <p:cNvPr id="9124" name="TextBox 912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25" name="TextBox 912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15</a:t>
            </a:r>
          </a:p>
        </p:txBody>
      </p:sp>
      <p:sp>
        <p:nvSpPr>
          <p:cNvPr id="9126" name="TextBox 912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[4] Rid &amp; Buchanan (2015) · [5] Heuer (1999), ACH · [8] ODNI, ICD 203. Tablas 2 y 3 del trabajo.</a:t>
            </a:r>
          </a:p>
        </p:txBody>
      </p:sp>
      <p:graphicFrame>
        <p:nvGraphicFramePr>
          <p:cNvPr id="9127" name="Table 9126"/>
          <p:cNvGraphicFramePr>
            <a:graphicFrameLocks noGrp="1"/>
          </p:cNvGraphicFramePr>
          <p:nvPr/>
        </p:nvGraphicFramePr>
        <p:xfrm>
          <a:off x="822960" y="2148840"/>
          <a:ext cx="14447520" cy="4251960"/>
        </p:xfrm>
        <a:graphic>
          <a:graphicData uri="http://schemas.openxmlformats.org/drawingml/2006/table">
            <a:tbl>
              <a:tblPr/>
              <a:tblGrid>
                <a:gridCol w="22860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685800">
                <a:tc>
                  <a:txBody>
                    <a:bodyPr/>
                    <a:lstStyle/>
                    <a:p>
                      <a:r>
                        <a:rPr sz="1700" b="1" i="0">
                          <a:solidFill>
                            <a:srgbClr val="FFFFFF"/>
                          </a:solidFill>
                          <a:latin typeface="Arial"/>
                          <a:ea typeface="Arial"/>
                          <a:cs typeface="Arial"/>
                        </a:rPr>
                        <a:t>Nivel</a:t>
                      </a:r>
                    </a:p>
                  </a:txBody>
                  <a:tcPr anchor="ctr">
                    <a:solidFill>
                      <a:srgbClr val="221666"/>
                    </a:solidFill>
                  </a:tcPr>
                </a:tc>
                <a:tc>
                  <a:txBody>
                    <a:bodyPr/>
                    <a:lstStyle/>
                    <a:p>
                      <a:r>
                        <a:rPr sz="1700" b="1" i="0">
                          <a:solidFill>
                            <a:srgbClr val="FFFFFF"/>
                          </a:solidFill>
                          <a:latin typeface="Arial"/>
                          <a:ea typeface="Arial"/>
                          <a:cs typeface="Arial"/>
                        </a:rPr>
                        <a:t>Pregunta que responde</a:t>
                      </a:r>
                    </a:p>
                  </a:txBody>
                  <a:tcPr anchor="ctr">
                    <a:solidFill>
                      <a:srgbClr val="221666"/>
                    </a:solidFill>
                  </a:tcPr>
                </a:tc>
                <a:tc>
                  <a:txBody>
                    <a:bodyPr/>
                    <a:lstStyle/>
                    <a:p>
                      <a:r>
                        <a:rPr sz="1700" b="1" i="0">
                          <a:solidFill>
                            <a:srgbClr val="FFFFFF"/>
                          </a:solidFill>
                          <a:latin typeface="Arial"/>
                          <a:ea typeface="Arial"/>
                          <a:cs typeface="Arial"/>
                        </a:rPr>
                        <a:t>Evidencia típica</a:t>
                      </a:r>
                    </a:p>
                  </a:txBody>
                  <a:tcPr anchor="ctr">
                    <a:solidFill>
                      <a:srgbClr val="221666"/>
                    </a:solidFill>
                  </a:tcPr>
                </a:tc>
                <a:tc>
                  <a:txBody>
                    <a:bodyPr/>
                    <a:lstStyle/>
                    <a:p>
                      <a:r>
                        <a:rPr sz="1700" b="1" i="0">
                          <a:solidFill>
                            <a:srgbClr val="FFFFFF"/>
                          </a:solidFill>
                          <a:latin typeface="Arial"/>
                          <a:ea typeface="Arial"/>
                          <a:cs typeface="Arial"/>
                        </a:rPr>
                        <a:t>Confianza admisible</a:t>
                      </a:r>
                    </a:p>
                  </a:txBody>
                  <a:tcPr anchor="ctr">
                    <a:solidFill>
                      <a:srgbClr val="221666"/>
                    </a:solidFill>
                  </a:tcPr>
                </a:tc>
                <a:tc>
                  <a:txBody>
                    <a:bodyPr/>
                    <a:lstStyle/>
                    <a:p>
                      <a:r>
                        <a:rPr sz="1700" b="1" i="0">
                          <a:solidFill>
                            <a:srgbClr val="FFFFFF"/>
                          </a:solidFill>
                          <a:latin typeface="Arial"/>
                          <a:ea typeface="Arial"/>
                          <a:cs typeface="Arial"/>
                        </a:rPr>
                        <a:t>Quién puede afirmarlo</a:t>
                      </a:r>
                    </a:p>
                  </a:txBody>
                  <a:tcPr anchor="ctr">
                    <a:solidFill>
                      <a:srgbClr val="221666"/>
                    </a:solidFill>
                  </a:tcPr>
                </a:tc>
                <a:extLst>
                  <a:ext uri="{0D108BD9-81ED-4DB2-BD59-A6C34878D82A}">
                    <a16:rowId xmlns:a16="http://schemas.microsoft.com/office/drawing/2014/main" val="10000"/>
                  </a:ext>
                </a:extLst>
              </a:tr>
              <a:tr h="1188720">
                <a:tc>
                  <a:txBody>
                    <a:bodyPr/>
                    <a:lstStyle/>
                    <a:p>
                      <a:r>
                        <a:rPr sz="1700" b="1" i="0">
                          <a:solidFill>
                            <a:srgbClr val="000000"/>
                          </a:solidFill>
                          <a:latin typeface="Arial"/>
                          <a:ea typeface="Arial"/>
                          <a:cs typeface="Arial"/>
                        </a:rPr>
                        <a:t>Técnico</a:t>
                      </a:r>
                    </a:p>
                  </a:txBody>
                  <a:tcPr anchor="ctr">
                    <a:solidFill>
                      <a:srgbClr val="FFFFFF"/>
                    </a:solidFill>
                  </a:tcPr>
                </a:tc>
                <a:tc>
                  <a:txBody>
                    <a:bodyPr/>
                    <a:lstStyle/>
                    <a:p>
                      <a:r>
                        <a:rPr sz="1700" b="0" i="0">
                          <a:solidFill>
                            <a:srgbClr val="000000"/>
                          </a:solidFill>
                          <a:latin typeface="Arial"/>
                          <a:ea typeface="Arial"/>
                          <a:cs typeface="Arial"/>
                        </a:rPr>
                        <a:t>¿Con qué herramientas e infraestructura se ejecutó?</a:t>
                      </a:r>
                    </a:p>
                  </a:txBody>
                  <a:tcPr anchor="ctr">
                    <a:solidFill>
                      <a:srgbClr val="FFFFFF"/>
                    </a:solidFill>
                  </a:tcPr>
                </a:tc>
                <a:tc>
                  <a:txBody>
                    <a:bodyPr/>
                    <a:lstStyle/>
                    <a:p>
                      <a:r>
                        <a:rPr sz="1700" b="0" i="0">
                          <a:solidFill>
                            <a:srgbClr val="000000"/>
                          </a:solidFill>
                          <a:latin typeface="Arial"/>
                          <a:ea typeface="Arial"/>
                          <a:cs typeface="Arial"/>
                        </a:rPr>
                        <a:t>Malware, infraestructura C2, TTPs, artefactos forenses</a:t>
                      </a:r>
                    </a:p>
                  </a:txBody>
                  <a:tcPr anchor="ctr">
                    <a:solidFill>
                      <a:srgbClr val="FFFFFF"/>
                    </a:solidFill>
                  </a:tcPr>
                </a:tc>
                <a:tc>
                  <a:txBody>
                    <a:bodyPr/>
                    <a:lstStyle/>
                    <a:p>
                      <a:r>
                        <a:rPr sz="1700" b="0" i="0">
                          <a:solidFill>
                            <a:srgbClr val="000000"/>
                          </a:solidFill>
                          <a:latin typeface="Arial"/>
                          <a:ea typeface="Arial"/>
                          <a:cs typeface="Arial"/>
                        </a:rPr>
                        <a:t>Alta a moderada</a:t>
                      </a:r>
                    </a:p>
                  </a:txBody>
                  <a:tcPr anchor="ctr">
                    <a:solidFill>
                      <a:srgbClr val="FFFFFF"/>
                    </a:solidFill>
                  </a:tcPr>
                </a:tc>
                <a:tc>
                  <a:txBody>
                    <a:bodyPr/>
                    <a:lstStyle/>
                    <a:p>
                      <a:r>
                        <a:rPr sz="1700" b="0" i="0">
                          <a:solidFill>
                            <a:srgbClr val="000000"/>
                          </a:solidFill>
                          <a:latin typeface="Arial"/>
                          <a:ea typeface="Arial"/>
                          <a:cs typeface="Arial"/>
                        </a:rPr>
                        <a:t>El analista</a:t>
                      </a:r>
                    </a:p>
                  </a:txBody>
                  <a:tcPr anchor="ctr">
                    <a:solidFill>
                      <a:srgbClr val="FFFFFF"/>
                    </a:solidFill>
                  </a:tcPr>
                </a:tc>
                <a:extLst>
                  <a:ext uri="{0D108BD9-81ED-4DB2-BD59-A6C34878D82A}">
                    <a16:rowId xmlns:a16="http://schemas.microsoft.com/office/drawing/2014/main" val="10001"/>
                  </a:ext>
                </a:extLst>
              </a:tr>
              <a:tr h="1188720">
                <a:tc>
                  <a:txBody>
                    <a:bodyPr/>
                    <a:lstStyle/>
                    <a:p>
                      <a:r>
                        <a:rPr sz="1700" b="1" i="0">
                          <a:solidFill>
                            <a:srgbClr val="000000"/>
                          </a:solidFill>
                          <a:latin typeface="Arial"/>
                          <a:ea typeface="Arial"/>
                          <a:cs typeface="Arial"/>
                        </a:rPr>
                        <a:t>Operacional</a:t>
                      </a:r>
                    </a:p>
                  </a:txBody>
                  <a:tcPr anchor="ctr">
                    <a:solidFill>
                      <a:srgbClr val="E8EEFB"/>
                    </a:solidFill>
                  </a:tcPr>
                </a:tc>
                <a:tc>
                  <a:txBody>
                    <a:bodyPr/>
                    <a:lstStyle/>
                    <a:p>
                      <a:r>
                        <a:rPr sz="1700" b="0" i="0">
                          <a:solidFill>
                            <a:srgbClr val="000000"/>
                          </a:solidFill>
                          <a:latin typeface="Arial"/>
                          <a:ea typeface="Arial"/>
                          <a:cs typeface="Arial"/>
                        </a:rPr>
                        <a:t>¿Qué grupo o campaña está detrás?</a:t>
                      </a:r>
                    </a:p>
                  </a:txBody>
                  <a:tcPr anchor="ctr">
                    <a:solidFill>
                      <a:srgbClr val="E8EEFB"/>
                    </a:solidFill>
                  </a:tcPr>
                </a:tc>
                <a:tc>
                  <a:txBody>
                    <a:bodyPr/>
                    <a:lstStyle/>
                    <a:p>
                      <a:r>
                        <a:rPr sz="1700" b="0" i="0">
                          <a:solidFill>
                            <a:srgbClr val="000000"/>
                          </a:solidFill>
                          <a:latin typeface="Arial"/>
                          <a:ea typeface="Arial"/>
                          <a:cs typeface="Arial"/>
                        </a:rPr>
                        <a:t>Solapamiento de TTPs entre intrusiones, victimología, patrones</a:t>
                      </a:r>
                    </a:p>
                  </a:txBody>
                  <a:tcPr anchor="ctr">
                    <a:solidFill>
                      <a:srgbClr val="E8EEFB"/>
                    </a:solidFill>
                  </a:tcPr>
                </a:tc>
                <a:tc>
                  <a:txBody>
                    <a:bodyPr/>
                    <a:lstStyle/>
                    <a:p>
                      <a:r>
                        <a:rPr sz="1700" b="0" i="0">
                          <a:solidFill>
                            <a:srgbClr val="000000"/>
                          </a:solidFill>
                          <a:latin typeface="Arial"/>
                          <a:ea typeface="Arial"/>
                          <a:cs typeface="Arial"/>
                        </a:rPr>
                        <a:t>Moderada</a:t>
                      </a:r>
                    </a:p>
                  </a:txBody>
                  <a:tcPr anchor="ctr">
                    <a:solidFill>
                      <a:srgbClr val="E8EEFB"/>
                    </a:solidFill>
                  </a:tcPr>
                </a:tc>
                <a:tc>
                  <a:txBody>
                    <a:bodyPr/>
                    <a:lstStyle/>
                    <a:p>
                      <a:r>
                        <a:rPr sz="1700" b="0" i="0">
                          <a:solidFill>
                            <a:srgbClr val="000000"/>
                          </a:solidFill>
                          <a:latin typeface="Arial"/>
                          <a:ea typeface="Arial"/>
                          <a:cs typeface="Arial"/>
                        </a:rPr>
                        <a:t>El equipo, con revisión por pares</a:t>
                      </a:r>
                    </a:p>
                  </a:txBody>
                  <a:tcPr anchor="ctr">
                    <a:solidFill>
                      <a:srgbClr val="E8EEFB"/>
                    </a:solidFill>
                  </a:tcPr>
                </a:tc>
                <a:extLst>
                  <a:ext uri="{0D108BD9-81ED-4DB2-BD59-A6C34878D82A}">
                    <a16:rowId xmlns:a16="http://schemas.microsoft.com/office/drawing/2014/main" val="10002"/>
                  </a:ext>
                </a:extLst>
              </a:tr>
              <a:tr h="1188720">
                <a:tc>
                  <a:txBody>
                    <a:bodyPr/>
                    <a:lstStyle/>
                    <a:p>
                      <a:r>
                        <a:rPr sz="1700" b="1" i="0">
                          <a:solidFill>
                            <a:srgbClr val="000000"/>
                          </a:solidFill>
                          <a:latin typeface="Arial"/>
                          <a:ea typeface="Arial"/>
                          <a:cs typeface="Arial"/>
                        </a:rPr>
                        <a:t>Político / estratégico</a:t>
                      </a:r>
                    </a:p>
                  </a:txBody>
                  <a:tcPr anchor="ctr">
                    <a:solidFill>
                      <a:srgbClr val="FFFFFF"/>
                    </a:solidFill>
                  </a:tcPr>
                </a:tc>
                <a:tc>
                  <a:txBody>
                    <a:bodyPr/>
                    <a:lstStyle/>
                    <a:p>
                      <a:r>
                        <a:rPr sz="1700" b="0" i="0">
                          <a:solidFill>
                            <a:srgbClr val="000000"/>
                          </a:solidFill>
                          <a:latin typeface="Arial"/>
                          <a:ea typeface="Arial"/>
                          <a:cs typeface="Arial"/>
                        </a:rPr>
                        <a:t>¿Quién la ordenó, patrocinó o toleró?</a:t>
                      </a:r>
                    </a:p>
                  </a:txBody>
                  <a:tcPr anchor="ctr">
                    <a:solidFill>
                      <a:srgbClr val="FFFFFF"/>
                    </a:solidFill>
                  </a:tcPr>
                </a:tc>
                <a:tc>
                  <a:txBody>
                    <a:bodyPr/>
                    <a:lstStyle/>
                    <a:p>
                      <a:r>
                        <a:rPr sz="1700" b="0" i="0">
                          <a:solidFill>
                            <a:srgbClr val="000000"/>
                          </a:solidFill>
                          <a:latin typeface="Arial"/>
                          <a:ea typeface="Arial"/>
                          <a:cs typeface="Arial"/>
                        </a:rPr>
                        <a:t>Contexto geopolítico, inteligencia de todas las fuentes</a:t>
                      </a:r>
                    </a:p>
                  </a:txBody>
                  <a:tcPr anchor="ctr">
                    <a:solidFill>
                      <a:srgbClr val="FFFFFF"/>
                    </a:solidFill>
                  </a:tcPr>
                </a:tc>
                <a:tc>
                  <a:txBody>
                    <a:bodyPr/>
                    <a:lstStyle/>
                    <a:p>
                      <a:r>
                        <a:rPr sz="1700" b="0" i="0">
                          <a:solidFill>
                            <a:srgbClr val="000000"/>
                          </a:solidFill>
                          <a:latin typeface="Arial"/>
                          <a:ea typeface="Arial"/>
                          <a:cs typeface="Arial"/>
                        </a:rPr>
                        <a:t>Baja a moderada</a:t>
                      </a:r>
                    </a:p>
                  </a:txBody>
                  <a:tcPr anchor="ctr">
                    <a:solidFill>
                      <a:srgbClr val="FFFFFF"/>
                    </a:solidFill>
                  </a:tcPr>
                </a:tc>
                <a:tc>
                  <a:txBody>
                    <a:bodyPr/>
                    <a:lstStyle/>
                    <a:p>
                      <a:r>
                        <a:rPr sz="1700" b="0" i="0">
                          <a:solidFill>
                            <a:srgbClr val="000000"/>
                          </a:solidFill>
                          <a:latin typeface="Arial"/>
                          <a:ea typeface="Arial"/>
                          <a:cs typeface="Arial"/>
                        </a:rPr>
                        <a:t>Excede al analista: decisión del Estado</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128" name="TextBox 9127"/>
          <p:cNvSpPr txBox="1"/>
          <p:nvPr/>
        </p:nvSpPr>
        <p:spPr>
          <a:xfrm>
            <a:off x="822960" y="6766560"/>
            <a:ext cx="7315200" cy="4023360"/>
          </a:xfrm>
          <a:prstGeom prst="rect">
            <a:avLst/>
          </a:prstGeom>
          <a:noFill/>
        </p:spPr>
        <p:txBody>
          <a:bodyPr wrap="square" lIns="73152" tIns="73152" rIns="73152" bIns="73152" anchor="t">
            <a:noAutofit/>
          </a:bodyPr>
          <a:lstStyle/>
          <a:p>
            <a:pPr algn="l">
              <a:lnSpc>
                <a:spcPct val="100000"/>
              </a:lnSpc>
              <a:spcAft>
                <a:spcPts val="900"/>
              </a:spcAft>
            </a:pPr>
            <a:r>
              <a:rPr sz="2200" b="1" i="0">
                <a:solidFill>
                  <a:srgbClr val="221666"/>
                </a:solidFill>
                <a:latin typeface="Arial"/>
                <a:ea typeface="Arial"/>
                <a:cs typeface="Arial"/>
              </a:rPr>
              <a:t>La regla de oro</a:t>
            </a:r>
          </a:p>
          <a:p>
            <a:pPr marL="320040" indent="-320040" algn="l">
              <a:lnSpc>
                <a:spcPct val="100000"/>
              </a:lnSpc>
              <a:spcAft>
                <a:spcPts val="900"/>
              </a:spcAft>
              <a:buClr>
                <a:srgbClr val="221666"/>
              </a:buClr>
              <a:buFont typeface="Arial"/>
              <a:buChar char="•"/>
            </a:pPr>
            <a:r>
              <a:rPr sz="2000" b="1" i="0">
                <a:solidFill>
                  <a:srgbClr val="000000"/>
                </a:solidFill>
                <a:latin typeface="Arial"/>
                <a:ea typeface="Arial"/>
                <a:cs typeface="Arial"/>
              </a:rPr>
              <a:t>La confianza no se hereda: </a:t>
            </a:r>
            <a:r>
              <a:rPr sz="2000" b="0" i="0">
                <a:solidFill>
                  <a:srgbClr val="000000"/>
                </a:solidFill>
                <a:latin typeface="Arial"/>
                <a:ea typeface="Arial"/>
                <a:cs typeface="Arial"/>
              </a:rPr>
              <a:t>una atribución técnica de confianza alta no autoriza a afirmar el nivel político con esa confianza.</a:t>
            </a:r>
          </a:p>
          <a:p>
            <a:pPr marL="320040" indent="-320040" algn="l">
              <a:lnSpc>
                <a:spcPct val="100000"/>
              </a:lnSpc>
              <a:spcAft>
                <a:spcPts val="900"/>
              </a:spcAft>
              <a:buClr>
                <a:srgbClr val="221666"/>
              </a:buClr>
              <a:buFont typeface="Arial"/>
              <a:buChar char="•"/>
            </a:pPr>
            <a:r>
              <a:rPr sz="2000" b="1" i="0">
                <a:solidFill>
                  <a:srgbClr val="000000"/>
                </a:solidFill>
                <a:latin typeface="Arial"/>
                <a:ea typeface="Arial"/>
                <a:cs typeface="Arial"/>
              </a:rPr>
              <a:t>El nivel político excede al analista. </a:t>
            </a:r>
            <a:r>
              <a:rPr sz="2000" b="0" i="0">
                <a:solidFill>
                  <a:srgbClr val="000000"/>
                </a:solidFill>
                <a:latin typeface="Arial"/>
                <a:ea typeface="Arial"/>
                <a:cs typeface="Arial"/>
              </a:rPr>
              <a:t>En el caso del Tesoro (más adelante), solo se formalizó con acciones del Departamento de Justicia y sanciones.</a:t>
            </a:r>
          </a:p>
        </p:txBody>
      </p:sp>
      <p:sp>
        <p:nvSpPr>
          <p:cNvPr id="9129" name="Rectangle 9128"/>
          <p:cNvSpPr/>
          <p:nvPr/>
        </p:nvSpPr>
        <p:spPr>
          <a:xfrm>
            <a:off x="7772400" y="6766560"/>
            <a:ext cx="7498079" cy="384048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lstStyle/>
          <a:p>
            <a:pPr algn="l">
              <a:spcAft>
                <a:spcPts val="800"/>
              </a:spcAft>
            </a:pPr>
            <a:r>
              <a:rPr sz="2100" b="1" i="0">
                <a:solidFill>
                  <a:srgbClr val="FFFFFF"/>
                </a:solidFill>
                <a:latin typeface="Arial"/>
                <a:ea typeface="Arial"/>
                <a:cs typeface="Arial"/>
              </a:rPr>
              <a:t>ACH — cómo no equivocarse</a:t>
            </a:r>
          </a:p>
          <a:p>
            <a:pPr algn="l">
              <a:spcAft>
                <a:spcPts val="800"/>
              </a:spcAft>
            </a:pPr>
            <a:r>
              <a:rPr sz="1800" b="0" i="0">
                <a:solidFill>
                  <a:srgbClr val="FFFFFF"/>
                </a:solidFill>
                <a:latin typeface="Arial"/>
                <a:ea typeface="Arial"/>
                <a:cs typeface="Arial"/>
              </a:rPr>
              <a:t>Análisis de Hipótesis en Competencia (Heuer). En vez de confirmar la hipótesis preferida, se confrontan todas —incluida la de falsa bandera— contra la evidencia, y sobrevive la menos refutada.</a:t>
            </a:r>
          </a:p>
          <a:p>
            <a:pPr algn="l">
              <a:spcAft>
                <a:spcPts val="800"/>
              </a:spcAft>
            </a:pPr>
            <a:r>
              <a:rPr sz="1800" b="0" i="0">
                <a:solidFill>
                  <a:srgbClr val="FFFFFF"/>
                </a:solidFill>
                <a:latin typeface="Arial"/>
                <a:ea typeface="Arial"/>
                <a:cs typeface="Arial"/>
              </a:rPr>
              <a:t>Mitiga sesgo de confirmación, anclaje e imagen en espejo. Obligatorio antes de afirmar. Protocolo de 8 pasos en anexo.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3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3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3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III · ¿Por qué el mismo actor tiene siete nombres?</a:t>
            </a:r>
          </a:p>
        </p:txBody>
      </p:sp>
      <p:sp>
        <p:nvSpPr>
          <p:cNvPr id="9134" name="TextBox 913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35" name="TextBox 913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16</a:t>
            </a:r>
          </a:p>
        </p:txBody>
      </p:sp>
      <p:sp>
        <p:nvSpPr>
          <p:cNvPr id="9136" name="TextBox 913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alias según CISA AA24-038A [10] y la deconflicción Microsoft–CrowdStrike (jun 2025) [29]. [23] Google GTIG (jul 2026).</a:t>
            </a:r>
          </a:p>
        </p:txBody>
      </p:sp>
      <p:sp>
        <p:nvSpPr>
          <p:cNvPr id="9137" name="Rectangle 9136"/>
          <p:cNvSpPr/>
          <p:nvPr/>
        </p:nvSpPr>
        <p:spPr>
          <a:xfrm>
            <a:off x="9052560" y="2423160"/>
            <a:ext cx="6217920" cy="128016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100"/>
              </a:spcAft>
            </a:pPr>
            <a:r>
              <a:rPr sz="3000" b="1" i="0">
                <a:solidFill>
                  <a:srgbClr val="FFFFFF"/>
                </a:solidFill>
                <a:latin typeface="Oswald"/>
                <a:ea typeface="Oswald"/>
                <a:cs typeface="Oswald"/>
              </a:rPr>
              <a:t>VOLT TYPHOON</a:t>
            </a:r>
          </a:p>
          <a:p>
            <a:pPr algn="ctr">
              <a:spcAft>
                <a:spcPts val="100"/>
              </a:spcAft>
            </a:pPr>
            <a:r>
              <a:rPr sz="1700" b="0" i="0">
                <a:solidFill>
                  <a:srgbClr val="FFFFFF"/>
                </a:solidFill>
                <a:latin typeface="Arial"/>
                <a:ea typeface="Arial"/>
                <a:cs typeface="Arial"/>
              </a:rPr>
              <a:t>un actor estatal, siete etiquetas</a:t>
            </a:r>
          </a:p>
        </p:txBody>
      </p:sp>
      <p:sp>
        <p:nvSpPr>
          <p:cNvPr id="9138" name="Rectangle 9137"/>
          <p:cNvSpPr/>
          <p:nvPr/>
        </p:nvSpPr>
        <p:spPr>
          <a:xfrm>
            <a:off x="9052560" y="3977639"/>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Volt Typhoon</a:t>
            </a:r>
          </a:p>
          <a:p>
            <a:pPr algn="ctr">
              <a:spcAft>
                <a:spcPts val="0"/>
              </a:spcAft>
            </a:pPr>
            <a:r>
              <a:rPr sz="1300" b="0" i="0">
                <a:solidFill>
                  <a:srgbClr val="555B6E"/>
                </a:solidFill>
                <a:latin typeface="Arial"/>
                <a:ea typeface="Arial"/>
                <a:cs typeface="Arial"/>
              </a:rPr>
              <a:t>Microsoft</a:t>
            </a:r>
          </a:p>
        </p:txBody>
      </p:sp>
      <p:sp>
        <p:nvSpPr>
          <p:cNvPr id="9139" name="Rectangle 9138"/>
          <p:cNvSpPr/>
          <p:nvPr/>
        </p:nvSpPr>
        <p:spPr>
          <a:xfrm>
            <a:off x="12252960" y="3977639"/>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VANGUARD PANDA</a:t>
            </a:r>
          </a:p>
          <a:p>
            <a:pPr algn="ctr">
              <a:spcAft>
                <a:spcPts val="0"/>
              </a:spcAft>
            </a:pPr>
            <a:r>
              <a:rPr sz="1300" b="0" i="0">
                <a:solidFill>
                  <a:srgbClr val="555B6E"/>
                </a:solidFill>
                <a:latin typeface="Arial"/>
                <a:ea typeface="Arial"/>
                <a:cs typeface="Arial"/>
              </a:rPr>
              <a:t>CrowdStrike</a:t>
            </a:r>
          </a:p>
        </p:txBody>
      </p:sp>
      <p:sp>
        <p:nvSpPr>
          <p:cNvPr id="9140" name="Rectangle 9139"/>
          <p:cNvSpPr/>
          <p:nvPr/>
        </p:nvSpPr>
        <p:spPr>
          <a:xfrm>
            <a:off x="9052560" y="5212079"/>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BRONZE SILHOUETTE</a:t>
            </a:r>
          </a:p>
          <a:p>
            <a:pPr algn="ctr">
              <a:spcAft>
                <a:spcPts val="0"/>
              </a:spcAft>
            </a:pPr>
            <a:r>
              <a:rPr sz="1300" b="0" i="0">
                <a:solidFill>
                  <a:srgbClr val="555B6E"/>
                </a:solidFill>
                <a:latin typeface="Arial"/>
                <a:ea typeface="Arial"/>
                <a:cs typeface="Arial"/>
              </a:rPr>
              <a:t>Secureworks</a:t>
            </a:r>
          </a:p>
        </p:txBody>
      </p:sp>
      <p:sp>
        <p:nvSpPr>
          <p:cNvPr id="9141" name="Rectangle 9140"/>
          <p:cNvSpPr/>
          <p:nvPr/>
        </p:nvSpPr>
        <p:spPr>
          <a:xfrm>
            <a:off x="12252960" y="5212079"/>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Insidious Taurus</a:t>
            </a:r>
          </a:p>
          <a:p>
            <a:pPr algn="ctr">
              <a:spcAft>
                <a:spcPts val="0"/>
              </a:spcAft>
            </a:pPr>
            <a:r>
              <a:rPr sz="1300" b="0" i="0">
                <a:solidFill>
                  <a:srgbClr val="555B6E"/>
                </a:solidFill>
                <a:latin typeface="Arial"/>
                <a:ea typeface="Arial"/>
                <a:cs typeface="Arial"/>
              </a:rPr>
              <a:t>Unit 42</a:t>
            </a:r>
          </a:p>
        </p:txBody>
      </p:sp>
      <p:sp>
        <p:nvSpPr>
          <p:cNvPr id="9142" name="Rectangle 9141"/>
          <p:cNvSpPr/>
          <p:nvPr/>
        </p:nvSpPr>
        <p:spPr>
          <a:xfrm>
            <a:off x="9052560" y="6446520"/>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UNC3236</a:t>
            </a:r>
          </a:p>
          <a:p>
            <a:pPr algn="ctr">
              <a:spcAft>
                <a:spcPts val="0"/>
              </a:spcAft>
            </a:pPr>
            <a:r>
              <a:rPr sz="1300" b="0" i="0">
                <a:solidFill>
                  <a:srgbClr val="555B6E"/>
                </a:solidFill>
                <a:latin typeface="Arial"/>
                <a:ea typeface="Arial"/>
                <a:cs typeface="Arial"/>
              </a:rPr>
              <a:t>Mandiant</a:t>
            </a:r>
          </a:p>
        </p:txBody>
      </p:sp>
      <p:sp>
        <p:nvSpPr>
          <p:cNvPr id="9143" name="Rectangle 9142"/>
          <p:cNvSpPr/>
          <p:nvPr/>
        </p:nvSpPr>
        <p:spPr>
          <a:xfrm>
            <a:off x="12252960" y="6446520"/>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Voltzite</a:t>
            </a:r>
          </a:p>
          <a:p>
            <a:pPr algn="ctr">
              <a:spcAft>
                <a:spcPts val="0"/>
              </a:spcAft>
            </a:pPr>
            <a:r>
              <a:rPr sz="1300" b="0" i="0">
                <a:solidFill>
                  <a:srgbClr val="555B6E"/>
                </a:solidFill>
                <a:latin typeface="Arial"/>
                <a:ea typeface="Arial"/>
                <a:cs typeface="Arial"/>
              </a:rPr>
              <a:t>Dragos</a:t>
            </a:r>
          </a:p>
        </p:txBody>
      </p:sp>
      <p:sp>
        <p:nvSpPr>
          <p:cNvPr id="9144" name="Rectangle 9143"/>
          <p:cNvSpPr/>
          <p:nvPr/>
        </p:nvSpPr>
        <p:spPr>
          <a:xfrm>
            <a:off x="9052560" y="7680960"/>
            <a:ext cx="3063240" cy="1097280"/>
          </a:xfrm>
          <a:prstGeom prst="rect">
            <a:avLst/>
          </a:prstGeom>
          <a:solidFill>
            <a:srgbClr val="E8EE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221666"/>
                </a:solidFill>
                <a:latin typeface="Arial"/>
                <a:ea typeface="Arial"/>
                <a:cs typeface="Arial"/>
              </a:rPr>
              <a:t>DEV-0391</a:t>
            </a:r>
          </a:p>
          <a:p>
            <a:pPr algn="ctr">
              <a:spcAft>
                <a:spcPts val="0"/>
              </a:spcAft>
            </a:pPr>
            <a:r>
              <a:rPr sz="1300" b="0" i="0">
                <a:solidFill>
                  <a:srgbClr val="555B6E"/>
                </a:solidFill>
                <a:latin typeface="Arial"/>
                <a:ea typeface="Arial"/>
                <a:cs typeface="Arial"/>
              </a:rPr>
              <a:t>Microsoft (previo)</a:t>
            </a:r>
          </a:p>
        </p:txBody>
      </p:sp>
      <p:sp>
        <p:nvSpPr>
          <p:cNvPr id="9145" name="TextBox 9144"/>
          <p:cNvSpPr txBox="1"/>
          <p:nvPr/>
        </p:nvSpPr>
        <p:spPr>
          <a:xfrm>
            <a:off x="822960" y="2148840"/>
            <a:ext cx="8138160" cy="8778240"/>
          </a:xfrm>
          <a:prstGeom prst="rect">
            <a:avLst/>
          </a:prstGeom>
          <a:noFill/>
        </p:spPr>
        <p:txBody>
          <a:bodyPr wrap="square" lIns="73152" tIns="73152" rIns="73152" bIns="73152" anchor="t">
            <a:noAutofit/>
          </a:bodyPr>
          <a:lstStyle/>
          <a:p>
            <a:pPr algn="l">
              <a:lnSpc>
                <a:spcPct val="100000"/>
              </a:lnSpc>
              <a:spcAft>
                <a:spcPts val="1300"/>
              </a:spcAft>
            </a:pPr>
            <a:r>
              <a:rPr sz="2100" b="1" i="0">
                <a:solidFill>
                  <a:srgbClr val="221666"/>
                </a:solidFill>
                <a:latin typeface="Arial"/>
                <a:ea typeface="Arial"/>
                <a:cs typeface="Arial"/>
              </a:rPr>
              <a:t>Un solo grupo. Siete empresas, siete nombres. No es capricho: es consecuencia de cómo se hace inteligencia.</a:t>
            </a:r>
          </a:p>
          <a:p>
            <a:pPr marL="320040" indent="-320040" algn="l">
              <a:lnSpc>
                <a:spcPct val="100000"/>
              </a:lnSpc>
              <a:spcAft>
                <a:spcPts val="1300"/>
              </a:spcAft>
              <a:buClr>
                <a:srgbClr val="221666"/>
              </a:buClr>
              <a:buFont typeface="Arial"/>
              <a:buChar char="•"/>
            </a:pPr>
            <a:r>
              <a:rPr sz="2100" b="1" i="0">
                <a:solidFill>
                  <a:srgbClr val="000000"/>
                </a:solidFill>
                <a:latin typeface="Arial"/>
                <a:ea typeface="Arial"/>
                <a:cs typeface="Arial"/>
              </a:rPr>
              <a:t>Nadie ve lo mismo. </a:t>
            </a:r>
            <a:r>
              <a:rPr sz="2100" b="0" i="0">
                <a:solidFill>
                  <a:srgbClr val="000000"/>
                </a:solidFill>
                <a:latin typeface="Arial"/>
                <a:ea typeface="Arial"/>
                <a:cs typeface="Arial"/>
              </a:rPr>
              <a:t>Google: «no hay dos organizaciones con la misma visibilidad». Cada vendor observa una porción distinta del actor.</a:t>
            </a:r>
          </a:p>
          <a:p>
            <a:pPr marL="320040" indent="-320040" algn="l">
              <a:lnSpc>
                <a:spcPct val="100000"/>
              </a:lnSpc>
              <a:spcAft>
                <a:spcPts val="1300"/>
              </a:spcAft>
              <a:buClr>
                <a:srgbClr val="221666"/>
              </a:buClr>
              <a:buFont typeface="Arial"/>
              <a:buChar char="•"/>
            </a:pPr>
            <a:r>
              <a:rPr sz="2100" b="1" i="0">
                <a:solidFill>
                  <a:srgbClr val="000000"/>
                </a:solidFill>
                <a:latin typeface="Arial"/>
                <a:ea typeface="Arial"/>
                <a:cs typeface="Arial"/>
              </a:rPr>
              <a:t>Usar el nombre ajeno te ata a su evaluación. </a:t>
            </a:r>
            <a:r>
              <a:rPr sz="2100" b="0" i="0">
                <a:solidFill>
                  <a:srgbClr val="000000"/>
                </a:solidFill>
                <a:latin typeface="Arial"/>
                <a:ea typeface="Arial"/>
                <a:cs typeface="Arial"/>
              </a:rPr>
              <a:t>Unit 42: adoptar el alias de otro acopla tu juicio a una definición que no controlás.</a:t>
            </a:r>
          </a:p>
          <a:p>
            <a:pPr marL="320040" indent="-320040" algn="l">
              <a:lnSpc>
                <a:spcPct val="100000"/>
              </a:lnSpc>
              <a:spcAft>
                <a:spcPts val="1300"/>
              </a:spcAft>
              <a:buClr>
                <a:srgbClr val="221666"/>
              </a:buClr>
              <a:buFont typeface="Arial"/>
              <a:buChar char="•"/>
            </a:pPr>
            <a:r>
              <a:rPr sz="2100" b="1" i="0">
                <a:solidFill>
                  <a:srgbClr val="000000"/>
                </a:solidFill>
                <a:latin typeface="Arial"/>
                <a:ea typeface="Arial"/>
                <a:cs typeface="Arial"/>
              </a:rPr>
              <a:t>El nombre no es una atribución. </a:t>
            </a:r>
            <a:r>
              <a:rPr sz="2100" b="0" i="0">
                <a:solidFill>
                  <a:srgbClr val="000000"/>
                </a:solidFill>
                <a:latin typeface="Arial"/>
                <a:ea typeface="Arial"/>
                <a:cs typeface="Arial"/>
              </a:rPr>
              <a:t>Es la etiqueta de un clúster de actividad. Por eso la Fase III separa el clúster (técnico) del juicio de quién está detrás (operacional/político).</a:t>
            </a:r>
          </a:p>
          <a:p>
            <a:pPr algn="l">
              <a:lnSpc>
                <a:spcPct val="100000"/>
              </a:lnSpc>
              <a:spcAft>
                <a:spcPts val="1300"/>
              </a:spcAft>
            </a:pPr>
            <a:r>
              <a:rPr sz="2100" b="0" i="1">
                <a:solidFill>
                  <a:srgbClr val="221666"/>
                </a:solidFill>
                <a:latin typeface="Arial"/>
                <a:ea typeface="Arial"/>
                <a:cs typeface="Arial"/>
              </a:rPr>
              <a:t>Moraleja: cuando leas «Volt Typhoon» y «Voltzite», no son dos amenazas. Es una, vista por dos ojos distintos. Saberlo evita duplicar defensas y malgastar recursos.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4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4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4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Fase III · Por qué cada empresa nombra distinto, y qué codifica</a:t>
            </a:r>
          </a:p>
        </p:txBody>
      </p:sp>
      <p:sp>
        <p:nvSpPr>
          <p:cNvPr id="9144" name="TextBox 914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45" name="TextBox 914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17</a:t>
            </a:r>
          </a:p>
        </p:txBody>
      </p:sp>
      <p:sp>
        <p:nvSpPr>
          <p:cNvPr id="9146" name="TextBox 914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[21] Microsoft · [23] GTIG · [28] CrowdStrike · [25] Unit 42 · [27] TrendAI · [30] Secureworks · [31] Dragos. Tabla completa en anexo.</a:t>
            </a:r>
          </a:p>
        </p:txBody>
      </p:sp>
      <p:sp>
        <p:nvSpPr>
          <p:cNvPr id="9147" name="TextBox 9146"/>
          <p:cNvSpPr txBox="1"/>
          <p:nvPr/>
        </p:nvSpPr>
        <p:spPr>
          <a:xfrm>
            <a:off x="822960" y="2148840"/>
            <a:ext cx="14447520" cy="822960"/>
          </a:xfrm>
          <a:prstGeom prst="rect">
            <a:avLst/>
          </a:prstGeom>
          <a:noFill/>
        </p:spPr>
        <p:txBody>
          <a:bodyPr wrap="square" lIns="73152" tIns="73152" rIns="73152" bIns="73152" anchor="t">
            <a:noAutofit/>
          </a:bodyPr>
          <a:lstStyle/>
          <a:p>
            <a:pPr algn="l">
              <a:lnSpc>
                <a:spcPct val="100000"/>
              </a:lnSpc>
              <a:spcAft>
                <a:spcPts val="800"/>
              </a:spcAft>
            </a:pPr>
            <a:r>
              <a:rPr sz="2100" b="0" i="0">
                <a:solidFill>
                  <a:srgbClr val="221666"/>
                </a:solidFill>
                <a:latin typeface="Arial"/>
                <a:ea typeface="Arial"/>
                <a:cs typeface="Arial"/>
              </a:rPr>
              <a:t>Si nadie ve lo mismo, cada uno construye su propio esquema. Y en el nombre codifican una hipótesis: de dónde viene el actor, o qué lo motiva.</a:t>
            </a:r>
          </a:p>
        </p:txBody>
      </p:sp>
      <p:graphicFrame>
        <p:nvGraphicFramePr>
          <p:cNvPr id="9148" name="Table 9147"/>
          <p:cNvGraphicFramePr>
            <a:graphicFrameLocks noGrp="1"/>
          </p:cNvGraphicFramePr>
          <p:nvPr/>
        </p:nvGraphicFramePr>
        <p:xfrm>
          <a:off x="822960" y="3108960"/>
          <a:ext cx="14447520" cy="4572000"/>
        </p:xfrm>
        <a:graphic>
          <a:graphicData uri="http://schemas.openxmlformats.org/drawingml/2006/table">
            <a:tbl>
              <a:tblPr/>
              <a:tblGrid>
                <a:gridCol w="21945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7315200">
                  <a:extLst>
                    <a:ext uri="{9D8B030D-6E8A-4147-A177-3AD203B41FA5}">
                      <a16:colId xmlns:a16="http://schemas.microsoft.com/office/drawing/2014/main" val="20002"/>
                    </a:ext>
                  </a:extLst>
                </a:gridCol>
              </a:tblGrid>
              <a:tr h="640080">
                <a:tc>
                  <a:txBody>
                    <a:bodyPr/>
                    <a:lstStyle/>
                    <a:p>
                      <a:r>
                        <a:rPr sz="1700" b="1" i="0">
                          <a:solidFill>
                            <a:srgbClr val="FFFFFF"/>
                          </a:solidFill>
                          <a:latin typeface="Arial"/>
                          <a:ea typeface="Arial"/>
                          <a:cs typeface="Arial"/>
                        </a:rPr>
                        <a:t>Vendor</a:t>
                      </a:r>
                    </a:p>
                  </a:txBody>
                  <a:tcPr anchor="ctr">
                    <a:solidFill>
                      <a:srgbClr val="221666"/>
                    </a:solidFill>
                  </a:tcPr>
                </a:tc>
                <a:tc>
                  <a:txBody>
                    <a:bodyPr/>
                    <a:lstStyle/>
                    <a:p>
                      <a:r>
                        <a:rPr sz="1700" b="1" i="0">
                          <a:solidFill>
                            <a:srgbClr val="FFFFFF"/>
                          </a:solidFill>
                          <a:latin typeface="Arial"/>
                          <a:ea typeface="Arial"/>
                          <a:cs typeface="Arial"/>
                        </a:rPr>
                        <a:t>Esquema (ejemplo)</a:t>
                      </a:r>
                    </a:p>
                  </a:txBody>
                  <a:tcPr anchor="ctr">
                    <a:solidFill>
                      <a:srgbClr val="221666"/>
                    </a:solidFill>
                  </a:tcPr>
                </a:tc>
                <a:tc>
                  <a:txBody>
                    <a:bodyPr/>
                    <a:lstStyle/>
                    <a:p>
                      <a:r>
                        <a:rPr sz="1700" b="1" i="0">
                          <a:solidFill>
                            <a:srgbClr val="FFFFFF"/>
                          </a:solidFill>
                          <a:latin typeface="Arial"/>
                          <a:ea typeface="Arial"/>
                          <a:cs typeface="Arial"/>
                        </a:rPr>
                        <a:t>Codifica en el nombre</a:t>
                      </a:r>
                    </a:p>
                  </a:txBody>
                  <a:tcPr anchor="ctr">
                    <a:solidFill>
                      <a:srgbClr val="221666"/>
                    </a:solidFill>
                  </a:tcPr>
                </a:tc>
                <a:extLst>
                  <a:ext uri="{0D108BD9-81ED-4DB2-BD59-A6C34878D82A}">
                    <a16:rowId xmlns:a16="http://schemas.microsoft.com/office/drawing/2014/main" val="10000"/>
                  </a:ext>
                </a:extLst>
              </a:tr>
              <a:tr h="786384">
                <a:tc>
                  <a:txBody>
                    <a:bodyPr/>
                    <a:lstStyle/>
                    <a:p>
                      <a:r>
                        <a:rPr sz="1700" b="1" i="0">
                          <a:solidFill>
                            <a:srgbClr val="000000"/>
                          </a:solidFill>
                          <a:latin typeface="Arial"/>
                          <a:ea typeface="Arial"/>
                          <a:cs typeface="Arial"/>
                        </a:rPr>
                        <a:t>Microsoft</a:t>
                      </a:r>
                    </a:p>
                  </a:txBody>
                  <a:tcPr anchor="ctr">
                    <a:solidFill>
                      <a:srgbClr val="FFFFFF"/>
                    </a:solidFill>
                  </a:tcPr>
                </a:tc>
                <a:tc>
                  <a:txBody>
                    <a:bodyPr/>
                    <a:lstStyle/>
                    <a:p>
                      <a:r>
                        <a:rPr sz="1700" b="0" i="0">
                          <a:solidFill>
                            <a:srgbClr val="000000"/>
                          </a:solidFill>
                          <a:latin typeface="Arial"/>
                          <a:ea typeface="Arial"/>
                          <a:cs typeface="Arial"/>
                        </a:rPr>
                        <a:t>Clima + adjetivo (Silk Typhoon)</a:t>
                      </a:r>
                    </a:p>
                  </a:txBody>
                  <a:tcPr anchor="ctr">
                    <a:solidFill>
                      <a:srgbClr val="FFFFFF"/>
                    </a:solidFill>
                  </a:tcPr>
                </a:tc>
                <a:tc>
                  <a:txBody>
                    <a:bodyPr/>
                    <a:lstStyle/>
                    <a:p>
                      <a:r>
                        <a:rPr sz="1700" b="0" i="0">
                          <a:solidFill>
                            <a:srgbClr val="000000"/>
                          </a:solidFill>
                          <a:latin typeface="Arial"/>
                          <a:ea typeface="Arial"/>
                          <a:cs typeface="Arial"/>
                        </a:rPr>
                        <a:t>Origen (Typhoon = China) y motivación (Tempest = financiero)</a:t>
                      </a:r>
                    </a:p>
                  </a:txBody>
                  <a:tcPr anchor="ctr">
                    <a:solidFill>
                      <a:srgbClr val="FFFFFF"/>
                    </a:solidFill>
                  </a:tcPr>
                </a:tc>
                <a:extLst>
                  <a:ext uri="{0D108BD9-81ED-4DB2-BD59-A6C34878D82A}">
                    <a16:rowId xmlns:a16="http://schemas.microsoft.com/office/drawing/2014/main" val="10001"/>
                  </a:ext>
                </a:extLst>
              </a:tr>
              <a:tr h="786384">
                <a:tc>
                  <a:txBody>
                    <a:bodyPr/>
                    <a:lstStyle/>
                    <a:p>
                      <a:r>
                        <a:rPr sz="1700" b="1" i="0">
                          <a:solidFill>
                            <a:srgbClr val="000000"/>
                          </a:solidFill>
                          <a:latin typeface="Arial"/>
                          <a:ea typeface="Arial"/>
                          <a:cs typeface="Arial"/>
                        </a:rPr>
                        <a:t>CrowdStrike</a:t>
                      </a:r>
                    </a:p>
                  </a:txBody>
                  <a:tcPr anchor="ctr">
                    <a:solidFill>
                      <a:srgbClr val="E8EEFB"/>
                    </a:solidFill>
                  </a:tcPr>
                </a:tc>
                <a:tc>
                  <a:txBody>
                    <a:bodyPr/>
                    <a:lstStyle/>
                    <a:p>
                      <a:r>
                        <a:rPr sz="1700" b="0" i="0">
                          <a:solidFill>
                            <a:srgbClr val="000000"/>
                          </a:solidFill>
                          <a:latin typeface="Arial"/>
                          <a:ea typeface="Arial"/>
                          <a:cs typeface="Arial"/>
                        </a:rPr>
                        <a:t>Adjetivo + animal (Vanguard Panda)</a:t>
                      </a:r>
                    </a:p>
                  </a:txBody>
                  <a:tcPr anchor="ctr">
                    <a:solidFill>
                      <a:srgbClr val="E8EEFB"/>
                    </a:solidFill>
                  </a:tcPr>
                </a:tc>
                <a:tc>
                  <a:txBody>
                    <a:bodyPr/>
                    <a:lstStyle/>
                    <a:p>
                      <a:r>
                        <a:rPr sz="1700" b="0" i="0">
                          <a:solidFill>
                            <a:srgbClr val="000000"/>
                          </a:solidFill>
                          <a:latin typeface="Arial"/>
                          <a:ea typeface="Arial"/>
                          <a:cs typeface="Arial"/>
                        </a:rPr>
                        <a:t>Origen (Panda = China) y motivación (Spider = crimen)</a:t>
                      </a:r>
                    </a:p>
                  </a:txBody>
                  <a:tcPr anchor="ctr">
                    <a:solidFill>
                      <a:srgbClr val="E8EEFB"/>
                    </a:solidFill>
                  </a:tcPr>
                </a:tc>
                <a:extLst>
                  <a:ext uri="{0D108BD9-81ED-4DB2-BD59-A6C34878D82A}">
                    <a16:rowId xmlns:a16="http://schemas.microsoft.com/office/drawing/2014/main" val="10002"/>
                  </a:ext>
                </a:extLst>
              </a:tr>
              <a:tr h="786384">
                <a:tc>
                  <a:txBody>
                    <a:bodyPr/>
                    <a:lstStyle/>
                    <a:p>
                      <a:r>
                        <a:rPr sz="1700" b="1" i="0">
                          <a:solidFill>
                            <a:srgbClr val="000000"/>
                          </a:solidFill>
                          <a:latin typeface="Arial"/>
                          <a:ea typeface="Arial"/>
                          <a:cs typeface="Arial"/>
                        </a:rPr>
                        <a:t>Unit 42</a:t>
                      </a:r>
                    </a:p>
                  </a:txBody>
                  <a:tcPr anchor="ctr">
                    <a:solidFill>
                      <a:srgbClr val="FFFFFF"/>
                    </a:solidFill>
                  </a:tcPr>
                </a:tc>
                <a:tc>
                  <a:txBody>
                    <a:bodyPr/>
                    <a:lstStyle/>
                    <a:p>
                      <a:r>
                        <a:rPr sz="1700" b="0" i="0">
                          <a:solidFill>
                            <a:srgbClr val="000000"/>
                          </a:solidFill>
                          <a:latin typeface="Arial"/>
                          <a:ea typeface="Arial"/>
                          <a:cs typeface="Arial"/>
                        </a:rPr>
                        <a:t>Modificador + constelación (Stately Taurus)</a:t>
                      </a:r>
                    </a:p>
                  </a:txBody>
                  <a:tcPr anchor="ctr">
                    <a:solidFill>
                      <a:srgbClr val="FFFFFF"/>
                    </a:solidFill>
                  </a:tcPr>
                </a:tc>
                <a:tc>
                  <a:txBody>
                    <a:bodyPr/>
                    <a:lstStyle/>
                    <a:p>
                      <a:r>
                        <a:rPr sz="1700" b="0" i="0">
                          <a:solidFill>
                            <a:srgbClr val="000000"/>
                          </a:solidFill>
                          <a:latin typeface="Arial"/>
                          <a:ea typeface="Arial"/>
                          <a:cs typeface="Arial"/>
                        </a:rPr>
                        <a:t>Origen (Taurus = China) y motivación (Scorpius = ransomware)</a:t>
                      </a:r>
                    </a:p>
                  </a:txBody>
                  <a:tcPr anchor="ctr">
                    <a:solidFill>
                      <a:srgbClr val="FFFFFF"/>
                    </a:solidFill>
                  </a:tcPr>
                </a:tc>
                <a:extLst>
                  <a:ext uri="{0D108BD9-81ED-4DB2-BD59-A6C34878D82A}">
                    <a16:rowId xmlns:a16="http://schemas.microsoft.com/office/drawing/2014/main" val="10003"/>
                  </a:ext>
                </a:extLst>
              </a:tr>
              <a:tr h="786384">
                <a:tc>
                  <a:txBody>
                    <a:bodyPr/>
                    <a:lstStyle/>
                    <a:p>
                      <a:r>
                        <a:rPr sz="1700" b="1" i="0">
                          <a:solidFill>
                            <a:srgbClr val="000000"/>
                          </a:solidFill>
                          <a:latin typeface="Arial"/>
                          <a:ea typeface="Arial"/>
                          <a:cs typeface="Arial"/>
                        </a:rPr>
                        <a:t>TrendAI</a:t>
                      </a:r>
                    </a:p>
                  </a:txBody>
                  <a:tcPr anchor="ctr">
                    <a:solidFill>
                      <a:srgbClr val="E8EEFB"/>
                    </a:solidFill>
                  </a:tcPr>
                </a:tc>
                <a:tc>
                  <a:txBody>
                    <a:bodyPr/>
                    <a:lstStyle/>
                    <a:p>
                      <a:r>
                        <a:rPr sz="1700" b="0" i="0">
                          <a:solidFill>
                            <a:srgbClr val="000000"/>
                          </a:solidFill>
                          <a:latin typeface="Arial"/>
                          <a:ea typeface="Arial"/>
                          <a:cs typeface="Arial"/>
                        </a:rPr>
                        <a:t>Elemento + criatura (Earth Demon)</a:t>
                      </a:r>
                    </a:p>
                  </a:txBody>
                  <a:tcPr anchor="ctr">
                    <a:solidFill>
                      <a:srgbClr val="E8EEFB"/>
                    </a:solidFill>
                  </a:tcPr>
                </a:tc>
                <a:tc>
                  <a:txBody>
                    <a:bodyPr/>
                    <a:lstStyle/>
                    <a:p>
                      <a:r>
                        <a:rPr sz="1700" b="0" i="0">
                          <a:solidFill>
                            <a:srgbClr val="000000"/>
                          </a:solidFill>
                          <a:latin typeface="Arial"/>
                          <a:ea typeface="Arial"/>
                          <a:cs typeface="Arial"/>
                        </a:rPr>
                        <a:t>Solo motivación (Earth = espionaje). Evita afirmar origen a propósito</a:t>
                      </a:r>
                    </a:p>
                  </a:txBody>
                  <a:tcPr anchor="ctr">
                    <a:solidFill>
                      <a:srgbClr val="E8EEFB"/>
                    </a:solidFill>
                  </a:tcPr>
                </a:tc>
                <a:extLst>
                  <a:ext uri="{0D108BD9-81ED-4DB2-BD59-A6C34878D82A}">
                    <a16:rowId xmlns:a16="http://schemas.microsoft.com/office/drawing/2014/main" val="10004"/>
                  </a:ext>
                </a:extLst>
              </a:tr>
              <a:tr h="786384">
                <a:tc>
                  <a:txBody>
                    <a:bodyPr/>
                    <a:lstStyle/>
                    <a:p>
                      <a:r>
                        <a:rPr sz="1700" b="1" i="0">
                          <a:solidFill>
                            <a:srgbClr val="000000"/>
                          </a:solidFill>
                          <a:latin typeface="Arial"/>
                          <a:ea typeface="Arial"/>
                          <a:cs typeface="Arial"/>
                        </a:rPr>
                        <a:t>Dragos</a:t>
                      </a:r>
                    </a:p>
                  </a:txBody>
                  <a:tcPr anchor="ctr">
                    <a:solidFill>
                      <a:srgbClr val="FFFFFF"/>
                    </a:solidFill>
                  </a:tcPr>
                </a:tc>
                <a:tc>
                  <a:txBody>
                    <a:bodyPr/>
                    <a:lstStyle/>
                    <a:p>
                      <a:r>
                        <a:rPr sz="1700" b="0" i="0">
                          <a:solidFill>
                            <a:srgbClr val="000000"/>
                          </a:solidFill>
                          <a:latin typeface="Arial"/>
                          <a:ea typeface="Arial"/>
                          <a:cs typeface="Arial"/>
                        </a:rPr>
                        <a:t>Mineral (Voltzite)</a:t>
                      </a:r>
                    </a:p>
                  </a:txBody>
                  <a:tcPr anchor="ctr">
                    <a:solidFill>
                      <a:srgbClr val="FFFFFF"/>
                    </a:solidFill>
                  </a:tcPr>
                </a:tc>
                <a:tc>
                  <a:txBody>
                    <a:bodyPr/>
                    <a:lstStyle/>
                    <a:p>
                      <a:r>
                        <a:rPr sz="1700" b="0" i="0">
                          <a:solidFill>
                            <a:srgbClr val="000000"/>
                          </a:solidFill>
                          <a:latin typeface="Arial"/>
                          <a:ea typeface="Arial"/>
                          <a:cs typeface="Arial"/>
                        </a:rPr>
                        <a:t>Nada: neutro por diseño. No presume origen ni motivación</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149" name="Rectangle 9148"/>
          <p:cNvSpPr/>
          <p:nvPr/>
        </p:nvSpPr>
        <p:spPr>
          <a:xfrm>
            <a:off x="822960" y="8092440"/>
            <a:ext cx="14447520" cy="274320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lstStyle/>
          <a:p>
            <a:pPr algn="l">
              <a:spcAft>
                <a:spcPts val="700"/>
              </a:spcAft>
            </a:pPr>
            <a:r>
              <a:rPr sz="2200" b="1" i="0">
                <a:solidFill>
                  <a:srgbClr val="FFFFFF"/>
                </a:solidFill>
                <a:latin typeface="Arial"/>
                <a:ea typeface="Arial"/>
                <a:cs typeface="Arial"/>
              </a:rPr>
              <a:t>El cierre que ata todo con nuestra tesis</a:t>
            </a:r>
          </a:p>
          <a:p>
            <a:pPr algn="l">
              <a:spcAft>
                <a:spcPts val="700"/>
              </a:spcAft>
            </a:pPr>
            <a:r>
              <a:rPr sz="2000" b="0" i="0">
                <a:solidFill>
                  <a:srgbClr val="FFFFFF"/>
                </a:solidFill>
                <a:latin typeface="Arial"/>
                <a:ea typeface="Arial"/>
                <a:cs typeface="Arial"/>
              </a:rPr>
              <a:t>El sufijo de origen (Typhoon, Panda, Taurus) es un juicio de nexo geopolítico —el nivel operacional—, no una afirmación de patrocinio estatal. Ningún vendor emite el nivel político.</a:t>
            </a:r>
          </a:p>
          <a:p>
            <a:pPr algn="l">
              <a:spcAft>
                <a:spcPts val="700"/>
              </a:spcAft>
            </a:pPr>
            <a:r>
              <a:rPr sz="2000" b="1" i="0">
                <a:solidFill>
                  <a:srgbClr val="FFFFFF"/>
                </a:solidFill>
                <a:latin typeface="Arial"/>
                <a:ea typeface="Arial"/>
                <a:cs typeface="Arial"/>
              </a:rPr>
              <a:t>La industria resuelve los niveles técnico y operacional con este tradecraft. El nivel político —quién lo ordenó— sigue siendo del Estado. Eso es exactamente lo que propone la metodología.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5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5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5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Prueba · Caso 1: RMM, del fraude al espionaje estatal</a:t>
            </a:r>
          </a:p>
        </p:txBody>
      </p:sp>
      <p:sp>
        <p:nvSpPr>
          <p:cNvPr id="9154" name="TextBox 915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55" name="TextBox 915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18</a:t>
            </a:r>
          </a:p>
        </p:txBody>
      </p:sp>
      <p:sp>
        <p:nvSpPr>
          <p:cNvPr id="9156" name="TextBox 915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[9] CISA/NSA/MS-ISAC (2023) · [11][12] CERT-UA · [13] CISA KEV, CVE-2024-1709 · [15] Tesoro de EE.UU. &amp; CISA.</a:t>
            </a:r>
          </a:p>
        </p:txBody>
      </p:sp>
      <p:sp>
        <p:nvSpPr>
          <p:cNvPr id="9157" name="TextBox 9156"/>
          <p:cNvSpPr txBox="1"/>
          <p:nvPr/>
        </p:nvSpPr>
        <p:spPr>
          <a:xfrm>
            <a:off x="822960" y="2148840"/>
            <a:ext cx="14447520" cy="914400"/>
          </a:xfrm>
          <a:prstGeom prst="rect">
            <a:avLst/>
          </a:prstGeom>
          <a:noFill/>
        </p:spPr>
        <p:txBody>
          <a:bodyPr wrap="square" lIns="73152" tIns="73152" rIns="73152" bIns="73152" anchor="t">
            <a:noAutofit/>
          </a:bodyPr>
          <a:lstStyle/>
          <a:p>
            <a:pPr algn="l">
              <a:lnSpc>
                <a:spcPct val="100000"/>
              </a:lnSpc>
              <a:spcAft>
                <a:spcPts val="800"/>
              </a:spcAft>
            </a:pPr>
            <a:r>
              <a:rPr sz="2100" b="0" i="0">
                <a:solidFill>
                  <a:srgbClr val="221666"/>
                </a:solidFill>
                <a:latin typeface="Arial"/>
                <a:ea typeface="Arial"/>
                <a:cs typeface="Arial"/>
              </a:rPr>
              <a:t>Un mismo comportamiento —abusar de software de administración remota (RMM) legítimo, técnica T1219— recorre todo el espectro de actores. Los dominios rotan; el TTP persiste.</a:t>
            </a:r>
          </a:p>
        </p:txBody>
      </p:sp>
      <p:sp>
        <p:nvSpPr>
          <p:cNvPr id="9158" name="Rectangle 9157"/>
          <p:cNvSpPr/>
          <p:nvPr/>
        </p:nvSpPr>
        <p:spPr>
          <a:xfrm>
            <a:off x="822960" y="3291840"/>
            <a:ext cx="4846320" cy="15544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400"/>
              </a:spcAft>
            </a:pPr>
            <a:r>
              <a:rPr sz="1700" b="1" i="0">
                <a:solidFill>
                  <a:srgbClr val="FFFFFF"/>
                </a:solidFill>
                <a:latin typeface="Arial"/>
                <a:ea typeface="Arial"/>
                <a:cs typeface="Arial"/>
              </a:rPr>
              <a:t>Aviso conjunto CISA/NSA — enero 2023</a:t>
            </a:r>
          </a:p>
        </p:txBody>
      </p:sp>
      <p:sp>
        <p:nvSpPr>
          <p:cNvPr id="9159" name="TextBox 9158"/>
          <p:cNvSpPr txBox="1"/>
          <p:nvPr/>
        </p:nvSpPr>
        <p:spPr>
          <a:xfrm>
            <a:off x="5806440" y="3291840"/>
            <a:ext cx="10241280" cy="1554480"/>
          </a:xfrm>
          <a:prstGeom prst="rect">
            <a:avLst/>
          </a:prstGeom>
          <a:solidFill>
            <a:srgbClr val="E8EEFB"/>
          </a:solidFill>
        </p:spPr>
        <p:txBody>
          <a:bodyPr wrap="square" lIns="137160" tIns="137160" rIns="137160" bIns="137160" anchor="ctr">
            <a:noAutofit/>
          </a:bodyPr>
          <a:lstStyle/>
          <a:p>
            <a:pPr algn="l">
              <a:lnSpc>
                <a:spcPct val="100000"/>
              </a:lnSpc>
              <a:spcAft>
                <a:spcPts val="800"/>
              </a:spcAft>
            </a:pPr>
            <a:r>
              <a:rPr sz="1800" b="0" i="0">
                <a:solidFill>
                  <a:srgbClr val="000000"/>
                </a:solidFill>
                <a:latin typeface="Arial"/>
                <a:ea typeface="Arial"/>
                <a:cs typeface="Arial"/>
              </a:rPr>
              <a:t>Campaña de phishing entrega RMM portátil (ScreenConnect, AnyDesk); estafa de reembolso. Ya advierten posible uso por actores estatales.</a:t>
            </a:r>
          </a:p>
        </p:txBody>
      </p:sp>
      <p:cxnSp>
        <p:nvCxnSpPr>
          <p:cNvPr id="9160" name="Connector 9159"/>
          <p:cNvCxnSpPr/>
          <p:nvPr/>
        </p:nvCxnSpPr>
        <p:spPr>
          <a:xfrm>
            <a:off x="3246120" y="4864608"/>
            <a:ext cx="0" cy="128016"/>
          </a:xfrm>
          <a:prstGeom prst="line">
            <a:avLst/>
          </a:prstGeom>
          <a:ln w="3175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61" name="Rectangle 9160"/>
          <p:cNvSpPr/>
          <p:nvPr/>
        </p:nvSpPr>
        <p:spPr>
          <a:xfrm>
            <a:off x="822960" y="4983480"/>
            <a:ext cx="4846320" cy="155448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400"/>
              </a:spcAft>
            </a:pPr>
            <a:r>
              <a:rPr sz="1700" b="1" i="0">
                <a:solidFill>
                  <a:srgbClr val="FFFFFF"/>
                </a:solidFill>
                <a:latin typeface="Arial"/>
                <a:ea typeface="Arial"/>
                <a:cs typeface="Arial"/>
              </a:rPr>
              <a:t>CERT-UA — Ucrania, 2024–2025</a:t>
            </a:r>
          </a:p>
        </p:txBody>
      </p:sp>
      <p:sp>
        <p:nvSpPr>
          <p:cNvPr id="9162" name="TextBox 9161"/>
          <p:cNvSpPr txBox="1"/>
          <p:nvPr/>
        </p:nvSpPr>
        <p:spPr>
          <a:xfrm>
            <a:off x="5806440" y="4983480"/>
            <a:ext cx="10241280" cy="1554480"/>
          </a:xfrm>
          <a:prstGeom prst="rect">
            <a:avLst/>
          </a:prstGeom>
          <a:solidFill>
            <a:srgbClr val="E8EEFB"/>
          </a:solidFill>
        </p:spPr>
        <p:txBody>
          <a:bodyPr wrap="square" lIns="137160" tIns="137160" rIns="137160" bIns="137160" anchor="ctr">
            <a:noAutofit/>
          </a:bodyPr>
          <a:lstStyle/>
          <a:p>
            <a:pPr algn="l">
              <a:lnSpc>
                <a:spcPct val="100000"/>
              </a:lnSpc>
              <a:spcAft>
                <a:spcPts val="800"/>
              </a:spcAft>
            </a:pPr>
            <a:r>
              <a:rPr sz="1800" b="0" i="0">
                <a:solidFill>
                  <a:srgbClr val="000000"/>
                </a:solidFill>
                <a:latin typeface="Arial"/>
                <a:ea typeface="Arial"/>
                <a:cs typeface="Arial"/>
              </a:rPr>
              <a:t>Abuso reiterado de RMM contra el Estado y la infraestructura crítica; los atacantes llegan a hacerse pasar por el propio CERT-UA.</a:t>
            </a:r>
          </a:p>
        </p:txBody>
      </p:sp>
      <p:cxnSp>
        <p:nvCxnSpPr>
          <p:cNvPr id="9163" name="Connector 9162"/>
          <p:cNvCxnSpPr/>
          <p:nvPr/>
        </p:nvCxnSpPr>
        <p:spPr>
          <a:xfrm>
            <a:off x="3246120" y="6556248"/>
            <a:ext cx="0" cy="128016"/>
          </a:xfrm>
          <a:prstGeom prst="line">
            <a:avLst/>
          </a:prstGeom>
          <a:ln w="3175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64" name="Rectangle 9163"/>
          <p:cNvSpPr/>
          <p:nvPr/>
        </p:nvSpPr>
        <p:spPr>
          <a:xfrm>
            <a:off x="822960" y="6675120"/>
            <a:ext cx="4846320" cy="155448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400"/>
              </a:spcAft>
            </a:pPr>
            <a:r>
              <a:rPr sz="1700" b="1" i="0">
                <a:solidFill>
                  <a:srgbClr val="FFFFFF"/>
                </a:solidFill>
                <a:latin typeface="Arial"/>
                <a:ea typeface="Arial"/>
                <a:cs typeface="Arial"/>
              </a:rPr>
              <a:t>Vulnerabilidad crítica en ScreenConnect — feb 2024</a:t>
            </a:r>
          </a:p>
        </p:txBody>
      </p:sp>
      <p:sp>
        <p:nvSpPr>
          <p:cNvPr id="9165" name="TextBox 9164"/>
          <p:cNvSpPr txBox="1"/>
          <p:nvPr/>
        </p:nvSpPr>
        <p:spPr>
          <a:xfrm>
            <a:off x="5806440" y="6675120"/>
            <a:ext cx="10241280" cy="1554480"/>
          </a:xfrm>
          <a:prstGeom prst="rect">
            <a:avLst/>
          </a:prstGeom>
          <a:solidFill>
            <a:srgbClr val="E8EEFB"/>
          </a:solidFill>
        </p:spPr>
        <p:txBody>
          <a:bodyPr wrap="square" lIns="137160" tIns="137160" rIns="137160" bIns="137160" anchor="ctr">
            <a:noAutofit/>
          </a:bodyPr>
          <a:lstStyle/>
          <a:p>
            <a:pPr algn="l">
              <a:lnSpc>
                <a:spcPct val="100000"/>
              </a:lnSpc>
              <a:spcAft>
                <a:spcPts val="800"/>
              </a:spcAft>
            </a:pPr>
            <a:r>
              <a:rPr sz="1800" b="0" i="0">
                <a:solidFill>
                  <a:srgbClr val="000000"/>
                </a:solidFill>
                <a:latin typeface="Arial"/>
                <a:ea typeface="Arial"/>
                <a:cs typeface="Arial"/>
              </a:rPr>
              <a:t>Bypass de autenticación (CVE-2024-1709, severidad máxima). Explotación masiva por ransomware y actores estatales.</a:t>
            </a:r>
          </a:p>
        </p:txBody>
      </p:sp>
      <p:cxnSp>
        <p:nvCxnSpPr>
          <p:cNvPr id="9166" name="Connector 9165"/>
          <p:cNvCxnSpPr/>
          <p:nvPr/>
        </p:nvCxnSpPr>
        <p:spPr>
          <a:xfrm>
            <a:off x="3246120" y="8247888"/>
            <a:ext cx="0" cy="128016"/>
          </a:xfrm>
          <a:prstGeom prst="line">
            <a:avLst/>
          </a:prstGeom>
          <a:ln w="31750">
            <a:solidFill>
              <a:srgbClr val="221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67" name="Rectangle 9166"/>
          <p:cNvSpPr/>
          <p:nvPr/>
        </p:nvSpPr>
        <p:spPr>
          <a:xfrm>
            <a:off x="822960" y="8366760"/>
            <a:ext cx="4846320" cy="155448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400"/>
              </a:spcAft>
            </a:pPr>
            <a:r>
              <a:rPr sz="1700" b="1" i="0">
                <a:solidFill>
                  <a:srgbClr val="FFFFFF"/>
                </a:solidFill>
                <a:latin typeface="Arial"/>
                <a:ea typeface="Arial"/>
                <a:cs typeface="Arial"/>
              </a:rPr>
              <a:t>Tesoro de EE.UU. — diciembre 2024</a:t>
            </a:r>
          </a:p>
        </p:txBody>
      </p:sp>
      <p:sp>
        <p:nvSpPr>
          <p:cNvPr id="9168" name="TextBox 9167"/>
          <p:cNvSpPr txBox="1"/>
          <p:nvPr/>
        </p:nvSpPr>
        <p:spPr>
          <a:xfrm>
            <a:off x="5806440" y="8366760"/>
            <a:ext cx="10241280" cy="1554480"/>
          </a:xfrm>
          <a:prstGeom prst="rect">
            <a:avLst/>
          </a:prstGeom>
          <a:solidFill>
            <a:srgbClr val="E8EEFB"/>
          </a:solidFill>
        </p:spPr>
        <p:txBody>
          <a:bodyPr wrap="square" lIns="137160" tIns="137160" rIns="137160" bIns="137160" anchor="ctr">
            <a:noAutofit/>
          </a:bodyPr>
          <a:lstStyle/>
          <a:p>
            <a:pPr algn="l">
              <a:lnSpc>
                <a:spcPct val="100000"/>
              </a:lnSpc>
              <a:spcAft>
                <a:spcPts val="800"/>
              </a:spcAft>
            </a:pPr>
            <a:r>
              <a:rPr sz="1800" b="0" i="0">
                <a:solidFill>
                  <a:srgbClr val="000000"/>
                </a:solidFill>
                <a:latin typeface="Arial"/>
                <a:ea typeface="Arial"/>
                <a:cs typeface="Arial"/>
              </a:rPr>
              <a:t>Acceso remoto privilegiado (BeyondTrust) comprometido en la cadena de suministro. Actor estatal chino Silk Typhoon. Foco en la oficina de sanciones.</a:t>
            </a:r>
          </a:p>
        </p:txBody>
      </p:sp>
      <p:sp>
        <p:nvSpPr>
          <p:cNvPr id="9169" name="TextBox 9168"/>
          <p:cNvSpPr txBox="1"/>
          <p:nvPr/>
        </p:nvSpPr>
        <p:spPr>
          <a:xfrm>
            <a:off x="822960" y="10104120"/>
            <a:ext cx="14447520" cy="640080"/>
          </a:xfrm>
          <a:prstGeom prst="rect">
            <a:avLst/>
          </a:prstGeom>
          <a:noFill/>
        </p:spPr>
        <p:txBody>
          <a:bodyPr wrap="square" lIns="73152" tIns="73152" rIns="73152" bIns="73152" anchor="t">
            <a:noAutofit/>
          </a:bodyPr>
          <a:lstStyle/>
          <a:p>
            <a:pPr algn="l">
              <a:lnSpc>
                <a:spcPct val="100000"/>
              </a:lnSpc>
              <a:spcAft>
                <a:spcPts val="800"/>
              </a:spcAft>
            </a:pPr>
            <a:r>
              <a:rPr sz="1600" b="0" i="1">
                <a:solidFill>
                  <a:srgbClr val="555B6E"/>
                </a:solidFill>
                <a:latin typeface="Arial"/>
                <a:ea typeface="Arial"/>
                <a:cs typeface="Arial"/>
              </a:rPr>
              <a:t>No se persigue el binario, se persigue el patrón. Escalada de impacto, no cronología. Detalle y códigos técnicos (CVE, avisos) en anexo.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6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6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6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Prueba · La atribución en acción: el caso del Tesoro</a:t>
            </a:r>
          </a:p>
        </p:txBody>
      </p:sp>
      <p:sp>
        <p:nvSpPr>
          <p:cNvPr id="9164" name="TextBox 916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65" name="TextBox 916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19</a:t>
            </a:r>
          </a:p>
        </p:txBody>
      </p:sp>
      <p:sp>
        <p:nvSpPr>
          <p:cNvPr id="9166" name="TextBox 916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[15] Tesoro de EE.UU. &amp; CISA (2024–2025) · [6][10] CISA/NSA/FBI (2024), Volt Typhoon. Los tres niveles de la Fase III sobre un caso real.</a:t>
            </a:r>
          </a:p>
        </p:txBody>
      </p:sp>
      <p:sp>
        <p:nvSpPr>
          <p:cNvPr id="9167" name="TextBox 9166"/>
          <p:cNvSpPr txBox="1"/>
          <p:nvPr/>
        </p:nvSpPr>
        <p:spPr>
          <a:xfrm>
            <a:off x="822960" y="2148840"/>
            <a:ext cx="8778240" cy="548640"/>
          </a:xfrm>
          <a:prstGeom prst="rect">
            <a:avLst/>
          </a:prstGeom>
          <a:noFill/>
        </p:spPr>
        <p:txBody>
          <a:bodyPr wrap="square" lIns="73152" tIns="73152" rIns="73152" bIns="73152" anchor="t">
            <a:noAutofit/>
          </a:bodyPr>
          <a:lstStyle/>
          <a:p>
            <a:pPr algn="l">
              <a:lnSpc>
                <a:spcPct val="100000"/>
              </a:lnSpc>
              <a:spcAft>
                <a:spcPts val="800"/>
              </a:spcAft>
            </a:pPr>
            <a:r>
              <a:rPr sz="2100" b="1" i="0">
                <a:solidFill>
                  <a:srgbClr val="221666"/>
                </a:solidFill>
                <a:latin typeface="Arial"/>
                <a:ea typeface="Arial"/>
                <a:cs typeface="Arial"/>
              </a:rPr>
              <a:t>El caso del Tesoro recorriendo los tres niveles de atribución</a:t>
            </a:r>
          </a:p>
        </p:txBody>
      </p:sp>
      <p:sp>
        <p:nvSpPr>
          <p:cNvPr id="9168" name="Rectangle 9167"/>
          <p:cNvSpPr/>
          <p:nvPr/>
        </p:nvSpPr>
        <p:spPr>
          <a:xfrm>
            <a:off x="822960" y="2834640"/>
            <a:ext cx="2011680" cy="210312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800" b="1" i="0">
                <a:solidFill>
                  <a:srgbClr val="FFFFFF"/>
                </a:solidFill>
                <a:latin typeface="Arial"/>
                <a:ea typeface="Arial"/>
                <a:cs typeface="Arial"/>
              </a:rPr>
              <a:t>Técnico</a:t>
            </a:r>
          </a:p>
        </p:txBody>
      </p:sp>
      <p:sp>
        <p:nvSpPr>
          <p:cNvPr id="9169" name="TextBox 9168"/>
          <p:cNvSpPr txBox="1"/>
          <p:nvPr/>
        </p:nvSpPr>
        <p:spPr>
          <a:xfrm>
            <a:off x="2880360" y="2834640"/>
            <a:ext cx="6720840" cy="210312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700" b="0" i="0">
                <a:solidFill>
                  <a:srgbClr val="000000"/>
                </a:solidFill>
                <a:latin typeface="Arial"/>
                <a:ea typeface="Arial"/>
                <a:cs typeface="Arial"/>
              </a:rPr>
              <a:t>Clave de API comprometida en el servicio en la nube de BeyondTrust; dos vulnerabilidades explotadas; acceso a documentos no clasificados, foco en la oficina de sanciones (OFAC).</a:t>
            </a:r>
          </a:p>
        </p:txBody>
      </p:sp>
      <p:sp>
        <p:nvSpPr>
          <p:cNvPr id="9170" name="Rectangle 9169"/>
          <p:cNvSpPr/>
          <p:nvPr/>
        </p:nvSpPr>
        <p:spPr>
          <a:xfrm>
            <a:off x="822960" y="5120640"/>
            <a:ext cx="2011680" cy="210312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800" b="1" i="0">
                <a:solidFill>
                  <a:srgbClr val="FFFFFF"/>
                </a:solidFill>
                <a:latin typeface="Arial"/>
                <a:ea typeface="Arial"/>
                <a:cs typeface="Arial"/>
              </a:rPr>
              <a:t>Operacional</a:t>
            </a:r>
          </a:p>
        </p:txBody>
      </p:sp>
      <p:sp>
        <p:nvSpPr>
          <p:cNvPr id="9171" name="TextBox 9170"/>
          <p:cNvSpPr txBox="1"/>
          <p:nvPr/>
        </p:nvSpPr>
        <p:spPr>
          <a:xfrm>
            <a:off x="2880360" y="5120640"/>
            <a:ext cx="6720840" cy="210312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700" b="0" i="0">
                <a:solidFill>
                  <a:srgbClr val="000000"/>
                </a:solidFill>
                <a:latin typeface="Arial"/>
                <a:ea typeface="Arial"/>
                <a:cs typeface="Arial"/>
              </a:rPr>
              <a:t>Solapamiento de TTPs y victimología → actor estatal chino Silk Typhoon. (Antes HAFNIUM; el mismo clúster tiene otros alias según el vendor.)</a:t>
            </a:r>
          </a:p>
        </p:txBody>
      </p:sp>
      <p:sp>
        <p:nvSpPr>
          <p:cNvPr id="9172" name="Rectangle 9171"/>
          <p:cNvSpPr/>
          <p:nvPr/>
        </p:nvSpPr>
        <p:spPr>
          <a:xfrm>
            <a:off x="822960" y="7406640"/>
            <a:ext cx="2011680" cy="210312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800" b="1" i="0">
                <a:solidFill>
                  <a:srgbClr val="FFFFFF"/>
                </a:solidFill>
                <a:latin typeface="Arial"/>
                <a:ea typeface="Arial"/>
                <a:cs typeface="Arial"/>
              </a:rPr>
              <a:t>Político</a:t>
            </a:r>
          </a:p>
        </p:txBody>
      </p:sp>
      <p:sp>
        <p:nvSpPr>
          <p:cNvPr id="9173" name="TextBox 9172"/>
          <p:cNvSpPr txBox="1"/>
          <p:nvPr/>
        </p:nvSpPr>
        <p:spPr>
          <a:xfrm>
            <a:off x="2880360" y="7406640"/>
            <a:ext cx="6720840" cy="210312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700" b="0" i="0">
                <a:solidFill>
                  <a:srgbClr val="000000"/>
                </a:solidFill>
                <a:latin typeface="Arial"/>
                <a:ea typeface="Arial"/>
                <a:cs typeface="Arial"/>
              </a:rPr>
              <a:t>Patrocinio estatal: se formalizó solo con la atribución pública del gobierno de EE.UU. —Departamento de Justicia y sanciones—, con umbral y tiempo muy superiores.</a:t>
            </a:r>
          </a:p>
        </p:txBody>
      </p:sp>
      <p:sp>
        <p:nvSpPr>
          <p:cNvPr id="9174" name="TextBox 9173"/>
          <p:cNvSpPr txBox="1"/>
          <p:nvPr/>
        </p:nvSpPr>
        <p:spPr>
          <a:xfrm>
            <a:off x="822960" y="9784080"/>
            <a:ext cx="8778240" cy="914400"/>
          </a:xfrm>
          <a:prstGeom prst="rect">
            <a:avLst/>
          </a:prstGeom>
          <a:noFill/>
        </p:spPr>
        <p:txBody>
          <a:bodyPr wrap="square" lIns="73152" tIns="73152" rIns="73152" bIns="73152" anchor="t">
            <a:noAutofit/>
          </a:bodyPr>
          <a:lstStyle/>
          <a:p>
            <a:pPr algn="l">
              <a:lnSpc>
                <a:spcPct val="100000"/>
              </a:lnSpc>
              <a:spcAft>
                <a:spcPts val="800"/>
              </a:spcAft>
            </a:pPr>
            <a:r>
              <a:rPr sz="1600" b="0" i="1">
                <a:solidFill>
                  <a:srgbClr val="221666"/>
                </a:solidFill>
                <a:latin typeface="Arial"/>
                <a:ea typeface="Arial"/>
                <a:cs typeface="Arial"/>
              </a:rPr>
              <a:t>Confirma la regla de oro: el político exigió un umbral muy superior al técnico. No se hereda.</a:t>
            </a:r>
          </a:p>
        </p:txBody>
      </p:sp>
      <p:sp>
        <p:nvSpPr>
          <p:cNvPr id="9175" name="Rectangle 9174"/>
          <p:cNvSpPr/>
          <p:nvPr/>
        </p:nvSpPr>
        <p:spPr>
          <a:xfrm>
            <a:off x="10058400" y="2148840"/>
            <a:ext cx="5212080" cy="64008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Oswald"/>
                <a:ea typeface="Oswald"/>
                <a:cs typeface="Oswald"/>
              </a:rPr>
              <a:t>Contrapunto · Volt Typhoon</a:t>
            </a:r>
          </a:p>
        </p:txBody>
      </p:sp>
      <p:sp>
        <p:nvSpPr>
          <p:cNvPr id="9176" name="TextBox 9175"/>
          <p:cNvSpPr txBox="1"/>
          <p:nvPr/>
        </p:nvSpPr>
        <p:spPr>
          <a:xfrm>
            <a:off x="10058400" y="2834640"/>
            <a:ext cx="5212080" cy="7863840"/>
          </a:xfrm>
          <a:prstGeom prst="rect">
            <a:avLst/>
          </a:prstGeom>
          <a:solidFill>
            <a:srgbClr val="E8EEFB"/>
          </a:solidFill>
        </p:spPr>
        <p:txBody>
          <a:bodyPr wrap="square" lIns="73152" tIns="73152" rIns="73152" bIns="73152" anchor="t">
            <a:noAutofit/>
          </a:bodyPr>
          <a:lstStyle/>
          <a:p>
            <a:pPr algn="l">
              <a:lnSpc>
                <a:spcPct val="100000"/>
              </a:lnSpc>
              <a:spcAft>
                <a:spcPts val="800"/>
              </a:spcAft>
            </a:pPr>
            <a:r>
              <a:rPr sz="1800" b="1" i="0">
                <a:solidFill>
                  <a:srgbClr val="221666"/>
                </a:solidFill>
                <a:latin typeface="Arial"/>
                <a:ea typeface="Arial"/>
                <a:cs typeface="Arial"/>
              </a:rPr>
              <a:t>El extremo opuesto del mismo argumento.</a:t>
            </a:r>
          </a:p>
          <a:p>
            <a:pPr marL="320040" indent="-320040" algn="l">
              <a:lnSpc>
                <a:spcPct val="100000"/>
              </a:lnSpc>
              <a:spcAft>
                <a:spcPts val="800"/>
              </a:spcAft>
              <a:buClr>
                <a:srgbClr val="221666"/>
              </a:buClr>
              <a:buFont typeface="Arial"/>
              <a:buChar char="•"/>
            </a:pPr>
            <a:r>
              <a:rPr sz="1800" b="1" i="0">
                <a:solidFill>
                  <a:srgbClr val="000000"/>
                </a:solidFill>
                <a:latin typeface="Arial"/>
                <a:ea typeface="Arial"/>
                <a:cs typeface="Arial"/>
              </a:rPr>
              <a:t>Living-off-the-Land (LOTL): </a:t>
            </a:r>
            <a:r>
              <a:rPr sz="1800" b="0" i="0">
                <a:solidFill>
                  <a:srgbClr val="000000"/>
                </a:solidFill>
                <a:latin typeface="Arial"/>
                <a:ea typeface="Arial"/>
                <a:cs typeface="Arial"/>
              </a:rPr>
              <a:t>el actor usa herramientas nativas del sistema operativo. No despliega malware que firmar.</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Actor estatal atribuido a China, preposicionado en infraestructura crítica de EE.UU. (comunicaciones, energía, transporte, agua).</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Sin artefactos atómicos que detectar: la defensa depende del análisis de comportamiento (Fase II).</a:t>
            </a:r>
          </a:p>
          <a:p>
            <a:pPr algn="l">
              <a:lnSpc>
                <a:spcPct val="100000"/>
              </a:lnSpc>
              <a:spcAft>
                <a:spcPts val="800"/>
              </a:spcAft>
            </a:pPr>
            <a:r>
              <a:rPr sz="1700" b="0" i="1">
                <a:solidFill>
                  <a:srgbClr val="555B6E"/>
                </a:solidFill>
                <a:latin typeface="Arial"/>
                <a:ea typeface="Arial"/>
                <a:cs typeface="Arial"/>
              </a:rPr>
              <a:t>RMM = herramienta legítima externa. LOTL = herramienta legítima interna. Ninguno se detecta por IOC. Ambos exigen ascender al comportamiento.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17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17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17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Conclusiones</a:t>
            </a:r>
          </a:p>
        </p:txBody>
      </p:sp>
      <p:sp>
        <p:nvSpPr>
          <p:cNvPr id="9174" name="TextBox 9173"/>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175" name="TextBox 9174"/>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20</a:t>
            </a:r>
          </a:p>
        </p:txBody>
      </p:sp>
      <p:sp>
        <p:nvSpPr>
          <p:cNvPr id="9176" name="TextBox 9175"/>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Sección 4 del trabajo (camera-ready).</a:t>
            </a:r>
          </a:p>
        </p:txBody>
      </p:sp>
      <p:sp>
        <p:nvSpPr>
          <p:cNvPr id="9177" name="Rectangle 9176"/>
          <p:cNvSpPr/>
          <p:nvPr/>
        </p:nvSpPr>
        <p:spPr>
          <a:xfrm>
            <a:off x="822960" y="2148840"/>
            <a:ext cx="100584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3000" b="1" i="0">
                <a:solidFill>
                  <a:srgbClr val="FFFFFF"/>
                </a:solidFill>
                <a:latin typeface="Arial"/>
                <a:ea typeface="Arial"/>
                <a:cs typeface="Arial"/>
              </a:rPr>
              <a:t>Ⅰ</a:t>
            </a:r>
          </a:p>
        </p:txBody>
      </p:sp>
      <p:sp>
        <p:nvSpPr>
          <p:cNvPr id="9178" name="TextBox 9177"/>
          <p:cNvSpPr txBox="1"/>
          <p:nvPr/>
        </p:nvSpPr>
        <p:spPr>
          <a:xfrm>
            <a:off x="1965960" y="2148840"/>
            <a:ext cx="13716000" cy="1691640"/>
          </a:xfrm>
          <a:prstGeom prst="rect">
            <a:avLst/>
          </a:prstGeom>
          <a:noFill/>
        </p:spPr>
        <p:txBody>
          <a:bodyPr wrap="square" lIns="73152" tIns="73152" rIns="73152" bIns="73152" anchor="ctr">
            <a:noAutofit/>
          </a:bodyPr>
          <a:lstStyle/>
          <a:p>
            <a:pPr algn="l">
              <a:lnSpc>
                <a:spcPct val="100000"/>
              </a:lnSpc>
              <a:spcAft>
                <a:spcPts val="800"/>
              </a:spcAft>
            </a:pPr>
            <a:r>
              <a:rPr sz="2100" b="0" i="0">
                <a:solidFill>
                  <a:srgbClr val="000000"/>
                </a:solidFill>
                <a:latin typeface="Arial"/>
                <a:ea typeface="Arial"/>
                <a:cs typeface="Arial"/>
              </a:rPr>
              <a:t>Integrar las tres fases —Dark Web, comportamiento y atribución— configura un marco para anticipar al adversario antes del ataque y elevar su costo.</a:t>
            </a:r>
          </a:p>
        </p:txBody>
      </p:sp>
      <p:sp>
        <p:nvSpPr>
          <p:cNvPr id="9179" name="Rectangle 9178"/>
          <p:cNvSpPr/>
          <p:nvPr/>
        </p:nvSpPr>
        <p:spPr>
          <a:xfrm>
            <a:off x="822960" y="4023360"/>
            <a:ext cx="100584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3000" b="1" i="0">
                <a:solidFill>
                  <a:srgbClr val="FFFFFF"/>
                </a:solidFill>
                <a:latin typeface="Arial"/>
                <a:ea typeface="Arial"/>
                <a:cs typeface="Arial"/>
              </a:rPr>
              <a:t>Ⅱ</a:t>
            </a:r>
          </a:p>
        </p:txBody>
      </p:sp>
      <p:sp>
        <p:nvSpPr>
          <p:cNvPr id="9180" name="TextBox 9179"/>
          <p:cNvSpPr txBox="1"/>
          <p:nvPr/>
        </p:nvSpPr>
        <p:spPr>
          <a:xfrm>
            <a:off x="1965960" y="4023360"/>
            <a:ext cx="13716000" cy="1691640"/>
          </a:xfrm>
          <a:prstGeom prst="rect">
            <a:avLst/>
          </a:prstGeom>
          <a:noFill/>
        </p:spPr>
        <p:txBody>
          <a:bodyPr wrap="square" lIns="73152" tIns="73152" rIns="73152" bIns="73152" anchor="ctr">
            <a:noAutofit/>
          </a:bodyPr>
          <a:lstStyle/>
          <a:p>
            <a:pPr algn="l">
              <a:lnSpc>
                <a:spcPct val="100000"/>
              </a:lnSpc>
              <a:spcAft>
                <a:spcPts val="800"/>
              </a:spcAft>
            </a:pPr>
            <a:r>
              <a:rPr sz="2100" b="0" i="0">
                <a:solidFill>
                  <a:srgbClr val="000000"/>
                </a:solidFill>
                <a:latin typeface="Arial"/>
                <a:ea typeface="Arial"/>
                <a:cs typeface="Arial"/>
              </a:rPr>
              <a:t>Ascender del indicador al comportamiento no es opcional: es la condición para detectar a quien rota su infraestructura o usa herramientas legítimas del propio entorno.</a:t>
            </a:r>
          </a:p>
        </p:txBody>
      </p:sp>
      <p:sp>
        <p:nvSpPr>
          <p:cNvPr id="9181" name="Rectangle 9180"/>
          <p:cNvSpPr/>
          <p:nvPr/>
        </p:nvSpPr>
        <p:spPr>
          <a:xfrm>
            <a:off x="822960" y="5897879"/>
            <a:ext cx="100584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3000" b="1" i="0">
                <a:solidFill>
                  <a:srgbClr val="FFFFFF"/>
                </a:solidFill>
                <a:latin typeface="Arial"/>
                <a:ea typeface="Arial"/>
                <a:cs typeface="Arial"/>
              </a:rPr>
              <a:t>Ⅲ</a:t>
            </a:r>
          </a:p>
        </p:txBody>
      </p:sp>
      <p:sp>
        <p:nvSpPr>
          <p:cNvPr id="9182" name="TextBox 9181"/>
          <p:cNvSpPr txBox="1"/>
          <p:nvPr/>
        </p:nvSpPr>
        <p:spPr>
          <a:xfrm>
            <a:off x="1965960" y="5897879"/>
            <a:ext cx="13716000" cy="1691640"/>
          </a:xfrm>
          <a:prstGeom prst="rect">
            <a:avLst/>
          </a:prstGeom>
          <a:noFill/>
        </p:spPr>
        <p:txBody>
          <a:bodyPr wrap="square" lIns="73152" tIns="73152" rIns="73152" bIns="73152" anchor="ctr">
            <a:noAutofit/>
          </a:bodyPr>
          <a:lstStyle/>
          <a:p>
            <a:pPr algn="l">
              <a:lnSpc>
                <a:spcPct val="100000"/>
              </a:lnSpc>
              <a:spcAft>
                <a:spcPts val="800"/>
              </a:spcAft>
            </a:pPr>
            <a:r>
              <a:rPr sz="2100" b="0" i="0">
                <a:solidFill>
                  <a:srgbClr val="000000"/>
                </a:solidFill>
                <a:latin typeface="Arial"/>
                <a:ea typeface="Arial"/>
                <a:cs typeface="Arial"/>
              </a:rPr>
              <a:t>El monitoreo proactivo de credenciales de defensa e infraestructura crítica, con alerta temprana, es un requerimiento de inteligencia prioritario para el Estado y las FF.AA.</a:t>
            </a:r>
          </a:p>
        </p:txBody>
      </p:sp>
      <p:sp>
        <p:nvSpPr>
          <p:cNvPr id="9183" name="Rectangle 9182"/>
          <p:cNvSpPr/>
          <p:nvPr/>
        </p:nvSpPr>
        <p:spPr>
          <a:xfrm>
            <a:off x="822960" y="7772400"/>
            <a:ext cx="1005840" cy="1691640"/>
          </a:xfrm>
          <a:prstGeom prst="rect">
            <a:avLst/>
          </a:prstGeom>
          <a:noFill/>
          <a:ln w="25400">
            <a:solidFill>
              <a:srgbClr val="221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4" name="TextBox 9183"/>
          <p:cNvSpPr txBox="1"/>
          <p:nvPr/>
        </p:nvSpPr>
        <p:spPr>
          <a:xfrm>
            <a:off x="1965960" y="7772400"/>
            <a:ext cx="13716000" cy="1691640"/>
          </a:xfrm>
          <a:prstGeom prst="rect">
            <a:avLst/>
          </a:prstGeom>
          <a:noFill/>
        </p:spPr>
        <p:txBody>
          <a:bodyPr wrap="square" lIns="73152" tIns="73152" rIns="73152" bIns="73152" anchor="ctr">
            <a:noAutofit/>
          </a:bodyPr>
          <a:lstStyle/>
          <a:p>
            <a:pPr algn="l">
              <a:lnSpc>
                <a:spcPct val="100000"/>
              </a:lnSpc>
              <a:spcAft>
                <a:spcPts val="800"/>
              </a:spcAft>
            </a:pPr>
            <a:r>
              <a:rPr sz="2200" b="1" i="0">
                <a:solidFill>
                  <a:srgbClr val="221666"/>
                </a:solidFill>
                <a:latin typeface="Arial"/>
                <a:ea typeface="Arial"/>
                <a:cs typeface="Arial"/>
              </a:rPr>
              <a:t>El juicio humano es irreemplazable en la atribución. La industria resuelve lo técnico y lo operacional; el nivel político —donde el error escala— sigue siendo del Estado.</a:t>
            </a:r>
          </a:p>
        </p:txBody>
      </p:sp>
      <p:sp>
        <p:nvSpPr>
          <p:cNvPr id="9185" name="TextBox 9184"/>
          <p:cNvSpPr txBox="1"/>
          <p:nvPr/>
        </p:nvSpPr>
        <p:spPr>
          <a:xfrm>
            <a:off x="822960" y="9784080"/>
            <a:ext cx="14447520" cy="914400"/>
          </a:xfrm>
          <a:prstGeom prst="rect">
            <a:avLst/>
          </a:prstGeom>
          <a:noFill/>
        </p:spPr>
        <p:txBody>
          <a:bodyPr wrap="square" lIns="73152" tIns="73152" rIns="73152" bIns="73152" anchor="t">
            <a:noAutofit/>
          </a:bodyPr>
          <a:lstStyle/>
          <a:p>
            <a:pPr algn="l">
              <a:lnSpc>
                <a:spcPct val="100000"/>
              </a:lnSpc>
              <a:spcAft>
                <a:spcPts val="800"/>
              </a:spcAft>
            </a:pPr>
            <a:r>
              <a:rPr sz="1700" b="1" i="0">
                <a:solidFill>
                  <a:srgbClr val="555B6E"/>
                </a:solidFill>
                <a:latin typeface="Arial"/>
                <a:ea typeface="Arial"/>
                <a:cs typeface="Arial"/>
              </a:rPr>
              <a:t>Línea de trabajo: </a:t>
            </a:r>
            <a:r>
              <a:rPr sz="1700" b="0" i="0">
                <a:solidFill>
                  <a:srgbClr val="555B6E"/>
                </a:solidFill>
                <a:latin typeface="Arial"/>
                <a:ea typeface="Arial"/>
                <a:cs typeface="Arial"/>
              </a:rPr>
              <a:t>sistematizar casuística regional, definir métricas prospectivas y sostener la aplicación con línea base operativa.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1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1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1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Evidencia ampliada: targeting sobre Argentina</a:t>
            </a:r>
          </a:p>
        </p:txBody>
      </p:sp>
      <p:sp>
        <p:nvSpPr>
          <p:cNvPr id="9214" name="Rectangle 921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15" name="TextBox 921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16" name="TextBox 921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24</a:t>
            </a:r>
          </a:p>
        </p:txBody>
      </p:sp>
      <p:sp>
        <p:nvSpPr>
          <p:cNvPr id="9217" name="TextBox 921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capturas propias (jul–sep 2026): canal de Telegram, combolist y hosting público. Sanitizado por OPSEC: usuarios, credenciales, enlaces de Telegram y dominio de distribución tapados. Respaldo del slide 11.</a:t>
            </a:r>
          </a:p>
        </p:txBody>
      </p:sp>
      <p:pic>
        <p:nvPicPr>
          <p:cNvPr id="9218" name="Picture 9217" descr="invap2_s.png"/>
          <p:cNvPicPr>
            <a:picLocks noChangeAspect="1"/>
          </p:cNvPicPr>
          <p:nvPr/>
        </p:nvPicPr>
        <p:blipFill>
          <a:blip r:embed="rId4"/>
          <a:stretch>
            <a:fillRect/>
          </a:stretch>
        </p:blipFill>
        <p:spPr>
          <a:xfrm>
            <a:off x="822960" y="2148840"/>
            <a:ext cx="6949440" cy="3911068"/>
          </a:xfrm>
          <a:prstGeom prst="rect">
            <a:avLst/>
          </a:prstGeom>
        </p:spPr>
      </p:pic>
      <p:sp>
        <p:nvSpPr>
          <p:cNvPr id="9219" name="TextBox 9218"/>
          <p:cNvSpPr txBox="1"/>
          <p:nvPr/>
        </p:nvSpPr>
        <p:spPr>
          <a:xfrm>
            <a:off x="822960" y="6087339"/>
            <a:ext cx="6949440" cy="640080"/>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Canal de Telegram «MAD GHOST» (07/2026): organismos argentinos objetivo (renaper, pami, anac, vialidad, arsat, invap, sedronar, inet…), con sección «Military &amp; Security».</a:t>
            </a:r>
          </a:p>
        </p:txBody>
      </p:sp>
      <p:pic>
        <p:nvPicPr>
          <p:cNvPr id="9220" name="Picture 9219" descr="mediafire_s.png"/>
          <p:cNvPicPr>
            <a:picLocks noChangeAspect="1"/>
          </p:cNvPicPr>
          <p:nvPr/>
        </p:nvPicPr>
        <p:blipFill>
          <a:blip r:embed="rId5"/>
          <a:stretch>
            <a:fillRect/>
          </a:stretch>
        </p:blipFill>
        <p:spPr>
          <a:xfrm>
            <a:off x="822960" y="6858000"/>
            <a:ext cx="6309360" cy="3211351"/>
          </a:xfrm>
          <a:prstGeom prst="rect">
            <a:avLst/>
          </a:prstGeom>
        </p:spPr>
      </p:pic>
      <p:sp>
        <p:nvSpPr>
          <p:cNvPr id="9221" name="TextBox 9220"/>
          <p:cNvSpPr txBox="1"/>
          <p:nvPr/>
        </p:nvSpPr>
        <p:spPr>
          <a:xfrm>
            <a:off x="822960" y="10096782"/>
            <a:ext cx="6949440" cy="640080"/>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Dump ULP (URL:login:password) de 242,67 MB en MediaFire, subido el 23/08/2026. Cloud público, sin Tor.</a:t>
            </a:r>
          </a:p>
        </p:txBody>
      </p:sp>
      <p:pic>
        <p:nvPicPr>
          <p:cNvPr id="9222" name="Picture 9221" descr="otros_s.png"/>
          <p:cNvPicPr>
            <a:picLocks noChangeAspect="1"/>
          </p:cNvPicPr>
          <p:nvPr/>
        </p:nvPicPr>
        <p:blipFill>
          <a:blip r:embed="rId6"/>
          <a:stretch>
            <a:fillRect/>
          </a:stretch>
        </p:blipFill>
        <p:spPr>
          <a:xfrm>
            <a:off x="8046720" y="2148840"/>
            <a:ext cx="3840480" cy="4531113"/>
          </a:xfrm>
          <a:prstGeom prst="rect">
            <a:avLst/>
          </a:prstGeom>
        </p:spPr>
      </p:pic>
      <p:sp>
        <p:nvSpPr>
          <p:cNvPr id="9223" name="TextBox 9222"/>
          <p:cNvSpPr txBox="1"/>
          <p:nvPr/>
        </p:nvSpPr>
        <p:spPr>
          <a:xfrm>
            <a:off x="8046720" y="6707385"/>
            <a:ext cx="3840480" cy="914400"/>
          </a:xfrm>
          <a:prstGeom prst="rect">
            <a:avLst/>
          </a:prstGeom>
          <a:noFill/>
        </p:spPr>
        <p:txBody>
          <a:bodyPr wrap="square" lIns="73152" tIns="73152" rIns="73152" bIns="73152" anchor="t">
            <a:noAutofit/>
          </a:bodyPr>
          <a:lstStyle/>
          <a:p>
            <a:pPr algn="l">
              <a:lnSpc>
                <a:spcPct val="100000"/>
              </a:lnSpc>
              <a:spcAft>
                <a:spcPts val="800"/>
              </a:spcAft>
            </a:pPr>
            <a:r>
              <a:rPr sz="1300" b="0" i="1">
                <a:solidFill>
                  <a:srgbClr val="555B6E"/>
                </a:solidFill>
                <a:latin typeface="Arial"/>
                <a:ea typeface="Arial"/>
                <a:cs typeface="Arial"/>
              </a:rPr>
              <a:t>Combolist crudo, distribuido junto a invitaciones de Telegram: pared de subdominios ejercito.mil.ar y .mil.ar con credenciales (tapadas).</a:t>
            </a:r>
          </a:p>
        </p:txBody>
      </p:sp>
      <p:sp>
        <p:nvSpPr>
          <p:cNvPr id="9224" name="Rectangle 9223"/>
          <p:cNvSpPr/>
          <p:nvPr/>
        </p:nvSpPr>
        <p:spPr>
          <a:xfrm>
            <a:off x="12161520" y="2148840"/>
            <a:ext cx="310896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2100" b="1" i="0">
                <a:solidFill>
                  <a:srgbClr val="FFFFFF"/>
                </a:solidFill>
                <a:latin typeface="Oswald"/>
                <a:ea typeface="Oswald"/>
                <a:cs typeface="Oswald"/>
              </a:rPr>
              <a:t>Qué muestra</a:t>
            </a:r>
          </a:p>
        </p:txBody>
      </p:sp>
      <p:sp>
        <p:nvSpPr>
          <p:cNvPr id="9225" name="TextBox 9224"/>
          <p:cNvSpPr txBox="1"/>
          <p:nvPr/>
        </p:nvSpPr>
        <p:spPr>
          <a:xfrm>
            <a:off x="12161520" y="2761488"/>
            <a:ext cx="3108960" cy="402336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500" b="1" i="0">
                <a:solidFill>
                  <a:srgbClr val="000000"/>
                </a:solidFill>
                <a:latin typeface="Arial"/>
                <a:ea typeface="Arial"/>
                <a:cs typeface="Arial"/>
              </a:rPr>
              <a:t>Tres canales, </a:t>
            </a:r>
            <a:r>
              <a:rPr sz="1500" b="0" i="0">
                <a:solidFill>
                  <a:srgbClr val="000000"/>
                </a:solidFill>
                <a:latin typeface="Arial"/>
                <a:ea typeface="Arial"/>
                <a:cs typeface="Arial"/>
              </a:rPr>
              <a:t>no uno: mercado, Telegram y cloud público.</a:t>
            </a:r>
          </a:p>
          <a:p>
            <a:pPr marL="320040" indent="-320040" algn="l">
              <a:lnSpc>
                <a:spcPct val="100000"/>
              </a:lnSpc>
              <a:spcAft>
                <a:spcPts val="800"/>
              </a:spcAft>
              <a:buClr>
                <a:srgbClr val="221666"/>
              </a:buClr>
              <a:buFont typeface="Arial"/>
              <a:buChar char="•"/>
            </a:pPr>
            <a:r>
              <a:rPr sz="1500" b="1" i="0">
                <a:solidFill>
                  <a:srgbClr val="000000"/>
                </a:solidFill>
                <a:latin typeface="Arial"/>
                <a:ea typeface="Arial"/>
                <a:cs typeface="Arial"/>
              </a:rPr>
              <a:t>Superficie institucional: </a:t>
            </a:r>
            <a:r>
              <a:rPr sz="1500" b="0" i="0">
                <a:solidFill>
                  <a:srgbClr val="000000"/>
                </a:solidFill>
                <a:latin typeface="Arial"/>
                <a:ea typeface="Arial"/>
                <a:cs typeface="Arial"/>
              </a:rPr>
              <a:t>organismos, FF.AA. y proveedores estratégicos aparecen juntos.</a:t>
            </a:r>
          </a:p>
          <a:p>
            <a:pPr marL="320040" indent="-320040" algn="l">
              <a:lnSpc>
                <a:spcPct val="100000"/>
              </a:lnSpc>
              <a:spcAft>
                <a:spcPts val="800"/>
              </a:spcAft>
              <a:buClr>
                <a:srgbClr val="221666"/>
              </a:buClr>
              <a:buFont typeface="Arial"/>
              <a:buChar char="•"/>
            </a:pPr>
            <a:r>
              <a:rPr sz="1500" b="1" i="0">
                <a:solidFill>
                  <a:srgbClr val="000000"/>
                </a:solidFill>
                <a:latin typeface="Arial"/>
                <a:ea typeface="Arial"/>
                <a:cs typeface="Arial"/>
              </a:rPr>
              <a:t>Barrera trivial: </a:t>
            </a:r>
            <a:r>
              <a:rPr sz="1500" b="0" i="0">
                <a:solidFill>
                  <a:srgbClr val="000000"/>
                </a:solidFill>
                <a:latin typeface="Arial"/>
                <a:ea typeface="Arial"/>
                <a:cs typeface="Arial"/>
              </a:rPr>
              <a:t>descargar un .txt.</a:t>
            </a:r>
          </a:p>
        </p:txBody>
      </p:sp>
      <p:sp>
        <p:nvSpPr>
          <p:cNvPr id="9226" name="Rectangle 9225"/>
          <p:cNvSpPr/>
          <p:nvPr/>
        </p:nvSpPr>
        <p:spPr>
          <a:xfrm>
            <a:off x="8046720" y="7863840"/>
            <a:ext cx="7223760" cy="548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00000"/>
              </a:lnSpc>
              <a:spcAft>
                <a:spcPts val="400"/>
              </a:spcAft>
            </a:pPr>
            <a:r>
              <a:rPr sz="2100" b="1" i="0">
                <a:solidFill>
                  <a:srgbClr val="FFFFFF"/>
                </a:solidFill>
                <a:latin typeface="Oswald"/>
                <a:ea typeface="Oswald"/>
                <a:cs typeface="Oswald"/>
              </a:rPr>
              <a:t>Lo que enseña</a:t>
            </a:r>
          </a:p>
        </p:txBody>
      </p:sp>
      <p:sp>
        <p:nvSpPr>
          <p:cNvPr id="9227" name="TextBox 9226"/>
          <p:cNvSpPr txBox="1"/>
          <p:nvPr/>
        </p:nvSpPr>
        <p:spPr>
          <a:xfrm>
            <a:off x="8046720" y="8485632"/>
            <a:ext cx="7223760" cy="242316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500" b="1" i="0">
                <a:solidFill>
                  <a:srgbClr val="000000"/>
                </a:solidFill>
                <a:latin typeface="Arial"/>
                <a:ea typeface="Arial"/>
                <a:cs typeface="Arial"/>
              </a:rPr>
              <a:t>El PIR </a:t>
            </a:r>
            <a:r>
              <a:rPr sz="1500" b="0" i="0">
                <a:solidFill>
                  <a:srgbClr val="000000"/>
                </a:solidFill>
                <a:latin typeface="Arial"/>
                <a:ea typeface="Arial"/>
                <a:cs typeface="Arial"/>
              </a:rPr>
              <a:t>sobre dominios institucionales debe cubrir los tres canales, no solo los mercados.</a:t>
            </a:r>
          </a:p>
          <a:p>
            <a:pPr marL="320040" indent="-320040" algn="l">
              <a:lnSpc>
                <a:spcPct val="100000"/>
              </a:lnSpc>
              <a:spcAft>
                <a:spcPts val="800"/>
              </a:spcAft>
              <a:buClr>
                <a:srgbClr val="221666"/>
              </a:buClr>
              <a:buFont typeface="Arial"/>
              <a:buChar char="•"/>
            </a:pPr>
            <a:r>
              <a:rPr sz="1500" b="1" i="0">
                <a:solidFill>
                  <a:srgbClr val="000000"/>
                </a:solidFill>
                <a:latin typeface="Arial"/>
                <a:ea typeface="Arial"/>
                <a:cs typeface="Arial"/>
              </a:rPr>
              <a:t>Admiralty: </a:t>
            </a:r>
            <a:r>
              <a:rPr sz="1500" b="0" i="0">
                <a:solidFill>
                  <a:srgbClr val="000000"/>
                </a:solidFill>
                <a:latin typeface="Arial"/>
                <a:ea typeface="Arial"/>
                <a:cs typeface="Arial"/>
              </a:rPr>
              <a:t>canal de Telegram y combolist son fuente de baja fiabilidad hasta verificar; la detección propia en la plataforma de identidades (INVAP) confirma el dato y eleva su credibilidad.</a:t>
            </a:r>
          </a:p>
          <a:p>
            <a:pPr marL="320040" indent="-320040" algn="l">
              <a:lnSpc>
                <a:spcPct val="100000"/>
              </a:lnSpc>
              <a:spcAft>
                <a:spcPts val="800"/>
              </a:spcAft>
              <a:buClr>
                <a:srgbClr val="221666"/>
              </a:buClr>
              <a:buFont typeface="Arial"/>
              <a:buChar char="•"/>
            </a:pPr>
            <a:r>
              <a:rPr sz="1500" b="1" i="0">
                <a:solidFill>
                  <a:srgbClr val="000000"/>
                </a:solidFill>
                <a:latin typeface="Arial"/>
                <a:ea typeface="Arial"/>
                <a:cs typeface="Arial"/>
              </a:rPr>
              <a:t>Acción: </a:t>
            </a:r>
            <a:r>
              <a:rPr sz="1500" b="0" i="0">
                <a:solidFill>
                  <a:srgbClr val="000000"/>
                </a:solidFill>
                <a:latin typeface="Arial"/>
                <a:ea typeface="Arial"/>
                <a:cs typeface="Arial"/>
              </a:rPr>
              <a:t>lo verificado se notifica (slide 11); lo no verificado queda como indicador de seguimiento.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
        <p:cNvGrpSpPr/>
        <p:nvPr/>
      </p:nvGrpSpPr>
      <p:grpSpPr>
        <a:xfrm>
          <a:off x="0" y="0"/>
          <a:ext cx="0" cy="0"/>
          <a:chOff x="0" y="0"/>
          <a:chExt cx="0" cy="0"/>
        </a:xfrm>
      </p:grpSpPr>
      <p:pic>
        <p:nvPicPr>
          <p:cNvPr id="68" name="Google Shape;68;g3f3f2bfa886_0_46" title="fondo transparente.png"/>
          <p:cNvPicPr preferRelativeResize="0"/>
          <p:nvPr/>
        </p:nvPicPr>
        <p:blipFill rotWithShape="1">
          <a:blip r:embed="rId3">
            <a:alphaModFix/>
          </a:blip>
          <a:srcRect l="60"/>
          <a:stretch/>
        </p:blipFill>
        <p:spPr>
          <a:xfrm rot="10800000">
            <a:off x="6146450" y="-1"/>
            <a:ext cx="18237549" cy="11668819"/>
          </a:xfrm>
          <a:prstGeom prst="rect">
            <a:avLst/>
          </a:prstGeom>
          <a:noFill/>
          <a:ln>
            <a:noFill/>
          </a:ln>
        </p:spPr>
      </p:pic>
      <p:sp>
        <p:nvSpPr>
          <p:cNvPr id="69" name="Google Shape;69;g3f3f2bfa886_0_46"/>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70" name="Google Shape;70;g3f3f2bfa886_0_46"/>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sp>
        <p:nvSpPr>
          <p:cNvPr id="71" name="Google Shape;71;g3f3f2bfa886_0_46"/>
          <p:cNvSpPr txBox="1"/>
          <p:nvPr/>
        </p:nvSpPr>
        <p:spPr>
          <a:xfrm>
            <a:off x="6902640" y="4338637"/>
            <a:ext cx="10578600" cy="4720200"/>
          </a:xfrm>
          <a:prstGeom prst="rect">
            <a:avLst/>
          </a:prstGeom>
          <a:noFill/>
          <a:ln>
            <a:noFill/>
          </a:ln>
        </p:spPr>
        <p:txBody>
          <a:bodyPr spcFirstLastPara="1" wrap="square" lIns="50800" tIns="50800" rIns="50800" bIns="50800" anchor="t" anchorCtr="0">
            <a:spAutoFit/>
          </a:bodyPr>
          <a:lstStyle/>
          <a:p>
            <a:pPr marL="0" marR="0" lvl="0" indent="0" algn="ctr" rtl="0">
              <a:lnSpc>
                <a:spcPct val="100000"/>
              </a:lnSpc>
              <a:spcBef>
                <a:spcPts val="0"/>
              </a:spcBef>
              <a:spcAft>
                <a:spcPts val="0"/>
              </a:spcAft>
              <a:buClr>
                <a:srgbClr val="000000"/>
              </a:buClr>
              <a:buSzPts val="15000"/>
              <a:buFont typeface="Arial"/>
              <a:buNone/>
            </a:pPr>
            <a:r>
              <a:rPr lang="en-US" sz="15000" b="1" i="0" u="none" strike="noStrike" cap="none">
                <a:solidFill>
                  <a:srgbClr val="221666"/>
                </a:solidFill>
                <a:latin typeface="Oswald"/>
                <a:ea typeface="Oswald"/>
                <a:cs typeface="Oswald"/>
                <a:sym typeface="Oswald"/>
              </a:rPr>
              <a:t>MUCHAS GRACIAS</a:t>
            </a:r>
            <a:endParaRPr sz="15000" b="1" i="0" u="none" strike="noStrike" cap="none">
              <a:solidFill>
                <a:srgbClr val="221666"/>
              </a:solidFill>
              <a:latin typeface="Oswald"/>
              <a:ea typeface="Oswald"/>
              <a:cs typeface="Oswald"/>
              <a:sym typeface="Oswald"/>
            </a:endParaRPr>
          </a:p>
        </p:txBody>
      </p:sp>
      <p:sp>
        <p:nvSpPr>
          <p:cNvPr id="72" name="TextBox 71"/>
          <p:cNvSpPr txBox="1"/>
          <p:nvPr/>
        </p:nvSpPr>
        <p:spPr>
          <a:xfrm>
            <a:off x="6903720" y="9189720"/>
            <a:ext cx="10579608" cy="1463040"/>
          </a:xfrm>
          <a:prstGeom prst="rect">
            <a:avLst/>
          </a:prstGeom>
          <a:noFill/>
        </p:spPr>
        <p:txBody>
          <a:bodyPr wrap="square" lIns="73152" tIns="73152" rIns="73152" bIns="73152" anchor="t">
            <a:noAutofit/>
          </a:bodyPr>
          <a:lstStyle/>
          <a:p>
            <a:pPr algn="ctr">
              <a:lnSpc>
                <a:spcPct val="100000"/>
              </a:lnSpc>
              <a:spcAft>
                <a:spcPts val="400"/>
              </a:spcAft>
            </a:pPr>
            <a:r>
              <a:rPr sz="2200" b="0" i="0">
                <a:solidFill>
                  <a:srgbClr val="221666"/>
                </a:solidFill>
                <a:latin typeface="Arial"/>
                <a:ea typeface="Arial"/>
                <a:cs typeface="Arial"/>
              </a:rPr>
              <a:t>David Pérez · perez.edav@gmail.com · @anakinswal</a:t>
            </a:r>
          </a:p>
          <a:p>
            <a:pPr algn="ctr">
              <a:lnSpc>
                <a:spcPct val="100000"/>
              </a:lnSpc>
              <a:spcAft>
                <a:spcPts val="400"/>
              </a:spcAft>
            </a:pPr>
            <a:r>
              <a:rPr sz="2200" b="0" i="0">
                <a:solidFill>
                  <a:srgbClr val="221666"/>
                </a:solidFill>
                <a:latin typeface="Arial"/>
                <a:ea typeface="Arial"/>
                <a:cs typeface="Arial"/>
              </a:rPr>
              <a:t>Trabajo, deck y fuentes: github.com/Ank1nskywalker/talks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0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0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0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Operation Endgame: cadena mixta público-privada</a:t>
            </a:r>
          </a:p>
        </p:txBody>
      </p:sp>
      <p:sp>
        <p:nvSpPr>
          <p:cNvPr id="9204" name="Rectangle 920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05" name="TextBox 920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06" name="TextBox 920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22</a:t>
            </a:r>
          </a:p>
        </p:txBody>
      </p:sp>
      <p:sp>
        <p:nvSpPr>
          <p:cNvPr id="9207" name="TextBox 920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[17] Europol (may 2025) · [18] Europol, IOCTA 2025 · [19] Europol (jun 2026) · [20] Europol (abr 2025).</a:t>
            </a:r>
          </a:p>
        </p:txBody>
      </p:sp>
      <p:sp>
        <p:nvSpPr>
          <p:cNvPr id="9208" name="Rectangle 9207"/>
          <p:cNvSpPr/>
          <p:nvPr/>
        </p:nvSpPr>
        <p:spPr>
          <a:xfrm>
            <a:off x="822960" y="2148840"/>
            <a:ext cx="1828800" cy="123444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May 2024</a:t>
            </a:r>
          </a:p>
        </p:txBody>
      </p:sp>
      <p:sp>
        <p:nvSpPr>
          <p:cNvPr id="9209" name="TextBox 9208"/>
          <p:cNvSpPr txBox="1"/>
          <p:nvPr/>
        </p:nvSpPr>
        <p:spPr>
          <a:xfrm>
            <a:off x="2697479" y="2148840"/>
            <a:ext cx="8412480" cy="1234440"/>
          </a:xfrm>
          <a:prstGeom prst="rect">
            <a:avLst/>
          </a:prstGeom>
          <a:solidFill>
            <a:srgbClr val="E8EEFB"/>
          </a:solidFill>
        </p:spPr>
        <p:txBody>
          <a:bodyPr wrap="square" tIns="91440" bIns="91440" anchor="ctr">
            <a:noAutofit/>
          </a:bodyPr>
          <a:lstStyle/>
          <a:p>
            <a:pPr algn="l">
              <a:lnSpc>
                <a:spcPct val="100000"/>
              </a:lnSpc>
              <a:spcAft>
                <a:spcPts val="800"/>
              </a:spcAft>
            </a:pPr>
            <a:r>
              <a:rPr sz="1600" b="0" i="0">
                <a:solidFill>
                  <a:srgbClr val="000000"/>
                </a:solidFill>
                <a:latin typeface="Arial"/>
                <a:ea typeface="Arial"/>
                <a:cs typeface="Arial"/>
              </a:rPr>
              <a:t>Fase inicial coordinada por Europol y Eurojust contra cargadores de malware. Participa el Defense Criminal Investigative Service de EE.UU.</a:t>
            </a:r>
          </a:p>
        </p:txBody>
      </p:sp>
      <p:sp>
        <p:nvSpPr>
          <p:cNvPr id="9210" name="Rectangle 9209"/>
          <p:cNvSpPr/>
          <p:nvPr/>
        </p:nvSpPr>
        <p:spPr>
          <a:xfrm>
            <a:off x="822960" y="3520440"/>
            <a:ext cx="1828800" cy="123444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Abr 2025</a:t>
            </a:r>
          </a:p>
        </p:txBody>
      </p:sp>
      <p:sp>
        <p:nvSpPr>
          <p:cNvPr id="9211" name="TextBox 9210"/>
          <p:cNvSpPr txBox="1"/>
          <p:nvPr/>
        </p:nvSpPr>
        <p:spPr>
          <a:xfrm>
            <a:off x="2697479" y="3520440"/>
            <a:ext cx="8412480" cy="1234440"/>
          </a:xfrm>
          <a:prstGeom prst="rect">
            <a:avLst/>
          </a:prstGeom>
          <a:solidFill>
            <a:srgbClr val="E8EEFB"/>
          </a:solidFill>
        </p:spPr>
        <p:txBody>
          <a:bodyPr wrap="square" tIns="91440" bIns="91440" anchor="ctr">
            <a:noAutofit/>
          </a:bodyPr>
          <a:lstStyle/>
          <a:p>
            <a:pPr algn="l">
              <a:lnSpc>
                <a:spcPct val="100000"/>
              </a:lnSpc>
              <a:spcAft>
                <a:spcPts val="800"/>
              </a:spcAft>
            </a:pPr>
            <a:r>
              <a:rPr sz="1600" b="0" i="0">
                <a:solidFill>
                  <a:srgbClr val="000000"/>
                </a:solidFill>
                <a:latin typeface="Arial"/>
                <a:ea typeface="Arial"/>
                <a:cs typeface="Arial"/>
              </a:rPr>
              <a:t>Cinco detenciones; identificación de clientes de la botnet Smokeloader desde una base de datos incautada [20].</a:t>
            </a:r>
          </a:p>
        </p:txBody>
      </p:sp>
      <p:sp>
        <p:nvSpPr>
          <p:cNvPr id="9212" name="Rectangle 9211"/>
          <p:cNvSpPr/>
          <p:nvPr/>
        </p:nvSpPr>
        <p:spPr>
          <a:xfrm>
            <a:off x="822960" y="4892040"/>
            <a:ext cx="1828800" cy="123444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May 2025</a:t>
            </a:r>
          </a:p>
        </p:txBody>
      </p:sp>
      <p:sp>
        <p:nvSpPr>
          <p:cNvPr id="9213" name="TextBox 9212"/>
          <p:cNvSpPr txBox="1"/>
          <p:nvPr/>
        </p:nvSpPr>
        <p:spPr>
          <a:xfrm>
            <a:off x="2697479" y="4892040"/>
            <a:ext cx="8412480" cy="1234440"/>
          </a:xfrm>
          <a:prstGeom prst="rect">
            <a:avLst/>
          </a:prstGeom>
          <a:solidFill>
            <a:srgbClr val="E8EEFB"/>
          </a:solidFill>
        </p:spPr>
        <p:txBody>
          <a:bodyPr wrap="square" tIns="91440" bIns="91440" anchor="ctr">
            <a:noAutofit/>
          </a:bodyPr>
          <a:lstStyle/>
          <a:p>
            <a:pPr algn="l">
              <a:lnSpc>
                <a:spcPct val="100000"/>
              </a:lnSpc>
              <a:spcAft>
                <a:spcPts val="800"/>
              </a:spcAft>
            </a:pPr>
            <a:r>
              <a:rPr sz="1600" b="0" i="0">
                <a:solidFill>
                  <a:srgbClr val="000000"/>
                </a:solidFill>
                <a:latin typeface="Arial"/>
                <a:ea typeface="Arial"/>
                <a:cs typeface="Arial"/>
              </a:rPr>
              <a:t>Neutralización de «initial access malware»; veinte objetivos con órdenes internacionales [17].</a:t>
            </a:r>
          </a:p>
        </p:txBody>
      </p:sp>
      <p:sp>
        <p:nvSpPr>
          <p:cNvPr id="9214" name="Rectangle 9213"/>
          <p:cNvSpPr/>
          <p:nvPr/>
        </p:nvSpPr>
        <p:spPr>
          <a:xfrm>
            <a:off x="822960" y="6263640"/>
            <a:ext cx="1828800" cy="1234440"/>
          </a:xfrm>
          <a:prstGeom prst="rect">
            <a:avLst/>
          </a:prstGeom>
          <a:solidFill>
            <a:srgbClr val="6C84E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Nov 2025</a:t>
            </a:r>
          </a:p>
        </p:txBody>
      </p:sp>
      <p:sp>
        <p:nvSpPr>
          <p:cNvPr id="9215" name="TextBox 9214"/>
          <p:cNvSpPr txBox="1"/>
          <p:nvPr/>
        </p:nvSpPr>
        <p:spPr>
          <a:xfrm>
            <a:off x="2697479" y="6263640"/>
            <a:ext cx="8412480" cy="1234440"/>
          </a:xfrm>
          <a:prstGeom prst="rect">
            <a:avLst/>
          </a:prstGeom>
          <a:solidFill>
            <a:srgbClr val="E8EEFB"/>
          </a:solidFill>
        </p:spPr>
        <p:txBody>
          <a:bodyPr wrap="square" tIns="91440" bIns="91440" anchor="ctr">
            <a:noAutofit/>
          </a:bodyPr>
          <a:lstStyle/>
          <a:p>
            <a:pPr algn="l">
              <a:lnSpc>
                <a:spcPct val="100000"/>
              </a:lnSpc>
              <a:spcAft>
                <a:spcPts val="800"/>
              </a:spcAft>
            </a:pPr>
            <a:r>
              <a:rPr sz="1600" b="0" i="0">
                <a:solidFill>
                  <a:srgbClr val="000000"/>
                </a:solidFill>
                <a:latin typeface="Arial"/>
                <a:ea typeface="Arial"/>
                <a:cs typeface="Arial"/>
              </a:rPr>
              <a:t>1.025 servidores dados de baja: Rhadamanthys, VenomRAT, Elysium.</a:t>
            </a:r>
          </a:p>
        </p:txBody>
      </p:sp>
      <p:sp>
        <p:nvSpPr>
          <p:cNvPr id="9216" name="Rectangle 9215"/>
          <p:cNvSpPr/>
          <p:nvPr/>
        </p:nvSpPr>
        <p:spPr>
          <a:xfrm>
            <a:off x="822960" y="7635240"/>
            <a:ext cx="1828800" cy="12344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1700" b="1" i="0">
                <a:solidFill>
                  <a:srgbClr val="FFFFFF"/>
                </a:solidFill>
                <a:latin typeface="Arial"/>
                <a:ea typeface="Arial"/>
                <a:cs typeface="Arial"/>
              </a:rPr>
              <a:t>Jun 2026</a:t>
            </a:r>
          </a:p>
        </p:txBody>
      </p:sp>
      <p:sp>
        <p:nvSpPr>
          <p:cNvPr id="9217" name="TextBox 9216"/>
          <p:cNvSpPr txBox="1"/>
          <p:nvPr/>
        </p:nvSpPr>
        <p:spPr>
          <a:xfrm>
            <a:off x="2697479" y="7635240"/>
            <a:ext cx="8412480" cy="1234440"/>
          </a:xfrm>
          <a:prstGeom prst="rect">
            <a:avLst/>
          </a:prstGeom>
          <a:solidFill>
            <a:srgbClr val="E8EEFB"/>
          </a:solidFill>
        </p:spPr>
        <p:txBody>
          <a:bodyPr wrap="square" tIns="91440" bIns="91440" anchor="ctr">
            <a:noAutofit/>
          </a:bodyPr>
          <a:lstStyle/>
          <a:p>
            <a:pPr algn="l">
              <a:lnSpc>
                <a:spcPct val="100000"/>
              </a:lnSpc>
              <a:spcAft>
                <a:spcPts val="800"/>
              </a:spcAft>
            </a:pPr>
            <a:r>
              <a:rPr sz="1600" b="0" i="0">
                <a:solidFill>
                  <a:srgbClr val="000000"/>
                </a:solidFill>
                <a:latin typeface="Arial"/>
                <a:ea typeface="Arial"/>
                <a:cs typeface="Arial"/>
              </a:rPr>
              <a:t>SocGholish, Amadey, StealC: ~27 millones de credenciales recuperadas y notificadas a los titulares [19].</a:t>
            </a:r>
          </a:p>
        </p:txBody>
      </p:sp>
      <p:sp>
        <p:nvSpPr>
          <p:cNvPr id="9218" name="TextBox 9217"/>
          <p:cNvSpPr txBox="1"/>
          <p:nvPr/>
        </p:nvSpPr>
        <p:spPr>
          <a:xfrm>
            <a:off x="10698480" y="2148840"/>
            <a:ext cx="4572000" cy="8869680"/>
          </a:xfrm>
          <a:prstGeom prst="rect">
            <a:avLst/>
          </a:prstGeom>
          <a:solidFill>
            <a:srgbClr val="E8EEFB"/>
          </a:solidFill>
        </p:spPr>
        <p:txBody>
          <a:bodyPr wrap="square" lIns="73152" tIns="73152" rIns="73152" bIns="73152" anchor="t">
            <a:noAutofit/>
          </a:bodyPr>
          <a:lstStyle/>
          <a:p>
            <a:pPr algn="l">
              <a:lnSpc>
                <a:spcPct val="100000"/>
              </a:lnSpc>
              <a:spcAft>
                <a:spcPts val="800"/>
              </a:spcAft>
            </a:pPr>
            <a:r>
              <a:rPr sz="2000" b="1" i="0">
                <a:solidFill>
                  <a:srgbClr val="221666"/>
                </a:solidFill>
                <a:latin typeface="Arial"/>
                <a:ea typeface="Arial"/>
                <a:cs typeface="Arial"/>
              </a:rPr>
              <a:t>Por qué importa acá</a:t>
            </a:r>
          </a:p>
          <a:p>
            <a:pPr marL="320040" indent="-320040" algn="l">
              <a:lnSpc>
                <a:spcPct val="100000"/>
              </a:lnSpc>
              <a:spcAft>
                <a:spcPts val="800"/>
              </a:spcAft>
              <a:buClr>
                <a:srgbClr val="221666"/>
              </a:buClr>
              <a:buFont typeface="Arial"/>
              <a:buChar char="•"/>
            </a:pPr>
            <a:r>
              <a:rPr sz="1600" b="0" i="0">
                <a:solidFill>
                  <a:srgbClr val="000000"/>
                </a:solidFill>
                <a:latin typeface="Arial"/>
                <a:ea typeface="Arial"/>
                <a:cs typeface="Arial"/>
              </a:rPr>
              <a:t>No es una operación policial pura: participan empresas privadas de CTI (Microsoft, ESET, Proofpoint, IBM X-Force, Bitsight). Responde a «¿qué hace acá un analista privado?».</a:t>
            </a:r>
          </a:p>
          <a:p>
            <a:pPr marL="320040" indent="-320040" algn="l">
              <a:lnSpc>
                <a:spcPct val="100000"/>
              </a:lnSpc>
              <a:spcAft>
                <a:spcPts val="800"/>
              </a:spcAft>
              <a:buClr>
                <a:srgbClr val="221666"/>
              </a:buClr>
              <a:buFont typeface="Arial"/>
              <a:buChar char="•"/>
            </a:pPr>
            <a:r>
              <a:rPr sz="1600" b="0" i="0">
                <a:solidFill>
                  <a:srgbClr val="000000"/>
                </a:solidFill>
                <a:latin typeface="Arial"/>
                <a:ea typeface="Arial"/>
                <a:cs typeface="Arial"/>
              </a:rPr>
              <a:t>La inteligencia sobre credenciales se convirtió en notificación al afectado y rotación antes de la explotación: el mecanismo que la Fase I propone institucionalizar.</a:t>
            </a:r>
          </a:p>
          <a:p>
            <a:pPr marL="320040" indent="-320040" algn="l">
              <a:lnSpc>
                <a:spcPct val="100000"/>
              </a:lnSpc>
              <a:spcAft>
                <a:spcPts val="800"/>
              </a:spcAft>
              <a:buClr>
                <a:srgbClr val="221666"/>
              </a:buClr>
              <a:buFont typeface="Arial"/>
              <a:buChar char="•"/>
            </a:pPr>
            <a:r>
              <a:rPr sz="1600" b="0" i="0">
                <a:solidFill>
                  <a:srgbClr val="000000"/>
                </a:solidFill>
                <a:latin typeface="Arial"/>
                <a:ea typeface="Arial"/>
                <a:cs typeface="Arial"/>
              </a:rPr>
              <a:t>IOCTA 2025: los brokers de acceso inicial publicitan cada vez más sus servicios en plataformas criminales [18].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2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2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2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Código Admiralty (sistema OTAN de evaluación)</a:t>
            </a:r>
          </a:p>
        </p:txBody>
      </p:sp>
      <p:sp>
        <p:nvSpPr>
          <p:cNvPr id="9224" name="Rectangle 922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25" name="TextBox 922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26" name="TextBox 922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25</a:t>
            </a:r>
          </a:p>
        </p:txBody>
      </p:sp>
      <p:sp>
        <p:nvSpPr>
          <p:cNvPr id="9227" name="TextBox 922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Sistema OTAN de evaluación de fuentes (AJP-2.1). Ejemplo aplicado al caso UFED/PFA (slide 10).</a:t>
            </a:r>
          </a:p>
        </p:txBody>
      </p:sp>
      <p:graphicFrame>
        <p:nvGraphicFramePr>
          <p:cNvPr id="9228" name="Table 9227"/>
          <p:cNvGraphicFramePr>
            <a:graphicFrameLocks noGrp="1"/>
          </p:cNvGraphicFramePr>
          <p:nvPr/>
        </p:nvGraphicFramePr>
        <p:xfrm>
          <a:off x="822960" y="2148840"/>
          <a:ext cx="9692640" cy="6382512"/>
        </p:xfrm>
        <a:graphic>
          <a:graphicData uri="http://schemas.openxmlformats.org/drawingml/2006/table">
            <a:tbl>
              <a:tblPr/>
              <a:tblGrid>
                <a:gridCol w="45720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731520">
                <a:tc>
                  <a:txBody>
                    <a:bodyPr/>
                    <a:lstStyle/>
                    <a:p>
                      <a:r>
                        <a:rPr sz="2000" b="1" i="0">
                          <a:solidFill>
                            <a:srgbClr val="FFFFFF"/>
                          </a:solidFill>
                          <a:latin typeface="Arial"/>
                          <a:ea typeface="Arial"/>
                          <a:cs typeface="Arial"/>
                        </a:rPr>
                        <a:t>Fiabilidad de la fuente</a:t>
                      </a:r>
                    </a:p>
                  </a:txBody>
                  <a:tcPr anchor="ctr">
                    <a:solidFill>
                      <a:srgbClr val="221666"/>
                    </a:solidFill>
                  </a:tcPr>
                </a:tc>
                <a:tc>
                  <a:txBody>
                    <a:bodyPr/>
                    <a:lstStyle/>
                    <a:p>
                      <a:r>
                        <a:rPr sz="2000" b="1" i="0">
                          <a:solidFill>
                            <a:srgbClr val="FFFFFF"/>
                          </a:solidFill>
                          <a:latin typeface="Arial"/>
                          <a:ea typeface="Arial"/>
                          <a:cs typeface="Arial"/>
                        </a:rPr>
                        <a:t>Credibilidad de la información</a:t>
                      </a:r>
                    </a:p>
                  </a:txBody>
                  <a:tcPr anchor="ctr">
                    <a:solidFill>
                      <a:srgbClr val="221666"/>
                    </a:solidFill>
                  </a:tcPr>
                </a:tc>
                <a:extLst>
                  <a:ext uri="{0D108BD9-81ED-4DB2-BD59-A6C34878D82A}">
                    <a16:rowId xmlns:a16="http://schemas.microsoft.com/office/drawing/2014/main" val="10000"/>
                  </a:ext>
                </a:extLst>
              </a:tr>
              <a:tr h="941832">
                <a:tc>
                  <a:txBody>
                    <a:bodyPr/>
                    <a:lstStyle/>
                    <a:p>
                      <a:r>
                        <a:rPr sz="2000" b="0" i="0">
                          <a:solidFill>
                            <a:srgbClr val="000000"/>
                          </a:solidFill>
                          <a:latin typeface="Arial"/>
                          <a:ea typeface="Arial"/>
                          <a:cs typeface="Arial"/>
                        </a:rPr>
                        <a:t>A · Completamente fiable</a:t>
                      </a:r>
                    </a:p>
                  </a:txBody>
                  <a:tcPr anchor="ctr">
                    <a:solidFill>
                      <a:srgbClr val="FFFFFF"/>
                    </a:solidFill>
                  </a:tcPr>
                </a:tc>
                <a:tc>
                  <a:txBody>
                    <a:bodyPr/>
                    <a:lstStyle/>
                    <a:p>
                      <a:r>
                        <a:rPr sz="2000" b="0" i="0">
                          <a:solidFill>
                            <a:srgbClr val="000000"/>
                          </a:solidFill>
                          <a:latin typeface="Arial"/>
                          <a:ea typeface="Arial"/>
                          <a:cs typeface="Arial"/>
                        </a:rPr>
                        <a:t>1 · Confirmada por otras fuentes</a:t>
                      </a:r>
                    </a:p>
                  </a:txBody>
                  <a:tcPr anchor="ctr">
                    <a:solidFill>
                      <a:srgbClr val="FFFFFF"/>
                    </a:solidFill>
                  </a:tcPr>
                </a:tc>
                <a:extLst>
                  <a:ext uri="{0D108BD9-81ED-4DB2-BD59-A6C34878D82A}">
                    <a16:rowId xmlns:a16="http://schemas.microsoft.com/office/drawing/2014/main" val="10001"/>
                  </a:ext>
                </a:extLst>
              </a:tr>
              <a:tr h="941832">
                <a:tc>
                  <a:txBody>
                    <a:bodyPr/>
                    <a:lstStyle/>
                    <a:p>
                      <a:r>
                        <a:rPr sz="2000" b="0" i="0">
                          <a:solidFill>
                            <a:srgbClr val="000000"/>
                          </a:solidFill>
                          <a:latin typeface="Arial"/>
                          <a:ea typeface="Arial"/>
                          <a:cs typeface="Arial"/>
                        </a:rPr>
                        <a:t>B · Habitualmente fiable</a:t>
                      </a:r>
                    </a:p>
                  </a:txBody>
                  <a:tcPr anchor="ctr">
                    <a:solidFill>
                      <a:srgbClr val="E8EEFB"/>
                    </a:solidFill>
                  </a:tcPr>
                </a:tc>
                <a:tc>
                  <a:txBody>
                    <a:bodyPr/>
                    <a:lstStyle/>
                    <a:p>
                      <a:r>
                        <a:rPr sz="2000" b="0" i="0">
                          <a:solidFill>
                            <a:srgbClr val="000000"/>
                          </a:solidFill>
                          <a:latin typeface="Arial"/>
                          <a:ea typeface="Arial"/>
                          <a:cs typeface="Arial"/>
                        </a:rPr>
                        <a:t>2 · Probablemente cierta</a:t>
                      </a:r>
                    </a:p>
                  </a:txBody>
                  <a:tcPr anchor="ctr">
                    <a:solidFill>
                      <a:srgbClr val="E8EEFB"/>
                    </a:solidFill>
                  </a:tcPr>
                </a:tc>
                <a:extLst>
                  <a:ext uri="{0D108BD9-81ED-4DB2-BD59-A6C34878D82A}">
                    <a16:rowId xmlns:a16="http://schemas.microsoft.com/office/drawing/2014/main" val="10002"/>
                  </a:ext>
                </a:extLst>
              </a:tr>
              <a:tr h="941832">
                <a:tc>
                  <a:txBody>
                    <a:bodyPr/>
                    <a:lstStyle/>
                    <a:p>
                      <a:r>
                        <a:rPr sz="2000" b="0" i="0">
                          <a:solidFill>
                            <a:srgbClr val="000000"/>
                          </a:solidFill>
                          <a:latin typeface="Arial"/>
                          <a:ea typeface="Arial"/>
                          <a:cs typeface="Arial"/>
                        </a:rPr>
                        <a:t>C · Bastante fiable</a:t>
                      </a:r>
                    </a:p>
                  </a:txBody>
                  <a:tcPr anchor="ctr">
                    <a:solidFill>
                      <a:srgbClr val="FFFFFF"/>
                    </a:solidFill>
                  </a:tcPr>
                </a:tc>
                <a:tc>
                  <a:txBody>
                    <a:bodyPr/>
                    <a:lstStyle/>
                    <a:p>
                      <a:r>
                        <a:rPr sz="2000" b="0" i="0">
                          <a:solidFill>
                            <a:srgbClr val="000000"/>
                          </a:solidFill>
                          <a:latin typeface="Arial"/>
                          <a:ea typeface="Arial"/>
                          <a:cs typeface="Arial"/>
                        </a:rPr>
                        <a:t>3 · Posiblemente cierta</a:t>
                      </a:r>
                    </a:p>
                  </a:txBody>
                  <a:tcPr anchor="ctr">
                    <a:solidFill>
                      <a:srgbClr val="FFFFFF"/>
                    </a:solidFill>
                  </a:tcPr>
                </a:tc>
                <a:extLst>
                  <a:ext uri="{0D108BD9-81ED-4DB2-BD59-A6C34878D82A}">
                    <a16:rowId xmlns:a16="http://schemas.microsoft.com/office/drawing/2014/main" val="10003"/>
                  </a:ext>
                </a:extLst>
              </a:tr>
              <a:tr h="941832">
                <a:tc>
                  <a:txBody>
                    <a:bodyPr/>
                    <a:lstStyle/>
                    <a:p>
                      <a:r>
                        <a:rPr sz="2000" b="0" i="0">
                          <a:solidFill>
                            <a:srgbClr val="000000"/>
                          </a:solidFill>
                          <a:latin typeface="Arial"/>
                          <a:ea typeface="Arial"/>
                          <a:cs typeface="Arial"/>
                        </a:rPr>
                        <a:t>D · No habitualmente fiable</a:t>
                      </a:r>
                    </a:p>
                  </a:txBody>
                  <a:tcPr anchor="ctr">
                    <a:solidFill>
                      <a:srgbClr val="E8EEFB"/>
                    </a:solidFill>
                  </a:tcPr>
                </a:tc>
                <a:tc>
                  <a:txBody>
                    <a:bodyPr/>
                    <a:lstStyle/>
                    <a:p>
                      <a:r>
                        <a:rPr sz="2000" b="0" i="0">
                          <a:solidFill>
                            <a:srgbClr val="000000"/>
                          </a:solidFill>
                          <a:latin typeface="Arial"/>
                          <a:ea typeface="Arial"/>
                          <a:cs typeface="Arial"/>
                        </a:rPr>
                        <a:t>4 · Dudosa</a:t>
                      </a:r>
                    </a:p>
                  </a:txBody>
                  <a:tcPr anchor="ctr">
                    <a:solidFill>
                      <a:srgbClr val="E8EEFB"/>
                    </a:solidFill>
                  </a:tcPr>
                </a:tc>
                <a:extLst>
                  <a:ext uri="{0D108BD9-81ED-4DB2-BD59-A6C34878D82A}">
                    <a16:rowId xmlns:a16="http://schemas.microsoft.com/office/drawing/2014/main" val="10004"/>
                  </a:ext>
                </a:extLst>
              </a:tr>
              <a:tr h="941832">
                <a:tc>
                  <a:txBody>
                    <a:bodyPr/>
                    <a:lstStyle/>
                    <a:p>
                      <a:r>
                        <a:rPr sz="2000" b="0" i="0">
                          <a:solidFill>
                            <a:srgbClr val="000000"/>
                          </a:solidFill>
                          <a:latin typeface="Arial"/>
                          <a:ea typeface="Arial"/>
                          <a:cs typeface="Arial"/>
                        </a:rPr>
                        <a:t>E · No fiable</a:t>
                      </a:r>
                    </a:p>
                  </a:txBody>
                  <a:tcPr anchor="ctr">
                    <a:solidFill>
                      <a:srgbClr val="FFFFFF"/>
                    </a:solidFill>
                  </a:tcPr>
                </a:tc>
                <a:tc>
                  <a:txBody>
                    <a:bodyPr/>
                    <a:lstStyle/>
                    <a:p>
                      <a:r>
                        <a:rPr sz="2000" b="0" i="0">
                          <a:solidFill>
                            <a:srgbClr val="000000"/>
                          </a:solidFill>
                          <a:latin typeface="Arial"/>
                          <a:ea typeface="Arial"/>
                          <a:cs typeface="Arial"/>
                        </a:rPr>
                        <a:t>5 · Improbable</a:t>
                      </a:r>
                    </a:p>
                  </a:txBody>
                  <a:tcPr anchor="ctr">
                    <a:solidFill>
                      <a:srgbClr val="FFFFFF"/>
                    </a:solidFill>
                  </a:tcPr>
                </a:tc>
                <a:extLst>
                  <a:ext uri="{0D108BD9-81ED-4DB2-BD59-A6C34878D82A}">
                    <a16:rowId xmlns:a16="http://schemas.microsoft.com/office/drawing/2014/main" val="10005"/>
                  </a:ext>
                </a:extLst>
              </a:tr>
              <a:tr h="941832">
                <a:tc>
                  <a:txBody>
                    <a:bodyPr/>
                    <a:lstStyle/>
                    <a:p>
                      <a:r>
                        <a:rPr sz="2000" b="0" i="0">
                          <a:solidFill>
                            <a:srgbClr val="000000"/>
                          </a:solidFill>
                          <a:latin typeface="Arial"/>
                          <a:ea typeface="Arial"/>
                          <a:cs typeface="Arial"/>
                        </a:rPr>
                        <a:t>F · No puede juzgarse</a:t>
                      </a:r>
                    </a:p>
                  </a:txBody>
                  <a:tcPr anchor="ctr">
                    <a:solidFill>
                      <a:srgbClr val="E8EEFB"/>
                    </a:solidFill>
                  </a:tcPr>
                </a:tc>
                <a:tc>
                  <a:txBody>
                    <a:bodyPr/>
                    <a:lstStyle/>
                    <a:p>
                      <a:r>
                        <a:rPr sz="2000" b="0" i="0">
                          <a:solidFill>
                            <a:srgbClr val="000000"/>
                          </a:solidFill>
                          <a:latin typeface="Arial"/>
                          <a:ea typeface="Arial"/>
                          <a:cs typeface="Arial"/>
                        </a:rPr>
                        <a:t>6 · No puede juzgarse</a:t>
                      </a:r>
                    </a:p>
                  </a:txBody>
                  <a:tcPr anchor="ctr">
                    <a:solidFill>
                      <a:srgbClr val="E8EEFB"/>
                    </a:solidFill>
                  </a:tcPr>
                </a:tc>
                <a:extLst>
                  <a:ext uri="{0D108BD9-81ED-4DB2-BD59-A6C34878D82A}">
                    <a16:rowId xmlns:a16="http://schemas.microsoft.com/office/drawing/2014/main" val="10006"/>
                  </a:ext>
                </a:extLst>
              </a:tr>
            </a:tbl>
          </a:graphicData>
        </a:graphic>
      </p:graphicFrame>
      <p:sp>
        <p:nvSpPr>
          <p:cNvPr id="9229" name="TextBox 9228"/>
          <p:cNvSpPr txBox="1"/>
          <p:nvPr/>
        </p:nvSpPr>
        <p:spPr>
          <a:xfrm>
            <a:off x="822960" y="8823960"/>
            <a:ext cx="9692640" cy="2194560"/>
          </a:xfrm>
          <a:prstGeom prst="rect">
            <a:avLst/>
          </a:prstGeom>
          <a:noFill/>
        </p:spPr>
        <p:txBody>
          <a:bodyPr wrap="square" lIns="73152" tIns="73152" rIns="73152" bIns="73152" anchor="t">
            <a:noAutofit/>
          </a:bodyPr>
          <a:lstStyle/>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Las dos escalas se califican por separado: una fuente muy fiable puede aportar un dato no confirmado (A3); una dudosa, un dato confirmado por otras vías (D1).</a:t>
            </a:r>
          </a:p>
          <a:p>
            <a:pPr marL="320040" indent="-320040" algn="l">
              <a:lnSpc>
                <a:spcPct val="100000"/>
              </a:lnSpc>
              <a:spcAft>
                <a:spcPts val="800"/>
              </a:spcAft>
              <a:buClr>
                <a:srgbClr val="221666"/>
              </a:buClr>
              <a:buFont typeface="Arial"/>
              <a:buChar char="•"/>
            </a:pPr>
            <a:r>
              <a:rPr sz="1800" b="0" i="0">
                <a:solidFill>
                  <a:srgbClr val="000000"/>
                </a:solidFill>
                <a:latin typeface="Arial"/>
                <a:ea typeface="Arial"/>
                <a:cs typeface="Arial"/>
              </a:rPr>
              <a:t>La calificación viaja con el hallazgo hasta la Fase III, donde pondera el peso de cada evidencia en la matriz ACH.</a:t>
            </a:r>
          </a:p>
        </p:txBody>
      </p:sp>
      <p:sp>
        <p:nvSpPr>
          <p:cNvPr id="9230" name="Rectangle 9229"/>
          <p:cNvSpPr/>
          <p:nvPr/>
        </p:nvSpPr>
        <p:spPr>
          <a:xfrm>
            <a:off x="10881360" y="2148840"/>
            <a:ext cx="4389120" cy="274320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6600" b="1" i="0">
                <a:solidFill>
                  <a:srgbClr val="FFFFFF"/>
                </a:solidFill>
                <a:latin typeface="Oswald"/>
                <a:ea typeface="Oswald"/>
                <a:cs typeface="Oswald"/>
              </a:rPr>
              <a:t>C2</a:t>
            </a:r>
          </a:p>
          <a:p>
            <a:pPr algn="ctr">
              <a:spcAft>
                <a:spcPts val="0"/>
              </a:spcAft>
            </a:pPr>
            <a:r>
              <a:rPr sz="1700" b="0" i="0">
                <a:solidFill>
                  <a:srgbClr val="FFFFFF"/>
                </a:solidFill>
                <a:latin typeface="Arial"/>
                <a:ea typeface="Arial"/>
                <a:cs typeface="Arial"/>
              </a:rPr>
              <a:t>caso UFED / PFA</a:t>
            </a:r>
          </a:p>
        </p:txBody>
      </p:sp>
      <p:sp>
        <p:nvSpPr>
          <p:cNvPr id="9231" name="TextBox 9230"/>
          <p:cNvSpPr txBox="1"/>
          <p:nvPr/>
        </p:nvSpPr>
        <p:spPr>
          <a:xfrm>
            <a:off x="10881360" y="5074920"/>
            <a:ext cx="4389120" cy="3657600"/>
          </a:xfrm>
          <a:prstGeom prst="rect">
            <a:avLst/>
          </a:prstGeom>
          <a:solidFill>
            <a:srgbClr val="E8EEFB"/>
          </a:solidFill>
        </p:spPr>
        <p:txBody>
          <a:bodyPr wrap="square" lIns="73152" tIns="73152" rIns="73152" bIns="73152" anchor="t">
            <a:noAutofit/>
          </a:bodyPr>
          <a:lstStyle/>
          <a:p>
            <a:pPr algn="l">
              <a:lnSpc>
                <a:spcPct val="100000"/>
              </a:lnSpc>
              <a:spcAft>
                <a:spcPts val="800"/>
              </a:spcAft>
            </a:pPr>
            <a:r>
              <a:rPr sz="1600" b="0" i="0">
                <a:solidFill>
                  <a:srgbClr val="555B6E"/>
                </a:solidFill>
                <a:latin typeface="Arial"/>
                <a:ea typeface="Arial"/>
                <a:cs typeface="Arial"/>
              </a:rPr>
              <a:t>Fuente bastante fiable (C): vendedor de foro con historial acotado. Información probablemente cierta (2): artefactos verificables, dominios reales, sin verificación independiente del binario. Calificación del autor.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3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3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3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Protocolo ACH en ocho pasos</a:t>
            </a:r>
          </a:p>
        </p:txBody>
      </p:sp>
      <p:sp>
        <p:nvSpPr>
          <p:cNvPr id="9234" name="Rectangle 923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35" name="TextBox 923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36" name="TextBox 923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26</a:t>
            </a:r>
          </a:p>
        </p:txBody>
      </p:sp>
      <p:sp>
        <p:nvSpPr>
          <p:cNvPr id="9237" name="TextBox 923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Sección 2.3.1, adaptado de Heuer [5]; lenguaje de confianza según ICD 203 [8].</a:t>
            </a:r>
          </a:p>
        </p:txBody>
      </p:sp>
      <p:sp>
        <p:nvSpPr>
          <p:cNvPr id="9238" name="Rectangle 9237"/>
          <p:cNvSpPr/>
          <p:nvPr/>
        </p:nvSpPr>
        <p:spPr>
          <a:xfrm>
            <a:off x="822960" y="2148840"/>
            <a:ext cx="822960" cy="1691640"/>
          </a:xfrm>
          <a:prstGeom prst="rect">
            <a:avLst/>
          </a:prstGeom>
          <a:solidFill>
            <a:srgbClr val="3C98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1</a:t>
            </a:r>
          </a:p>
        </p:txBody>
      </p:sp>
      <p:sp>
        <p:nvSpPr>
          <p:cNvPr id="9239" name="TextBox 9238"/>
          <p:cNvSpPr txBox="1"/>
          <p:nvPr/>
        </p:nvSpPr>
        <p:spPr>
          <a:xfrm>
            <a:off x="1737360" y="2148840"/>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Enumerar hipótesis mutuamente excluyentes. La falsa bandera es de inclusión obligatoria.</a:t>
            </a:r>
          </a:p>
        </p:txBody>
      </p:sp>
      <p:sp>
        <p:nvSpPr>
          <p:cNvPr id="9240" name="Rectangle 9239"/>
          <p:cNvSpPr/>
          <p:nvPr/>
        </p:nvSpPr>
        <p:spPr>
          <a:xfrm>
            <a:off x="822960" y="4023360"/>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2</a:t>
            </a:r>
          </a:p>
        </p:txBody>
      </p:sp>
      <p:sp>
        <p:nvSpPr>
          <p:cNvPr id="9241" name="TextBox 9240"/>
          <p:cNvSpPr txBox="1"/>
          <p:nvPr/>
        </p:nvSpPr>
        <p:spPr>
          <a:xfrm>
            <a:off x="1737360" y="4023360"/>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Listar evidencia y supuestos, incluidas las ausencias significativas.</a:t>
            </a:r>
          </a:p>
        </p:txBody>
      </p:sp>
      <p:sp>
        <p:nvSpPr>
          <p:cNvPr id="9242" name="Rectangle 9241"/>
          <p:cNvSpPr/>
          <p:nvPr/>
        </p:nvSpPr>
        <p:spPr>
          <a:xfrm>
            <a:off x="822960" y="5897879"/>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3</a:t>
            </a:r>
          </a:p>
        </p:txBody>
      </p:sp>
      <p:sp>
        <p:nvSpPr>
          <p:cNvPr id="9243" name="TextBox 9242"/>
          <p:cNvSpPr txBox="1"/>
          <p:nvPr/>
        </p:nvSpPr>
        <p:spPr>
          <a:xfrm>
            <a:off x="1737360" y="5897879"/>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Construir la matriz evidencia × hipótesis; ponderar cada ítem con Admiralty.</a:t>
            </a:r>
          </a:p>
        </p:txBody>
      </p:sp>
      <p:sp>
        <p:nvSpPr>
          <p:cNvPr id="9244" name="Rectangle 9243"/>
          <p:cNvSpPr/>
          <p:nvPr/>
        </p:nvSpPr>
        <p:spPr>
          <a:xfrm>
            <a:off x="822960" y="7772400"/>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4</a:t>
            </a:r>
          </a:p>
        </p:txBody>
      </p:sp>
      <p:sp>
        <p:nvSpPr>
          <p:cNvPr id="9245" name="TextBox 9244"/>
          <p:cNvSpPr txBox="1"/>
          <p:nvPr/>
        </p:nvSpPr>
        <p:spPr>
          <a:xfrm>
            <a:off x="1737360" y="7772400"/>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Depurar la evidencia sin poder diagnóstico: lo consistente con todo no discrimina.</a:t>
            </a:r>
          </a:p>
        </p:txBody>
      </p:sp>
      <p:sp>
        <p:nvSpPr>
          <p:cNvPr id="9246" name="Rectangle 9245"/>
          <p:cNvSpPr/>
          <p:nvPr/>
        </p:nvSpPr>
        <p:spPr>
          <a:xfrm>
            <a:off x="8138160" y="2148840"/>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5</a:t>
            </a:r>
          </a:p>
        </p:txBody>
      </p:sp>
      <p:sp>
        <p:nvSpPr>
          <p:cNvPr id="9247" name="TextBox 9246"/>
          <p:cNvSpPr txBox="1"/>
          <p:nvPr/>
        </p:nvSpPr>
        <p:spPr>
          <a:xfrm>
            <a:off x="9052560" y="2148840"/>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Ordenar por evidencia inconsistente: sobrevive la hipótesis menos refutada.</a:t>
            </a:r>
          </a:p>
        </p:txBody>
      </p:sp>
      <p:sp>
        <p:nvSpPr>
          <p:cNvPr id="9248" name="Rectangle 9247"/>
          <p:cNvSpPr/>
          <p:nvPr/>
        </p:nvSpPr>
        <p:spPr>
          <a:xfrm>
            <a:off x="8138160" y="4023360"/>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6</a:t>
            </a:r>
          </a:p>
        </p:txBody>
      </p:sp>
      <p:sp>
        <p:nvSpPr>
          <p:cNvPr id="9249" name="TextBox 9248"/>
          <p:cNvSpPr txBox="1"/>
          <p:nvPr/>
        </p:nvSpPr>
        <p:spPr>
          <a:xfrm>
            <a:off x="9052560" y="4023360"/>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Identificar la evidencia bisagra: la que, si cambia, altera el orden.</a:t>
            </a:r>
          </a:p>
        </p:txBody>
      </p:sp>
      <p:sp>
        <p:nvSpPr>
          <p:cNvPr id="9250" name="Rectangle 9249"/>
          <p:cNvSpPr/>
          <p:nvPr/>
        </p:nvSpPr>
        <p:spPr>
          <a:xfrm>
            <a:off x="8138160" y="5897879"/>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7</a:t>
            </a:r>
          </a:p>
        </p:txBody>
      </p:sp>
      <p:sp>
        <p:nvSpPr>
          <p:cNvPr id="9251" name="TextBox 9250"/>
          <p:cNvSpPr txBox="1"/>
          <p:nvPr/>
        </p:nvSpPr>
        <p:spPr>
          <a:xfrm>
            <a:off x="9052560" y="5897879"/>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Definir indicadores de seguimiento para reevaluar ante evidencia nueva.</a:t>
            </a:r>
          </a:p>
        </p:txBody>
      </p:sp>
      <p:sp>
        <p:nvSpPr>
          <p:cNvPr id="9252" name="Rectangle 9251"/>
          <p:cNvSpPr/>
          <p:nvPr/>
        </p:nvSpPr>
        <p:spPr>
          <a:xfrm>
            <a:off x="8138160" y="7772400"/>
            <a:ext cx="822960" cy="1691640"/>
          </a:xfrm>
          <a:prstGeom prst="rect">
            <a:avLst/>
          </a:prstGeom>
          <a:solidFill>
            <a:srgbClr val="22166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800" b="1" i="0">
                <a:solidFill>
                  <a:srgbClr val="FFFFFF"/>
                </a:solidFill>
                <a:latin typeface="Oswald"/>
                <a:ea typeface="Oswald"/>
                <a:cs typeface="Oswald"/>
              </a:rPr>
              <a:t>8</a:t>
            </a:r>
          </a:p>
        </p:txBody>
      </p:sp>
      <p:sp>
        <p:nvSpPr>
          <p:cNvPr id="9253" name="TextBox 9252"/>
          <p:cNvSpPr txBox="1"/>
          <p:nvPr/>
        </p:nvSpPr>
        <p:spPr>
          <a:xfrm>
            <a:off x="9052560" y="7772400"/>
            <a:ext cx="6126480" cy="1691640"/>
          </a:xfrm>
          <a:prstGeom prst="rect">
            <a:avLst/>
          </a:prstGeom>
          <a:solidFill>
            <a:srgbClr val="E8EEFB"/>
          </a:solidFill>
        </p:spPr>
        <p:txBody>
          <a:bodyPr wrap="square" lIns="109728" tIns="109728" rIns="109728" bIns="109728" anchor="ctr">
            <a:noAutofit/>
          </a:bodyPr>
          <a:lstStyle/>
          <a:p>
            <a:pPr algn="l">
              <a:lnSpc>
                <a:spcPct val="100000"/>
              </a:lnSpc>
              <a:spcAft>
                <a:spcPts val="800"/>
              </a:spcAft>
            </a:pPr>
            <a:r>
              <a:rPr sz="1600" b="0" i="0">
                <a:solidFill>
                  <a:srgbClr val="000000"/>
                </a:solidFill>
                <a:latin typeface="Arial"/>
                <a:ea typeface="Arial"/>
                <a:cs typeface="Arial"/>
              </a:rPr>
              <a:t>Consignar con lenguaje de confianza qué evidencia modificaría la conclusión.</a:t>
            </a:r>
          </a:p>
        </p:txBody>
      </p:sp>
      <p:sp>
        <p:nvSpPr>
          <p:cNvPr id="9254" name="TextBox 9253"/>
          <p:cNvSpPr txBox="1"/>
          <p:nvPr/>
        </p:nvSpPr>
        <p:spPr>
          <a:xfrm>
            <a:off x="822960" y="9784080"/>
            <a:ext cx="14447520" cy="914400"/>
          </a:xfrm>
          <a:prstGeom prst="rect">
            <a:avLst/>
          </a:prstGeom>
          <a:noFill/>
        </p:spPr>
        <p:txBody>
          <a:bodyPr wrap="square" lIns="73152" tIns="73152" rIns="73152" bIns="73152" anchor="t">
            <a:noAutofit/>
          </a:bodyPr>
          <a:lstStyle/>
          <a:p>
            <a:pPr algn="l">
              <a:lnSpc>
                <a:spcPct val="100000"/>
              </a:lnSpc>
              <a:spcAft>
                <a:spcPts val="800"/>
              </a:spcAft>
            </a:pPr>
            <a:r>
              <a:rPr sz="1700" b="1" i="0">
                <a:solidFill>
                  <a:srgbClr val="555B6E"/>
                </a:solidFill>
                <a:latin typeface="Arial"/>
                <a:ea typeface="Arial"/>
                <a:cs typeface="Arial"/>
              </a:rPr>
              <a:t>Obligatorio antes de afirmar atribución operacional o política. Revisión por pares ajenos a la hipótesis inicial.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4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4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4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Criterios de priorización de TTPs (Tabla 1)</a:t>
            </a:r>
          </a:p>
        </p:txBody>
      </p:sp>
      <p:sp>
        <p:nvSpPr>
          <p:cNvPr id="9244" name="Rectangle 924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45" name="TextBox 924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46" name="TextBox 924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27</a:t>
            </a:r>
          </a:p>
        </p:txBody>
      </p:sp>
      <p:sp>
        <p:nvSpPr>
          <p:cNvPr id="9247" name="TextBox 924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Sección 2.2.1. Aplicación: T1219 y la familia LOTL obtienen prioridad alta.</a:t>
            </a:r>
          </a:p>
        </p:txBody>
      </p:sp>
      <p:graphicFrame>
        <p:nvGraphicFramePr>
          <p:cNvPr id="9248" name="Table 9247"/>
          <p:cNvGraphicFramePr>
            <a:graphicFrameLocks noGrp="1"/>
          </p:cNvGraphicFramePr>
          <p:nvPr/>
        </p:nvGraphicFramePr>
        <p:xfrm>
          <a:off x="822960" y="2148840"/>
          <a:ext cx="14447520" cy="5852155"/>
        </p:xfrm>
        <a:graphic>
          <a:graphicData uri="http://schemas.openxmlformats.org/drawingml/2006/table">
            <a:tbl>
              <a:tblPr/>
              <a:tblGrid>
                <a:gridCol w="301752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685800">
                <a:tc>
                  <a:txBody>
                    <a:bodyPr/>
                    <a:lstStyle/>
                    <a:p>
                      <a:r>
                        <a:rPr sz="1800" b="1" i="0">
                          <a:solidFill>
                            <a:srgbClr val="FFFFFF"/>
                          </a:solidFill>
                          <a:latin typeface="Arial"/>
                          <a:ea typeface="Arial"/>
                          <a:cs typeface="Arial"/>
                        </a:rPr>
                        <a:t>Criterio</a:t>
                      </a:r>
                    </a:p>
                  </a:txBody>
                  <a:tcPr anchor="ctr">
                    <a:solidFill>
                      <a:srgbClr val="221666"/>
                    </a:solidFill>
                  </a:tcPr>
                </a:tc>
                <a:tc>
                  <a:txBody>
                    <a:bodyPr/>
                    <a:lstStyle/>
                    <a:p>
                      <a:r>
                        <a:rPr sz="1800" b="1" i="0">
                          <a:solidFill>
                            <a:srgbClr val="FFFFFF"/>
                          </a:solidFill>
                          <a:latin typeface="Arial"/>
                          <a:ea typeface="Arial"/>
                          <a:cs typeface="Arial"/>
                        </a:rPr>
                        <a:t>Pregunta operativa</a:t>
                      </a:r>
                    </a:p>
                  </a:txBody>
                  <a:tcPr anchor="ctr">
                    <a:solidFill>
                      <a:srgbClr val="221666"/>
                    </a:solidFill>
                  </a:tcPr>
                </a:tc>
                <a:tc>
                  <a:txBody>
                    <a:bodyPr/>
                    <a:lstStyle/>
                    <a:p>
                      <a:r>
                        <a:rPr sz="1800" b="1" i="0">
                          <a:solidFill>
                            <a:srgbClr val="FFFFFF"/>
                          </a:solidFill>
                          <a:latin typeface="Arial"/>
                          <a:ea typeface="Arial"/>
                          <a:cs typeface="Arial"/>
                        </a:rPr>
                        <a:t>Función</a:t>
                      </a:r>
                    </a:p>
                  </a:txBody>
                  <a:tcPr anchor="ctr">
                    <a:solidFill>
                      <a:srgbClr val="221666"/>
                    </a:solidFill>
                  </a:tcPr>
                </a:tc>
                <a:extLst>
                  <a:ext uri="{0D108BD9-81ED-4DB2-BD59-A6C34878D82A}">
                    <a16:rowId xmlns:a16="http://schemas.microsoft.com/office/drawing/2014/main" val="10000"/>
                  </a:ext>
                </a:extLst>
              </a:tr>
              <a:tr h="1033271">
                <a:tc>
                  <a:txBody>
                    <a:bodyPr/>
                    <a:lstStyle/>
                    <a:p>
                      <a:r>
                        <a:rPr sz="1800" b="1" i="0">
                          <a:solidFill>
                            <a:srgbClr val="000000"/>
                          </a:solidFill>
                          <a:latin typeface="Arial"/>
                          <a:ea typeface="Arial"/>
                          <a:cs typeface="Arial"/>
                        </a:rPr>
                        <a:t>Alineación con PIR</a:t>
                      </a:r>
                    </a:p>
                  </a:txBody>
                  <a:tcPr anchor="ctr">
                    <a:solidFill>
                      <a:srgbClr val="FFFFFF"/>
                    </a:solidFill>
                  </a:tcPr>
                </a:tc>
                <a:tc>
                  <a:txBody>
                    <a:bodyPr/>
                    <a:lstStyle/>
                    <a:p>
                      <a:r>
                        <a:rPr sz="1800" b="0" i="0">
                          <a:solidFill>
                            <a:srgbClr val="000000"/>
                          </a:solidFill>
                          <a:latin typeface="Arial"/>
                          <a:ea typeface="Arial"/>
                          <a:cs typeface="Arial"/>
                        </a:rPr>
                        <a:t>¿Responde a una decisión pendiente de la organización?</a:t>
                      </a:r>
                    </a:p>
                  </a:txBody>
                  <a:tcPr anchor="ctr">
                    <a:solidFill>
                      <a:srgbClr val="FFFFFF"/>
                    </a:solidFill>
                  </a:tcPr>
                </a:tc>
                <a:tc>
                  <a:txBody>
                    <a:bodyPr/>
                    <a:lstStyle/>
                    <a:p>
                      <a:r>
                        <a:rPr sz="1800" b="0" i="0">
                          <a:solidFill>
                            <a:srgbClr val="000000"/>
                          </a:solidFill>
                          <a:latin typeface="Arial"/>
                          <a:ea typeface="Arial"/>
                          <a:cs typeface="Arial"/>
                        </a:rPr>
                        <a:t>Filtro de entrada</a:t>
                      </a:r>
                    </a:p>
                  </a:txBody>
                  <a:tcPr anchor="ctr">
                    <a:solidFill>
                      <a:srgbClr val="FFFFFF"/>
                    </a:solidFill>
                  </a:tcPr>
                </a:tc>
                <a:extLst>
                  <a:ext uri="{0D108BD9-81ED-4DB2-BD59-A6C34878D82A}">
                    <a16:rowId xmlns:a16="http://schemas.microsoft.com/office/drawing/2014/main" val="10001"/>
                  </a:ext>
                </a:extLst>
              </a:tr>
              <a:tr h="1033271">
                <a:tc>
                  <a:txBody>
                    <a:bodyPr/>
                    <a:lstStyle/>
                    <a:p>
                      <a:r>
                        <a:rPr sz="1800" b="1" i="0">
                          <a:solidFill>
                            <a:srgbClr val="000000"/>
                          </a:solidFill>
                          <a:latin typeface="Arial"/>
                          <a:ea typeface="Arial"/>
                          <a:cs typeface="Arial"/>
                        </a:rPr>
                        <a:t>Costo de sustitución</a:t>
                      </a:r>
                    </a:p>
                  </a:txBody>
                  <a:tcPr anchor="ctr">
                    <a:solidFill>
                      <a:srgbClr val="E8EEFB"/>
                    </a:solidFill>
                  </a:tcPr>
                </a:tc>
                <a:tc>
                  <a:txBody>
                    <a:bodyPr/>
                    <a:lstStyle/>
                    <a:p>
                      <a:r>
                        <a:rPr sz="1800" b="0" i="0">
                          <a:solidFill>
                            <a:srgbClr val="000000"/>
                          </a:solidFill>
                          <a:latin typeface="Arial"/>
                          <a:ea typeface="Arial"/>
                          <a:cs typeface="Arial"/>
                        </a:rPr>
                        <a:t>¿Cuánto le cuesta al adversario abandonar el comportamiento?</a:t>
                      </a:r>
                    </a:p>
                  </a:txBody>
                  <a:tcPr anchor="ctr">
                    <a:solidFill>
                      <a:srgbClr val="E8EEFB"/>
                    </a:solidFill>
                  </a:tcPr>
                </a:tc>
                <a:tc>
                  <a:txBody>
                    <a:bodyPr/>
                    <a:lstStyle/>
                    <a:p>
                      <a:r>
                        <a:rPr sz="1800" b="0" i="0">
                          <a:solidFill>
                            <a:srgbClr val="000000"/>
                          </a:solidFill>
                          <a:latin typeface="Arial"/>
                          <a:ea typeface="Arial"/>
                          <a:cs typeface="Arial"/>
                        </a:rPr>
                        <a:t>Determina el orden</a:t>
                      </a:r>
                    </a:p>
                  </a:txBody>
                  <a:tcPr anchor="ctr">
                    <a:solidFill>
                      <a:srgbClr val="E8EEFB"/>
                    </a:solidFill>
                  </a:tcPr>
                </a:tc>
                <a:extLst>
                  <a:ext uri="{0D108BD9-81ED-4DB2-BD59-A6C34878D82A}">
                    <a16:rowId xmlns:a16="http://schemas.microsoft.com/office/drawing/2014/main" val="10002"/>
                  </a:ext>
                </a:extLst>
              </a:tr>
              <a:tr h="1033271">
                <a:tc>
                  <a:txBody>
                    <a:bodyPr/>
                    <a:lstStyle/>
                    <a:p>
                      <a:r>
                        <a:rPr sz="1800" b="1" i="0">
                          <a:solidFill>
                            <a:srgbClr val="000000"/>
                          </a:solidFill>
                          <a:latin typeface="Arial"/>
                          <a:ea typeface="Arial"/>
                          <a:cs typeface="Arial"/>
                        </a:rPr>
                        <a:t>Transversalidad</a:t>
                      </a:r>
                    </a:p>
                  </a:txBody>
                  <a:tcPr anchor="ctr">
                    <a:solidFill>
                      <a:srgbClr val="FFFFFF"/>
                    </a:solidFill>
                  </a:tcPr>
                </a:tc>
                <a:tc>
                  <a:txBody>
                    <a:bodyPr/>
                    <a:lstStyle/>
                    <a:p>
                      <a:r>
                        <a:rPr sz="1800" b="0" i="0">
                          <a:solidFill>
                            <a:srgbClr val="000000"/>
                          </a:solidFill>
                          <a:latin typeface="Arial"/>
                          <a:ea typeface="Arial"/>
                          <a:cs typeface="Arial"/>
                        </a:rPr>
                        <a:t>¿Cuántas categorías de actor usan el mismo TTP?</a:t>
                      </a:r>
                    </a:p>
                  </a:txBody>
                  <a:tcPr anchor="ctr">
                    <a:solidFill>
                      <a:srgbClr val="FFFFFF"/>
                    </a:solidFill>
                  </a:tcPr>
                </a:tc>
                <a:tc>
                  <a:txBody>
                    <a:bodyPr/>
                    <a:lstStyle/>
                    <a:p>
                      <a:r>
                        <a:rPr sz="1800" b="0" i="0">
                          <a:solidFill>
                            <a:srgbClr val="000000"/>
                          </a:solidFill>
                          <a:latin typeface="Arial"/>
                          <a:ea typeface="Arial"/>
                          <a:cs typeface="Arial"/>
                        </a:rPr>
                        <a:t>Determina el orden</a:t>
                      </a:r>
                    </a:p>
                  </a:txBody>
                  <a:tcPr anchor="ctr">
                    <a:solidFill>
                      <a:srgbClr val="FFFFFF"/>
                    </a:solidFill>
                  </a:tcPr>
                </a:tc>
                <a:extLst>
                  <a:ext uri="{0D108BD9-81ED-4DB2-BD59-A6C34878D82A}">
                    <a16:rowId xmlns:a16="http://schemas.microsoft.com/office/drawing/2014/main" val="10003"/>
                  </a:ext>
                </a:extLst>
              </a:tr>
              <a:tr h="1033271">
                <a:tc>
                  <a:txBody>
                    <a:bodyPr/>
                    <a:lstStyle/>
                    <a:p>
                      <a:r>
                        <a:rPr sz="1800" b="1" i="0">
                          <a:solidFill>
                            <a:srgbClr val="000000"/>
                          </a:solidFill>
                          <a:latin typeface="Arial"/>
                          <a:ea typeface="Arial"/>
                          <a:cs typeface="Arial"/>
                        </a:rPr>
                        <a:t>Exposición del entorno</a:t>
                      </a:r>
                    </a:p>
                  </a:txBody>
                  <a:tcPr anchor="ctr">
                    <a:solidFill>
                      <a:srgbClr val="E8EEFB"/>
                    </a:solidFill>
                  </a:tcPr>
                </a:tc>
                <a:tc>
                  <a:txBody>
                    <a:bodyPr/>
                    <a:lstStyle/>
                    <a:p>
                      <a:r>
                        <a:rPr sz="1800" b="0" i="0">
                          <a:solidFill>
                            <a:srgbClr val="000000"/>
                          </a:solidFill>
                          <a:latin typeface="Arial"/>
                          <a:ea typeface="Arial"/>
                          <a:cs typeface="Arial"/>
                        </a:rPr>
                        <a:t>¿Existe la superficie de ataque en la organización?</a:t>
                      </a:r>
                    </a:p>
                  </a:txBody>
                  <a:tcPr anchor="ctr">
                    <a:solidFill>
                      <a:srgbClr val="E8EEFB"/>
                    </a:solidFill>
                  </a:tcPr>
                </a:tc>
                <a:tc>
                  <a:txBody>
                    <a:bodyPr/>
                    <a:lstStyle/>
                    <a:p>
                      <a:r>
                        <a:rPr sz="1800" b="0" i="0">
                          <a:solidFill>
                            <a:srgbClr val="000000"/>
                          </a:solidFill>
                          <a:latin typeface="Arial"/>
                          <a:ea typeface="Arial"/>
                          <a:cs typeface="Arial"/>
                        </a:rPr>
                        <a:t>Habilitante</a:t>
                      </a:r>
                    </a:p>
                  </a:txBody>
                  <a:tcPr anchor="ctr">
                    <a:solidFill>
                      <a:srgbClr val="E8EEFB"/>
                    </a:solidFill>
                  </a:tcPr>
                </a:tc>
                <a:extLst>
                  <a:ext uri="{0D108BD9-81ED-4DB2-BD59-A6C34878D82A}">
                    <a16:rowId xmlns:a16="http://schemas.microsoft.com/office/drawing/2014/main" val="10004"/>
                  </a:ext>
                </a:extLst>
              </a:tr>
              <a:tr h="1033271">
                <a:tc>
                  <a:txBody>
                    <a:bodyPr/>
                    <a:lstStyle/>
                    <a:p>
                      <a:r>
                        <a:rPr sz="1800" b="1" i="0">
                          <a:solidFill>
                            <a:srgbClr val="000000"/>
                          </a:solidFill>
                          <a:latin typeface="Arial"/>
                          <a:ea typeface="Arial"/>
                          <a:cs typeface="Arial"/>
                        </a:rPr>
                        <a:t>Observabilidad</a:t>
                      </a:r>
                    </a:p>
                  </a:txBody>
                  <a:tcPr anchor="ctr">
                    <a:solidFill>
                      <a:srgbClr val="FFFFFF"/>
                    </a:solidFill>
                  </a:tcPr>
                </a:tc>
                <a:tc>
                  <a:txBody>
                    <a:bodyPr/>
                    <a:lstStyle/>
                    <a:p>
                      <a:r>
                        <a:rPr sz="1800" b="0" i="0">
                          <a:solidFill>
                            <a:srgbClr val="000000"/>
                          </a:solidFill>
                          <a:latin typeface="Arial"/>
                          <a:ea typeface="Arial"/>
                          <a:cs typeface="Arial"/>
                        </a:rPr>
                        <a:t>¿La telemetría permite detectarlo hoy?</a:t>
                      </a:r>
                    </a:p>
                  </a:txBody>
                  <a:tcPr anchor="ctr">
                    <a:solidFill>
                      <a:srgbClr val="FFFFFF"/>
                    </a:solidFill>
                  </a:tcPr>
                </a:tc>
                <a:tc>
                  <a:txBody>
                    <a:bodyPr/>
                    <a:lstStyle/>
                    <a:p>
                      <a:r>
                        <a:rPr sz="1800" b="0" i="0">
                          <a:solidFill>
                            <a:srgbClr val="000000"/>
                          </a:solidFill>
                          <a:latin typeface="Arial"/>
                          <a:ea typeface="Arial"/>
                          <a:cs typeface="Arial"/>
                        </a:rPr>
                        <a:t>Modulador: si falta, genera requerimiento de instrumentación</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249" name="TextBox 9248"/>
          <p:cNvSpPr txBox="1"/>
          <p:nvPr/>
        </p:nvSpPr>
        <p:spPr>
          <a:xfrm>
            <a:off x="822960" y="8321040"/>
            <a:ext cx="14447520" cy="2377440"/>
          </a:xfrm>
          <a:prstGeom prst="rect">
            <a:avLst/>
          </a:prstGeom>
          <a:noFill/>
        </p:spPr>
        <p:txBody>
          <a:bodyPr wrap="square" lIns="73152" tIns="73152" rIns="73152" bIns="73152" anchor="t">
            <a:noAutofit/>
          </a:bodyPr>
          <a:lstStyle/>
          <a:p>
            <a:pPr marL="320040" indent="-320040" algn="l">
              <a:lnSpc>
                <a:spcPct val="100000"/>
              </a:lnSpc>
              <a:spcAft>
                <a:spcPts val="700"/>
              </a:spcAft>
              <a:buClr>
                <a:srgbClr val="221666"/>
              </a:buClr>
              <a:buFont typeface="Arial"/>
              <a:buChar char="•"/>
            </a:pPr>
            <a:r>
              <a:rPr sz="1800" b="0" i="0">
                <a:solidFill>
                  <a:srgbClr val="000000"/>
                </a:solidFill>
                <a:latin typeface="Arial"/>
                <a:ea typeface="Arial"/>
                <a:cs typeface="Arial"/>
              </a:rPr>
              <a:t>El PIR filtra la entrada; costo de sustitución y transversalidad determinan el orden; la exposición habilita; la observabilidad modula.</a:t>
            </a:r>
          </a:p>
          <a:p>
            <a:pPr marL="320040" indent="-320040" algn="l">
              <a:lnSpc>
                <a:spcPct val="100000"/>
              </a:lnSpc>
              <a:spcAft>
                <a:spcPts val="700"/>
              </a:spcAft>
              <a:buClr>
                <a:srgbClr val="221666"/>
              </a:buClr>
              <a:buFont typeface="Arial"/>
              <a:buChar char="•"/>
            </a:pPr>
            <a:r>
              <a:rPr sz="1800" b="0" i="0">
                <a:solidFill>
                  <a:srgbClr val="000000"/>
                </a:solidFill>
                <a:latin typeface="Arial"/>
                <a:ea typeface="Arial"/>
                <a:cs typeface="Arial"/>
              </a:rPr>
              <a:t>Escala ordinal, registrada y auditable; la calibración entre criterios es de cada organización.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3">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5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5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5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Taxonomías por vendor (tabla completa)</a:t>
            </a:r>
          </a:p>
        </p:txBody>
      </p:sp>
      <p:sp>
        <p:nvSpPr>
          <p:cNvPr id="9254" name="Rectangle 925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55" name="TextBox 925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56" name="TextBox 925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28</a:t>
            </a:r>
          </a:p>
        </p:txBody>
      </p:sp>
      <p:sp>
        <p:nvSpPr>
          <p:cNvPr id="9257" name="TextBox 925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[21] Microsoft · [23] GTIG · [24] Mandiant · [25] Unit 42 · [27] TrendAI · [28] CrowdStrike · [30] Secureworks · [31] Dragos.</a:t>
            </a:r>
          </a:p>
        </p:txBody>
      </p:sp>
      <p:graphicFrame>
        <p:nvGraphicFramePr>
          <p:cNvPr id="9258" name="Table 9257"/>
          <p:cNvGraphicFramePr>
            <a:graphicFrameLocks noGrp="1"/>
          </p:cNvGraphicFramePr>
          <p:nvPr/>
        </p:nvGraphicFramePr>
        <p:xfrm>
          <a:off x="822960" y="2148840"/>
          <a:ext cx="14447519" cy="8677656"/>
        </p:xfrm>
        <a:graphic>
          <a:graphicData uri="http://schemas.openxmlformats.org/drawingml/2006/table">
            <a:tbl>
              <a:tblPr/>
              <a:tblGrid>
                <a:gridCol w="1920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749039">
                  <a:extLst>
                    <a:ext uri="{9D8B030D-6E8A-4147-A177-3AD203B41FA5}">
                      <a16:colId xmlns:a16="http://schemas.microsoft.com/office/drawing/2014/main" val="20004"/>
                    </a:ext>
                  </a:extLst>
                </a:gridCol>
              </a:tblGrid>
              <a:tr h="548640">
                <a:tc>
                  <a:txBody>
                    <a:bodyPr/>
                    <a:lstStyle/>
                    <a:p>
                      <a:r>
                        <a:rPr sz="1400" b="1" i="0">
                          <a:solidFill>
                            <a:srgbClr val="FFFFFF"/>
                          </a:solidFill>
                          <a:latin typeface="Arial"/>
                          <a:ea typeface="Arial"/>
                          <a:cs typeface="Arial"/>
                        </a:rPr>
                        <a:t>Vendor</a:t>
                      </a:r>
                    </a:p>
                  </a:txBody>
                  <a:tcPr anchor="ctr">
                    <a:solidFill>
                      <a:srgbClr val="221666"/>
                    </a:solidFill>
                  </a:tcPr>
                </a:tc>
                <a:tc>
                  <a:txBody>
                    <a:bodyPr/>
                    <a:lstStyle/>
                    <a:p>
                      <a:r>
                        <a:rPr sz="1400" b="1" i="0">
                          <a:solidFill>
                            <a:srgbClr val="FFFFFF"/>
                          </a:solidFill>
                          <a:latin typeface="Arial"/>
                          <a:ea typeface="Arial"/>
                          <a:cs typeface="Arial"/>
                        </a:rPr>
                        <a:t>Esquema</a:t>
                      </a:r>
                    </a:p>
                  </a:txBody>
                  <a:tcPr anchor="ctr">
                    <a:solidFill>
                      <a:srgbClr val="221666"/>
                    </a:solidFill>
                  </a:tcPr>
                </a:tc>
                <a:tc>
                  <a:txBody>
                    <a:bodyPr/>
                    <a:lstStyle/>
                    <a:p>
                      <a:r>
                        <a:rPr sz="1400" b="1" i="0">
                          <a:solidFill>
                            <a:srgbClr val="FFFFFF"/>
                          </a:solidFill>
                          <a:latin typeface="Arial"/>
                          <a:ea typeface="Arial"/>
                          <a:cs typeface="Arial"/>
                        </a:rPr>
                        <a:t>Categorías codificadas</a:t>
                      </a:r>
                    </a:p>
                  </a:txBody>
                  <a:tcPr anchor="ctr">
                    <a:solidFill>
                      <a:srgbClr val="221666"/>
                    </a:solidFill>
                  </a:tcPr>
                </a:tc>
                <a:tc>
                  <a:txBody>
                    <a:bodyPr/>
                    <a:lstStyle/>
                    <a:p>
                      <a:r>
                        <a:rPr sz="1400" b="1" i="0">
                          <a:solidFill>
                            <a:srgbClr val="FFFFFF"/>
                          </a:solidFill>
                          <a:latin typeface="Arial"/>
                          <a:ea typeface="Arial"/>
                          <a:cs typeface="Arial"/>
                        </a:rPr>
                        <a:t>Temporal</a:t>
                      </a:r>
                    </a:p>
                  </a:txBody>
                  <a:tcPr anchor="ctr">
                    <a:solidFill>
                      <a:srgbClr val="221666"/>
                    </a:solidFill>
                  </a:tcPr>
                </a:tc>
                <a:tc>
                  <a:txBody>
                    <a:bodyPr/>
                    <a:lstStyle/>
                    <a:p>
                      <a:r>
                        <a:rPr sz="1400" b="1" i="0">
                          <a:solidFill>
                            <a:srgbClr val="FFFFFF"/>
                          </a:solidFill>
                          <a:latin typeface="Arial"/>
                          <a:ea typeface="Arial"/>
                          <a:cs typeface="Arial"/>
                        </a:rPr>
                        <a:t>Política de atribución</a:t>
                      </a:r>
                    </a:p>
                  </a:txBody>
                  <a:tcPr anchor="ctr">
                    <a:solidFill>
                      <a:srgbClr val="221666"/>
                    </a:solidFill>
                  </a:tcPr>
                </a:tc>
                <a:extLst>
                  <a:ext uri="{0D108BD9-81ED-4DB2-BD59-A6C34878D82A}">
                    <a16:rowId xmlns:a16="http://schemas.microsoft.com/office/drawing/2014/main" val="10000"/>
                  </a:ext>
                </a:extLst>
              </a:tr>
              <a:tr h="1161288">
                <a:tc>
                  <a:txBody>
                    <a:bodyPr/>
                    <a:lstStyle/>
                    <a:p>
                      <a:r>
                        <a:rPr sz="1300" b="1" i="0">
                          <a:solidFill>
                            <a:srgbClr val="000000"/>
                          </a:solidFill>
                          <a:latin typeface="Arial"/>
                          <a:ea typeface="Arial"/>
                          <a:cs typeface="Arial"/>
                        </a:rPr>
                        <a:t>Microsoft</a:t>
                      </a:r>
                    </a:p>
                  </a:txBody>
                  <a:tcPr anchor="ctr">
                    <a:solidFill>
                      <a:srgbClr val="FFFFFF"/>
                    </a:solidFill>
                  </a:tcPr>
                </a:tc>
                <a:tc>
                  <a:txBody>
                    <a:bodyPr/>
                    <a:lstStyle/>
                    <a:p>
                      <a:r>
                        <a:rPr sz="1300" b="0" i="0">
                          <a:solidFill>
                            <a:srgbClr val="000000"/>
                          </a:solidFill>
                          <a:latin typeface="Arial"/>
                          <a:ea typeface="Arial"/>
                          <a:cs typeface="Arial"/>
                        </a:rPr>
                        <a:t>Clima + adjetivo</a:t>
                      </a:r>
                    </a:p>
                  </a:txBody>
                  <a:tcPr anchor="ctr">
                    <a:solidFill>
                      <a:srgbClr val="FFFFFF"/>
                    </a:solidFill>
                  </a:tcPr>
                </a:tc>
                <a:tc>
                  <a:txBody>
                    <a:bodyPr/>
                    <a:lstStyle/>
                    <a:p>
                      <a:r>
                        <a:rPr sz="1300" b="0" i="0">
                          <a:solidFill>
                            <a:srgbClr val="000000"/>
                          </a:solidFill>
                          <a:latin typeface="Arial"/>
                          <a:ea typeface="Arial"/>
                          <a:cs typeface="Arial"/>
                        </a:rPr>
                        <a:t>Origen: Typhoon (China), Blizzard (Rusia), Sandstorm (Irán). Motivación: Tempest (financiera)</a:t>
                      </a:r>
                    </a:p>
                  </a:txBody>
                  <a:tcPr anchor="ctr">
                    <a:solidFill>
                      <a:srgbClr val="FFFFFF"/>
                    </a:solidFill>
                  </a:tcPr>
                </a:tc>
                <a:tc>
                  <a:txBody>
                    <a:bodyPr/>
                    <a:lstStyle/>
                    <a:p>
                      <a:r>
                        <a:rPr sz="1300" b="0" i="0">
                          <a:solidFill>
                            <a:srgbClr val="000000"/>
                          </a:solidFill>
                          <a:latin typeface="Arial"/>
                          <a:ea typeface="Arial"/>
                          <a:cs typeface="Arial"/>
                        </a:rPr>
                        <a:t>Storm-####</a:t>
                      </a:r>
                    </a:p>
                  </a:txBody>
                  <a:tcPr anchor="ctr">
                    <a:solidFill>
                      <a:srgbClr val="FFFFFF"/>
                    </a:solidFill>
                  </a:tcPr>
                </a:tc>
                <a:tc>
                  <a:txBody>
                    <a:bodyPr/>
                    <a:lstStyle/>
                    <a:p>
                      <a:r>
                        <a:rPr sz="1300" b="0" i="0">
                          <a:solidFill>
                            <a:srgbClr val="000000"/>
                          </a:solidFill>
                          <a:latin typeface="Arial"/>
                          <a:ea typeface="Arial"/>
                          <a:cs typeface="Arial"/>
                        </a:rPr>
                        <a:t>Nombre solo con alta confianza en infra, herramientas, victimología y motivación</a:t>
                      </a:r>
                    </a:p>
                  </a:txBody>
                  <a:tcPr anchor="ctr">
                    <a:solidFill>
                      <a:srgbClr val="FFFFFF"/>
                    </a:solidFill>
                  </a:tcPr>
                </a:tc>
                <a:extLst>
                  <a:ext uri="{0D108BD9-81ED-4DB2-BD59-A6C34878D82A}">
                    <a16:rowId xmlns:a16="http://schemas.microsoft.com/office/drawing/2014/main" val="10001"/>
                  </a:ext>
                </a:extLst>
              </a:tr>
              <a:tr h="1161288">
                <a:tc>
                  <a:txBody>
                    <a:bodyPr/>
                    <a:lstStyle/>
                    <a:p>
                      <a:r>
                        <a:rPr sz="1300" b="1" i="0">
                          <a:solidFill>
                            <a:srgbClr val="000000"/>
                          </a:solidFill>
                          <a:latin typeface="Arial"/>
                          <a:ea typeface="Arial"/>
                          <a:cs typeface="Arial"/>
                        </a:rPr>
                        <a:t>Google GTIG</a:t>
                      </a:r>
                    </a:p>
                  </a:txBody>
                  <a:tcPr anchor="ctr">
                    <a:solidFill>
                      <a:srgbClr val="E8EEFB"/>
                    </a:solidFill>
                  </a:tcPr>
                </a:tc>
                <a:tc>
                  <a:txBody>
                    <a:bodyPr/>
                    <a:lstStyle/>
                    <a:p>
                      <a:r>
                        <a:rPr sz="1300" b="0" i="0">
                          <a:solidFill>
                            <a:srgbClr val="000000"/>
                          </a:solidFill>
                          <a:latin typeface="Arial"/>
                          <a:ea typeface="Arial"/>
                          <a:cs typeface="Arial"/>
                        </a:rPr>
                        <a:t>Palabra + categoría</a:t>
                      </a:r>
                    </a:p>
                  </a:txBody>
                  <a:tcPr anchor="ctr">
                    <a:solidFill>
                      <a:srgbClr val="E8EEFB"/>
                    </a:solidFill>
                  </a:tcPr>
                </a:tc>
                <a:tc>
                  <a:txBody>
                    <a:bodyPr/>
                    <a:lstStyle/>
                    <a:p>
                      <a:r>
                        <a:rPr sz="1300" b="0" i="0">
                          <a:solidFill>
                            <a:srgbClr val="000000"/>
                          </a:solidFill>
                          <a:latin typeface="Arial"/>
                          <a:ea typeface="Arial"/>
                          <a:cs typeface="Arial"/>
                        </a:rPr>
                        <a:t>Origen: CASTLE (RPC), RELIC (Rusia), ION (Irán). Tipo: COMET (crimen)</a:t>
                      </a:r>
                    </a:p>
                  </a:txBody>
                  <a:tcPr anchor="ctr">
                    <a:solidFill>
                      <a:srgbClr val="E8EEFB"/>
                    </a:solidFill>
                  </a:tcPr>
                </a:tc>
                <a:tc>
                  <a:txBody>
                    <a:bodyPr/>
                    <a:lstStyle/>
                    <a:p>
                      <a:r>
                        <a:rPr sz="1300" b="0" i="0">
                          <a:solidFill>
                            <a:srgbClr val="000000"/>
                          </a:solidFill>
                          <a:latin typeface="Arial"/>
                          <a:ea typeface="Arial"/>
                          <a:cs typeface="Arial"/>
                        </a:rPr>
                        <a:t>UNC####</a:t>
                      </a:r>
                    </a:p>
                  </a:txBody>
                  <a:tcPr anchor="ctr">
                    <a:solidFill>
                      <a:srgbClr val="E8EEFB"/>
                    </a:solidFill>
                  </a:tcPr>
                </a:tc>
                <a:tc>
                  <a:txBody>
                    <a:bodyPr/>
                    <a:lstStyle/>
                    <a:p>
                      <a:r>
                        <a:rPr sz="1300" b="0" i="0">
                          <a:solidFill>
                            <a:srgbClr val="000000"/>
                          </a:solidFill>
                          <a:latin typeface="Arial"/>
                          <a:ea typeface="Arial"/>
                          <a:cs typeface="Arial"/>
                        </a:rPr>
                        <a:t>UNC → TEMP → nombrado; conserva alias; años de recolección</a:t>
                      </a:r>
                    </a:p>
                  </a:txBody>
                  <a:tcPr anchor="ctr">
                    <a:solidFill>
                      <a:srgbClr val="E8EEFB"/>
                    </a:solidFill>
                  </a:tcPr>
                </a:tc>
                <a:extLst>
                  <a:ext uri="{0D108BD9-81ED-4DB2-BD59-A6C34878D82A}">
                    <a16:rowId xmlns:a16="http://schemas.microsoft.com/office/drawing/2014/main" val="10002"/>
                  </a:ext>
                </a:extLst>
              </a:tr>
              <a:tr h="1161288">
                <a:tc>
                  <a:txBody>
                    <a:bodyPr/>
                    <a:lstStyle/>
                    <a:p>
                      <a:r>
                        <a:rPr sz="1300" b="1" i="0">
                          <a:solidFill>
                            <a:srgbClr val="000000"/>
                          </a:solidFill>
                          <a:latin typeface="Arial"/>
                          <a:ea typeface="Arial"/>
                          <a:cs typeface="Arial"/>
                        </a:rPr>
                        <a:t>CrowdStrike</a:t>
                      </a:r>
                    </a:p>
                  </a:txBody>
                  <a:tcPr anchor="ctr">
                    <a:solidFill>
                      <a:srgbClr val="FFFFFF"/>
                    </a:solidFill>
                  </a:tcPr>
                </a:tc>
                <a:tc>
                  <a:txBody>
                    <a:bodyPr/>
                    <a:lstStyle/>
                    <a:p>
                      <a:r>
                        <a:rPr sz="1300" b="0" i="0">
                          <a:solidFill>
                            <a:srgbClr val="000000"/>
                          </a:solidFill>
                          <a:latin typeface="Arial"/>
                          <a:ea typeface="Arial"/>
                          <a:cs typeface="Arial"/>
                        </a:rPr>
                        <a:t>Adjetivo + animal</a:t>
                      </a:r>
                    </a:p>
                  </a:txBody>
                  <a:tcPr anchor="ctr">
                    <a:solidFill>
                      <a:srgbClr val="FFFFFF"/>
                    </a:solidFill>
                  </a:tcPr>
                </a:tc>
                <a:tc>
                  <a:txBody>
                    <a:bodyPr/>
                    <a:lstStyle/>
                    <a:p>
                      <a:r>
                        <a:rPr sz="1300" b="0" i="0">
                          <a:solidFill>
                            <a:srgbClr val="000000"/>
                          </a:solidFill>
                          <a:latin typeface="Arial"/>
                          <a:ea typeface="Arial"/>
                          <a:cs typeface="Arial"/>
                        </a:rPr>
                        <a:t>Origen: BEAR, PANDA, KITTEN. Motivación: SPIDER (crimen), JACKAL (hacktivismo)</a:t>
                      </a:r>
                    </a:p>
                  </a:txBody>
                  <a:tcPr anchor="ctr">
                    <a:solidFill>
                      <a:srgbClr val="FFFFFF"/>
                    </a:solidFill>
                  </a:tcPr>
                </a:tc>
                <a:tc>
                  <a:txBody>
                    <a:bodyPr/>
                    <a:lstStyle/>
                    <a:p>
                      <a:r>
                        <a:rPr sz="1300" b="0" i="0">
                          <a:solidFill>
                            <a:srgbClr val="000000"/>
                          </a:solidFill>
                          <a:latin typeface="Arial"/>
                          <a:ea typeface="Arial"/>
                          <a:cs typeface="Arial"/>
                        </a:rPr>
                        <a:t>clúster interno</a:t>
                      </a:r>
                    </a:p>
                  </a:txBody>
                  <a:tcPr anchor="ctr">
                    <a:solidFill>
                      <a:srgbClr val="FFFFFF"/>
                    </a:solidFill>
                  </a:tcPr>
                </a:tc>
                <a:tc>
                  <a:txBody>
                    <a:bodyPr/>
                    <a:lstStyle/>
                    <a:p>
                      <a:r>
                        <a:rPr sz="1300" b="0" i="0">
                          <a:solidFill>
                            <a:srgbClr val="000000"/>
                          </a:solidFill>
                          <a:latin typeface="Arial"/>
                          <a:ea typeface="Arial"/>
                          <a:cs typeface="Arial"/>
                        </a:rPr>
                        <a:t>Nexo geopolítico; ACH y lenguaje estimativo; revisión extendida</a:t>
                      </a:r>
                    </a:p>
                  </a:txBody>
                  <a:tcPr anchor="ctr">
                    <a:solidFill>
                      <a:srgbClr val="FFFFFF"/>
                    </a:solidFill>
                  </a:tcPr>
                </a:tc>
                <a:extLst>
                  <a:ext uri="{0D108BD9-81ED-4DB2-BD59-A6C34878D82A}">
                    <a16:rowId xmlns:a16="http://schemas.microsoft.com/office/drawing/2014/main" val="10003"/>
                  </a:ext>
                </a:extLst>
              </a:tr>
              <a:tr h="1161288">
                <a:tc>
                  <a:txBody>
                    <a:bodyPr/>
                    <a:lstStyle/>
                    <a:p>
                      <a:r>
                        <a:rPr sz="1300" b="1" i="0">
                          <a:solidFill>
                            <a:srgbClr val="000000"/>
                          </a:solidFill>
                          <a:latin typeface="Arial"/>
                          <a:ea typeface="Arial"/>
                          <a:cs typeface="Arial"/>
                        </a:rPr>
                        <a:t>Unit 42</a:t>
                      </a:r>
                    </a:p>
                  </a:txBody>
                  <a:tcPr anchor="ctr">
                    <a:solidFill>
                      <a:srgbClr val="E8EEFB"/>
                    </a:solidFill>
                  </a:tcPr>
                </a:tc>
                <a:tc>
                  <a:txBody>
                    <a:bodyPr/>
                    <a:lstStyle/>
                    <a:p>
                      <a:r>
                        <a:rPr sz="1300" b="0" i="0">
                          <a:solidFill>
                            <a:srgbClr val="000000"/>
                          </a:solidFill>
                          <a:latin typeface="Arial"/>
                          <a:ea typeface="Arial"/>
                          <a:cs typeface="Arial"/>
                        </a:rPr>
                        <a:t>Modificador + constelación</a:t>
                      </a:r>
                    </a:p>
                  </a:txBody>
                  <a:tcPr anchor="ctr">
                    <a:solidFill>
                      <a:srgbClr val="E8EEFB"/>
                    </a:solidFill>
                  </a:tcPr>
                </a:tc>
                <a:tc>
                  <a:txBody>
                    <a:bodyPr/>
                    <a:lstStyle/>
                    <a:p>
                      <a:r>
                        <a:rPr sz="1300" b="0" i="0">
                          <a:solidFill>
                            <a:srgbClr val="000000"/>
                          </a:solidFill>
                          <a:latin typeface="Arial"/>
                          <a:ea typeface="Arial"/>
                          <a:cs typeface="Arial"/>
                        </a:rPr>
                        <a:t>Origen: Taurus (China), Ursa (Rusia). Motivación: Scorpius (ransomware), Libra (crimen)</a:t>
                      </a:r>
                    </a:p>
                  </a:txBody>
                  <a:tcPr anchor="ctr">
                    <a:solidFill>
                      <a:srgbClr val="E8EEFB"/>
                    </a:solidFill>
                  </a:tcPr>
                </a:tc>
                <a:tc>
                  <a:txBody>
                    <a:bodyPr/>
                    <a:lstStyle/>
                    <a:p>
                      <a:r>
                        <a:rPr sz="1300" b="0" i="0">
                          <a:solidFill>
                            <a:srgbClr val="000000"/>
                          </a:solidFill>
                          <a:latin typeface="Arial"/>
                          <a:ea typeface="Arial"/>
                          <a:cs typeface="Arial"/>
                        </a:rPr>
                        <a:t>CL-/TGR-####</a:t>
                      </a:r>
                    </a:p>
                  </a:txBody>
                  <a:tcPr anchor="ctr">
                    <a:solidFill>
                      <a:srgbClr val="E8EEFB"/>
                    </a:solidFill>
                  </a:tcPr>
                </a:tc>
                <a:tc>
                  <a:txBody>
                    <a:bodyPr/>
                    <a:lstStyle/>
                    <a:p>
                      <a:r>
                        <a:rPr sz="1300" b="0" i="0">
                          <a:solidFill>
                            <a:srgbClr val="000000"/>
                          </a:solidFill>
                          <a:latin typeface="Arial"/>
                          <a:ea typeface="Arial"/>
                          <a:cs typeface="Arial"/>
                        </a:rPr>
                        <a:t>Diamond Model, ≥6 meses, Admiralty, review board</a:t>
                      </a:r>
                    </a:p>
                  </a:txBody>
                  <a:tcPr anchor="ctr">
                    <a:solidFill>
                      <a:srgbClr val="E8EEFB"/>
                    </a:solidFill>
                  </a:tcPr>
                </a:tc>
                <a:extLst>
                  <a:ext uri="{0D108BD9-81ED-4DB2-BD59-A6C34878D82A}">
                    <a16:rowId xmlns:a16="http://schemas.microsoft.com/office/drawing/2014/main" val="10004"/>
                  </a:ext>
                </a:extLst>
              </a:tr>
              <a:tr h="1161288">
                <a:tc>
                  <a:txBody>
                    <a:bodyPr/>
                    <a:lstStyle/>
                    <a:p>
                      <a:r>
                        <a:rPr sz="1300" b="1" i="0">
                          <a:solidFill>
                            <a:srgbClr val="000000"/>
                          </a:solidFill>
                          <a:latin typeface="Arial"/>
                          <a:ea typeface="Arial"/>
                          <a:cs typeface="Arial"/>
                        </a:rPr>
                        <a:t>TrendAI</a:t>
                      </a:r>
                    </a:p>
                  </a:txBody>
                  <a:tcPr anchor="ctr">
                    <a:solidFill>
                      <a:srgbClr val="FFFFFF"/>
                    </a:solidFill>
                  </a:tcPr>
                </a:tc>
                <a:tc>
                  <a:txBody>
                    <a:bodyPr/>
                    <a:lstStyle/>
                    <a:p>
                      <a:r>
                        <a:rPr sz="1300" b="0" i="0">
                          <a:solidFill>
                            <a:srgbClr val="000000"/>
                          </a:solidFill>
                          <a:latin typeface="Arial"/>
                          <a:ea typeface="Arial"/>
                          <a:cs typeface="Arial"/>
                        </a:rPr>
                        <a:t>Elemento + criatura</a:t>
                      </a:r>
                    </a:p>
                  </a:txBody>
                  <a:tcPr anchor="ctr">
                    <a:solidFill>
                      <a:srgbClr val="FFFFFF"/>
                    </a:solidFill>
                  </a:tcPr>
                </a:tc>
                <a:tc>
                  <a:txBody>
                    <a:bodyPr/>
                    <a:lstStyle/>
                    <a:p>
                      <a:r>
                        <a:rPr sz="1300" b="0" i="0">
                          <a:solidFill>
                            <a:srgbClr val="000000"/>
                          </a:solidFill>
                          <a:latin typeface="Arial"/>
                          <a:ea typeface="Arial"/>
                          <a:cs typeface="Arial"/>
                        </a:rPr>
                        <a:t>Solo motivación: Earth (espionaje), Water (financiera), Fire (destructiva)</a:t>
                      </a:r>
                    </a:p>
                  </a:txBody>
                  <a:tcPr anchor="ctr">
                    <a:solidFill>
                      <a:srgbClr val="FFFFFF"/>
                    </a:solidFill>
                  </a:tcPr>
                </a:tc>
                <a:tc>
                  <a:txBody>
                    <a:bodyPr/>
                    <a:lstStyle/>
                    <a:p>
                      <a:r>
                        <a:rPr sz="1300" b="0" i="0">
                          <a:solidFill>
                            <a:srgbClr val="000000"/>
                          </a:solidFill>
                          <a:latin typeface="Arial"/>
                          <a:ea typeface="Arial"/>
                          <a:cs typeface="Arial"/>
                        </a:rPr>
                        <a:t>SHADOW-###</a:t>
                      </a:r>
                    </a:p>
                  </a:txBody>
                  <a:tcPr anchor="ctr">
                    <a:solidFill>
                      <a:srgbClr val="FFFFFF"/>
                    </a:solidFill>
                  </a:tcPr>
                </a:tc>
                <a:tc>
                  <a:txBody>
                    <a:bodyPr/>
                    <a:lstStyle/>
                    <a:p>
                      <a:r>
                        <a:rPr sz="1300" b="0" i="0">
                          <a:solidFill>
                            <a:srgbClr val="000000"/>
                          </a:solidFill>
                          <a:latin typeface="Arial"/>
                          <a:ea typeface="Arial"/>
                          <a:cs typeface="Arial"/>
                        </a:rPr>
                        <a:t>Diamond + Admiralty + ACH; «un SHADOW no es una atribución»</a:t>
                      </a:r>
                    </a:p>
                  </a:txBody>
                  <a:tcPr anchor="ctr">
                    <a:solidFill>
                      <a:srgbClr val="FFFFFF"/>
                    </a:solidFill>
                  </a:tcPr>
                </a:tc>
                <a:extLst>
                  <a:ext uri="{0D108BD9-81ED-4DB2-BD59-A6C34878D82A}">
                    <a16:rowId xmlns:a16="http://schemas.microsoft.com/office/drawing/2014/main" val="10005"/>
                  </a:ext>
                </a:extLst>
              </a:tr>
              <a:tr h="1161288">
                <a:tc>
                  <a:txBody>
                    <a:bodyPr/>
                    <a:lstStyle/>
                    <a:p>
                      <a:r>
                        <a:rPr sz="1300" b="1" i="0">
                          <a:solidFill>
                            <a:srgbClr val="000000"/>
                          </a:solidFill>
                          <a:latin typeface="Arial"/>
                          <a:ea typeface="Arial"/>
                          <a:cs typeface="Arial"/>
                        </a:rPr>
                        <a:t>Secureworks</a:t>
                      </a:r>
                    </a:p>
                  </a:txBody>
                  <a:tcPr anchor="ctr">
                    <a:solidFill>
                      <a:srgbClr val="E8EEFB"/>
                    </a:solidFill>
                  </a:tcPr>
                </a:tc>
                <a:tc>
                  <a:txBody>
                    <a:bodyPr/>
                    <a:lstStyle/>
                    <a:p>
                      <a:r>
                        <a:rPr sz="1300" b="0" i="0">
                          <a:solidFill>
                            <a:srgbClr val="000000"/>
                          </a:solidFill>
                          <a:latin typeface="Arial"/>
                          <a:ea typeface="Arial"/>
                          <a:cs typeface="Arial"/>
                        </a:rPr>
                        <a:t>Metal + palabra</a:t>
                      </a:r>
                    </a:p>
                  </a:txBody>
                  <a:tcPr anchor="ctr">
                    <a:solidFill>
                      <a:srgbClr val="E8EEFB"/>
                    </a:solidFill>
                  </a:tcPr>
                </a:tc>
                <a:tc>
                  <a:txBody>
                    <a:bodyPr/>
                    <a:lstStyle/>
                    <a:p>
                      <a:r>
                        <a:rPr sz="1300" b="0" i="0">
                          <a:solidFill>
                            <a:srgbClr val="000000"/>
                          </a:solidFill>
                          <a:latin typeface="Arial"/>
                          <a:ea typeface="Arial"/>
                          <a:cs typeface="Arial"/>
                        </a:rPr>
                        <a:t>Origen: BRONZE (China), IRON (Rusia). Motivación: GOLD (financiera)</a:t>
                      </a:r>
                    </a:p>
                  </a:txBody>
                  <a:tcPr anchor="ctr">
                    <a:solidFill>
                      <a:srgbClr val="E8EEFB"/>
                    </a:solidFill>
                  </a:tcPr>
                </a:tc>
                <a:tc>
                  <a:txBody>
                    <a:bodyPr/>
                    <a:lstStyle/>
                    <a:p>
                      <a:r>
                        <a:rPr sz="1300" b="0" i="0">
                          <a:solidFill>
                            <a:srgbClr val="000000"/>
                          </a:solidFill>
                          <a:latin typeface="Arial"/>
                          <a:ea typeface="Arial"/>
                          <a:cs typeface="Arial"/>
                        </a:rPr>
                        <a:t>—</a:t>
                      </a:r>
                    </a:p>
                  </a:txBody>
                  <a:tcPr anchor="ctr">
                    <a:solidFill>
                      <a:srgbClr val="E8EEFB"/>
                    </a:solidFill>
                  </a:tcPr>
                </a:tc>
                <a:tc>
                  <a:txBody>
                    <a:bodyPr/>
                    <a:lstStyle/>
                    <a:p>
                      <a:r>
                        <a:rPr sz="1300" b="0" i="0">
                          <a:solidFill>
                            <a:srgbClr val="000000"/>
                          </a:solidFill>
                          <a:latin typeface="Arial"/>
                          <a:ea typeface="Arial"/>
                          <a:cs typeface="Arial"/>
                        </a:rPr>
                        <a:t>Threat Group ≠ Threat Actor; feed de alias</a:t>
                      </a:r>
                    </a:p>
                  </a:txBody>
                  <a:tcPr anchor="ctr">
                    <a:solidFill>
                      <a:srgbClr val="E8EEFB"/>
                    </a:solidFill>
                  </a:tcPr>
                </a:tc>
                <a:extLst>
                  <a:ext uri="{0D108BD9-81ED-4DB2-BD59-A6C34878D82A}">
                    <a16:rowId xmlns:a16="http://schemas.microsoft.com/office/drawing/2014/main" val="10006"/>
                  </a:ext>
                </a:extLst>
              </a:tr>
              <a:tr h="1161288">
                <a:tc>
                  <a:txBody>
                    <a:bodyPr/>
                    <a:lstStyle/>
                    <a:p>
                      <a:r>
                        <a:rPr sz="1300" b="1" i="0">
                          <a:solidFill>
                            <a:srgbClr val="000000"/>
                          </a:solidFill>
                          <a:latin typeface="Arial"/>
                          <a:ea typeface="Arial"/>
                          <a:cs typeface="Arial"/>
                        </a:rPr>
                        <a:t>Dragos</a:t>
                      </a:r>
                    </a:p>
                  </a:txBody>
                  <a:tcPr anchor="ctr">
                    <a:solidFill>
                      <a:srgbClr val="FFFFFF"/>
                    </a:solidFill>
                  </a:tcPr>
                </a:tc>
                <a:tc>
                  <a:txBody>
                    <a:bodyPr/>
                    <a:lstStyle/>
                    <a:p>
                      <a:r>
                        <a:rPr sz="1300" b="0" i="0">
                          <a:solidFill>
                            <a:srgbClr val="000000"/>
                          </a:solidFill>
                          <a:latin typeface="Arial"/>
                          <a:ea typeface="Arial"/>
                          <a:cs typeface="Arial"/>
                        </a:rPr>
                        <a:t>Mineral raro</a:t>
                      </a:r>
                    </a:p>
                  </a:txBody>
                  <a:tcPr anchor="ctr">
                    <a:solidFill>
                      <a:srgbClr val="FFFFFF"/>
                    </a:solidFill>
                  </a:tcPr>
                </a:tc>
                <a:tc>
                  <a:txBody>
                    <a:bodyPr/>
                    <a:lstStyle/>
                    <a:p>
                      <a:r>
                        <a:rPr sz="1300" b="0" i="0">
                          <a:solidFill>
                            <a:srgbClr val="000000"/>
                          </a:solidFill>
                          <a:latin typeface="Arial"/>
                          <a:ea typeface="Arial"/>
                          <a:cs typeface="Arial"/>
                        </a:rPr>
                        <a:t>Neutro: no codifica origen ni motivación</a:t>
                      </a:r>
                    </a:p>
                  </a:txBody>
                  <a:tcPr anchor="ctr">
                    <a:solidFill>
                      <a:srgbClr val="FFFFFF"/>
                    </a:solidFill>
                  </a:tcPr>
                </a:tc>
                <a:tc>
                  <a:txBody>
                    <a:bodyPr/>
                    <a:lstStyle/>
                    <a:p>
                      <a:r>
                        <a:rPr sz="1300" b="0" i="0">
                          <a:solidFill>
                            <a:srgbClr val="000000"/>
                          </a:solidFill>
                          <a:latin typeface="Arial"/>
                          <a:ea typeface="Arial"/>
                          <a:cs typeface="Arial"/>
                        </a:rPr>
                        <a:t>—</a:t>
                      </a:r>
                    </a:p>
                  </a:txBody>
                  <a:tcPr anchor="ctr">
                    <a:solidFill>
                      <a:srgbClr val="FFFFFF"/>
                    </a:solidFill>
                  </a:tcPr>
                </a:tc>
                <a:tc>
                  <a:txBody>
                    <a:bodyPr/>
                    <a:lstStyle/>
                    <a:p>
                      <a:r>
                        <a:rPr sz="1300" b="0" i="0">
                          <a:solidFill>
                            <a:srgbClr val="000000"/>
                          </a:solidFill>
                          <a:latin typeface="Arial"/>
                          <a:ea typeface="Arial"/>
                          <a:cs typeface="Arial"/>
                        </a:rPr>
                        <a:t>Diamond Model; no estandariza; advierte contra las piedras Rosetta</a:t>
                      </a:r>
                    </a:p>
                  </a:txBody>
                  <a:tcPr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2">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6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6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6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Referencias [1]–[11]</a:t>
            </a:r>
          </a:p>
        </p:txBody>
      </p:sp>
      <p:sp>
        <p:nvSpPr>
          <p:cNvPr id="9264" name="Rectangle 926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65" name="TextBox 926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66" name="TextBox 926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29</a:t>
            </a:r>
          </a:p>
        </p:txBody>
      </p:sp>
      <p:sp>
        <p:nvSpPr>
          <p:cNvPr id="9267" name="TextBox 926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numeración: [1]–[20] del trabajo camera-ready; [21]–[32] fuentes de los slides de atribución.</a:t>
            </a:r>
          </a:p>
        </p:txBody>
      </p:sp>
      <p:sp>
        <p:nvSpPr>
          <p:cNvPr id="9268" name="TextBox 9267"/>
          <p:cNvSpPr txBox="1"/>
          <p:nvPr/>
        </p:nvSpPr>
        <p:spPr>
          <a:xfrm>
            <a:off x="822960" y="2148840"/>
            <a:ext cx="14447520" cy="8869680"/>
          </a:xfrm>
          <a:prstGeom prst="rect">
            <a:avLst/>
          </a:prstGeom>
          <a:noFill/>
        </p:spPr>
        <p:txBody>
          <a:bodyPr wrap="square" lIns="73152" tIns="73152" rIns="73152" bIns="73152" anchor="t">
            <a:noAutofit/>
          </a:bodyPr>
          <a:lstStyle/>
          <a:p>
            <a:pPr algn="l">
              <a:lnSpc>
                <a:spcPct val="100000"/>
              </a:lnSpc>
              <a:spcAft>
                <a:spcPts val="600"/>
              </a:spcAft>
            </a:pPr>
            <a:r>
              <a:rPr sz="1500" b="0" i="0">
                <a:solidFill>
                  <a:srgbClr val="000000"/>
                </a:solidFill>
                <a:latin typeface="Arial"/>
                <a:ea typeface="Arial"/>
                <a:cs typeface="Arial"/>
              </a:rPr>
              <a:t>[1] Hutchins, E. M., Cloppert, M. J., &amp; Amin, R. M. (2011). Intelligence-Driven Computer Network Defense... Intrusion Kill Chains. Lockheed Martin.</a:t>
            </a:r>
          </a:p>
          <a:p>
            <a:pPr algn="l">
              <a:lnSpc>
                <a:spcPct val="100000"/>
              </a:lnSpc>
              <a:spcAft>
                <a:spcPts val="600"/>
              </a:spcAft>
            </a:pPr>
            <a:r>
              <a:rPr sz="1500" b="0" i="0">
                <a:solidFill>
                  <a:srgbClr val="000000"/>
                </a:solidFill>
                <a:latin typeface="Arial"/>
                <a:ea typeface="Arial"/>
                <a:cs typeface="Arial"/>
              </a:rPr>
              <a:t>[2] Bianco, D. J. (2013, act. 2014). The Pyramid of Pain. Enterprise Detection &amp; Response. https://detect-respond.blogspot.com/2013/03/the-pyramid-of-pain.html</a:t>
            </a:r>
          </a:p>
          <a:p>
            <a:pPr algn="l">
              <a:lnSpc>
                <a:spcPct val="100000"/>
              </a:lnSpc>
              <a:spcAft>
                <a:spcPts val="600"/>
              </a:spcAft>
            </a:pPr>
            <a:r>
              <a:rPr sz="1500" b="0" i="0">
                <a:solidFill>
                  <a:srgbClr val="000000"/>
                </a:solidFill>
                <a:latin typeface="Arial"/>
                <a:ea typeface="Arial"/>
                <a:cs typeface="Arial"/>
              </a:rPr>
              <a:t>[3] Strom, B. E. et al. (2018). MITRE ATT&amp;CK: Design and Philosophy. The MITRE Corporation.</a:t>
            </a:r>
          </a:p>
          <a:p>
            <a:pPr algn="l">
              <a:lnSpc>
                <a:spcPct val="100000"/>
              </a:lnSpc>
              <a:spcAft>
                <a:spcPts val="600"/>
              </a:spcAft>
            </a:pPr>
            <a:r>
              <a:rPr sz="1500" b="0" i="0">
                <a:solidFill>
                  <a:srgbClr val="000000"/>
                </a:solidFill>
                <a:latin typeface="Arial"/>
                <a:ea typeface="Arial"/>
                <a:cs typeface="Arial"/>
              </a:rPr>
              <a:t>[4] Rid, T., &amp; Buchanan, B. (2015). Attributing Cyber Attacks. Journal of Strategic Studies, 38(1-2), 4-37.</a:t>
            </a:r>
          </a:p>
          <a:p>
            <a:pPr algn="l">
              <a:lnSpc>
                <a:spcPct val="100000"/>
              </a:lnSpc>
              <a:spcAft>
                <a:spcPts val="600"/>
              </a:spcAft>
            </a:pPr>
            <a:r>
              <a:rPr sz="1500" b="0" i="0">
                <a:solidFill>
                  <a:srgbClr val="000000"/>
                </a:solidFill>
                <a:latin typeface="Arial"/>
                <a:ea typeface="Arial"/>
                <a:cs typeface="Arial"/>
              </a:rPr>
              <a:t>[5] Heuer, R. J. (1999). Psychology of Intelligence Analysis. Center for the Study of Intelligence, CIA.</a:t>
            </a:r>
          </a:p>
          <a:p>
            <a:pPr algn="l">
              <a:lnSpc>
                <a:spcPct val="100000"/>
              </a:lnSpc>
              <a:spcAft>
                <a:spcPts val="600"/>
              </a:spcAft>
            </a:pPr>
            <a:r>
              <a:rPr sz="1500" b="0" i="0">
                <a:solidFill>
                  <a:srgbClr val="000000"/>
                </a:solidFill>
                <a:latin typeface="Arial"/>
                <a:ea typeface="Arial"/>
                <a:cs typeface="Arial"/>
              </a:rPr>
              <a:t>[6] CISA, NSA, FBI et al. (2024). Identifying and Mitigating Living off the Land Techniques. Joint Guidance.</a:t>
            </a:r>
          </a:p>
          <a:p>
            <a:pPr algn="l">
              <a:lnSpc>
                <a:spcPct val="100000"/>
              </a:lnSpc>
              <a:spcAft>
                <a:spcPts val="600"/>
              </a:spcAft>
            </a:pPr>
            <a:r>
              <a:rPr sz="1500" b="0" i="0">
                <a:solidFill>
                  <a:srgbClr val="000000"/>
                </a:solidFill>
                <a:latin typeface="Arial"/>
                <a:ea typeface="Arial"/>
                <a:cs typeface="Arial"/>
              </a:rPr>
              <a:t>[7] ENISA (2024). ENISA Threat Landscape 2024.</a:t>
            </a:r>
          </a:p>
          <a:p>
            <a:pPr algn="l">
              <a:lnSpc>
                <a:spcPct val="100000"/>
              </a:lnSpc>
              <a:spcAft>
                <a:spcPts val="600"/>
              </a:spcAft>
            </a:pPr>
            <a:r>
              <a:rPr sz="1500" b="0" i="0">
                <a:solidFill>
                  <a:srgbClr val="000000"/>
                </a:solidFill>
                <a:latin typeface="Arial"/>
                <a:ea typeface="Arial"/>
                <a:cs typeface="Arial"/>
              </a:rPr>
              <a:t>[8] ODNI (2015). Intelligence Community Directive 203: Analytic Standards.</a:t>
            </a:r>
          </a:p>
          <a:p>
            <a:pPr algn="l">
              <a:lnSpc>
                <a:spcPct val="100000"/>
              </a:lnSpc>
              <a:spcAft>
                <a:spcPts val="600"/>
              </a:spcAft>
            </a:pPr>
            <a:r>
              <a:rPr sz="1500" b="0" i="0">
                <a:solidFill>
                  <a:srgbClr val="000000"/>
                </a:solidFill>
                <a:latin typeface="Arial"/>
                <a:ea typeface="Arial"/>
                <a:cs typeface="Arial"/>
              </a:rPr>
              <a:t>[9] CISA, NSA &amp; MS-ISAC (2023). Protecting Against Malicious Use of RMM Software. Advisory AA23-025A.</a:t>
            </a:r>
          </a:p>
          <a:p>
            <a:pPr algn="l">
              <a:lnSpc>
                <a:spcPct val="100000"/>
              </a:lnSpc>
              <a:spcAft>
                <a:spcPts val="600"/>
              </a:spcAft>
            </a:pPr>
            <a:r>
              <a:rPr sz="1500" b="0" i="0">
                <a:solidFill>
                  <a:srgbClr val="000000"/>
                </a:solidFill>
                <a:latin typeface="Arial"/>
                <a:ea typeface="Arial"/>
                <a:cs typeface="Arial"/>
              </a:rPr>
              <a:t>[10] CISA, NSA, FBI et al. (2024). PRC State-Sponsored Actors... U.S. Critical Infrastructure. Advisory AA24-038A.</a:t>
            </a:r>
          </a:p>
          <a:p>
            <a:pPr algn="l">
              <a:lnSpc>
                <a:spcPct val="100000"/>
              </a:lnSpc>
              <a:spcAft>
                <a:spcPts val="600"/>
              </a:spcAft>
            </a:pPr>
            <a:r>
              <a:rPr sz="1500" b="0" i="0">
                <a:solidFill>
                  <a:srgbClr val="000000"/>
                </a:solidFill>
                <a:latin typeface="Arial"/>
                <a:ea typeface="Arial"/>
                <a:cs typeface="Arial"/>
              </a:rPr>
              <a:t>[11] CERT-UA &amp; CSIRT-NBU (2024). Attacks Abusing SuperOps RMM (UAC-0188). cip.gov.ua.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2">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7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7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7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Referencias [12]–[22]</a:t>
            </a:r>
          </a:p>
        </p:txBody>
      </p:sp>
      <p:sp>
        <p:nvSpPr>
          <p:cNvPr id="9274" name="Rectangle 927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75" name="TextBox 927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76" name="TextBox 927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30</a:t>
            </a:r>
          </a:p>
        </p:txBody>
      </p:sp>
      <p:sp>
        <p:nvSpPr>
          <p:cNvPr id="9277" name="TextBox 927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numeración: [1]–[20] del trabajo camera-ready; [21]–[32] fuentes de los slides de atribución.</a:t>
            </a:r>
          </a:p>
        </p:txBody>
      </p:sp>
      <p:sp>
        <p:nvSpPr>
          <p:cNvPr id="9278" name="TextBox 9277"/>
          <p:cNvSpPr txBox="1"/>
          <p:nvPr/>
        </p:nvSpPr>
        <p:spPr>
          <a:xfrm>
            <a:off x="822960" y="2148840"/>
            <a:ext cx="14447520" cy="8869680"/>
          </a:xfrm>
          <a:prstGeom prst="rect">
            <a:avLst/>
          </a:prstGeom>
          <a:noFill/>
        </p:spPr>
        <p:txBody>
          <a:bodyPr wrap="square" lIns="73152" tIns="73152" rIns="73152" bIns="73152" anchor="t">
            <a:noAutofit/>
          </a:bodyPr>
          <a:lstStyle/>
          <a:p>
            <a:pPr algn="l">
              <a:lnSpc>
                <a:spcPct val="100000"/>
              </a:lnSpc>
              <a:spcAft>
                <a:spcPts val="600"/>
              </a:spcAft>
            </a:pPr>
            <a:r>
              <a:rPr sz="1500" b="0" i="0">
                <a:solidFill>
                  <a:srgbClr val="000000"/>
                </a:solidFill>
                <a:latin typeface="Arial"/>
                <a:ea typeface="Arial"/>
                <a:cs typeface="Arial"/>
              </a:rPr>
              <a:t>[12] CERT-UA (2025). AnyDesk Requests Impersonating CERT-UA Under a «Security Audit» Pretext.</a:t>
            </a:r>
          </a:p>
          <a:p>
            <a:pPr algn="l">
              <a:lnSpc>
                <a:spcPct val="100000"/>
              </a:lnSpc>
              <a:spcAft>
                <a:spcPts val="600"/>
              </a:spcAft>
            </a:pPr>
            <a:r>
              <a:rPr sz="1500" b="0" i="0">
                <a:solidFill>
                  <a:srgbClr val="000000"/>
                </a:solidFill>
                <a:latin typeface="Arial"/>
                <a:ea typeface="Arial"/>
                <a:cs typeface="Arial"/>
              </a:rPr>
              <a:t>[13] CISA (2024). CVE-2024-1709: ConnectWise ScreenConnect Authentication Bypass. KEV Catalog.</a:t>
            </a:r>
          </a:p>
          <a:p>
            <a:pPr algn="l">
              <a:lnSpc>
                <a:spcPct val="100000"/>
              </a:lnSpc>
              <a:spcAft>
                <a:spcPts val="600"/>
              </a:spcAft>
            </a:pPr>
            <a:r>
              <a:rPr sz="1500" b="0" i="0">
                <a:solidFill>
                  <a:srgbClr val="000000"/>
                </a:solidFill>
                <a:latin typeface="Arial"/>
                <a:ea typeface="Arial"/>
                <a:cs typeface="Arial"/>
              </a:rPr>
              <a:t>[14] Hudson Rock (2025). Infostealer-Compromised Credentials of U.S. Military and Defense Contractors. (Infosecurity Magazine, 2026).</a:t>
            </a:r>
          </a:p>
          <a:p>
            <a:pPr algn="l">
              <a:lnSpc>
                <a:spcPct val="100000"/>
              </a:lnSpc>
              <a:spcAft>
                <a:spcPts val="600"/>
              </a:spcAft>
            </a:pPr>
            <a:r>
              <a:rPr sz="1500" b="0" i="0">
                <a:solidFill>
                  <a:srgbClr val="000000"/>
                </a:solidFill>
                <a:latin typeface="Arial"/>
                <a:ea typeface="Arial"/>
                <a:cs typeface="Arial"/>
              </a:rPr>
              <a:t>[15] U.S. Dept. of the Treasury &amp; CISA (2024–2025). Compromise of BeyondTrust via CVE-2024-12356 / -12686, attributed to Silk Typhoon (APT27/Hafnium). CISA KEV; U.S. DoJ.</a:t>
            </a:r>
          </a:p>
          <a:p>
            <a:pPr algn="l">
              <a:lnSpc>
                <a:spcPct val="100000"/>
              </a:lnSpc>
              <a:spcAft>
                <a:spcPts val="600"/>
              </a:spcAft>
            </a:pPr>
            <a:r>
              <a:rPr sz="1500" b="0" i="0">
                <a:solidFill>
                  <a:srgbClr val="000000"/>
                </a:solidFill>
                <a:latin typeface="Arial"/>
                <a:ea typeface="Arial"/>
                <a:cs typeface="Arial"/>
              </a:rPr>
              <a:t>[16] Verizon (2025). 2025 Data Breach Investigations Report (DBIR).</a:t>
            </a:r>
          </a:p>
          <a:p>
            <a:pPr algn="l">
              <a:lnSpc>
                <a:spcPct val="100000"/>
              </a:lnSpc>
              <a:spcAft>
                <a:spcPts val="600"/>
              </a:spcAft>
            </a:pPr>
            <a:r>
              <a:rPr sz="1500" b="0" i="0">
                <a:solidFill>
                  <a:srgbClr val="000000"/>
                </a:solidFill>
                <a:latin typeface="Arial"/>
                <a:ea typeface="Arial"/>
                <a:cs typeface="Arial"/>
              </a:rPr>
              <a:t>[17] Europol (2025). Operation ENDGAME Strikes Again. Semana de acción 19–22 may 2025.</a:t>
            </a:r>
          </a:p>
          <a:p>
            <a:pPr algn="l">
              <a:lnSpc>
                <a:spcPct val="100000"/>
              </a:lnSpc>
              <a:spcAft>
                <a:spcPts val="600"/>
              </a:spcAft>
            </a:pPr>
            <a:r>
              <a:rPr sz="1500" b="0" i="0">
                <a:solidFill>
                  <a:srgbClr val="000000"/>
                </a:solidFill>
                <a:latin typeface="Arial"/>
                <a:ea typeface="Arial"/>
                <a:cs typeface="Arial"/>
              </a:rPr>
              <a:t>[18] Europol (2025). IOCTA 2025 — Internet Organised Crime Threat Assessment.</a:t>
            </a:r>
          </a:p>
          <a:p>
            <a:pPr algn="l">
              <a:lnSpc>
                <a:spcPct val="100000"/>
              </a:lnSpc>
              <a:spcAft>
                <a:spcPts val="600"/>
              </a:spcAft>
            </a:pPr>
            <a:r>
              <a:rPr sz="1500" b="0" i="0">
                <a:solidFill>
                  <a:srgbClr val="000000"/>
                </a:solidFill>
                <a:latin typeface="Arial"/>
                <a:ea typeface="Arial"/>
                <a:cs typeface="Arial"/>
              </a:rPr>
              <a:t>[19] Europol (2026). Global Cyber Strike Disrupts SocGholish, Amadey, and StealC. 24 jun 2026.</a:t>
            </a:r>
          </a:p>
          <a:p>
            <a:pPr algn="l">
              <a:lnSpc>
                <a:spcPct val="100000"/>
              </a:lnSpc>
              <a:spcAft>
                <a:spcPts val="600"/>
              </a:spcAft>
            </a:pPr>
            <a:r>
              <a:rPr sz="1500" b="0" i="0">
                <a:solidFill>
                  <a:srgbClr val="000000"/>
                </a:solidFill>
                <a:latin typeface="Arial"/>
                <a:ea typeface="Arial"/>
                <a:cs typeface="Arial"/>
              </a:rPr>
              <a:t>[20] Europol (2025). Operation Endgame Follow-Up: Five Detentions and Server Takedowns. Abril 2025.</a:t>
            </a:r>
          </a:p>
          <a:p>
            <a:pPr algn="l">
              <a:lnSpc>
                <a:spcPct val="100000"/>
              </a:lnSpc>
              <a:spcAft>
                <a:spcPts val="600"/>
              </a:spcAft>
            </a:pPr>
            <a:r>
              <a:rPr sz="1500" b="0" i="0">
                <a:solidFill>
                  <a:srgbClr val="000000"/>
                </a:solidFill>
                <a:latin typeface="Arial"/>
                <a:ea typeface="Arial"/>
                <a:cs typeface="Arial"/>
              </a:rPr>
              <a:t>[21] Microsoft (2023, act. 2025). Microsoft shifts to a new threat actor naming taxonomy. https://www.microsoft.com/en-us/security/blog/2023/04/18/microsoft-shifts-to-a-new-threat-actor-naming-taxonomy/</a:t>
            </a:r>
          </a:p>
          <a:p>
            <a:pPr algn="l">
              <a:lnSpc>
                <a:spcPct val="100000"/>
              </a:lnSpc>
              <a:spcAft>
                <a:spcPts val="600"/>
              </a:spcAft>
            </a:pPr>
            <a:r>
              <a:rPr sz="1500" b="0" i="0">
                <a:solidFill>
                  <a:srgbClr val="000000"/>
                </a:solidFill>
                <a:latin typeface="Arial"/>
                <a:ea typeface="Arial"/>
                <a:cs typeface="Arial"/>
              </a:rPr>
              <a:t>[22] Microsoft Learn. How Microsoft names threat actors. https://learn.microsoft.com/en-us/unified-secops/microsoft-threat-actor-naming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pic>
        <p:nvPicPr>
          <p:cNvPr id="60" name="Google Shape;60;g3f3f2bfa886_0_82" title="fondo transparente.png"/>
          <p:cNvPicPr preferRelativeResize="0"/>
          <p:nvPr/>
        </p:nvPicPr>
        <p:blipFill rotWithShape="1">
          <a:blip r:embed="rId2">
            <a:alphaModFix/>
          </a:blip>
          <a:srcRect l="60"/>
          <a:stretch/>
        </p:blipFill>
        <p:spPr>
          <a:xfrm rot="10800000">
            <a:off x="6146448" y="0"/>
            <a:ext cx="18237549" cy="11668819"/>
          </a:xfrm>
          <a:prstGeom prst="rect">
            <a:avLst/>
          </a:prstGeom>
          <a:noFill/>
          <a:ln>
            <a:noFill/>
          </a:ln>
        </p:spPr>
      </p:pic>
      <p:sp>
        <p:nvSpPr>
          <p:cNvPr id="62" name="Google Shape;62;g3f3f2bfa886_0_82"/>
          <p:cNvSpPr/>
          <p:nvPr/>
        </p:nvSpPr>
        <p:spPr>
          <a:xfrm>
            <a:off x="2721" y="11658600"/>
            <a:ext cx="24384000" cy="1485900"/>
          </a:xfrm>
          <a:prstGeom prst="rect">
            <a:avLst/>
          </a:prstGeom>
          <a:solidFill>
            <a:srgbClr val="22166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cxnSp>
        <p:nvCxnSpPr>
          <p:cNvPr id="63" name="Google Shape;63;g3f3f2bfa886_0_82"/>
          <p:cNvCxnSpPr/>
          <p:nvPr/>
        </p:nvCxnSpPr>
        <p:spPr>
          <a:xfrm>
            <a:off x="0" y="13490725"/>
            <a:ext cx="23865900" cy="0"/>
          </a:xfrm>
          <a:prstGeom prst="straightConnector1">
            <a:avLst/>
          </a:prstGeom>
          <a:noFill/>
          <a:ln w="38100" cap="flat" cmpd="sng">
            <a:solidFill>
              <a:srgbClr val="221666"/>
            </a:solidFill>
            <a:prstDash val="solid"/>
            <a:round/>
            <a:headEnd type="none" w="sm" len="sm"/>
            <a:tailEnd type="oval" w="med" len="med"/>
          </a:ln>
        </p:spPr>
      </p:cxnSp>
      <p:cxnSp>
        <p:nvCxnSpPr>
          <p:cNvPr id="9281" name="Google Shape;39;p6"/>
          <p:cNvCxnSpPr/>
          <p:nvPr/>
        </p:nvCxnSpPr>
        <p:spPr>
          <a:xfrm rot="10800000" flipH="1">
            <a:off x="5" y="1498290"/>
            <a:ext cx="24383995" cy="17584"/>
          </a:xfrm>
          <a:prstGeom prst="straightConnector1">
            <a:avLst/>
          </a:prstGeom>
          <a:noFill/>
          <a:ln w="114300" cap="flat" cmpd="sng">
            <a:solidFill>
              <a:srgbClr val="221666"/>
            </a:solidFill>
            <a:prstDash val="solid"/>
            <a:round/>
            <a:headEnd type="none" w="sm" len="sm"/>
            <a:tailEnd type="none" w="sm" len="sm"/>
          </a:ln>
        </p:spPr>
      </p:cxnSp>
      <p:sp>
        <p:nvSpPr>
          <p:cNvPr id="9282" name="Google Shape;55;p6"/>
          <p:cNvSpPr/>
          <p:nvPr/>
        </p:nvSpPr>
        <p:spPr>
          <a:xfrm rot="10800000" flipH="1">
            <a:off x="22505" y="1629340"/>
            <a:ext cx="7310400" cy="305100"/>
          </a:xfrm>
          <a:prstGeom prst="parallelogram">
            <a:avLst>
              <a:gd name="adj" fmla="val 6725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283" name="Title"/>
          <p:cNvSpPr txBox="1"/>
          <p:nvPr/>
        </p:nvSpPr>
        <p:spPr>
          <a:xfrm>
            <a:off x="868680" y="384048"/>
            <a:ext cx="20574000" cy="1051560"/>
          </a:xfrm>
          <a:prstGeom prst="rect">
            <a:avLst/>
          </a:prstGeom>
          <a:noFill/>
        </p:spPr>
        <p:txBody>
          <a:bodyPr wrap="square" tIns="91440" bIns="91440" anchor="b">
            <a:noAutofit/>
          </a:bodyPr>
          <a:lstStyle/>
          <a:p>
            <a:pPr algn="l">
              <a:lnSpc>
                <a:spcPct val="100000"/>
              </a:lnSpc>
              <a:spcAft>
                <a:spcPts val="800"/>
              </a:spcAft>
            </a:pPr>
            <a:r>
              <a:rPr sz="4600" b="0" i="0">
                <a:solidFill>
                  <a:srgbClr val="221666"/>
                </a:solidFill>
                <a:latin typeface="Oswald"/>
                <a:ea typeface="Oswald"/>
                <a:cs typeface="Oswald"/>
              </a:rPr>
              <a:t>Anexo · Referencias [23]–[32]</a:t>
            </a:r>
          </a:p>
        </p:txBody>
      </p:sp>
      <p:sp>
        <p:nvSpPr>
          <p:cNvPr id="9284" name="Rectangle 9283"/>
          <p:cNvSpPr/>
          <p:nvPr/>
        </p:nvSpPr>
        <p:spPr>
          <a:xfrm>
            <a:off x="20665440" y="502920"/>
            <a:ext cx="2926080" cy="640080"/>
          </a:xfrm>
          <a:prstGeom prst="rect">
            <a:avLst/>
          </a:prstGeom>
          <a:solidFill>
            <a:srgbClr val="899AA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400"/>
              </a:spcAft>
            </a:pPr>
            <a:r>
              <a:rPr sz="2000" b="1" i="0">
                <a:solidFill>
                  <a:srgbClr val="FFFFFF"/>
                </a:solidFill>
                <a:latin typeface="Arial"/>
                <a:ea typeface="Arial"/>
                <a:cs typeface="Arial"/>
              </a:rPr>
              <a:t>ANEXO · Q&amp;A</a:t>
            </a:r>
          </a:p>
        </p:txBody>
      </p:sp>
      <p:sp>
        <p:nvSpPr>
          <p:cNvPr id="9285" name="TextBox 9284"/>
          <p:cNvSpPr txBox="1"/>
          <p:nvPr/>
        </p:nvSpPr>
        <p:spPr>
          <a:xfrm>
            <a:off x="548640" y="12024360"/>
            <a:ext cx="16459200" cy="640080"/>
          </a:xfrm>
          <a:prstGeom prst="rect">
            <a:avLst/>
          </a:prstGeom>
          <a:noFill/>
        </p:spPr>
        <p:txBody>
          <a:bodyPr wrap="square" lIns="73152" tIns="73152" rIns="73152" bIns="73152" anchor="ctr">
            <a:noAutofit/>
          </a:bodyPr>
          <a:lstStyle/>
          <a:p>
            <a:pPr algn="l">
              <a:lnSpc>
                <a:spcPct val="100000"/>
              </a:lnSpc>
              <a:spcAft>
                <a:spcPts val="800"/>
              </a:spcAft>
            </a:pPr>
            <a:r>
              <a:rPr sz="1600" b="1" i="0">
                <a:solidFill>
                  <a:srgbClr val="FFFFFF"/>
                </a:solidFill>
                <a:latin typeface="Arial"/>
                <a:ea typeface="Arial"/>
                <a:cs typeface="Arial"/>
              </a:rPr>
              <a:t>CTI proactiva para la ciberdefensa</a:t>
            </a:r>
            <a:r>
              <a:rPr sz="1600" b="0" i="0">
                <a:solidFill>
                  <a:srgbClr val="FFFFFF"/>
                </a:solidFill>
                <a:latin typeface="Arial"/>
                <a:ea typeface="Arial"/>
                <a:cs typeface="Arial"/>
              </a:rPr>
              <a:t>  ·  David Pérez  ·  CYBER.AR 2026  ·  Simposio 2  ·  ID 40</a:t>
            </a:r>
          </a:p>
        </p:txBody>
      </p:sp>
      <p:sp>
        <p:nvSpPr>
          <p:cNvPr id="9286" name="TextBox 9285"/>
          <p:cNvSpPr txBox="1"/>
          <p:nvPr/>
        </p:nvSpPr>
        <p:spPr>
          <a:xfrm>
            <a:off x="22128480" y="12024360"/>
            <a:ext cx="1737360" cy="640080"/>
          </a:xfrm>
          <a:prstGeom prst="rect">
            <a:avLst/>
          </a:prstGeom>
          <a:noFill/>
        </p:spPr>
        <p:txBody>
          <a:bodyPr wrap="square" lIns="73152" tIns="73152" rIns="73152" bIns="73152" anchor="ctr">
            <a:noAutofit/>
          </a:bodyPr>
          <a:lstStyle/>
          <a:p>
            <a:pPr algn="r">
              <a:lnSpc>
                <a:spcPct val="100000"/>
              </a:lnSpc>
              <a:spcAft>
                <a:spcPts val="800"/>
              </a:spcAft>
            </a:pPr>
            <a:r>
              <a:rPr sz="1800" b="0" i="0">
                <a:solidFill>
                  <a:srgbClr val="FFFFFF"/>
                </a:solidFill>
                <a:latin typeface="Arial"/>
                <a:ea typeface="Arial"/>
                <a:cs typeface="Arial"/>
              </a:rPr>
              <a:t>31</a:t>
            </a:r>
          </a:p>
        </p:txBody>
      </p:sp>
      <p:sp>
        <p:nvSpPr>
          <p:cNvPr id="9287" name="TextBox 9286"/>
          <p:cNvSpPr txBox="1"/>
          <p:nvPr/>
        </p:nvSpPr>
        <p:spPr>
          <a:xfrm>
            <a:off x="822960" y="11109960"/>
            <a:ext cx="20116800" cy="502920"/>
          </a:xfrm>
          <a:prstGeom prst="rect">
            <a:avLst/>
          </a:prstGeom>
          <a:noFill/>
        </p:spPr>
        <p:txBody>
          <a:bodyPr wrap="square" lIns="73152" tIns="73152" rIns="73152" bIns="73152" anchor="ctr">
            <a:noAutofit/>
          </a:bodyPr>
          <a:lstStyle/>
          <a:p>
            <a:pPr algn="l">
              <a:lnSpc>
                <a:spcPct val="100000"/>
              </a:lnSpc>
              <a:spcAft>
                <a:spcPts val="800"/>
              </a:spcAft>
            </a:pPr>
            <a:r>
              <a:rPr sz="1500" b="1" i="0">
                <a:solidFill>
                  <a:srgbClr val="555B6E"/>
                </a:solidFill>
                <a:latin typeface="Arial"/>
                <a:ea typeface="Arial"/>
                <a:cs typeface="Arial"/>
              </a:rPr>
              <a:t>Fuente: </a:t>
            </a:r>
            <a:r>
              <a:rPr sz="1500" b="0" i="0">
                <a:solidFill>
                  <a:srgbClr val="555B6E"/>
                </a:solidFill>
                <a:latin typeface="Arial"/>
                <a:ea typeface="Arial"/>
                <a:cs typeface="Arial"/>
              </a:rPr>
              <a:t>numeración: [1]–[20] del trabajo camera-ready; [21]–[32] fuentes de los slides de atribución.</a:t>
            </a:r>
          </a:p>
        </p:txBody>
      </p:sp>
      <p:sp>
        <p:nvSpPr>
          <p:cNvPr id="9288" name="TextBox 9287"/>
          <p:cNvSpPr txBox="1"/>
          <p:nvPr/>
        </p:nvSpPr>
        <p:spPr>
          <a:xfrm>
            <a:off x="822960" y="2148840"/>
            <a:ext cx="14447520" cy="8869680"/>
          </a:xfrm>
          <a:prstGeom prst="rect">
            <a:avLst/>
          </a:prstGeom>
          <a:noFill/>
        </p:spPr>
        <p:txBody>
          <a:bodyPr wrap="square" lIns="73152" tIns="73152" rIns="73152" bIns="73152" anchor="t">
            <a:noAutofit/>
          </a:bodyPr>
          <a:lstStyle/>
          <a:p>
            <a:pPr algn="l">
              <a:lnSpc>
                <a:spcPct val="100000"/>
              </a:lnSpc>
              <a:spcAft>
                <a:spcPts val="600"/>
              </a:spcAft>
            </a:pPr>
            <a:r>
              <a:rPr sz="1500" b="0" i="0">
                <a:solidFill>
                  <a:srgbClr val="000000"/>
                </a:solidFill>
                <a:latin typeface="Arial"/>
                <a:ea typeface="Arial"/>
                <a:cs typeface="Arial"/>
              </a:rPr>
              <a:t>[23] Google Threat Intelligence Group (2026). Updated Cyber Threat Actor Naming System. 24 jul 2026. https://cloud.google.com/blog/topics/threat-intelligence/updated-cyber-threat-actor-naming-system</a:t>
            </a:r>
          </a:p>
          <a:p>
            <a:pPr algn="l">
              <a:lnSpc>
                <a:spcPct val="100000"/>
              </a:lnSpc>
              <a:spcAft>
                <a:spcPts val="600"/>
              </a:spcAft>
            </a:pPr>
            <a:r>
              <a:rPr sz="1500" b="0" i="0">
                <a:solidFill>
                  <a:srgbClr val="000000"/>
                </a:solidFill>
                <a:latin typeface="Arial"/>
                <a:ea typeface="Arial"/>
                <a:cs typeface="Arial"/>
              </a:rPr>
              <a:t>[24] Mandiant (2020). DebUNCing Attribution: How Mandiant Tracks Uncategorized Threat Actors. https://cloud.google.com/blog/topics/threat-intelligence/how-mandiant-tracks-uncategorized-threat-actors</a:t>
            </a:r>
          </a:p>
          <a:p>
            <a:pPr algn="l">
              <a:lnSpc>
                <a:spcPct val="100000"/>
              </a:lnSpc>
              <a:spcAft>
                <a:spcPts val="600"/>
              </a:spcAft>
            </a:pPr>
            <a:r>
              <a:rPr sz="1500" b="0" i="0">
                <a:solidFill>
                  <a:srgbClr val="000000"/>
                </a:solidFill>
                <a:latin typeface="Arial"/>
                <a:ea typeface="Arial"/>
                <a:cs typeface="Arial"/>
              </a:rPr>
              <a:t>[25] Unit 42 (2025). Introducing Unit 42's Attribution Framework. https://unit42.paloaltonetworks.com/unit-42-attribution-framework/</a:t>
            </a:r>
          </a:p>
          <a:p>
            <a:pPr algn="l">
              <a:lnSpc>
                <a:spcPct val="100000"/>
              </a:lnSpc>
              <a:spcAft>
                <a:spcPts val="600"/>
              </a:spcAft>
            </a:pPr>
            <a:r>
              <a:rPr sz="1500" b="0" i="0">
                <a:solidFill>
                  <a:srgbClr val="000000"/>
                </a:solidFill>
                <a:latin typeface="Arial"/>
                <a:ea typeface="Arial"/>
                <a:cs typeface="Arial"/>
              </a:rPr>
              <a:t>[26] Unit 42 (2022, act. 2025). Unit 42 Threat Group Naming Update. https://unit42.paloaltonetworks.com/unit-42-threat-group-naming-update/</a:t>
            </a:r>
          </a:p>
          <a:p>
            <a:pPr algn="l">
              <a:lnSpc>
                <a:spcPct val="100000"/>
              </a:lnSpc>
              <a:spcAft>
                <a:spcPts val="600"/>
              </a:spcAft>
            </a:pPr>
            <a:r>
              <a:rPr sz="1500" b="0" i="0">
                <a:solidFill>
                  <a:srgbClr val="000000"/>
                </a:solidFill>
                <a:latin typeface="Arial"/>
                <a:ea typeface="Arial"/>
                <a:cs typeface="Arial"/>
              </a:rPr>
              <a:t>[27] TrendAI (2026). Threat Attribution Framework: Structure Over Speculation. https://www.trendaisecurity.com/en-us/resources-insights/deep-research/threat-attribution-framework-how-trendai-applies-structure-over-speculation</a:t>
            </a:r>
          </a:p>
          <a:p>
            <a:pPr algn="l">
              <a:lnSpc>
                <a:spcPct val="100000"/>
              </a:lnSpc>
              <a:spcAft>
                <a:spcPts val="600"/>
              </a:spcAft>
            </a:pPr>
            <a:r>
              <a:rPr sz="1500" b="0" i="0">
                <a:solidFill>
                  <a:srgbClr val="000000"/>
                </a:solidFill>
                <a:latin typeface="Arial"/>
                <a:ea typeface="Arial"/>
                <a:cs typeface="Arial"/>
              </a:rPr>
              <a:t>[28] CrowdStrike (2022). Naming Adversaries and Why It Matters to Your Security Team. https://www.crowdstrike.com/en-us/blog/naming-adversaries-and-why-it-matters-to-security-teams/</a:t>
            </a:r>
          </a:p>
          <a:p>
            <a:pPr algn="l">
              <a:lnSpc>
                <a:spcPct val="100000"/>
              </a:lnSpc>
              <a:spcAft>
                <a:spcPts val="600"/>
              </a:spcAft>
            </a:pPr>
            <a:r>
              <a:rPr sz="1500" b="0" i="0">
                <a:solidFill>
                  <a:srgbClr val="000000"/>
                </a:solidFill>
                <a:latin typeface="Arial"/>
                <a:ea typeface="Arial"/>
                <a:cs typeface="Arial"/>
              </a:rPr>
              <a:t>[29] CrowdStrike &amp; Microsoft (2025). Collaborate to Harmonize Cyber Threat Attribution. https://www.crowdstrike.com/en-us/press-releases/crowdstrike-microsoft-collaborate-deconflict-cyber-threat-attribution/</a:t>
            </a:r>
          </a:p>
          <a:p>
            <a:pPr algn="l">
              <a:lnSpc>
                <a:spcPct val="100000"/>
              </a:lnSpc>
              <a:spcAft>
                <a:spcPts val="600"/>
              </a:spcAft>
            </a:pPr>
            <a:r>
              <a:rPr sz="1500" b="0" i="0">
                <a:solidFill>
                  <a:srgbClr val="000000"/>
                </a:solidFill>
                <a:latin typeface="Arial"/>
                <a:ea typeface="Arial"/>
                <a:cs typeface="Arial"/>
              </a:rPr>
              <a:t>[30] Secureworks CTU (Sophos). Counter Threat Unit Researchers Publish Threat Group Definitions. https://www.sophos.com/en-us/blog/counter-threat-unit-researchers-publish-threat-group-definitions</a:t>
            </a:r>
          </a:p>
          <a:p>
            <a:pPr algn="l">
              <a:lnSpc>
                <a:spcPct val="100000"/>
              </a:lnSpc>
              <a:spcAft>
                <a:spcPts val="600"/>
              </a:spcAft>
            </a:pPr>
            <a:r>
              <a:rPr sz="1500" b="0" i="0">
                <a:solidFill>
                  <a:srgbClr val="000000"/>
                </a:solidFill>
                <a:latin typeface="Arial"/>
                <a:ea typeface="Arial"/>
                <a:cs typeface="Arial"/>
              </a:rPr>
              <a:t>[31] Dragos (2019, act. 2025). Uncovering ICS Threat Groups. https://www.dragos.com/blog/webinar-summary-uncovering-ics-threat-activity-groups/</a:t>
            </a:r>
          </a:p>
          <a:p>
            <a:pPr algn="l">
              <a:lnSpc>
                <a:spcPct val="100000"/>
              </a:lnSpc>
              <a:spcAft>
                <a:spcPts val="600"/>
              </a:spcAft>
            </a:pPr>
            <a:r>
              <a:rPr sz="1500" b="0" i="0">
                <a:solidFill>
                  <a:srgbClr val="000000"/>
                </a:solidFill>
                <a:latin typeface="Arial"/>
                <a:ea typeface="Arial"/>
                <a:cs typeface="Arial"/>
              </a:rPr>
              <a:t>[32] Bruggink, G.-J. (2023). Extended Pyramid of Pain — extensión de la Pirámide del Dolor de Bianco con las capas de intención y geopolítica. https://www.linkedin.com/in/gertjanbruggink/ · presentada por el autor en Threat Intelligence 101, Ekoparty Miami 2026 (github.com/Ank1nskywalker/talks).</a:t>
            </a:r>
          </a:p>
        </p:txBody>
      </p:sp>
    </p:spTree>
  </p:cSld>
  <p:clrMapOvr>
    <a:masterClrMapping/>
  </p:clrMapOvr>
</p:sld>
</file>

<file path=ppt/theme/theme1.xml><?xml version="1.0" encoding="utf-8"?>
<a:theme xmlns:a="http://schemas.openxmlformats.org/drawingml/2006/main" name="White">
  <a:themeElements>
    <a:clrScheme name="Conference_base_color">
      <a:dk1>
        <a:srgbClr val="3A4862"/>
      </a:dk1>
      <a:lt1>
        <a:srgbClr val="FEFFFE"/>
      </a:lt1>
      <a:dk2>
        <a:srgbClr val="899AA0"/>
      </a:dk2>
      <a:lt2>
        <a:srgbClr val="F7F6FD"/>
      </a:lt2>
      <a:accent1>
        <a:srgbClr val="6B84EB"/>
      </a:accent1>
      <a:accent2>
        <a:srgbClr val="6C84EC"/>
      </a:accent2>
      <a:accent3>
        <a:srgbClr val="3C98FE"/>
      </a:accent3>
      <a:accent4>
        <a:srgbClr val="3C97FE"/>
      </a:accent4>
      <a:accent5>
        <a:srgbClr val="6C84EC"/>
      </a:accent5>
      <a:accent6>
        <a:srgbClr val="6B84EC"/>
      </a:accent6>
      <a:hlink>
        <a:srgbClr val="6B84EC"/>
      </a:hlink>
      <a:folHlink>
        <a:srgbClr val="6C84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8868</Words>
  <Application>Microsoft Macintosh PowerPoint</Application>
  <PresentationFormat>Custom</PresentationFormat>
  <Paragraphs>602</Paragraphs>
  <Slides>30</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Oswald</vt:lpstr>
      <vt:lpstr>Helvetica Neue</vt:lpstr>
      <vt:lpstr>Arial MT</vt:lpstr>
      <vt:lpstr>Arial</vt:lpstr>
      <vt:lpstr>Helvetica Neue Light</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Juan</dc:creator>
  <cp:lastModifiedBy>Eduardo David Perez</cp:lastModifiedBy>
  <cp:revision>2</cp:revision>
  <dcterms:modified xsi:type="dcterms:W3CDTF">2026-09-16T17:07:07Z</dcterms:modified>
</cp:coreProperties>
</file>