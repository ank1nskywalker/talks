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0"/>
  </p:notesMasterIdLst>
  <p:sldIdLst>
    <p:sldId id="256" r:id="rId2"/>
    <p:sldId id="258" r:id="rId3"/>
    <p:sldId id="257" r:id="rId4"/>
    <p:sldId id="259" r:id="rId5"/>
    <p:sldId id="297" r:id="rId6"/>
    <p:sldId id="260" r:id="rId7"/>
    <p:sldId id="261" r:id="rId8"/>
    <p:sldId id="300" r:id="rId9"/>
    <p:sldId id="302" r:id="rId10"/>
    <p:sldId id="263" r:id="rId11"/>
    <p:sldId id="284" r:id="rId12"/>
    <p:sldId id="264" r:id="rId13"/>
    <p:sldId id="301" r:id="rId14"/>
    <p:sldId id="277" r:id="rId15"/>
    <p:sldId id="265" r:id="rId16"/>
    <p:sldId id="266" r:id="rId17"/>
    <p:sldId id="267" r:id="rId18"/>
    <p:sldId id="268" r:id="rId19"/>
    <p:sldId id="269" r:id="rId20"/>
    <p:sldId id="270" r:id="rId21"/>
    <p:sldId id="271" r:id="rId22"/>
    <p:sldId id="272" r:id="rId23"/>
    <p:sldId id="273" r:id="rId24"/>
    <p:sldId id="275" r:id="rId25"/>
    <p:sldId id="288" r:id="rId26"/>
    <p:sldId id="290" r:id="rId27"/>
    <p:sldId id="294" r:id="rId28"/>
    <p:sldId id="299" r:id="rId29"/>
    <p:sldId id="279" r:id="rId30"/>
    <p:sldId id="281" r:id="rId31"/>
    <p:sldId id="305" r:id="rId32"/>
    <p:sldId id="304" r:id="rId33"/>
    <p:sldId id="303" r:id="rId34"/>
    <p:sldId id="295" r:id="rId35"/>
    <p:sldId id="293" r:id="rId36"/>
    <p:sldId id="283" r:id="rId37"/>
    <p:sldId id="285" r:id="rId38"/>
    <p:sldId id="292" r:id="rId3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06"/>
    <p:restoredTop sz="94726"/>
  </p:normalViewPr>
  <p:slideViewPr>
    <p:cSldViewPr snapToGrid="0">
      <p:cViewPr varScale="1">
        <p:scale>
          <a:sx n="149" d="100"/>
          <a:sy n="149" d="100"/>
        </p:scale>
        <p:origin x="176" y="3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2963" b="0" i="0">
                <a:solidFill>
                  <a:schemeClr val="bg1"/>
                </a:solidFill>
                <a:latin typeface="Arial MT"/>
                <a:cs typeface="Arial MT"/>
              </a:defRPr>
            </a:lvl1pPr>
          </a:lstStyle>
          <a:p>
            <a:endParaRPr/>
          </a:p>
        </p:txBody>
      </p:sp>
      <p:sp>
        <p:nvSpPr>
          <p:cNvPr id="3" name="Holder 3"/>
          <p:cNvSpPr>
            <a:spLocks noGrp="1"/>
          </p:cNvSpPr>
          <p:nvPr>
            <p:ph type="body" idx="1"/>
          </p:nvPr>
        </p:nvSpPr>
        <p:spPr/>
        <p:txBody>
          <a:bodyPr/>
          <a:lstStyle>
            <a:lvl1pPr>
              <a:defRPr b="0" i="0">
                <a:solidFill>
                  <a:schemeClr val="tx1"/>
                </a:solidFill>
              </a:defRPr>
            </a:lvl1pPr>
          </a:lstStyle>
          <a:p>
            <a:endParaRPr/>
          </a:p>
        </p:txBody>
      </p:sp>
      <p:sp>
        <p:nvSpPr>
          <p:cNvPr id="4" name="Holder 4">
            <a:extLst>
              <a:ext uri="{FF2B5EF4-FFF2-40B4-BE49-F238E27FC236}">
                <a16:creationId xmlns:a16="http://schemas.microsoft.com/office/drawing/2014/main" id="{B13379F3-6790-9D79-D712-43F3E2D87846}"/>
              </a:ext>
            </a:extLst>
          </p:cNvPr>
          <p:cNvSpPr>
            <a:spLocks noGrp="1"/>
          </p:cNvSpPr>
          <p:nvPr>
            <p:ph type="ftr" sz="quarter" idx="10"/>
          </p:nvPr>
        </p:nvSpPr>
        <p:spPr/>
        <p:txBody>
          <a:bodyPr/>
          <a:lstStyle>
            <a:lvl1pPr>
              <a:defRPr/>
            </a:lvl1pPr>
          </a:lstStyle>
          <a:p>
            <a:pPr>
              <a:defRPr/>
            </a:pPr>
            <a:r>
              <a:t>@gertjanbruggink</a:t>
            </a:r>
          </a:p>
        </p:txBody>
      </p:sp>
      <p:sp>
        <p:nvSpPr>
          <p:cNvPr id="5" name="Holder 5">
            <a:extLst>
              <a:ext uri="{FF2B5EF4-FFF2-40B4-BE49-F238E27FC236}">
                <a16:creationId xmlns:a16="http://schemas.microsoft.com/office/drawing/2014/main" id="{B1A73643-D675-0C2A-50D9-AAAE977DF666}"/>
              </a:ext>
            </a:extLst>
          </p:cNvPr>
          <p:cNvSpPr>
            <a:spLocks noGrp="1" noChangeArrowheads="1"/>
          </p:cNvSpPr>
          <p:nvPr>
            <p:ph type="dt" sz="half" idx="11"/>
          </p:nvPr>
        </p:nvSpPr>
        <p:spPr>
          <a:ln/>
        </p:spPr>
        <p:txBody>
          <a:bodyPr/>
          <a:lstStyle>
            <a:lvl1pPr>
              <a:defRPr/>
            </a:lvl1pPr>
          </a:lstStyle>
          <a:p>
            <a:pPr>
              <a:defRPr/>
            </a:pPr>
            <a:fld id="{1D73CA0B-578D-4440-98DE-22A6C779DA6C}" type="datetimeFigureOut">
              <a:rPr lang="en-US" altLang="en-AR"/>
              <a:pPr>
                <a:defRPr/>
              </a:pPr>
              <a:t>6/4/26</a:t>
            </a:fld>
            <a:endParaRPr lang="en-US" altLang="en-AR"/>
          </a:p>
        </p:txBody>
      </p:sp>
      <p:sp>
        <p:nvSpPr>
          <p:cNvPr id="6" name="Holder 6">
            <a:extLst>
              <a:ext uri="{FF2B5EF4-FFF2-40B4-BE49-F238E27FC236}">
                <a16:creationId xmlns:a16="http://schemas.microsoft.com/office/drawing/2014/main" id="{025A8D0D-D484-9D22-0AAB-4DD736159826}"/>
              </a:ext>
            </a:extLst>
          </p:cNvPr>
          <p:cNvSpPr>
            <a:spLocks noGrp="1"/>
          </p:cNvSpPr>
          <p:nvPr>
            <p:ph type="sldNum" sz="quarter" idx="12"/>
          </p:nvPr>
        </p:nvSpPr>
        <p:spPr/>
        <p:txBody>
          <a:bodyPr/>
          <a:lstStyle>
            <a:lvl1pPr>
              <a:defRPr/>
            </a:lvl1pPr>
          </a:lstStyle>
          <a:p>
            <a:pPr>
              <a:defRPr/>
            </a:pPr>
            <a:fld id="{9779DE62-86E8-5948-9010-ACB26039BF47}" type="slidenum">
              <a:rPr/>
              <a:pPr>
                <a:defRPr/>
              </a:pPr>
              <a:t>‹#›</a:t>
            </a:fld>
            <a:endParaRPr/>
          </a:p>
        </p:txBody>
      </p:sp>
    </p:spTree>
    <p:extLst>
      <p:ext uri="{BB962C8B-B14F-4D97-AF65-F5344CB8AC3E}">
        <p14:creationId xmlns:p14="http://schemas.microsoft.com/office/powerpoint/2010/main" val="115272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hyperlink" Target="favicon-hash.kmsec.uk" TargetMode="External"/><Relationship Id="rId2" Type="http://schemas.openxmlformats.org/officeDocument/2006/relationships/image" Target="../media/image21.jp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8" Type="http://schemas.openxmlformats.org/officeDocument/2006/relationships/hyperlink" Target="https://favicon-hash.kmsec.uk/" TargetMode="External"/><Relationship Id="rId3" Type="http://schemas.openxmlformats.org/officeDocument/2006/relationships/hyperlink" Target="https://es.scribd.com/document/1019779413/1730403607-State-of-Vulnerability-Response-Ponemon" TargetMode="External"/><Relationship Id="rId7" Type="http://schemas.openxmlformats.org/officeDocument/2006/relationships/hyperlink" Target="https://lolrmm.io/" TargetMode="External"/><Relationship Id="rId2" Type="http://schemas.openxmlformats.org/officeDocument/2006/relationships/hyperlink" Target="https://www.verizon.com/business/resources/reports/2024-dbir-data-breach-investigations-report.pdf" TargetMode="External"/><Relationship Id="rId1" Type="http://schemas.openxmlformats.org/officeDocument/2006/relationships/slideLayout" Target="../slideLayouts/slideLayout11.xml"/><Relationship Id="rId6" Type="http://schemas.openxmlformats.org/officeDocument/2006/relationships/hyperlink" Target="https://www.huntress.com/blog/daisy-chaining-rogue-rmm-tools" TargetMode="External"/><Relationship Id="rId5" Type="http://schemas.openxmlformats.org/officeDocument/2006/relationships/hyperlink" Target="https://arcticwolf.com/resources/blog/understanding-the-risks-of-remote-monitoring-and-management-tools/" TargetMode="External"/><Relationship Id="rId4" Type="http://schemas.openxmlformats.org/officeDocument/2006/relationships/hyperlink" Target="https://techcommunity.microsoft.com/blog/microsoftsecurityexperts/keys-to-the-kingdom-rmm-exploits-enabling-human-operated-intrusions-in-2024%E2%80%9325/4410903" TargetMode="External"/><Relationship Id="rId9" Type="http://schemas.openxmlformats.org/officeDocument/2006/relationships/hyperlink" Target="https://www.splunk.com/en_us/blog/learn/cyber-kill-chain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336792" y="0"/>
            <a:ext cx="2807208" cy="514350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left.png"/>
          <p:cNvPicPr>
            <a:picLocks noChangeAspect="1"/>
          </p:cNvPicPr>
          <p:nvPr/>
        </p:nvPicPr>
        <p:blipFill>
          <a:blip r:embed="rId2"/>
          <a:stretch>
            <a:fillRect/>
          </a:stretch>
        </p:blipFill>
        <p:spPr>
          <a:xfrm>
            <a:off x="384048" y="64008"/>
            <a:ext cx="2654573" cy="5029200"/>
          </a:xfrm>
          <a:prstGeom prst="rect">
            <a:avLst/>
          </a:prstGeom>
        </p:spPr>
      </p:pic>
      <p:pic>
        <p:nvPicPr>
          <p:cNvPr id="4" name="Picture 3" descr="brand_palm_right.png"/>
          <p:cNvPicPr>
            <a:picLocks noChangeAspect="1"/>
          </p:cNvPicPr>
          <p:nvPr/>
        </p:nvPicPr>
        <p:blipFill>
          <a:blip r:embed="rId3"/>
          <a:stretch>
            <a:fillRect/>
          </a:stretch>
        </p:blipFill>
        <p:spPr>
          <a:xfrm>
            <a:off x="3429000" y="0"/>
            <a:ext cx="2614445" cy="5143500"/>
          </a:xfrm>
          <a:prstGeom prst="rect">
            <a:avLst/>
          </a:prstGeom>
        </p:spPr>
      </p:pic>
      <p:pic>
        <p:nvPicPr>
          <p:cNvPr id="5" name="Picture 4" descr="brand_logo.png"/>
          <p:cNvPicPr>
            <a:picLocks noChangeAspect="1"/>
          </p:cNvPicPr>
          <p:nvPr/>
        </p:nvPicPr>
        <p:blipFill>
          <a:blip r:embed="rId4"/>
          <a:stretch>
            <a:fillRect/>
          </a:stretch>
        </p:blipFill>
        <p:spPr>
          <a:xfrm>
            <a:off x="2350008" y="3538728"/>
            <a:ext cx="1453896" cy="1464623"/>
          </a:xfrm>
          <a:prstGeom prst="rect">
            <a:avLst/>
          </a:prstGeom>
        </p:spPr>
      </p:pic>
      <p:sp>
        <p:nvSpPr>
          <p:cNvPr id="6" name="TextBox 5"/>
          <p:cNvSpPr txBox="1"/>
          <p:nvPr/>
        </p:nvSpPr>
        <p:spPr>
          <a:xfrm>
            <a:off x="6537960" y="1051560"/>
            <a:ext cx="2514600" cy="411480"/>
          </a:xfrm>
          <a:prstGeom prst="rect">
            <a:avLst/>
          </a:prstGeom>
          <a:noFill/>
        </p:spPr>
        <p:txBody>
          <a:bodyPr wrap="square" lIns="25400" tIns="12700" rIns="25400" bIns="12700" anchor="t">
            <a:spAutoFit/>
          </a:bodyPr>
          <a:lstStyle/>
          <a:p>
            <a:pPr algn="l"/>
            <a:r>
              <a:rPr sz="1200" b="1" i="0" spc="400">
                <a:solidFill>
                  <a:srgbClr val="FFFFFF"/>
                </a:solidFill>
                <a:latin typeface="Arial"/>
              </a:rPr>
              <a:t>EKOPARTY MIAMI</a:t>
            </a:r>
          </a:p>
        </p:txBody>
      </p:sp>
      <p:sp>
        <p:nvSpPr>
          <p:cNvPr id="7" name="TextBox 6"/>
          <p:cNvSpPr txBox="1"/>
          <p:nvPr/>
        </p:nvSpPr>
        <p:spPr>
          <a:xfrm>
            <a:off x="6537960" y="1417320"/>
            <a:ext cx="2514600" cy="1463040"/>
          </a:xfrm>
          <a:prstGeom prst="rect">
            <a:avLst/>
          </a:prstGeom>
          <a:noFill/>
        </p:spPr>
        <p:txBody>
          <a:bodyPr wrap="square" lIns="25400" tIns="12700" rIns="25400" bIns="12700" anchor="t">
            <a:spAutoFit/>
          </a:bodyPr>
          <a:lstStyle/>
          <a:p>
            <a:pPr algn="l"/>
            <a:r>
              <a:rPr sz="3000" b="1" i="0">
                <a:solidFill>
                  <a:srgbClr val="FFFFFF"/>
                </a:solidFill>
                <a:latin typeface="Arial"/>
              </a:rPr>
              <a:t>THREAT</a:t>
            </a:r>
          </a:p>
          <a:p>
            <a:pPr algn="l"/>
            <a:r>
              <a:rPr sz="2200" b="1" i="0">
                <a:solidFill>
                  <a:srgbClr val="FFFFFF"/>
                </a:solidFill>
                <a:latin typeface="Arial"/>
              </a:rPr>
              <a:t>INTELLIGENCE</a:t>
            </a:r>
          </a:p>
          <a:p>
            <a:pPr algn="l"/>
            <a:r>
              <a:rPr sz="3000" b="1" i="0">
                <a:solidFill>
                  <a:srgbClr val="FFFFFF"/>
                </a:solidFill>
                <a:latin typeface="Arial"/>
              </a:rPr>
              <a:t>101</a:t>
            </a:r>
          </a:p>
        </p:txBody>
      </p:sp>
      <p:sp>
        <p:nvSpPr>
          <p:cNvPr id="8" name="Rectangle 7"/>
          <p:cNvSpPr/>
          <p:nvPr/>
        </p:nvSpPr>
        <p:spPr>
          <a:xfrm>
            <a:off x="6537960" y="3017520"/>
            <a:ext cx="64008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3108960"/>
            <a:ext cx="2514600" cy="365760"/>
          </a:xfrm>
          <a:prstGeom prst="rect">
            <a:avLst/>
          </a:prstGeom>
          <a:noFill/>
        </p:spPr>
        <p:txBody>
          <a:bodyPr wrap="square" lIns="25400" tIns="12700" rIns="25400" bIns="12700" anchor="t">
            <a:spAutoFit/>
          </a:bodyPr>
          <a:lstStyle/>
          <a:p>
            <a:pPr algn="l"/>
            <a:r>
              <a:rPr sz="1200" b="0" i="1">
                <a:solidFill>
                  <a:srgbClr val="FFFFFF"/>
                </a:solidFill>
                <a:latin typeface="Arial"/>
              </a:rPr>
              <a:t>From Reactive to</a:t>
            </a:r>
          </a:p>
        </p:txBody>
      </p:sp>
      <p:sp>
        <p:nvSpPr>
          <p:cNvPr id="10" name="TextBox 9"/>
          <p:cNvSpPr txBox="1"/>
          <p:nvPr/>
        </p:nvSpPr>
        <p:spPr>
          <a:xfrm>
            <a:off x="6537960" y="3383280"/>
            <a:ext cx="2514600" cy="365760"/>
          </a:xfrm>
          <a:prstGeom prst="rect">
            <a:avLst/>
          </a:prstGeom>
          <a:noFill/>
        </p:spPr>
        <p:txBody>
          <a:bodyPr wrap="square" lIns="25400" tIns="12700" rIns="25400" bIns="12700" anchor="t">
            <a:spAutoFit/>
          </a:bodyPr>
          <a:lstStyle/>
          <a:p>
            <a:pPr algn="l"/>
            <a:r>
              <a:rPr sz="1200" b="0" i="1">
                <a:solidFill>
                  <a:srgbClr val="FFFFFF"/>
                </a:solidFill>
                <a:latin typeface="Arial"/>
              </a:rPr>
              <a:t>Predictive Approach</a:t>
            </a:r>
          </a:p>
        </p:txBody>
      </p:sp>
      <p:sp>
        <p:nvSpPr>
          <p:cNvPr id="11" name="TextBox 10"/>
          <p:cNvSpPr txBox="1"/>
          <p:nvPr/>
        </p:nvSpPr>
        <p:spPr>
          <a:xfrm>
            <a:off x="6537960" y="4023360"/>
            <a:ext cx="2514600" cy="225703"/>
          </a:xfrm>
          <a:prstGeom prst="rect">
            <a:avLst/>
          </a:prstGeom>
          <a:noFill/>
        </p:spPr>
        <p:txBody>
          <a:bodyPr wrap="square" lIns="25400" tIns="12700" rIns="25400" bIns="12700" anchor="t">
            <a:spAutoFit/>
          </a:bodyPr>
          <a:lstStyle/>
          <a:p>
            <a:pPr algn="l"/>
            <a:r>
              <a:rPr lang="en-US" sz="1300" b="1" i="0" dirty="0">
                <a:solidFill>
                  <a:srgbClr val="FFFFFF"/>
                </a:solidFill>
                <a:latin typeface="Arial"/>
              </a:rPr>
              <a:t>David</a:t>
            </a:r>
            <a:r>
              <a:rPr sz="1300" b="1" i="0" dirty="0">
                <a:solidFill>
                  <a:srgbClr val="FFFFFF"/>
                </a:solidFill>
                <a:latin typeface="Arial"/>
              </a:rPr>
              <a:t> Pérez</a:t>
            </a:r>
          </a:p>
        </p:txBody>
      </p:sp>
      <p:sp>
        <p:nvSpPr>
          <p:cNvPr id="12" name="TextBox 11"/>
          <p:cNvSpPr txBox="1"/>
          <p:nvPr/>
        </p:nvSpPr>
        <p:spPr>
          <a:xfrm>
            <a:off x="6537960" y="4315968"/>
            <a:ext cx="2514600" cy="320040"/>
          </a:xfrm>
          <a:prstGeom prst="rect">
            <a:avLst/>
          </a:prstGeom>
          <a:noFill/>
        </p:spPr>
        <p:txBody>
          <a:bodyPr wrap="square" lIns="25400" tIns="12700" rIns="25400" bIns="12700" anchor="t">
            <a:spAutoFit/>
          </a:bodyPr>
          <a:lstStyle/>
          <a:p>
            <a:pPr algn="l"/>
            <a:r>
              <a:rPr sz="1100" b="0" i="0">
                <a:solidFill>
                  <a:srgbClr val="FFFFFF"/>
                </a:solidFill>
                <a:latin typeface="Arial"/>
              </a:rPr>
              <a:t>CTI · Sadvisor</a:t>
            </a:r>
          </a:p>
        </p:txBody>
      </p:sp>
      <p:sp>
        <p:nvSpPr>
          <p:cNvPr id="13" name="TextBox 12"/>
          <p:cNvSpPr txBox="1"/>
          <p:nvPr/>
        </p:nvSpPr>
        <p:spPr>
          <a:xfrm>
            <a:off x="6537960" y="4663440"/>
            <a:ext cx="2514600" cy="274320"/>
          </a:xfrm>
          <a:prstGeom prst="rect">
            <a:avLst/>
          </a:prstGeom>
          <a:noFill/>
        </p:spPr>
        <p:txBody>
          <a:bodyPr wrap="square" lIns="25400" tIns="12700" rIns="25400" bIns="12700" anchor="t">
            <a:spAutoFit/>
          </a:bodyPr>
          <a:lstStyle/>
          <a:p>
            <a:pPr algn="l"/>
            <a:r>
              <a:rPr sz="1000" b="0" i="0">
                <a:solidFill>
                  <a:srgbClr val="FFFFFF"/>
                </a:solidFill>
                <a:latin typeface="Arial"/>
              </a:rPr>
              <a:t>22 de junio de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41A52"/>
        </a:solidFill>
        <a:effectLst/>
      </p:bgPr>
    </p:bg>
    <p:spTree>
      <p:nvGrpSpPr>
        <p:cNvPr id="1" name=""/>
        <p:cNvGrpSpPr/>
        <p:nvPr/>
      </p:nvGrpSpPr>
      <p:grpSpPr>
        <a:xfrm>
          <a:off x="0" y="0"/>
          <a:ext cx="0" cy="0"/>
          <a:chOff x="0" y="0"/>
          <a:chExt cx="0" cy="0"/>
        </a:xfrm>
      </p:grpSpPr>
      <p:pic>
        <p:nvPicPr>
          <p:cNvPr id="4" name="Picture 3" descr="brand_palm_right.png"/>
          <p:cNvPicPr>
            <a:picLocks noChangeAspect="1"/>
          </p:cNvPicPr>
          <p:nvPr/>
        </p:nvPicPr>
        <p:blipFill>
          <a:blip r:embed="rId2">
            <a:alphaModFix amt="25000"/>
          </a:blip>
          <a:stretch>
            <a:fillRect/>
          </a:stretch>
        </p:blipFill>
        <p:spPr>
          <a:xfrm>
            <a:off x="6583680" y="365760"/>
            <a:ext cx="2323951" cy="4572000"/>
          </a:xfrm>
          <a:prstGeom prst="rect">
            <a:avLst/>
          </a:prstGeom>
        </p:spPr>
      </p:pic>
      <p:sp>
        <p:nvSpPr>
          <p:cNvPr id="5" name="Rectangle 4"/>
          <p:cNvSpPr/>
          <p:nvPr/>
        </p:nvSpPr>
        <p:spPr>
          <a:xfrm>
            <a:off x="365760" y="274320"/>
            <a:ext cx="841248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0624" y="329184"/>
            <a:ext cx="8302752" cy="603504"/>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479612"/>
            <a:ext cx="8046720" cy="302647"/>
          </a:xfrm>
          <a:prstGeom prst="rect">
            <a:avLst/>
          </a:prstGeom>
          <a:noFill/>
        </p:spPr>
        <p:txBody>
          <a:bodyPr wrap="square" lIns="25400" tIns="12700" rIns="25400" bIns="12700" anchor="ctr">
            <a:spAutoFit/>
          </a:bodyPr>
          <a:lstStyle/>
          <a:p>
            <a:pPr algn="l"/>
            <a:r>
              <a:rPr lang="es-419" sz="1800" b="1" i="0" spc="200" dirty="0">
                <a:solidFill>
                  <a:srgbClr val="FFFFFF"/>
                </a:solidFill>
                <a:latin typeface="Arial"/>
              </a:rPr>
              <a:t>About.ME</a:t>
            </a:r>
            <a:endParaRPr sz="1800" b="1" i="0" spc="200" dirty="0">
              <a:solidFill>
                <a:srgbClr val="FFFFFF"/>
              </a:solidFill>
              <a:latin typeface="Arial"/>
            </a:endParaRPr>
          </a:p>
        </p:txBody>
      </p:sp>
      <p:pic>
        <p:nvPicPr>
          <p:cNvPr id="4098" name="Picture 2">
            <a:extLst>
              <a:ext uri="{FF2B5EF4-FFF2-40B4-BE49-F238E27FC236}">
                <a16:creationId xmlns:a16="http://schemas.microsoft.com/office/drawing/2014/main" id="{43AF2E28-A0E8-0D1E-49DD-C4CC00B76F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0481" y="1035110"/>
            <a:ext cx="2670347" cy="400552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37672E99-8109-5003-6181-0EB432B7E0C8}"/>
              </a:ext>
            </a:extLst>
          </p:cNvPr>
          <p:cNvSpPr/>
          <p:nvPr/>
        </p:nvSpPr>
        <p:spPr>
          <a:xfrm>
            <a:off x="0" y="1025131"/>
            <a:ext cx="457200" cy="34747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941054A9-106D-F8AE-A411-060E7C74FE59}"/>
              </a:ext>
            </a:extLst>
          </p:cNvPr>
          <p:cNvSpPr txBox="1"/>
          <p:nvPr/>
        </p:nvSpPr>
        <p:spPr>
          <a:xfrm>
            <a:off x="0" y="1025131"/>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A</a:t>
            </a:r>
          </a:p>
        </p:txBody>
      </p:sp>
      <p:sp>
        <p:nvSpPr>
          <p:cNvPr id="17" name="Rectangle 16">
            <a:extLst>
              <a:ext uri="{FF2B5EF4-FFF2-40B4-BE49-F238E27FC236}">
                <a16:creationId xmlns:a16="http://schemas.microsoft.com/office/drawing/2014/main" id="{A9047AD4-6F2E-8C3E-DFB1-EED37A5FC387}"/>
              </a:ext>
            </a:extLst>
          </p:cNvPr>
          <p:cNvSpPr/>
          <p:nvPr/>
        </p:nvSpPr>
        <p:spPr>
          <a:xfrm>
            <a:off x="457200" y="1025131"/>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9685DEDF-73A1-33C2-D024-F084BA06FD32}"/>
              </a:ext>
            </a:extLst>
          </p:cNvPr>
          <p:cNvSpPr txBox="1"/>
          <p:nvPr/>
        </p:nvSpPr>
        <p:spPr>
          <a:xfrm>
            <a:off x="594360" y="1101404"/>
            <a:ext cx="3383280" cy="194925"/>
          </a:xfrm>
          <a:prstGeom prst="rect">
            <a:avLst/>
          </a:prstGeom>
          <a:noFill/>
        </p:spPr>
        <p:txBody>
          <a:bodyPr wrap="square" lIns="25400" tIns="12700" rIns="25400" bIns="12700" anchor="ctr">
            <a:spAutoFit/>
          </a:bodyPr>
          <a:lstStyle/>
          <a:p>
            <a:pPr algn="l"/>
            <a:r>
              <a:rPr lang="es-419" sz="1100" b="0" i="0" dirty="0">
                <a:solidFill>
                  <a:srgbClr val="1F2937"/>
                </a:solidFill>
                <a:latin typeface="Arial"/>
              </a:rPr>
              <a:t>Fanático de Star Wars</a:t>
            </a:r>
            <a:endParaRPr sz="1100" b="0" i="0" dirty="0">
              <a:solidFill>
                <a:srgbClr val="1F2937"/>
              </a:solidFill>
              <a:latin typeface="Arial"/>
            </a:endParaRPr>
          </a:p>
        </p:txBody>
      </p:sp>
      <p:sp>
        <p:nvSpPr>
          <p:cNvPr id="19" name="Rectangle 18">
            <a:extLst>
              <a:ext uri="{FF2B5EF4-FFF2-40B4-BE49-F238E27FC236}">
                <a16:creationId xmlns:a16="http://schemas.microsoft.com/office/drawing/2014/main" id="{E91166AD-6666-D6FC-0128-505972FC68FE}"/>
              </a:ext>
            </a:extLst>
          </p:cNvPr>
          <p:cNvSpPr/>
          <p:nvPr/>
        </p:nvSpPr>
        <p:spPr>
          <a:xfrm>
            <a:off x="0" y="1409179"/>
            <a:ext cx="457200" cy="34747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2381053D-6006-B931-F1E6-B708FFE885BA}"/>
              </a:ext>
            </a:extLst>
          </p:cNvPr>
          <p:cNvSpPr txBox="1"/>
          <p:nvPr/>
        </p:nvSpPr>
        <p:spPr>
          <a:xfrm>
            <a:off x="0" y="1409179"/>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B</a:t>
            </a:r>
          </a:p>
        </p:txBody>
      </p:sp>
      <p:sp>
        <p:nvSpPr>
          <p:cNvPr id="21" name="Rectangle 20">
            <a:extLst>
              <a:ext uri="{FF2B5EF4-FFF2-40B4-BE49-F238E27FC236}">
                <a16:creationId xmlns:a16="http://schemas.microsoft.com/office/drawing/2014/main" id="{1F86971A-0B00-097C-07C9-17CA68FA32AD}"/>
              </a:ext>
            </a:extLst>
          </p:cNvPr>
          <p:cNvSpPr/>
          <p:nvPr/>
        </p:nvSpPr>
        <p:spPr>
          <a:xfrm>
            <a:off x="457200" y="1409179"/>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481979DC-D10F-D84B-0CC4-818F65E96320}"/>
              </a:ext>
            </a:extLst>
          </p:cNvPr>
          <p:cNvSpPr txBox="1"/>
          <p:nvPr/>
        </p:nvSpPr>
        <p:spPr>
          <a:xfrm>
            <a:off x="594360" y="1485452"/>
            <a:ext cx="3383280" cy="194925"/>
          </a:xfrm>
          <a:prstGeom prst="rect">
            <a:avLst/>
          </a:prstGeom>
          <a:noFill/>
        </p:spPr>
        <p:txBody>
          <a:bodyPr wrap="square" lIns="25400" tIns="12700" rIns="25400" bIns="12700" anchor="ctr">
            <a:spAutoFit/>
          </a:bodyPr>
          <a:lstStyle/>
          <a:p>
            <a:pPr fontAlgn="base"/>
            <a:r>
              <a:rPr lang="en-US" sz="1100" dirty="0">
                <a:solidFill>
                  <a:srgbClr val="1F2937"/>
                </a:solidFill>
              </a:rPr>
              <a:t>Temas </a:t>
            </a:r>
            <a:r>
              <a:rPr lang="en-US" sz="1100" dirty="0" err="1">
                <a:solidFill>
                  <a:srgbClr val="1F2937"/>
                </a:solidFill>
              </a:rPr>
              <a:t>que</a:t>
            </a:r>
            <a:r>
              <a:rPr lang="en-US" sz="1100" dirty="0">
                <a:solidFill>
                  <a:srgbClr val="1F2937"/>
                </a:solidFill>
              </a:rPr>
              <a:t> </a:t>
            </a:r>
            <a:r>
              <a:rPr lang="en-US" sz="1100" dirty="0" err="1">
                <a:solidFill>
                  <a:srgbClr val="1F2937"/>
                </a:solidFill>
              </a:rPr>
              <a:t>sigo</a:t>
            </a:r>
            <a:r>
              <a:rPr lang="en-US" sz="1100" dirty="0">
                <a:solidFill>
                  <a:srgbClr val="1F2937"/>
                </a:solidFill>
              </a:rPr>
              <a:t>: Threat Intelligence - Ransomware.</a:t>
            </a:r>
          </a:p>
        </p:txBody>
      </p:sp>
      <p:sp>
        <p:nvSpPr>
          <p:cNvPr id="23" name="Rectangle 22">
            <a:extLst>
              <a:ext uri="{FF2B5EF4-FFF2-40B4-BE49-F238E27FC236}">
                <a16:creationId xmlns:a16="http://schemas.microsoft.com/office/drawing/2014/main" id="{A4CF19A3-5A20-352B-616B-5F21A9887CCD}"/>
              </a:ext>
            </a:extLst>
          </p:cNvPr>
          <p:cNvSpPr/>
          <p:nvPr/>
        </p:nvSpPr>
        <p:spPr>
          <a:xfrm>
            <a:off x="0" y="1793227"/>
            <a:ext cx="457200" cy="34747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52DE20CA-B27A-14BE-FE4D-557E825F6F11}"/>
              </a:ext>
            </a:extLst>
          </p:cNvPr>
          <p:cNvSpPr txBox="1"/>
          <p:nvPr/>
        </p:nvSpPr>
        <p:spPr>
          <a:xfrm>
            <a:off x="0" y="1793227"/>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C</a:t>
            </a:r>
          </a:p>
        </p:txBody>
      </p:sp>
      <p:sp>
        <p:nvSpPr>
          <p:cNvPr id="25" name="Rectangle 24">
            <a:extLst>
              <a:ext uri="{FF2B5EF4-FFF2-40B4-BE49-F238E27FC236}">
                <a16:creationId xmlns:a16="http://schemas.microsoft.com/office/drawing/2014/main" id="{8CC1ECA8-164D-C2B1-EBCB-14A0762E539E}"/>
              </a:ext>
            </a:extLst>
          </p:cNvPr>
          <p:cNvSpPr/>
          <p:nvPr/>
        </p:nvSpPr>
        <p:spPr>
          <a:xfrm>
            <a:off x="457200" y="1793227"/>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CE8F80AB-D21E-2B1A-D7A3-BB954FA36CE8}"/>
              </a:ext>
            </a:extLst>
          </p:cNvPr>
          <p:cNvSpPr txBox="1"/>
          <p:nvPr/>
        </p:nvSpPr>
        <p:spPr>
          <a:xfrm>
            <a:off x="594360" y="1869500"/>
            <a:ext cx="3383280" cy="194925"/>
          </a:xfrm>
          <a:prstGeom prst="rect">
            <a:avLst/>
          </a:prstGeom>
          <a:noFill/>
        </p:spPr>
        <p:txBody>
          <a:bodyPr wrap="square" lIns="25400" tIns="12700" rIns="25400" bIns="12700" anchor="ctr">
            <a:spAutoFit/>
          </a:bodyPr>
          <a:lstStyle/>
          <a:p>
            <a:pPr algn="l"/>
            <a:r>
              <a:rPr lang="es-419" sz="1100" b="0" i="0" dirty="0">
                <a:solidFill>
                  <a:srgbClr val="1F2937"/>
                </a:solidFill>
                <a:latin typeface="Arial"/>
              </a:rPr>
              <a:t>Roles en los que me desempeñé:</a:t>
            </a:r>
            <a:endParaRPr sz="1100" b="0" i="0" dirty="0">
              <a:solidFill>
                <a:srgbClr val="1F2937"/>
              </a:solidFill>
              <a:latin typeface="Arial"/>
            </a:endParaRPr>
          </a:p>
        </p:txBody>
      </p:sp>
      <p:sp>
        <p:nvSpPr>
          <p:cNvPr id="27" name="Rectangle 26">
            <a:extLst>
              <a:ext uri="{FF2B5EF4-FFF2-40B4-BE49-F238E27FC236}">
                <a16:creationId xmlns:a16="http://schemas.microsoft.com/office/drawing/2014/main" id="{16FB6D68-7E71-8A59-692E-C14005DE4ACD}"/>
              </a:ext>
            </a:extLst>
          </p:cNvPr>
          <p:cNvSpPr/>
          <p:nvPr/>
        </p:nvSpPr>
        <p:spPr>
          <a:xfrm>
            <a:off x="0" y="2177275"/>
            <a:ext cx="457200" cy="34747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2ED0B2A8-7383-142A-14A4-F7E9EF3F996C}"/>
              </a:ext>
            </a:extLst>
          </p:cNvPr>
          <p:cNvSpPr txBox="1"/>
          <p:nvPr/>
        </p:nvSpPr>
        <p:spPr>
          <a:xfrm>
            <a:off x="0" y="2177275"/>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D</a:t>
            </a:r>
          </a:p>
        </p:txBody>
      </p:sp>
      <p:sp>
        <p:nvSpPr>
          <p:cNvPr id="29" name="Rectangle 28">
            <a:extLst>
              <a:ext uri="{FF2B5EF4-FFF2-40B4-BE49-F238E27FC236}">
                <a16:creationId xmlns:a16="http://schemas.microsoft.com/office/drawing/2014/main" id="{D74C58BE-D4AA-578C-07AC-C4677663B00C}"/>
              </a:ext>
            </a:extLst>
          </p:cNvPr>
          <p:cNvSpPr/>
          <p:nvPr/>
        </p:nvSpPr>
        <p:spPr>
          <a:xfrm>
            <a:off x="457200" y="2177275"/>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a:extLst>
              <a:ext uri="{FF2B5EF4-FFF2-40B4-BE49-F238E27FC236}">
                <a16:creationId xmlns:a16="http://schemas.microsoft.com/office/drawing/2014/main" id="{4C0ED6B2-B2DD-0630-9EC5-28926BE85FAE}"/>
              </a:ext>
            </a:extLst>
          </p:cNvPr>
          <p:cNvSpPr/>
          <p:nvPr/>
        </p:nvSpPr>
        <p:spPr>
          <a:xfrm>
            <a:off x="0" y="2561322"/>
            <a:ext cx="457200" cy="34747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5B9773A8-6A37-A0B5-DC34-5F7D0CEFAA49}"/>
              </a:ext>
            </a:extLst>
          </p:cNvPr>
          <p:cNvSpPr txBox="1"/>
          <p:nvPr/>
        </p:nvSpPr>
        <p:spPr>
          <a:xfrm>
            <a:off x="0" y="2561322"/>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E</a:t>
            </a:r>
          </a:p>
        </p:txBody>
      </p:sp>
      <p:sp>
        <p:nvSpPr>
          <p:cNvPr id="33" name="Rectangle 32">
            <a:extLst>
              <a:ext uri="{FF2B5EF4-FFF2-40B4-BE49-F238E27FC236}">
                <a16:creationId xmlns:a16="http://schemas.microsoft.com/office/drawing/2014/main" id="{7C4B7676-61F3-6ABF-9E52-ACD4E560801E}"/>
              </a:ext>
            </a:extLst>
          </p:cNvPr>
          <p:cNvSpPr/>
          <p:nvPr/>
        </p:nvSpPr>
        <p:spPr>
          <a:xfrm>
            <a:off x="457200" y="2561322"/>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19D5F89D-7293-85FF-7C55-F97E7DCD85D1}"/>
              </a:ext>
            </a:extLst>
          </p:cNvPr>
          <p:cNvSpPr txBox="1"/>
          <p:nvPr/>
        </p:nvSpPr>
        <p:spPr>
          <a:xfrm>
            <a:off x="594360" y="2637595"/>
            <a:ext cx="3383280" cy="194925"/>
          </a:xfrm>
          <a:prstGeom prst="rect">
            <a:avLst/>
          </a:prstGeom>
          <a:noFill/>
        </p:spPr>
        <p:txBody>
          <a:bodyPr wrap="square" lIns="25400" tIns="12700" rIns="25400" bIns="12700" anchor="ctr">
            <a:spAutoFit/>
          </a:bodyPr>
          <a:lstStyle/>
          <a:p>
            <a:pPr algn="l"/>
            <a:r>
              <a:rPr lang="es-419" sz="1100" b="0" i="0" dirty="0">
                <a:solidFill>
                  <a:srgbClr val="1F2937"/>
                </a:solidFill>
                <a:latin typeface="Arial"/>
              </a:rPr>
              <a:t>Phishing Analyst </a:t>
            </a:r>
            <a:endParaRPr sz="1100" b="0" i="0" dirty="0">
              <a:solidFill>
                <a:srgbClr val="1F2937"/>
              </a:solidFill>
              <a:latin typeface="Arial"/>
            </a:endParaRPr>
          </a:p>
        </p:txBody>
      </p:sp>
      <p:sp>
        <p:nvSpPr>
          <p:cNvPr id="35" name="Rectangle 34">
            <a:extLst>
              <a:ext uri="{FF2B5EF4-FFF2-40B4-BE49-F238E27FC236}">
                <a16:creationId xmlns:a16="http://schemas.microsoft.com/office/drawing/2014/main" id="{0DEA742B-2EC0-E830-1E39-B8CC1B7E6DD9}"/>
              </a:ext>
            </a:extLst>
          </p:cNvPr>
          <p:cNvSpPr/>
          <p:nvPr/>
        </p:nvSpPr>
        <p:spPr>
          <a:xfrm>
            <a:off x="0" y="2945371"/>
            <a:ext cx="457200" cy="34747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8EAFAA34-02ED-5A48-FFEE-F92B64461206}"/>
              </a:ext>
            </a:extLst>
          </p:cNvPr>
          <p:cNvSpPr txBox="1"/>
          <p:nvPr/>
        </p:nvSpPr>
        <p:spPr>
          <a:xfrm>
            <a:off x="0" y="2945371"/>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F</a:t>
            </a:r>
          </a:p>
        </p:txBody>
      </p:sp>
      <p:sp>
        <p:nvSpPr>
          <p:cNvPr id="37" name="Rectangle 36">
            <a:extLst>
              <a:ext uri="{FF2B5EF4-FFF2-40B4-BE49-F238E27FC236}">
                <a16:creationId xmlns:a16="http://schemas.microsoft.com/office/drawing/2014/main" id="{D94882FB-7FF0-D1FF-941B-3EE10598D239}"/>
              </a:ext>
            </a:extLst>
          </p:cNvPr>
          <p:cNvSpPr/>
          <p:nvPr/>
        </p:nvSpPr>
        <p:spPr>
          <a:xfrm>
            <a:off x="457200" y="2945371"/>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C4815710-7A08-62CE-A27E-41420FC02E73}"/>
              </a:ext>
            </a:extLst>
          </p:cNvPr>
          <p:cNvSpPr txBox="1"/>
          <p:nvPr/>
        </p:nvSpPr>
        <p:spPr>
          <a:xfrm>
            <a:off x="594360" y="3021644"/>
            <a:ext cx="3383280" cy="194925"/>
          </a:xfrm>
          <a:prstGeom prst="rect">
            <a:avLst/>
          </a:prstGeom>
          <a:noFill/>
        </p:spPr>
        <p:txBody>
          <a:bodyPr wrap="square" lIns="25400" tIns="12700" rIns="25400" bIns="12700" anchor="ctr">
            <a:spAutoFit/>
          </a:bodyPr>
          <a:lstStyle/>
          <a:p>
            <a:pPr algn="l"/>
            <a:r>
              <a:rPr lang="es-419" sz="1100" b="0" i="0" dirty="0">
                <a:solidFill>
                  <a:srgbClr val="1F2937"/>
                </a:solidFill>
                <a:latin typeface="Arial"/>
              </a:rPr>
              <a:t>Threat Intelligence – Incident Response</a:t>
            </a:r>
            <a:endParaRPr sz="1100" b="0" i="0" dirty="0">
              <a:solidFill>
                <a:srgbClr val="1F2937"/>
              </a:solidFill>
              <a:latin typeface="Arial"/>
            </a:endParaRPr>
          </a:p>
        </p:txBody>
      </p:sp>
      <p:sp>
        <p:nvSpPr>
          <p:cNvPr id="39" name="TextBox 38">
            <a:extLst>
              <a:ext uri="{FF2B5EF4-FFF2-40B4-BE49-F238E27FC236}">
                <a16:creationId xmlns:a16="http://schemas.microsoft.com/office/drawing/2014/main" id="{51278129-2E89-73A5-4CE6-B447BBD12F45}"/>
              </a:ext>
            </a:extLst>
          </p:cNvPr>
          <p:cNvSpPr txBox="1"/>
          <p:nvPr/>
        </p:nvSpPr>
        <p:spPr>
          <a:xfrm>
            <a:off x="620640" y="2242616"/>
            <a:ext cx="3383280" cy="194925"/>
          </a:xfrm>
          <a:prstGeom prst="rect">
            <a:avLst/>
          </a:prstGeom>
          <a:noFill/>
        </p:spPr>
        <p:txBody>
          <a:bodyPr wrap="square" lIns="25400" tIns="12700" rIns="25400" bIns="12700" anchor="ctr">
            <a:spAutoFit/>
          </a:bodyPr>
          <a:lstStyle/>
          <a:p>
            <a:pPr algn="l"/>
            <a:r>
              <a:rPr lang="es-419" sz="1100" b="0" i="0" dirty="0">
                <a:solidFill>
                  <a:srgbClr val="1F2937"/>
                </a:solidFill>
                <a:latin typeface="Arial"/>
              </a:rPr>
              <a:t>SOC Analyst (L1, L2)</a:t>
            </a:r>
            <a:endParaRPr sz="1100" b="0" i="0" dirty="0">
              <a:solidFill>
                <a:srgbClr val="1F2937"/>
              </a:solidFill>
              <a:latin typeface="Arial"/>
            </a:endParaRPr>
          </a:p>
        </p:txBody>
      </p:sp>
      <p:pic>
        <p:nvPicPr>
          <p:cNvPr id="41" name="Picture 40">
            <a:extLst>
              <a:ext uri="{FF2B5EF4-FFF2-40B4-BE49-F238E27FC236}">
                <a16:creationId xmlns:a16="http://schemas.microsoft.com/office/drawing/2014/main" id="{D7480D1C-8BCD-08BC-EA2E-8B93A6A40E6F}"/>
              </a:ext>
            </a:extLst>
          </p:cNvPr>
          <p:cNvPicPr>
            <a:picLocks noChangeAspect="1"/>
          </p:cNvPicPr>
          <p:nvPr/>
        </p:nvPicPr>
        <p:blipFill>
          <a:blip r:embed="rId4"/>
          <a:stretch>
            <a:fillRect/>
          </a:stretch>
        </p:blipFill>
        <p:spPr>
          <a:xfrm>
            <a:off x="3839052" y="987552"/>
            <a:ext cx="1373680" cy="1373680"/>
          </a:xfrm>
          <a:prstGeom prst="rect">
            <a:avLst/>
          </a:prstGeom>
        </p:spPr>
      </p:pic>
      <p:pic>
        <p:nvPicPr>
          <p:cNvPr id="43" name="Picture 42">
            <a:extLst>
              <a:ext uri="{FF2B5EF4-FFF2-40B4-BE49-F238E27FC236}">
                <a16:creationId xmlns:a16="http://schemas.microsoft.com/office/drawing/2014/main" id="{B9395E17-95BA-2B05-9545-2F9F1EF60798}"/>
              </a:ext>
            </a:extLst>
          </p:cNvPr>
          <p:cNvPicPr>
            <a:picLocks noChangeAspect="1"/>
          </p:cNvPicPr>
          <p:nvPr/>
        </p:nvPicPr>
        <p:blipFill>
          <a:blip r:embed="rId5"/>
          <a:stretch>
            <a:fillRect/>
          </a:stretch>
        </p:blipFill>
        <p:spPr>
          <a:xfrm>
            <a:off x="4074793" y="2437541"/>
            <a:ext cx="1068289" cy="1068289"/>
          </a:xfrm>
          <a:prstGeom prst="rect">
            <a:avLst/>
          </a:prstGeom>
        </p:spPr>
      </p:pic>
      <p:pic>
        <p:nvPicPr>
          <p:cNvPr id="45" name="Picture 44">
            <a:extLst>
              <a:ext uri="{FF2B5EF4-FFF2-40B4-BE49-F238E27FC236}">
                <a16:creationId xmlns:a16="http://schemas.microsoft.com/office/drawing/2014/main" id="{B4AD9BC2-79F4-4A39-1902-2C9B59D85CF4}"/>
              </a:ext>
            </a:extLst>
          </p:cNvPr>
          <p:cNvPicPr>
            <a:picLocks noChangeAspect="1"/>
          </p:cNvPicPr>
          <p:nvPr/>
        </p:nvPicPr>
        <p:blipFill>
          <a:blip r:embed="rId6"/>
          <a:stretch>
            <a:fillRect/>
          </a:stretch>
        </p:blipFill>
        <p:spPr>
          <a:xfrm>
            <a:off x="5188802" y="2393248"/>
            <a:ext cx="1166609" cy="1166609"/>
          </a:xfrm>
          <a:prstGeom prst="rect">
            <a:avLst/>
          </a:prstGeom>
        </p:spPr>
      </p:pic>
      <p:pic>
        <p:nvPicPr>
          <p:cNvPr id="53" name="Picture 52">
            <a:extLst>
              <a:ext uri="{FF2B5EF4-FFF2-40B4-BE49-F238E27FC236}">
                <a16:creationId xmlns:a16="http://schemas.microsoft.com/office/drawing/2014/main" id="{37B20691-273B-4C45-EBDF-D7C39E6D57C6}"/>
              </a:ext>
            </a:extLst>
          </p:cNvPr>
          <p:cNvPicPr>
            <a:picLocks noChangeAspect="1"/>
          </p:cNvPicPr>
          <p:nvPr/>
        </p:nvPicPr>
        <p:blipFill>
          <a:blip r:embed="rId7"/>
          <a:stretch>
            <a:fillRect/>
          </a:stretch>
        </p:blipFill>
        <p:spPr>
          <a:xfrm>
            <a:off x="5325370" y="987552"/>
            <a:ext cx="850388" cy="1371819"/>
          </a:xfrm>
          <a:prstGeom prst="rect">
            <a:avLst/>
          </a:prstGeom>
        </p:spPr>
      </p:pic>
      <p:sp>
        <p:nvSpPr>
          <p:cNvPr id="56" name="Rectangle 55">
            <a:extLst>
              <a:ext uri="{FF2B5EF4-FFF2-40B4-BE49-F238E27FC236}">
                <a16:creationId xmlns:a16="http://schemas.microsoft.com/office/drawing/2014/main" id="{DC5D6D60-FA75-059E-5454-047472AE23E5}"/>
              </a:ext>
            </a:extLst>
          </p:cNvPr>
          <p:cNvSpPr/>
          <p:nvPr/>
        </p:nvSpPr>
        <p:spPr>
          <a:xfrm>
            <a:off x="5260" y="3339507"/>
            <a:ext cx="457200" cy="34747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45C3A9DF-1308-4E02-F6CD-8DA2AB3040DD}"/>
              </a:ext>
            </a:extLst>
          </p:cNvPr>
          <p:cNvSpPr txBox="1"/>
          <p:nvPr/>
        </p:nvSpPr>
        <p:spPr>
          <a:xfrm>
            <a:off x="5260" y="3385003"/>
            <a:ext cx="457200" cy="256480"/>
          </a:xfrm>
          <a:prstGeom prst="rect">
            <a:avLst/>
          </a:prstGeom>
          <a:noFill/>
        </p:spPr>
        <p:txBody>
          <a:bodyPr wrap="square" lIns="25400" tIns="12700" rIns="25400" bIns="12700" anchor="ctr">
            <a:spAutoFit/>
          </a:bodyPr>
          <a:lstStyle/>
          <a:p>
            <a:pPr algn="ctr"/>
            <a:r>
              <a:rPr lang="es-419" sz="1500" b="1" i="0" dirty="0">
                <a:solidFill>
                  <a:srgbClr val="FFFFFF"/>
                </a:solidFill>
                <a:latin typeface="Arial"/>
              </a:rPr>
              <a:t>G</a:t>
            </a:r>
            <a:endParaRPr sz="1500" b="1" i="0" dirty="0">
              <a:solidFill>
                <a:srgbClr val="FFFFFF"/>
              </a:solidFill>
              <a:latin typeface="Arial"/>
            </a:endParaRPr>
          </a:p>
        </p:txBody>
      </p:sp>
      <p:sp>
        <p:nvSpPr>
          <p:cNvPr id="58" name="Rectangle 57">
            <a:extLst>
              <a:ext uri="{FF2B5EF4-FFF2-40B4-BE49-F238E27FC236}">
                <a16:creationId xmlns:a16="http://schemas.microsoft.com/office/drawing/2014/main" id="{5D7BDB7F-9912-3E0D-C700-741F0D66FEA2}"/>
              </a:ext>
            </a:extLst>
          </p:cNvPr>
          <p:cNvSpPr/>
          <p:nvPr/>
        </p:nvSpPr>
        <p:spPr>
          <a:xfrm>
            <a:off x="462460" y="3339507"/>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3BC8C0F7-E162-B52D-C512-01F539DFEE3B}"/>
              </a:ext>
            </a:extLst>
          </p:cNvPr>
          <p:cNvSpPr txBox="1"/>
          <p:nvPr/>
        </p:nvSpPr>
        <p:spPr>
          <a:xfrm>
            <a:off x="599620" y="3331142"/>
            <a:ext cx="3383280" cy="364202"/>
          </a:xfrm>
          <a:prstGeom prst="rect">
            <a:avLst/>
          </a:prstGeom>
          <a:noFill/>
        </p:spPr>
        <p:txBody>
          <a:bodyPr wrap="square" lIns="25400" tIns="12700" rIns="25400" bIns="12700" anchor="ctr">
            <a:spAutoFit/>
          </a:bodyPr>
          <a:lstStyle/>
          <a:p>
            <a:pPr algn="l"/>
            <a:r>
              <a:rPr lang="es-419" sz="1100" b="0" i="0" dirty="0">
                <a:solidFill>
                  <a:srgbClr val="1F2937"/>
                </a:solidFill>
                <a:latin typeface="Arial"/>
              </a:rPr>
              <a:t>Inteligencia Criminal (</a:t>
            </a:r>
            <a:r>
              <a:rPr lang="es-419" sz="1100" dirty="0">
                <a:solidFill>
                  <a:srgbClr val="1F2937"/>
                </a:solidFill>
              </a:rPr>
              <a:t>Reunión de Información) – Contra Inteligencia (Estado de Argentina)</a:t>
            </a:r>
            <a:endParaRPr lang="es-419" sz="1100" b="0" i="0" dirty="0">
              <a:solidFill>
                <a:srgbClr val="1F2937"/>
              </a:solidFill>
              <a:latin typeface="Arial"/>
            </a:endParaRPr>
          </a:p>
        </p:txBody>
      </p:sp>
      <p:sp>
        <p:nvSpPr>
          <p:cNvPr id="60" name="Rectangle 59">
            <a:extLst>
              <a:ext uri="{FF2B5EF4-FFF2-40B4-BE49-F238E27FC236}">
                <a16:creationId xmlns:a16="http://schemas.microsoft.com/office/drawing/2014/main" id="{9F2B9B56-EEF4-A837-3FD6-F7AEC1549A84}"/>
              </a:ext>
            </a:extLst>
          </p:cNvPr>
          <p:cNvSpPr/>
          <p:nvPr/>
        </p:nvSpPr>
        <p:spPr>
          <a:xfrm>
            <a:off x="0" y="3726150"/>
            <a:ext cx="457200" cy="34747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971E9BC5-085E-7104-A60F-7E2DF1FBDF85}"/>
              </a:ext>
            </a:extLst>
          </p:cNvPr>
          <p:cNvSpPr txBox="1"/>
          <p:nvPr/>
        </p:nvSpPr>
        <p:spPr>
          <a:xfrm>
            <a:off x="0" y="3780011"/>
            <a:ext cx="457200" cy="256480"/>
          </a:xfrm>
          <a:prstGeom prst="rect">
            <a:avLst/>
          </a:prstGeom>
          <a:noFill/>
        </p:spPr>
        <p:txBody>
          <a:bodyPr wrap="square" lIns="25400" tIns="12700" rIns="25400" bIns="12700" anchor="ctr">
            <a:spAutoFit/>
          </a:bodyPr>
          <a:lstStyle/>
          <a:p>
            <a:pPr algn="ctr"/>
            <a:r>
              <a:rPr lang="es-419" sz="1500" b="1" i="0" dirty="0">
                <a:solidFill>
                  <a:srgbClr val="FFFFFF"/>
                </a:solidFill>
                <a:latin typeface="Arial"/>
              </a:rPr>
              <a:t>H</a:t>
            </a:r>
            <a:endParaRPr sz="1500" b="1" i="0" dirty="0">
              <a:solidFill>
                <a:srgbClr val="FFFFFF"/>
              </a:solidFill>
              <a:latin typeface="Arial"/>
            </a:endParaRPr>
          </a:p>
        </p:txBody>
      </p:sp>
      <p:sp>
        <p:nvSpPr>
          <p:cNvPr id="62" name="Rectangle 61">
            <a:extLst>
              <a:ext uri="{FF2B5EF4-FFF2-40B4-BE49-F238E27FC236}">
                <a16:creationId xmlns:a16="http://schemas.microsoft.com/office/drawing/2014/main" id="{BB240516-82C8-777D-4214-6AF19CC3EF1B}"/>
              </a:ext>
            </a:extLst>
          </p:cNvPr>
          <p:cNvSpPr/>
          <p:nvPr/>
        </p:nvSpPr>
        <p:spPr>
          <a:xfrm>
            <a:off x="457200" y="3734515"/>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78EE5F5B-4452-A743-F9B0-620000AF7585}"/>
              </a:ext>
            </a:extLst>
          </p:cNvPr>
          <p:cNvSpPr txBox="1"/>
          <p:nvPr/>
        </p:nvSpPr>
        <p:spPr>
          <a:xfrm>
            <a:off x="520790" y="3747170"/>
            <a:ext cx="3383280" cy="364202"/>
          </a:xfrm>
          <a:prstGeom prst="rect">
            <a:avLst/>
          </a:prstGeom>
          <a:noFill/>
        </p:spPr>
        <p:txBody>
          <a:bodyPr wrap="square" lIns="25400" tIns="12700" rIns="25400" bIns="12700" anchor="ctr">
            <a:spAutoFit/>
          </a:bodyPr>
          <a:lstStyle/>
          <a:p>
            <a:r>
              <a:rPr lang="es-419" sz="1100" b="0" i="0" dirty="0">
                <a:solidFill>
                  <a:srgbClr val="1F2937"/>
                </a:solidFill>
                <a:latin typeface="Arial"/>
              </a:rPr>
              <a:t>Hobbies: </a:t>
            </a:r>
            <a:r>
              <a:rPr lang="en-US" sz="1100" dirty="0">
                <a:solidFill>
                  <a:srgbClr val="1F2937"/>
                </a:solidFill>
              </a:rPr>
              <a:t> Drones, </a:t>
            </a:r>
            <a:r>
              <a:rPr lang="en-US" sz="1100" dirty="0" err="1">
                <a:solidFill>
                  <a:srgbClr val="1F2937"/>
                </a:solidFill>
              </a:rPr>
              <a:t>Impresión</a:t>
            </a:r>
            <a:r>
              <a:rPr lang="en-US" sz="1100" dirty="0">
                <a:solidFill>
                  <a:srgbClr val="1F2937"/>
                </a:solidFill>
              </a:rPr>
              <a:t> 3D, </a:t>
            </a:r>
            <a:r>
              <a:rPr lang="en-US" sz="1100" dirty="0" err="1">
                <a:solidFill>
                  <a:srgbClr val="1F2937"/>
                </a:solidFill>
              </a:rPr>
              <a:t>Cultivo</a:t>
            </a:r>
            <a:r>
              <a:rPr lang="en-US" sz="1100" dirty="0">
                <a:solidFill>
                  <a:srgbClr val="1F2937"/>
                </a:solidFill>
              </a:rPr>
              <a:t> mis </a:t>
            </a:r>
            <a:r>
              <a:rPr lang="en-US" sz="1100" dirty="0" err="1">
                <a:solidFill>
                  <a:srgbClr val="1F2937"/>
                </a:solidFill>
              </a:rPr>
              <a:t>Hongos</a:t>
            </a:r>
            <a:r>
              <a:rPr lang="en-US" sz="1100" dirty="0">
                <a:solidFill>
                  <a:srgbClr val="1F2937"/>
                </a:solidFill>
              </a:rPr>
              <a:t> (Comestibles), </a:t>
            </a:r>
            <a:r>
              <a:rPr lang="en-US" sz="1100" dirty="0" err="1">
                <a:solidFill>
                  <a:srgbClr val="1F2937"/>
                </a:solidFill>
              </a:rPr>
              <a:t>Destilo</a:t>
            </a:r>
            <a:r>
              <a:rPr lang="en-US" sz="1100" dirty="0">
                <a:solidFill>
                  <a:srgbClr val="1F2937"/>
                </a:solidFill>
              </a:rPr>
              <a:t> mi GIN.</a:t>
            </a:r>
          </a:p>
        </p:txBody>
      </p:sp>
      <p:sp>
        <p:nvSpPr>
          <p:cNvPr id="4099" name="TextBox 4098"/>
          <p:cNvSpPr txBox="1"/>
          <p:nvPr/>
        </p:nvSpPr>
        <p:spPr>
          <a:xfrm>
            <a:off x="274320" y="4937760"/>
            <a:ext cx="868680" cy="274320"/>
          </a:xfrm>
          <a:prstGeom prst="rect">
            <a:avLst/>
          </a:prstGeom>
          <a:noFill/>
        </p:spPr>
        <p:txBody>
          <a:bodyPr wrap="square" lIns="25400" tIns="12700" rIns="25400" bIns="12700">
            <a:spAutoFit/>
          </a:bodyPr>
          <a:lstStyle/>
          <a:p>
            <a:pPr algn="l"/>
            <a:r>
              <a:rPr sz="800">
                <a:solidFill>
                  <a:srgbClr val="525B66"/>
                </a:solidFill>
                <a:latin typeface="Arial"/>
              </a:rPr>
              <a:t>2 / 38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ppt_y</p:attrName>
                                        </p:attrNameLst>
                                      </p:cBhvr>
                                      <p:tavLst>
                                        <p:tav tm="0">
                                          <p:val>
                                            <p:strVal val="0-#ppt_h/2"/>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 calcmode="lin" valueType="num">
                                      <p:cBhvr additive="base">
                                        <p:cTn id="10" dur="1000" fill="hold"/>
                                        <p:tgtEl>
                                          <p:spTgt spid="16"/>
                                        </p:tgtEl>
                                        <p:attrNameLst>
                                          <p:attrName>ppt_y</p:attrName>
                                        </p:attrNameLst>
                                      </p:cBhvr>
                                      <p:tavLst>
                                        <p:tav tm="0">
                                          <p:val>
                                            <p:strVal val="0-#ppt_h/2"/>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1000" fill="hold"/>
                                        <p:tgtEl>
                                          <p:spTgt spid="17"/>
                                        </p:tgtEl>
                                        <p:attrNameLst>
                                          <p:attrName>ppt_y</p:attrName>
                                        </p:attrNameLst>
                                      </p:cBhvr>
                                      <p:tavLst>
                                        <p:tav tm="0">
                                          <p:val>
                                            <p:strVal val="0-#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 calcmode="lin" valueType="num">
                                      <p:cBhvr additive="base">
                                        <p:cTn id="16" dur="10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1000" fill="hold"/>
                                        <p:tgtEl>
                                          <p:spTgt spid="19"/>
                                        </p:tgtEl>
                                        <p:attrNameLst>
                                          <p:attrName>ppt_y</p:attrName>
                                        </p:attrNameLst>
                                      </p:cBhvr>
                                      <p:tavLst>
                                        <p:tav tm="0">
                                          <p:val>
                                            <p:strVal val="0-#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additive="base">
                                        <p:cTn id="24" dur="1000" fill="hold"/>
                                        <p:tgtEl>
                                          <p:spTgt spid="20"/>
                                        </p:tgtEl>
                                        <p:attrNameLst>
                                          <p:attrName>ppt_y</p:attrName>
                                        </p:attrNameLst>
                                      </p:cBhvr>
                                      <p:tavLst>
                                        <p:tav tm="0">
                                          <p:val>
                                            <p:strVal val="0-#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1000" fill="hold"/>
                                        <p:tgtEl>
                                          <p:spTgt spid="21"/>
                                        </p:tgtEl>
                                        <p:attrNameLst>
                                          <p:attrName>ppt_y</p:attrName>
                                        </p:attrNameLst>
                                      </p:cBhvr>
                                      <p:tavLst>
                                        <p:tav tm="0">
                                          <p:val>
                                            <p:strVal val="0-#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anim calcmode="lin" valueType="num">
                                      <p:cBhvr additive="base">
                                        <p:cTn id="30" dur="1000" fill="hold"/>
                                        <p:tgtEl>
                                          <p:spTgt spid="22"/>
                                        </p:tgtEl>
                                        <p:attrNameLst>
                                          <p:attrName>ppt_y</p:attrName>
                                        </p:attrNameLst>
                                      </p:cBhvr>
                                      <p:tavLst>
                                        <p:tav tm="0">
                                          <p:val>
                                            <p:strVal val="0-#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additive="base">
                                        <p:cTn id="35" dur="1000" fill="hold"/>
                                        <p:tgtEl>
                                          <p:spTgt spid="23"/>
                                        </p:tgtEl>
                                        <p:attrNameLst>
                                          <p:attrName>ppt_y</p:attrName>
                                        </p:attrNameLst>
                                      </p:cBhvr>
                                      <p:tavLst>
                                        <p:tav tm="0">
                                          <p:val>
                                            <p:strVal val="0-#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24"/>
                                        </p:tgtEl>
                                        <p:attrNameLst>
                                          <p:attrName>style.visibility</p:attrName>
                                        </p:attrNameLst>
                                      </p:cBhvr>
                                      <p:to>
                                        <p:strVal val="visible"/>
                                      </p:to>
                                    </p:set>
                                    <p:anim calcmode="lin" valueType="num">
                                      <p:cBhvr additive="base">
                                        <p:cTn id="38" dur="1000" fill="hold"/>
                                        <p:tgtEl>
                                          <p:spTgt spid="24"/>
                                        </p:tgtEl>
                                        <p:attrNameLst>
                                          <p:attrName>ppt_y</p:attrName>
                                        </p:attrNameLst>
                                      </p:cBhvr>
                                      <p:tavLst>
                                        <p:tav tm="0">
                                          <p:val>
                                            <p:strVal val="0-#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additive="base">
                                        <p:cTn id="41" dur="1000" fill="hold"/>
                                        <p:tgtEl>
                                          <p:spTgt spid="25"/>
                                        </p:tgtEl>
                                        <p:attrNameLst>
                                          <p:attrName>ppt_y</p:attrName>
                                        </p:attrNameLst>
                                      </p:cBhvr>
                                      <p:tavLst>
                                        <p:tav tm="0">
                                          <p:val>
                                            <p:strVal val="0-#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 calcmode="lin" valueType="num">
                                      <p:cBhvr additive="base">
                                        <p:cTn id="44" dur="1000" fill="hold"/>
                                        <p:tgtEl>
                                          <p:spTgt spid="26"/>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anim calcmode="lin" valueType="num">
                                      <p:cBhvr additive="base">
                                        <p:cTn id="49" dur="1000" fill="hold"/>
                                        <p:tgtEl>
                                          <p:spTgt spid="27"/>
                                        </p:tgtEl>
                                        <p:attrNameLst>
                                          <p:attrName>ppt_y</p:attrName>
                                        </p:attrNameLst>
                                      </p:cBhvr>
                                      <p:tavLst>
                                        <p:tav tm="0">
                                          <p:val>
                                            <p:strVal val="0-#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28"/>
                                        </p:tgtEl>
                                        <p:attrNameLst>
                                          <p:attrName>style.visibility</p:attrName>
                                        </p:attrNameLst>
                                      </p:cBhvr>
                                      <p:to>
                                        <p:strVal val="visible"/>
                                      </p:to>
                                    </p:set>
                                    <p:anim calcmode="lin" valueType="num">
                                      <p:cBhvr additive="base">
                                        <p:cTn id="52" dur="1000" fill="hold"/>
                                        <p:tgtEl>
                                          <p:spTgt spid="28"/>
                                        </p:tgtEl>
                                        <p:attrNameLst>
                                          <p:attrName>ppt_y</p:attrName>
                                        </p:attrNameLst>
                                      </p:cBhvr>
                                      <p:tavLst>
                                        <p:tav tm="0">
                                          <p:val>
                                            <p:strVal val="0-#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additive="base">
                                        <p:cTn id="55" dur="1000" fill="hold"/>
                                        <p:tgtEl>
                                          <p:spTgt spid="29"/>
                                        </p:tgtEl>
                                        <p:attrNameLst>
                                          <p:attrName>ppt_y</p:attrName>
                                        </p:attrNameLst>
                                      </p:cBhvr>
                                      <p:tavLst>
                                        <p:tav tm="0">
                                          <p:val>
                                            <p:strVal val="0-#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39"/>
                                        </p:tgtEl>
                                        <p:attrNameLst>
                                          <p:attrName>style.visibility</p:attrName>
                                        </p:attrNameLst>
                                      </p:cBhvr>
                                      <p:to>
                                        <p:strVal val="visible"/>
                                      </p:to>
                                    </p:set>
                                    <p:anim calcmode="lin" valueType="num">
                                      <p:cBhvr additive="base">
                                        <p:cTn id="58" dur="1000" fill="hold"/>
                                        <p:tgtEl>
                                          <p:spTgt spid="39"/>
                                        </p:tgtEl>
                                        <p:attrNameLst>
                                          <p:attrName>ppt_y</p:attrName>
                                        </p:attrNameLst>
                                      </p:cBhvr>
                                      <p:tavLst>
                                        <p:tav tm="0">
                                          <p:val>
                                            <p:strVal val="0-#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withEffect">
                                  <p:stCondLst>
                                    <p:cond delay="0"/>
                                  </p:stCondLst>
                                  <p:childTnLst>
                                    <p:set>
                                      <p:cBhvr>
                                        <p:cTn id="62" dur="1" fill="hold">
                                          <p:stCondLst>
                                            <p:cond delay="0"/>
                                          </p:stCondLst>
                                        </p:cTn>
                                        <p:tgtEl>
                                          <p:spTgt spid="31"/>
                                        </p:tgtEl>
                                        <p:attrNameLst>
                                          <p:attrName>style.visibility</p:attrName>
                                        </p:attrNameLst>
                                      </p:cBhvr>
                                      <p:to>
                                        <p:strVal val="visible"/>
                                      </p:to>
                                    </p:set>
                                    <p:anim calcmode="lin" valueType="num">
                                      <p:cBhvr additive="base">
                                        <p:cTn id="63" dur="1000" fill="hold"/>
                                        <p:tgtEl>
                                          <p:spTgt spid="31"/>
                                        </p:tgtEl>
                                        <p:attrNameLst>
                                          <p:attrName>ppt_y</p:attrName>
                                        </p:attrNameLst>
                                      </p:cBhvr>
                                      <p:tavLst>
                                        <p:tav tm="0">
                                          <p:val>
                                            <p:strVal val="0-#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32"/>
                                        </p:tgtEl>
                                        <p:attrNameLst>
                                          <p:attrName>style.visibility</p:attrName>
                                        </p:attrNameLst>
                                      </p:cBhvr>
                                      <p:to>
                                        <p:strVal val="visible"/>
                                      </p:to>
                                    </p:set>
                                    <p:anim calcmode="lin" valueType="num">
                                      <p:cBhvr additive="base">
                                        <p:cTn id="66" dur="1000" fill="hold"/>
                                        <p:tgtEl>
                                          <p:spTgt spid="32"/>
                                        </p:tgtEl>
                                        <p:attrNameLst>
                                          <p:attrName>ppt_y</p:attrName>
                                        </p:attrNameLst>
                                      </p:cBhvr>
                                      <p:tavLst>
                                        <p:tav tm="0">
                                          <p:val>
                                            <p:strVal val="0-#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33"/>
                                        </p:tgtEl>
                                        <p:attrNameLst>
                                          <p:attrName>style.visibility</p:attrName>
                                        </p:attrNameLst>
                                      </p:cBhvr>
                                      <p:to>
                                        <p:strVal val="visible"/>
                                      </p:to>
                                    </p:set>
                                    <p:anim calcmode="lin" valueType="num">
                                      <p:cBhvr additive="base">
                                        <p:cTn id="69" dur="1000" fill="hold"/>
                                        <p:tgtEl>
                                          <p:spTgt spid="33"/>
                                        </p:tgtEl>
                                        <p:attrNameLst>
                                          <p:attrName>ppt_y</p:attrName>
                                        </p:attrNameLst>
                                      </p:cBhvr>
                                      <p:tavLst>
                                        <p:tav tm="0">
                                          <p:val>
                                            <p:strVal val="0-#ppt_h/2"/>
                                          </p:val>
                                        </p:tav>
                                        <p:tav tm="100000">
                                          <p:val>
                                            <p:strVal val="#ppt_y"/>
                                          </p:val>
                                        </p:tav>
                                      </p:tavLst>
                                    </p:anim>
                                  </p:childTnLst>
                                </p:cTn>
                              </p:par>
                              <p:par>
                                <p:cTn id="70" presetID="2" presetClass="entr" presetSubtype="4" fill="hold" nodeType="withEffect">
                                  <p:stCondLst>
                                    <p:cond delay="0"/>
                                  </p:stCondLst>
                                  <p:childTnLst>
                                    <p:set>
                                      <p:cBhvr>
                                        <p:cTn id="71" dur="1" fill="hold">
                                          <p:stCondLst>
                                            <p:cond delay="0"/>
                                          </p:stCondLst>
                                        </p:cTn>
                                        <p:tgtEl>
                                          <p:spTgt spid="34"/>
                                        </p:tgtEl>
                                        <p:attrNameLst>
                                          <p:attrName>style.visibility</p:attrName>
                                        </p:attrNameLst>
                                      </p:cBhvr>
                                      <p:to>
                                        <p:strVal val="visible"/>
                                      </p:to>
                                    </p:set>
                                    <p:anim calcmode="lin" valueType="num">
                                      <p:cBhvr additive="base">
                                        <p:cTn id="72" dur="1000" fill="hold"/>
                                        <p:tgtEl>
                                          <p:spTgt spid="34"/>
                                        </p:tgtEl>
                                        <p:attrNameLst>
                                          <p:attrName>ppt_y</p:attrName>
                                        </p:attrNameLst>
                                      </p:cBhvr>
                                      <p:tavLst>
                                        <p:tav tm="0">
                                          <p:val>
                                            <p:strVal val="0-#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withEffect">
                                  <p:stCondLst>
                                    <p:cond delay="0"/>
                                  </p:stCondLst>
                                  <p:childTnLst>
                                    <p:set>
                                      <p:cBhvr>
                                        <p:cTn id="76" dur="1" fill="hold">
                                          <p:stCondLst>
                                            <p:cond delay="0"/>
                                          </p:stCondLst>
                                        </p:cTn>
                                        <p:tgtEl>
                                          <p:spTgt spid="35"/>
                                        </p:tgtEl>
                                        <p:attrNameLst>
                                          <p:attrName>style.visibility</p:attrName>
                                        </p:attrNameLst>
                                      </p:cBhvr>
                                      <p:to>
                                        <p:strVal val="visible"/>
                                      </p:to>
                                    </p:set>
                                    <p:anim calcmode="lin" valueType="num">
                                      <p:cBhvr additive="base">
                                        <p:cTn id="77" dur="1000" fill="hold"/>
                                        <p:tgtEl>
                                          <p:spTgt spid="35"/>
                                        </p:tgtEl>
                                        <p:attrNameLst>
                                          <p:attrName>ppt_y</p:attrName>
                                        </p:attrNameLst>
                                      </p:cBhvr>
                                      <p:tavLst>
                                        <p:tav tm="0">
                                          <p:val>
                                            <p:strVal val="0-#ppt_h/2"/>
                                          </p:val>
                                        </p:tav>
                                        <p:tav tm="100000">
                                          <p:val>
                                            <p:strVal val="#ppt_y"/>
                                          </p:val>
                                        </p:tav>
                                      </p:tavLst>
                                    </p:anim>
                                  </p:childTnLst>
                                </p:cTn>
                              </p:par>
                              <p:par>
                                <p:cTn id="78" presetID="2" presetClass="entr" presetSubtype="4" fill="hold" nodeType="withEffect">
                                  <p:stCondLst>
                                    <p:cond delay="0"/>
                                  </p:stCondLst>
                                  <p:childTnLst>
                                    <p:set>
                                      <p:cBhvr>
                                        <p:cTn id="79" dur="1" fill="hold">
                                          <p:stCondLst>
                                            <p:cond delay="0"/>
                                          </p:stCondLst>
                                        </p:cTn>
                                        <p:tgtEl>
                                          <p:spTgt spid="36"/>
                                        </p:tgtEl>
                                        <p:attrNameLst>
                                          <p:attrName>style.visibility</p:attrName>
                                        </p:attrNameLst>
                                      </p:cBhvr>
                                      <p:to>
                                        <p:strVal val="visible"/>
                                      </p:to>
                                    </p:set>
                                    <p:anim calcmode="lin" valueType="num">
                                      <p:cBhvr additive="base">
                                        <p:cTn id="80" dur="1000" fill="hold"/>
                                        <p:tgtEl>
                                          <p:spTgt spid="36"/>
                                        </p:tgtEl>
                                        <p:attrNameLst>
                                          <p:attrName>ppt_y</p:attrName>
                                        </p:attrNameLst>
                                      </p:cBhvr>
                                      <p:tavLst>
                                        <p:tav tm="0">
                                          <p:val>
                                            <p:strVal val="0-#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37"/>
                                        </p:tgtEl>
                                        <p:attrNameLst>
                                          <p:attrName>style.visibility</p:attrName>
                                        </p:attrNameLst>
                                      </p:cBhvr>
                                      <p:to>
                                        <p:strVal val="visible"/>
                                      </p:to>
                                    </p:set>
                                    <p:anim calcmode="lin" valueType="num">
                                      <p:cBhvr additive="base">
                                        <p:cTn id="83" dur="1000" fill="hold"/>
                                        <p:tgtEl>
                                          <p:spTgt spid="37"/>
                                        </p:tgtEl>
                                        <p:attrNameLst>
                                          <p:attrName>ppt_y</p:attrName>
                                        </p:attrNameLst>
                                      </p:cBhvr>
                                      <p:tavLst>
                                        <p:tav tm="0">
                                          <p:val>
                                            <p:strVal val="0-#ppt_h/2"/>
                                          </p:val>
                                        </p:tav>
                                        <p:tav tm="100000">
                                          <p:val>
                                            <p:strVal val="#ppt_y"/>
                                          </p:val>
                                        </p:tav>
                                      </p:tavLst>
                                    </p:anim>
                                  </p:childTnLst>
                                </p:cTn>
                              </p:par>
                              <p:par>
                                <p:cTn id="84" presetID="2" presetClass="entr" presetSubtype="4" fill="hold" nodeType="withEffect">
                                  <p:stCondLst>
                                    <p:cond delay="0"/>
                                  </p:stCondLst>
                                  <p:childTnLst>
                                    <p:set>
                                      <p:cBhvr>
                                        <p:cTn id="85" dur="1" fill="hold">
                                          <p:stCondLst>
                                            <p:cond delay="0"/>
                                          </p:stCondLst>
                                        </p:cTn>
                                        <p:tgtEl>
                                          <p:spTgt spid="38"/>
                                        </p:tgtEl>
                                        <p:attrNameLst>
                                          <p:attrName>style.visibility</p:attrName>
                                        </p:attrNameLst>
                                      </p:cBhvr>
                                      <p:to>
                                        <p:strVal val="visible"/>
                                      </p:to>
                                    </p:set>
                                    <p:anim calcmode="lin" valueType="num">
                                      <p:cBhvr additive="base">
                                        <p:cTn id="86" dur="1000" fill="hold"/>
                                        <p:tgtEl>
                                          <p:spTgt spid="38"/>
                                        </p:tgtEl>
                                        <p:attrNameLst>
                                          <p:attrName>ppt_y</p:attrName>
                                        </p:attrNameLst>
                                      </p:cBhvr>
                                      <p:tavLst>
                                        <p:tav tm="0">
                                          <p:val>
                                            <p:strVal val="0-#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withEffect">
                                  <p:stCondLst>
                                    <p:cond delay="0"/>
                                  </p:stCondLst>
                                  <p:childTnLst>
                                    <p:set>
                                      <p:cBhvr>
                                        <p:cTn id="90" dur="1" fill="hold">
                                          <p:stCondLst>
                                            <p:cond delay="0"/>
                                          </p:stCondLst>
                                        </p:cTn>
                                        <p:tgtEl>
                                          <p:spTgt spid="56"/>
                                        </p:tgtEl>
                                        <p:attrNameLst>
                                          <p:attrName>style.visibility</p:attrName>
                                        </p:attrNameLst>
                                      </p:cBhvr>
                                      <p:to>
                                        <p:strVal val="visible"/>
                                      </p:to>
                                    </p:set>
                                    <p:anim calcmode="lin" valueType="num">
                                      <p:cBhvr additive="base">
                                        <p:cTn id="91" dur="1000" fill="hold"/>
                                        <p:tgtEl>
                                          <p:spTgt spid="56"/>
                                        </p:tgtEl>
                                        <p:attrNameLst>
                                          <p:attrName>ppt_y</p:attrName>
                                        </p:attrNameLst>
                                      </p:cBhvr>
                                      <p:tavLst>
                                        <p:tav tm="0">
                                          <p:val>
                                            <p:strVal val="0-#ppt_h/2"/>
                                          </p:val>
                                        </p:tav>
                                        <p:tav tm="100000">
                                          <p:val>
                                            <p:strVal val="#ppt_y"/>
                                          </p:val>
                                        </p:tav>
                                      </p:tavLst>
                                    </p:anim>
                                  </p:childTnLst>
                                </p:cTn>
                              </p:par>
                              <p:par>
                                <p:cTn id="92" presetID="2" presetClass="entr" presetSubtype="4" fill="hold" nodeType="withEffect">
                                  <p:stCondLst>
                                    <p:cond delay="0"/>
                                  </p:stCondLst>
                                  <p:childTnLst>
                                    <p:set>
                                      <p:cBhvr>
                                        <p:cTn id="93" dur="1" fill="hold">
                                          <p:stCondLst>
                                            <p:cond delay="0"/>
                                          </p:stCondLst>
                                        </p:cTn>
                                        <p:tgtEl>
                                          <p:spTgt spid="57"/>
                                        </p:tgtEl>
                                        <p:attrNameLst>
                                          <p:attrName>style.visibility</p:attrName>
                                        </p:attrNameLst>
                                      </p:cBhvr>
                                      <p:to>
                                        <p:strVal val="visible"/>
                                      </p:to>
                                    </p:set>
                                    <p:anim calcmode="lin" valueType="num">
                                      <p:cBhvr additive="base">
                                        <p:cTn id="94" dur="1000" fill="hold"/>
                                        <p:tgtEl>
                                          <p:spTgt spid="57"/>
                                        </p:tgtEl>
                                        <p:attrNameLst>
                                          <p:attrName>ppt_y</p:attrName>
                                        </p:attrNameLst>
                                      </p:cBhvr>
                                      <p:tavLst>
                                        <p:tav tm="0">
                                          <p:val>
                                            <p:strVal val="0-#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58"/>
                                        </p:tgtEl>
                                        <p:attrNameLst>
                                          <p:attrName>style.visibility</p:attrName>
                                        </p:attrNameLst>
                                      </p:cBhvr>
                                      <p:to>
                                        <p:strVal val="visible"/>
                                      </p:to>
                                    </p:set>
                                    <p:anim calcmode="lin" valueType="num">
                                      <p:cBhvr additive="base">
                                        <p:cTn id="97" dur="1000" fill="hold"/>
                                        <p:tgtEl>
                                          <p:spTgt spid="58"/>
                                        </p:tgtEl>
                                        <p:attrNameLst>
                                          <p:attrName>ppt_y</p:attrName>
                                        </p:attrNameLst>
                                      </p:cBhvr>
                                      <p:tavLst>
                                        <p:tav tm="0">
                                          <p:val>
                                            <p:strVal val="0-#ppt_h/2"/>
                                          </p:val>
                                        </p:tav>
                                        <p:tav tm="100000">
                                          <p:val>
                                            <p:strVal val="#ppt_y"/>
                                          </p:val>
                                        </p:tav>
                                      </p:tavLst>
                                    </p:anim>
                                  </p:childTnLst>
                                </p:cTn>
                              </p:par>
                              <p:par>
                                <p:cTn id="98" presetID="2" presetClass="entr" presetSubtype="4" fill="hold" nodeType="withEffect">
                                  <p:stCondLst>
                                    <p:cond delay="0"/>
                                  </p:stCondLst>
                                  <p:childTnLst>
                                    <p:set>
                                      <p:cBhvr>
                                        <p:cTn id="99" dur="1" fill="hold">
                                          <p:stCondLst>
                                            <p:cond delay="0"/>
                                          </p:stCondLst>
                                        </p:cTn>
                                        <p:tgtEl>
                                          <p:spTgt spid="59"/>
                                        </p:tgtEl>
                                        <p:attrNameLst>
                                          <p:attrName>style.visibility</p:attrName>
                                        </p:attrNameLst>
                                      </p:cBhvr>
                                      <p:to>
                                        <p:strVal val="visible"/>
                                      </p:to>
                                    </p:set>
                                    <p:anim calcmode="lin" valueType="num">
                                      <p:cBhvr additive="base">
                                        <p:cTn id="100" dur="1000" fill="hold"/>
                                        <p:tgtEl>
                                          <p:spTgt spid="59"/>
                                        </p:tgtEl>
                                        <p:attrNameLst>
                                          <p:attrName>ppt_y</p:attrName>
                                        </p:attrNameLst>
                                      </p:cBhvr>
                                      <p:tavLst>
                                        <p:tav tm="0">
                                          <p:val>
                                            <p:strVal val="0-#ppt_h/2"/>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nodeType="withEffect">
                                  <p:stCondLst>
                                    <p:cond delay="0"/>
                                  </p:stCondLst>
                                  <p:childTnLst>
                                    <p:set>
                                      <p:cBhvr>
                                        <p:cTn id="104" dur="1" fill="hold">
                                          <p:stCondLst>
                                            <p:cond delay="0"/>
                                          </p:stCondLst>
                                        </p:cTn>
                                        <p:tgtEl>
                                          <p:spTgt spid="60"/>
                                        </p:tgtEl>
                                        <p:attrNameLst>
                                          <p:attrName>style.visibility</p:attrName>
                                        </p:attrNameLst>
                                      </p:cBhvr>
                                      <p:to>
                                        <p:strVal val="visible"/>
                                      </p:to>
                                    </p:set>
                                    <p:anim calcmode="lin" valueType="num">
                                      <p:cBhvr additive="base">
                                        <p:cTn id="105" dur="1000" fill="hold"/>
                                        <p:tgtEl>
                                          <p:spTgt spid="60"/>
                                        </p:tgtEl>
                                        <p:attrNameLst>
                                          <p:attrName>ppt_y</p:attrName>
                                        </p:attrNameLst>
                                      </p:cBhvr>
                                      <p:tavLst>
                                        <p:tav tm="0">
                                          <p:val>
                                            <p:strVal val="0-#ppt_h/2"/>
                                          </p:val>
                                        </p:tav>
                                        <p:tav tm="100000">
                                          <p:val>
                                            <p:strVal val="#ppt_y"/>
                                          </p:val>
                                        </p:tav>
                                      </p:tavLst>
                                    </p:anim>
                                  </p:childTnLst>
                                </p:cTn>
                              </p:par>
                              <p:par>
                                <p:cTn id="106" presetID="2" presetClass="entr" presetSubtype="4" fill="hold" nodeType="withEffect">
                                  <p:stCondLst>
                                    <p:cond delay="0"/>
                                  </p:stCondLst>
                                  <p:childTnLst>
                                    <p:set>
                                      <p:cBhvr>
                                        <p:cTn id="107" dur="1" fill="hold">
                                          <p:stCondLst>
                                            <p:cond delay="0"/>
                                          </p:stCondLst>
                                        </p:cTn>
                                        <p:tgtEl>
                                          <p:spTgt spid="61"/>
                                        </p:tgtEl>
                                        <p:attrNameLst>
                                          <p:attrName>style.visibility</p:attrName>
                                        </p:attrNameLst>
                                      </p:cBhvr>
                                      <p:to>
                                        <p:strVal val="visible"/>
                                      </p:to>
                                    </p:set>
                                    <p:anim calcmode="lin" valueType="num">
                                      <p:cBhvr additive="base">
                                        <p:cTn id="108" dur="1000" fill="hold"/>
                                        <p:tgtEl>
                                          <p:spTgt spid="61"/>
                                        </p:tgtEl>
                                        <p:attrNameLst>
                                          <p:attrName>ppt_y</p:attrName>
                                        </p:attrNameLst>
                                      </p:cBhvr>
                                      <p:tavLst>
                                        <p:tav tm="0">
                                          <p:val>
                                            <p:strVal val="0-#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62"/>
                                        </p:tgtEl>
                                        <p:attrNameLst>
                                          <p:attrName>style.visibility</p:attrName>
                                        </p:attrNameLst>
                                      </p:cBhvr>
                                      <p:to>
                                        <p:strVal val="visible"/>
                                      </p:to>
                                    </p:set>
                                    <p:anim calcmode="lin" valueType="num">
                                      <p:cBhvr additive="base">
                                        <p:cTn id="111" dur="1000" fill="hold"/>
                                        <p:tgtEl>
                                          <p:spTgt spid="62"/>
                                        </p:tgtEl>
                                        <p:attrNameLst>
                                          <p:attrName>ppt_y</p:attrName>
                                        </p:attrNameLst>
                                      </p:cBhvr>
                                      <p:tavLst>
                                        <p:tav tm="0">
                                          <p:val>
                                            <p:strVal val="0-#ppt_h/2"/>
                                          </p:val>
                                        </p:tav>
                                        <p:tav tm="100000">
                                          <p:val>
                                            <p:strVal val="#ppt_y"/>
                                          </p:val>
                                        </p:tav>
                                      </p:tavLst>
                                    </p:anim>
                                  </p:childTnLst>
                                </p:cTn>
                              </p:par>
                              <p:par>
                                <p:cTn id="112" presetID="2" presetClass="entr" presetSubtype="4" fill="hold" nodeType="withEffect">
                                  <p:stCondLst>
                                    <p:cond delay="0"/>
                                  </p:stCondLst>
                                  <p:childTnLst>
                                    <p:set>
                                      <p:cBhvr>
                                        <p:cTn id="113" dur="1" fill="hold">
                                          <p:stCondLst>
                                            <p:cond delay="0"/>
                                          </p:stCondLst>
                                        </p:cTn>
                                        <p:tgtEl>
                                          <p:spTgt spid="63"/>
                                        </p:tgtEl>
                                        <p:attrNameLst>
                                          <p:attrName>style.visibility</p:attrName>
                                        </p:attrNameLst>
                                      </p:cBhvr>
                                      <p:to>
                                        <p:strVal val="visible"/>
                                      </p:to>
                                    </p:set>
                                    <p:anim calcmode="lin" valueType="num">
                                      <p:cBhvr additive="base">
                                        <p:cTn id="114" dur="1000" fill="hold"/>
                                        <p:tgtEl>
                                          <p:spTgt spid="63"/>
                                        </p:tgtEl>
                                        <p:attrNameLst>
                                          <p:attrName>ppt_y</p:attrName>
                                        </p:attrNameLst>
                                      </p:cBhvr>
                                      <p:tavLst>
                                        <p:tav tm="0">
                                          <p:val>
                                            <p:strVal val="0-#ppt_h/2"/>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 presetClass="entr" presetSubtype="4" fill="hold" nodeType="withEffect">
                                  <p:stCondLst>
                                    <p:cond delay="0"/>
                                  </p:stCondLst>
                                  <p:childTnLst>
                                    <p:set>
                                      <p:cBhvr>
                                        <p:cTn id="118" dur="1" fill="hold">
                                          <p:stCondLst>
                                            <p:cond delay="0"/>
                                          </p:stCondLst>
                                        </p:cTn>
                                        <p:tgtEl>
                                          <p:spTgt spid="41"/>
                                        </p:tgtEl>
                                        <p:attrNameLst>
                                          <p:attrName>style.visibility</p:attrName>
                                        </p:attrNameLst>
                                      </p:cBhvr>
                                      <p:to>
                                        <p:strVal val="visible"/>
                                      </p:to>
                                    </p:set>
                                    <p:anim calcmode="lin" valueType="num">
                                      <p:cBhvr additive="base">
                                        <p:cTn id="119" dur="1000" fill="hold"/>
                                        <p:tgtEl>
                                          <p:spTgt spid="41"/>
                                        </p:tgtEl>
                                        <p:attrNameLst>
                                          <p:attrName>ppt_y</p:attrName>
                                        </p:attrNameLst>
                                      </p:cBhvr>
                                      <p:tavLst>
                                        <p:tav tm="0">
                                          <p:val>
                                            <p:strVal val="0-#ppt_h/2"/>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nodeType="withEffect">
                                  <p:stCondLst>
                                    <p:cond delay="0"/>
                                  </p:stCondLst>
                                  <p:childTnLst>
                                    <p:set>
                                      <p:cBhvr>
                                        <p:cTn id="123" dur="1" fill="hold">
                                          <p:stCondLst>
                                            <p:cond delay="0"/>
                                          </p:stCondLst>
                                        </p:cTn>
                                        <p:tgtEl>
                                          <p:spTgt spid="53"/>
                                        </p:tgtEl>
                                        <p:attrNameLst>
                                          <p:attrName>style.visibility</p:attrName>
                                        </p:attrNameLst>
                                      </p:cBhvr>
                                      <p:to>
                                        <p:strVal val="visible"/>
                                      </p:to>
                                    </p:set>
                                    <p:anim calcmode="lin" valueType="num">
                                      <p:cBhvr additive="base">
                                        <p:cTn id="124" dur="1000" fill="hold"/>
                                        <p:tgtEl>
                                          <p:spTgt spid="53"/>
                                        </p:tgtEl>
                                        <p:attrNameLst>
                                          <p:attrName>ppt_y</p:attrName>
                                        </p:attrNameLst>
                                      </p:cBhvr>
                                      <p:tavLst>
                                        <p:tav tm="0">
                                          <p:val>
                                            <p:strVal val="0-#ppt_h/2"/>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2" presetClass="entr" presetSubtype="4" fill="hold" nodeType="withEffect">
                                  <p:stCondLst>
                                    <p:cond delay="0"/>
                                  </p:stCondLst>
                                  <p:childTnLst>
                                    <p:set>
                                      <p:cBhvr>
                                        <p:cTn id="128" dur="1" fill="hold">
                                          <p:stCondLst>
                                            <p:cond delay="0"/>
                                          </p:stCondLst>
                                        </p:cTn>
                                        <p:tgtEl>
                                          <p:spTgt spid="43"/>
                                        </p:tgtEl>
                                        <p:attrNameLst>
                                          <p:attrName>style.visibility</p:attrName>
                                        </p:attrNameLst>
                                      </p:cBhvr>
                                      <p:to>
                                        <p:strVal val="visible"/>
                                      </p:to>
                                    </p:set>
                                    <p:anim calcmode="lin" valueType="num">
                                      <p:cBhvr additive="base">
                                        <p:cTn id="129" dur="1000" fill="hold"/>
                                        <p:tgtEl>
                                          <p:spTgt spid="43"/>
                                        </p:tgtEl>
                                        <p:attrNameLst>
                                          <p:attrName>ppt_y</p:attrName>
                                        </p:attrNameLst>
                                      </p:cBhvr>
                                      <p:tavLst>
                                        <p:tav tm="0">
                                          <p:val>
                                            <p:strVal val="0-#ppt_h/2"/>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2" presetClass="entr" presetSubtype="4" fill="hold" nodeType="withEffect">
                                  <p:stCondLst>
                                    <p:cond delay="0"/>
                                  </p:stCondLst>
                                  <p:childTnLst>
                                    <p:set>
                                      <p:cBhvr>
                                        <p:cTn id="133" dur="1" fill="hold">
                                          <p:stCondLst>
                                            <p:cond delay="0"/>
                                          </p:stCondLst>
                                        </p:cTn>
                                        <p:tgtEl>
                                          <p:spTgt spid="45"/>
                                        </p:tgtEl>
                                        <p:attrNameLst>
                                          <p:attrName>style.visibility</p:attrName>
                                        </p:attrNameLst>
                                      </p:cBhvr>
                                      <p:to>
                                        <p:strVal val="visible"/>
                                      </p:to>
                                    </p:set>
                                    <p:anim calcmode="lin" valueType="num">
                                      <p:cBhvr additive="base">
                                        <p:cTn id="134" dur="1000" fill="hold"/>
                                        <p:tgtEl>
                                          <p:spTgt spid="4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146304"/>
            <a:ext cx="45720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46304"/>
            <a:ext cx="457200" cy="420624"/>
          </a:xfrm>
          <a:prstGeom prst="rect">
            <a:avLst/>
          </a:prstGeom>
          <a:noFill/>
        </p:spPr>
        <p:txBody>
          <a:bodyPr wrap="square" lIns="25400" tIns="12700" rIns="25400" bIns="12700" anchor="ctr">
            <a:spAutoFit/>
          </a:bodyPr>
          <a:lstStyle/>
          <a:p>
            <a:pPr algn="ctr"/>
            <a:r>
              <a:rPr sz="1600" b="1" i="0">
                <a:solidFill>
                  <a:srgbClr val="E41A52"/>
                </a:solidFill>
                <a:latin typeface="Arial"/>
              </a:rPr>
              <a:t>00</a:t>
            </a:r>
          </a:p>
        </p:txBody>
      </p:sp>
      <p:sp>
        <p:nvSpPr>
          <p:cNvPr id="5" name="TextBox 4"/>
          <p:cNvSpPr txBox="1"/>
          <p:nvPr/>
        </p:nvSpPr>
        <p:spPr>
          <a:xfrm>
            <a:off x="841248" y="146304"/>
            <a:ext cx="7863840" cy="420624"/>
          </a:xfrm>
          <a:prstGeom prst="rect">
            <a:avLst/>
          </a:prstGeom>
          <a:noFill/>
        </p:spPr>
        <p:txBody>
          <a:bodyPr wrap="square" lIns="25400" tIns="12700" rIns="25400" bIns="12700" anchor="ctr">
            <a:spAutoFit/>
          </a:bodyPr>
          <a:lstStyle/>
          <a:p>
            <a:pPr algn="l"/>
            <a:r>
              <a:rPr sz="2000" b="1" i="0">
                <a:solidFill>
                  <a:srgbClr val="FFFFFF"/>
                </a:solidFill>
                <a:latin typeface="Arial"/>
              </a:rPr>
              <a:t>Agenda · 30 minutos · 7 bloques</a:t>
            </a:r>
          </a:p>
        </p:txBody>
      </p:sp>
      <p:sp>
        <p:nvSpPr>
          <p:cNvPr id="6" name="Rectangle 5"/>
          <p:cNvSpPr/>
          <p:nvPr/>
        </p:nvSpPr>
        <p:spPr>
          <a:xfrm>
            <a:off x="365760" y="960120"/>
            <a:ext cx="8412480" cy="420624"/>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960120"/>
            <a:ext cx="594360" cy="420624"/>
          </a:xfrm>
          <a:prstGeom prst="rect">
            <a:avLst/>
          </a:prstGeom>
          <a:noFill/>
        </p:spPr>
        <p:txBody>
          <a:bodyPr wrap="square" lIns="25400" tIns="12700" rIns="25400" bIns="12700" anchor="ctr">
            <a:spAutoFit/>
          </a:bodyPr>
          <a:lstStyle/>
          <a:p>
            <a:pPr algn="l"/>
            <a:r>
              <a:rPr sz="1800" b="1" i="0">
                <a:solidFill>
                  <a:srgbClr val="E41A52"/>
                </a:solidFill>
                <a:latin typeface="Arial"/>
              </a:rPr>
              <a:t>01</a:t>
            </a:r>
          </a:p>
        </p:txBody>
      </p:sp>
      <p:sp>
        <p:nvSpPr>
          <p:cNvPr id="8" name="TextBox 7"/>
          <p:cNvSpPr txBox="1"/>
          <p:nvPr/>
        </p:nvSpPr>
        <p:spPr>
          <a:xfrm>
            <a:off x="1143000" y="960120"/>
            <a:ext cx="6400800" cy="420624"/>
          </a:xfrm>
          <a:prstGeom prst="rect">
            <a:avLst/>
          </a:prstGeom>
          <a:noFill/>
        </p:spPr>
        <p:txBody>
          <a:bodyPr wrap="square" lIns="25400" tIns="12700" rIns="25400" bIns="12700" anchor="ctr">
            <a:spAutoFit/>
          </a:bodyPr>
          <a:lstStyle/>
          <a:p>
            <a:pPr algn="l"/>
            <a:r>
              <a:rPr sz="1400" b="1" i="0">
                <a:solidFill>
                  <a:srgbClr val="1F2937"/>
                </a:solidFill>
                <a:latin typeface="Arial"/>
              </a:rPr>
              <a:t>¿Por qué CTI hoy?  ·  Mito vs realidad del adversario</a:t>
            </a:r>
          </a:p>
        </p:txBody>
      </p:sp>
      <p:sp>
        <p:nvSpPr>
          <p:cNvPr id="9" name="TextBox 8"/>
          <p:cNvSpPr txBox="1"/>
          <p:nvPr/>
        </p:nvSpPr>
        <p:spPr>
          <a:xfrm>
            <a:off x="7589520" y="960120"/>
            <a:ext cx="1097280" cy="420624"/>
          </a:xfrm>
          <a:prstGeom prst="rect">
            <a:avLst/>
          </a:prstGeom>
          <a:noFill/>
        </p:spPr>
        <p:txBody>
          <a:bodyPr wrap="square" lIns="25400" tIns="12700" rIns="25400" bIns="12700" anchor="ctr">
            <a:spAutoFit/>
          </a:bodyPr>
          <a:lstStyle/>
          <a:p>
            <a:pPr algn="r"/>
            <a:r>
              <a:rPr sz="1400" b="1" i="0">
                <a:solidFill>
                  <a:srgbClr val="E41A52"/>
                </a:solidFill>
                <a:latin typeface="Arial"/>
              </a:rPr>
              <a:t>2'</a:t>
            </a:r>
          </a:p>
        </p:txBody>
      </p:sp>
      <p:sp>
        <p:nvSpPr>
          <p:cNvPr id="10" name="Rectangle 9"/>
          <p:cNvSpPr/>
          <p:nvPr/>
        </p:nvSpPr>
        <p:spPr>
          <a:xfrm>
            <a:off x="365760" y="1435608"/>
            <a:ext cx="8412480" cy="420624"/>
          </a:xfrm>
          <a:prstGeom prst="rect">
            <a:avLst/>
          </a:prstGeom>
          <a:solidFill>
            <a:srgbClr val="F7F7F9"/>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1435608"/>
            <a:ext cx="594360" cy="420624"/>
          </a:xfrm>
          <a:prstGeom prst="rect">
            <a:avLst/>
          </a:prstGeom>
          <a:noFill/>
        </p:spPr>
        <p:txBody>
          <a:bodyPr wrap="square" lIns="25400" tIns="12700" rIns="25400" bIns="12700" anchor="ctr">
            <a:spAutoFit/>
          </a:bodyPr>
          <a:lstStyle/>
          <a:p>
            <a:pPr algn="l"/>
            <a:r>
              <a:rPr sz="1800" b="1" i="0">
                <a:solidFill>
                  <a:srgbClr val="E41A52"/>
                </a:solidFill>
                <a:latin typeface="Arial"/>
              </a:rPr>
              <a:t>02</a:t>
            </a:r>
          </a:p>
        </p:txBody>
      </p:sp>
      <p:sp>
        <p:nvSpPr>
          <p:cNvPr id="12" name="TextBox 11"/>
          <p:cNvSpPr txBox="1"/>
          <p:nvPr/>
        </p:nvSpPr>
        <p:spPr>
          <a:xfrm>
            <a:off x="1143000" y="1435608"/>
            <a:ext cx="6400800" cy="420624"/>
          </a:xfrm>
          <a:prstGeom prst="rect">
            <a:avLst/>
          </a:prstGeom>
          <a:noFill/>
        </p:spPr>
        <p:txBody>
          <a:bodyPr wrap="square" lIns="25400" tIns="12700" rIns="25400" bIns="12700" anchor="ctr">
            <a:spAutoFit/>
          </a:bodyPr>
          <a:lstStyle/>
          <a:p>
            <a:pPr algn="l"/>
            <a:r>
              <a:rPr sz="1400" b="1" i="0">
                <a:solidFill>
                  <a:srgbClr val="1F2937"/>
                </a:solidFill>
                <a:latin typeface="Arial"/>
              </a:rPr>
              <a:t>Fundamentos · Pipeline · Ciclo · PIRs</a:t>
            </a:r>
          </a:p>
        </p:txBody>
      </p:sp>
      <p:sp>
        <p:nvSpPr>
          <p:cNvPr id="13" name="TextBox 12"/>
          <p:cNvSpPr txBox="1"/>
          <p:nvPr/>
        </p:nvSpPr>
        <p:spPr>
          <a:xfrm>
            <a:off x="7589520" y="1435608"/>
            <a:ext cx="1097280" cy="420624"/>
          </a:xfrm>
          <a:prstGeom prst="rect">
            <a:avLst/>
          </a:prstGeom>
          <a:noFill/>
        </p:spPr>
        <p:txBody>
          <a:bodyPr wrap="square" lIns="25400" tIns="12700" rIns="25400" bIns="12700" anchor="ctr">
            <a:spAutoFit/>
          </a:bodyPr>
          <a:lstStyle/>
          <a:p>
            <a:pPr algn="r"/>
            <a:r>
              <a:rPr sz="1400" b="1" i="0">
                <a:solidFill>
                  <a:srgbClr val="E41A52"/>
                </a:solidFill>
                <a:latin typeface="Arial"/>
              </a:rPr>
              <a:t>4'</a:t>
            </a:r>
          </a:p>
        </p:txBody>
      </p:sp>
      <p:sp>
        <p:nvSpPr>
          <p:cNvPr id="14" name="Rectangle 13"/>
          <p:cNvSpPr/>
          <p:nvPr/>
        </p:nvSpPr>
        <p:spPr>
          <a:xfrm>
            <a:off x="365760" y="1911095"/>
            <a:ext cx="8412480" cy="420624"/>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911095"/>
            <a:ext cx="594360" cy="420624"/>
          </a:xfrm>
          <a:prstGeom prst="rect">
            <a:avLst/>
          </a:prstGeom>
          <a:noFill/>
        </p:spPr>
        <p:txBody>
          <a:bodyPr wrap="square" lIns="25400" tIns="12700" rIns="25400" bIns="12700" anchor="ctr">
            <a:spAutoFit/>
          </a:bodyPr>
          <a:lstStyle/>
          <a:p>
            <a:pPr algn="l"/>
            <a:r>
              <a:rPr sz="1800" b="1" i="0">
                <a:solidFill>
                  <a:srgbClr val="E41A52"/>
                </a:solidFill>
                <a:latin typeface="Arial"/>
              </a:rPr>
              <a:t>03</a:t>
            </a:r>
          </a:p>
        </p:txBody>
      </p:sp>
      <p:sp>
        <p:nvSpPr>
          <p:cNvPr id="16" name="TextBox 15"/>
          <p:cNvSpPr txBox="1"/>
          <p:nvPr/>
        </p:nvSpPr>
        <p:spPr>
          <a:xfrm>
            <a:off x="1143000" y="1911095"/>
            <a:ext cx="6400800" cy="420624"/>
          </a:xfrm>
          <a:prstGeom prst="rect">
            <a:avLst/>
          </a:prstGeom>
          <a:noFill/>
        </p:spPr>
        <p:txBody>
          <a:bodyPr wrap="square" lIns="25400" tIns="12700" rIns="25400" bIns="12700" anchor="ctr">
            <a:spAutoFit/>
          </a:bodyPr>
          <a:lstStyle/>
          <a:p>
            <a:pPr algn="l"/>
            <a:r>
              <a:rPr sz="1400" b="1" i="0">
                <a:solidFill>
                  <a:srgbClr val="1F2937"/>
                </a:solidFill>
                <a:latin typeface="Arial"/>
              </a:rPr>
              <a:t>Fuentes de Threat Intelligence</a:t>
            </a:r>
          </a:p>
        </p:txBody>
      </p:sp>
      <p:sp>
        <p:nvSpPr>
          <p:cNvPr id="17" name="TextBox 16"/>
          <p:cNvSpPr txBox="1"/>
          <p:nvPr/>
        </p:nvSpPr>
        <p:spPr>
          <a:xfrm>
            <a:off x="7589520" y="1911095"/>
            <a:ext cx="1097280" cy="420624"/>
          </a:xfrm>
          <a:prstGeom prst="rect">
            <a:avLst/>
          </a:prstGeom>
          <a:noFill/>
        </p:spPr>
        <p:txBody>
          <a:bodyPr wrap="square" lIns="25400" tIns="12700" rIns="25400" bIns="12700" anchor="ctr">
            <a:spAutoFit/>
          </a:bodyPr>
          <a:lstStyle/>
          <a:p>
            <a:pPr algn="r"/>
            <a:r>
              <a:rPr sz="1400" b="1" i="0">
                <a:solidFill>
                  <a:srgbClr val="E41A52"/>
                </a:solidFill>
                <a:latin typeface="Arial"/>
              </a:rPr>
              <a:t>3'</a:t>
            </a:r>
          </a:p>
        </p:txBody>
      </p:sp>
      <p:sp>
        <p:nvSpPr>
          <p:cNvPr id="18" name="Rectangle 17"/>
          <p:cNvSpPr/>
          <p:nvPr/>
        </p:nvSpPr>
        <p:spPr>
          <a:xfrm>
            <a:off x="365760" y="2386584"/>
            <a:ext cx="8412480" cy="420624"/>
          </a:xfrm>
          <a:prstGeom prst="rect">
            <a:avLst/>
          </a:prstGeom>
          <a:solidFill>
            <a:srgbClr val="F7F7F9"/>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2386584"/>
            <a:ext cx="594360" cy="420624"/>
          </a:xfrm>
          <a:prstGeom prst="rect">
            <a:avLst/>
          </a:prstGeom>
          <a:noFill/>
        </p:spPr>
        <p:txBody>
          <a:bodyPr wrap="square" lIns="25400" tIns="12700" rIns="25400" bIns="12700" anchor="ctr">
            <a:spAutoFit/>
          </a:bodyPr>
          <a:lstStyle/>
          <a:p>
            <a:pPr algn="l"/>
            <a:r>
              <a:rPr sz="1800" b="1" i="0">
                <a:solidFill>
                  <a:srgbClr val="E41A52"/>
                </a:solidFill>
                <a:latin typeface="Arial"/>
              </a:rPr>
              <a:t>04</a:t>
            </a:r>
          </a:p>
        </p:txBody>
      </p:sp>
      <p:sp>
        <p:nvSpPr>
          <p:cNvPr id="20" name="TextBox 19"/>
          <p:cNvSpPr txBox="1"/>
          <p:nvPr/>
        </p:nvSpPr>
        <p:spPr>
          <a:xfrm>
            <a:off x="1143000" y="2386584"/>
            <a:ext cx="6400800" cy="420624"/>
          </a:xfrm>
          <a:prstGeom prst="rect">
            <a:avLst/>
          </a:prstGeom>
          <a:noFill/>
        </p:spPr>
        <p:txBody>
          <a:bodyPr wrap="square" lIns="25400" tIns="12700" rIns="25400" bIns="12700" anchor="ctr">
            <a:spAutoFit/>
          </a:bodyPr>
          <a:lstStyle/>
          <a:p>
            <a:pPr algn="l"/>
            <a:r>
              <a:rPr sz="1400" b="1" i="0">
                <a:solidFill>
                  <a:srgbClr val="1F2937"/>
                </a:solidFill>
                <a:latin typeface="Arial"/>
              </a:rPr>
              <a:t>Frameworks (Kill Chain · Diamond · ATT&amp;CK · Pirámide del Dolor)</a:t>
            </a:r>
          </a:p>
        </p:txBody>
      </p:sp>
      <p:sp>
        <p:nvSpPr>
          <p:cNvPr id="21" name="TextBox 20"/>
          <p:cNvSpPr txBox="1"/>
          <p:nvPr/>
        </p:nvSpPr>
        <p:spPr>
          <a:xfrm>
            <a:off x="7589520" y="2386584"/>
            <a:ext cx="1097280" cy="420624"/>
          </a:xfrm>
          <a:prstGeom prst="rect">
            <a:avLst/>
          </a:prstGeom>
          <a:noFill/>
        </p:spPr>
        <p:txBody>
          <a:bodyPr wrap="square" lIns="25400" tIns="12700" rIns="25400" bIns="12700" anchor="ctr">
            <a:spAutoFit/>
          </a:bodyPr>
          <a:lstStyle/>
          <a:p>
            <a:pPr algn="r"/>
            <a:r>
              <a:rPr sz="1400" b="1" i="0">
                <a:solidFill>
                  <a:srgbClr val="E41A52"/>
                </a:solidFill>
                <a:latin typeface="Arial"/>
              </a:rPr>
              <a:t>11'</a:t>
            </a:r>
          </a:p>
        </p:txBody>
      </p:sp>
      <p:sp>
        <p:nvSpPr>
          <p:cNvPr id="22" name="Rectangle 21"/>
          <p:cNvSpPr/>
          <p:nvPr/>
        </p:nvSpPr>
        <p:spPr>
          <a:xfrm>
            <a:off x="365760" y="2862072"/>
            <a:ext cx="8412480" cy="420624"/>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2862072"/>
            <a:ext cx="594360" cy="420624"/>
          </a:xfrm>
          <a:prstGeom prst="rect">
            <a:avLst/>
          </a:prstGeom>
          <a:noFill/>
        </p:spPr>
        <p:txBody>
          <a:bodyPr wrap="square" lIns="25400" tIns="12700" rIns="25400" bIns="12700" anchor="ctr">
            <a:spAutoFit/>
          </a:bodyPr>
          <a:lstStyle/>
          <a:p>
            <a:pPr algn="l"/>
            <a:r>
              <a:rPr sz="1800" b="1" i="0">
                <a:solidFill>
                  <a:srgbClr val="E41A52"/>
                </a:solidFill>
                <a:latin typeface="Arial"/>
              </a:rPr>
              <a:t>05</a:t>
            </a:r>
          </a:p>
        </p:txBody>
      </p:sp>
      <p:sp>
        <p:nvSpPr>
          <p:cNvPr id="24" name="TextBox 23"/>
          <p:cNvSpPr txBox="1"/>
          <p:nvPr/>
        </p:nvSpPr>
        <p:spPr>
          <a:xfrm>
            <a:off x="1143000" y="2862072"/>
            <a:ext cx="6400800" cy="420624"/>
          </a:xfrm>
          <a:prstGeom prst="rect">
            <a:avLst/>
          </a:prstGeom>
          <a:noFill/>
        </p:spPr>
        <p:txBody>
          <a:bodyPr wrap="square" lIns="25400" tIns="12700" rIns="25400" bIns="12700" anchor="ctr">
            <a:spAutoFit/>
          </a:bodyPr>
          <a:lstStyle/>
          <a:p>
            <a:pPr algn="l"/>
            <a:r>
              <a:rPr sz="1400" b="1" i="0">
                <a:solidFill>
                  <a:srgbClr val="1F2937"/>
                </a:solidFill>
                <a:latin typeface="Arial"/>
              </a:rPr>
              <a:t>De reactivo a predictivo · Madurez CTI · Métricas</a:t>
            </a:r>
          </a:p>
        </p:txBody>
      </p:sp>
      <p:sp>
        <p:nvSpPr>
          <p:cNvPr id="25" name="TextBox 24"/>
          <p:cNvSpPr txBox="1"/>
          <p:nvPr/>
        </p:nvSpPr>
        <p:spPr>
          <a:xfrm>
            <a:off x="7589520" y="2862072"/>
            <a:ext cx="1097280" cy="420624"/>
          </a:xfrm>
          <a:prstGeom prst="rect">
            <a:avLst/>
          </a:prstGeom>
          <a:noFill/>
        </p:spPr>
        <p:txBody>
          <a:bodyPr wrap="square" lIns="25400" tIns="12700" rIns="25400" bIns="12700" anchor="ctr">
            <a:spAutoFit/>
          </a:bodyPr>
          <a:lstStyle/>
          <a:p>
            <a:pPr algn="r"/>
            <a:r>
              <a:rPr sz="1400" b="1" i="0">
                <a:solidFill>
                  <a:srgbClr val="E41A52"/>
                </a:solidFill>
                <a:latin typeface="Arial"/>
              </a:rPr>
              <a:t>4'</a:t>
            </a:r>
          </a:p>
        </p:txBody>
      </p:sp>
      <p:sp>
        <p:nvSpPr>
          <p:cNvPr id="26" name="Rectangle 25"/>
          <p:cNvSpPr/>
          <p:nvPr/>
        </p:nvSpPr>
        <p:spPr>
          <a:xfrm>
            <a:off x="365760" y="3337560"/>
            <a:ext cx="8412480" cy="420624"/>
          </a:xfrm>
          <a:prstGeom prst="rect">
            <a:avLst/>
          </a:prstGeom>
          <a:solidFill>
            <a:srgbClr val="F7F7F9"/>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3337560"/>
            <a:ext cx="594360" cy="420624"/>
          </a:xfrm>
          <a:prstGeom prst="rect">
            <a:avLst/>
          </a:prstGeom>
          <a:noFill/>
        </p:spPr>
        <p:txBody>
          <a:bodyPr wrap="square" lIns="25400" tIns="12700" rIns="25400" bIns="12700" anchor="ctr">
            <a:spAutoFit/>
          </a:bodyPr>
          <a:lstStyle/>
          <a:p>
            <a:pPr algn="l"/>
            <a:r>
              <a:rPr sz="1800" b="1" i="0">
                <a:solidFill>
                  <a:srgbClr val="E41A52"/>
                </a:solidFill>
                <a:latin typeface="Arial"/>
              </a:rPr>
              <a:t>06</a:t>
            </a:r>
          </a:p>
        </p:txBody>
      </p:sp>
      <p:sp>
        <p:nvSpPr>
          <p:cNvPr id="28" name="TextBox 27"/>
          <p:cNvSpPr txBox="1"/>
          <p:nvPr/>
        </p:nvSpPr>
        <p:spPr>
          <a:xfrm>
            <a:off x="1143000" y="3337560"/>
            <a:ext cx="6400800" cy="420624"/>
          </a:xfrm>
          <a:prstGeom prst="rect">
            <a:avLst/>
          </a:prstGeom>
          <a:noFill/>
        </p:spPr>
        <p:txBody>
          <a:bodyPr wrap="square" lIns="25400" tIns="12700" rIns="25400" bIns="12700" anchor="ctr">
            <a:spAutoFit/>
          </a:bodyPr>
          <a:lstStyle/>
          <a:p>
            <a:pPr algn="l"/>
            <a:r>
              <a:rPr sz="1400" b="1" i="0">
                <a:solidFill>
                  <a:srgbClr val="1F2937"/>
                </a:solidFill>
                <a:latin typeface="Arial"/>
              </a:rPr>
              <a:t>Case Study: "Puedes correr, pero no puedes esconderte"</a:t>
            </a:r>
          </a:p>
        </p:txBody>
      </p:sp>
      <p:sp>
        <p:nvSpPr>
          <p:cNvPr id="29" name="TextBox 28"/>
          <p:cNvSpPr txBox="1"/>
          <p:nvPr/>
        </p:nvSpPr>
        <p:spPr>
          <a:xfrm>
            <a:off x="7589520" y="3337560"/>
            <a:ext cx="1097280" cy="420624"/>
          </a:xfrm>
          <a:prstGeom prst="rect">
            <a:avLst/>
          </a:prstGeom>
          <a:noFill/>
        </p:spPr>
        <p:txBody>
          <a:bodyPr wrap="square" lIns="25400" tIns="12700" rIns="25400" bIns="12700" anchor="ctr">
            <a:spAutoFit/>
          </a:bodyPr>
          <a:lstStyle/>
          <a:p>
            <a:pPr algn="r"/>
            <a:r>
              <a:rPr sz="1400" b="1" i="0">
                <a:solidFill>
                  <a:srgbClr val="E41A52"/>
                </a:solidFill>
                <a:latin typeface="Arial"/>
              </a:rPr>
              <a:t>5'</a:t>
            </a:r>
          </a:p>
        </p:txBody>
      </p:sp>
      <p:sp>
        <p:nvSpPr>
          <p:cNvPr id="30" name="Rectangle 29"/>
          <p:cNvSpPr/>
          <p:nvPr/>
        </p:nvSpPr>
        <p:spPr>
          <a:xfrm>
            <a:off x="365760" y="3813048"/>
            <a:ext cx="8412480" cy="420624"/>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3813048"/>
            <a:ext cx="594360" cy="420624"/>
          </a:xfrm>
          <a:prstGeom prst="rect">
            <a:avLst/>
          </a:prstGeom>
          <a:noFill/>
        </p:spPr>
        <p:txBody>
          <a:bodyPr wrap="square" lIns="25400" tIns="12700" rIns="25400" bIns="12700" anchor="ctr">
            <a:spAutoFit/>
          </a:bodyPr>
          <a:lstStyle/>
          <a:p>
            <a:pPr algn="l"/>
            <a:r>
              <a:rPr sz="1800" b="1" i="0">
                <a:solidFill>
                  <a:srgbClr val="E41A52"/>
                </a:solidFill>
                <a:latin typeface="Arial"/>
              </a:rPr>
              <a:t>07</a:t>
            </a:r>
          </a:p>
        </p:txBody>
      </p:sp>
      <p:sp>
        <p:nvSpPr>
          <p:cNvPr id="32" name="TextBox 31"/>
          <p:cNvSpPr txBox="1"/>
          <p:nvPr/>
        </p:nvSpPr>
        <p:spPr>
          <a:xfrm>
            <a:off x="1143000" y="3813048"/>
            <a:ext cx="6400800" cy="420624"/>
          </a:xfrm>
          <a:prstGeom prst="rect">
            <a:avLst/>
          </a:prstGeom>
          <a:noFill/>
        </p:spPr>
        <p:txBody>
          <a:bodyPr wrap="square" lIns="25400" tIns="12700" rIns="25400" bIns="12700" anchor="ctr">
            <a:spAutoFit/>
          </a:bodyPr>
          <a:lstStyle/>
          <a:p>
            <a:pPr algn="l"/>
            <a:r>
              <a:rPr sz="1400" b="1" i="0">
                <a:solidFill>
                  <a:srgbClr val="1F2937"/>
                </a:solidFill>
                <a:latin typeface="Arial"/>
              </a:rPr>
              <a:t>Cierre, takeaways y Q&amp;A</a:t>
            </a:r>
          </a:p>
        </p:txBody>
      </p:sp>
      <p:sp>
        <p:nvSpPr>
          <p:cNvPr id="33" name="TextBox 32"/>
          <p:cNvSpPr txBox="1"/>
          <p:nvPr/>
        </p:nvSpPr>
        <p:spPr>
          <a:xfrm>
            <a:off x="7589520" y="3813048"/>
            <a:ext cx="1097280" cy="420624"/>
          </a:xfrm>
          <a:prstGeom prst="rect">
            <a:avLst/>
          </a:prstGeom>
          <a:noFill/>
        </p:spPr>
        <p:txBody>
          <a:bodyPr wrap="square" lIns="25400" tIns="12700" rIns="25400" bIns="12700" anchor="ctr">
            <a:spAutoFit/>
          </a:bodyPr>
          <a:lstStyle/>
          <a:p>
            <a:pPr algn="r"/>
            <a:r>
              <a:rPr sz="1400" b="1" i="0">
                <a:solidFill>
                  <a:srgbClr val="E41A52"/>
                </a:solidFill>
                <a:latin typeface="Arial"/>
              </a:rPr>
              <a:t>1'</a:t>
            </a:r>
          </a:p>
        </p:txBody>
      </p:sp>
      <p:sp>
        <p:nvSpPr>
          <p:cNvPr id="35" name="TextBox 34"/>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3 / 38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18872"/>
            <a:ext cx="8412480" cy="365760"/>
          </a:xfrm>
          <a:prstGeom prst="rect">
            <a:avLst/>
          </a:prstGeom>
          <a:noFill/>
        </p:spPr>
        <p:txBody>
          <a:bodyPr wrap="square" lIns="45720" tIns="18288" rIns="45720" bIns="18288" anchor="t">
            <a:spAutoFit/>
          </a:bodyPr>
          <a:lstStyle/>
          <a:p>
            <a:pPr algn="l"/>
            <a:r>
              <a:rPr sz="2200" b="1">
                <a:solidFill>
                  <a:srgbClr val="FFFFFF"/>
                </a:solidFill>
                <a:latin typeface="Arial"/>
              </a:rPr>
              <a:t>¿Por qué CTI hoy?</a:t>
            </a:r>
          </a:p>
        </p:txBody>
      </p:sp>
      <p:sp>
        <p:nvSpPr>
          <p:cNvPr id="4" name="TextBox 3"/>
          <p:cNvSpPr txBox="1"/>
          <p:nvPr/>
        </p:nvSpPr>
        <p:spPr>
          <a:xfrm>
            <a:off x="365760" y="420624"/>
            <a:ext cx="8412480" cy="274320"/>
          </a:xfrm>
          <a:prstGeom prst="rect">
            <a:avLst/>
          </a:prstGeom>
          <a:noFill/>
        </p:spPr>
        <p:txBody>
          <a:bodyPr wrap="square" lIns="45720" tIns="18288" rIns="45720" bIns="18288" anchor="t">
            <a:spAutoFit/>
          </a:bodyPr>
          <a:lstStyle/>
          <a:p>
            <a:pPr algn="l"/>
            <a:r>
              <a:rPr sz="1200" b="0">
                <a:solidFill>
                  <a:srgbClr val="FFFFFF"/>
                </a:solidFill>
                <a:latin typeface="Arial"/>
              </a:rPr>
              <a:t>El terreno se aceleró. La asimetría no.</a:t>
            </a:r>
          </a:p>
        </p:txBody>
      </p:sp>
      <p:sp>
        <p:nvSpPr>
          <p:cNvPr id="5" name="Rectangle 4"/>
          <p:cNvSpPr/>
          <p:nvPr/>
        </p:nvSpPr>
        <p:spPr>
          <a:xfrm>
            <a:off x="365760" y="868680"/>
            <a:ext cx="4114800" cy="352044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868680"/>
            <a:ext cx="4114800" cy="41148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868680"/>
            <a:ext cx="4114800" cy="411480"/>
          </a:xfrm>
          <a:prstGeom prst="rect">
            <a:avLst/>
          </a:prstGeom>
          <a:noFill/>
        </p:spPr>
        <p:txBody>
          <a:bodyPr wrap="square" lIns="45720" tIns="18288" rIns="45720" bIns="18288" anchor="ctr">
            <a:spAutoFit/>
          </a:bodyPr>
          <a:lstStyle/>
          <a:p>
            <a:pPr algn="ctr"/>
            <a:r>
              <a:rPr sz="1200" b="1">
                <a:solidFill>
                  <a:srgbClr val="FFFFFF"/>
                </a:solidFill>
                <a:latin typeface="Arial"/>
              </a:rPr>
              <a:t>EL TERRENO SE ACELERÓ</a:t>
            </a:r>
          </a:p>
        </p:txBody>
      </p:sp>
      <p:sp>
        <p:nvSpPr>
          <p:cNvPr id="8" name="TextBox 7"/>
          <p:cNvSpPr txBox="1"/>
          <p:nvPr/>
        </p:nvSpPr>
        <p:spPr>
          <a:xfrm>
            <a:off x="457200" y="1417320"/>
            <a:ext cx="1600200" cy="713232"/>
          </a:xfrm>
          <a:prstGeom prst="rect">
            <a:avLst/>
          </a:prstGeom>
          <a:noFill/>
        </p:spPr>
        <p:txBody>
          <a:bodyPr wrap="square" lIns="45720" tIns="18288" rIns="45720" bIns="18288" anchor="ctr">
            <a:spAutoFit/>
          </a:bodyPr>
          <a:lstStyle/>
          <a:p>
            <a:pPr algn="l"/>
            <a:r>
              <a:rPr sz="1800" b="1">
                <a:solidFill>
                  <a:srgbClr val="E41A52"/>
                </a:solidFill>
                <a:latin typeface="Arial"/>
              </a:rPr>
              <a:t>62 min</a:t>
            </a:r>
          </a:p>
        </p:txBody>
      </p:sp>
      <p:sp>
        <p:nvSpPr>
          <p:cNvPr id="9" name="TextBox 8"/>
          <p:cNvSpPr txBox="1"/>
          <p:nvPr/>
        </p:nvSpPr>
        <p:spPr>
          <a:xfrm>
            <a:off x="2011679" y="1417320"/>
            <a:ext cx="2377440" cy="713232"/>
          </a:xfrm>
          <a:prstGeom prst="rect">
            <a:avLst/>
          </a:prstGeom>
          <a:noFill/>
        </p:spPr>
        <p:txBody>
          <a:bodyPr wrap="square" lIns="45720" tIns="18288" rIns="45720" bIns="18288" anchor="ctr">
            <a:spAutoFit/>
          </a:bodyPr>
          <a:lstStyle/>
          <a:p>
            <a:pPr algn="l"/>
            <a:r>
              <a:rPr sz="950" b="0">
                <a:solidFill>
                  <a:srgbClr val="1F2937"/>
                </a:solidFill>
                <a:latin typeface="Arial"/>
              </a:rPr>
              <a:t>Breakout time promedio de eCrime — el más rápido: 2 min 7 s. (CrowdStrike 2024)</a:t>
            </a:r>
          </a:p>
        </p:txBody>
      </p:sp>
      <p:sp>
        <p:nvSpPr>
          <p:cNvPr id="10" name="TextBox 9"/>
          <p:cNvSpPr txBox="1"/>
          <p:nvPr/>
        </p:nvSpPr>
        <p:spPr>
          <a:xfrm>
            <a:off x="457200" y="2130552"/>
            <a:ext cx="1600200" cy="713232"/>
          </a:xfrm>
          <a:prstGeom prst="rect">
            <a:avLst/>
          </a:prstGeom>
          <a:noFill/>
        </p:spPr>
        <p:txBody>
          <a:bodyPr wrap="square" lIns="45720" tIns="18288" rIns="45720" bIns="18288" anchor="ctr">
            <a:spAutoFit/>
          </a:bodyPr>
          <a:lstStyle/>
          <a:p>
            <a:pPr algn="l"/>
            <a:r>
              <a:rPr sz="1800" b="1">
                <a:solidFill>
                  <a:srgbClr val="E41A52"/>
                </a:solidFill>
                <a:latin typeface="Arial"/>
              </a:rPr>
              <a:t>75 %</a:t>
            </a:r>
          </a:p>
        </p:txBody>
      </p:sp>
      <p:sp>
        <p:nvSpPr>
          <p:cNvPr id="11" name="TextBox 10"/>
          <p:cNvSpPr txBox="1"/>
          <p:nvPr/>
        </p:nvSpPr>
        <p:spPr>
          <a:xfrm>
            <a:off x="2011679" y="2130552"/>
            <a:ext cx="2377440" cy="713232"/>
          </a:xfrm>
          <a:prstGeom prst="rect">
            <a:avLst/>
          </a:prstGeom>
          <a:noFill/>
        </p:spPr>
        <p:txBody>
          <a:bodyPr wrap="square" lIns="45720" tIns="18288" rIns="45720" bIns="18288" anchor="ctr">
            <a:spAutoFit/>
          </a:bodyPr>
          <a:lstStyle/>
          <a:p>
            <a:pPr algn="l"/>
            <a:r>
              <a:rPr sz="950" b="0">
                <a:solidFill>
                  <a:srgbClr val="1F2937"/>
                </a:solidFill>
                <a:latin typeface="Arial"/>
              </a:rPr>
              <a:t>De las intrusiones son malware-free: credenciales válidas y herramientas legítimas.</a:t>
            </a:r>
          </a:p>
        </p:txBody>
      </p:sp>
      <p:sp>
        <p:nvSpPr>
          <p:cNvPr id="12" name="TextBox 11"/>
          <p:cNvSpPr txBox="1"/>
          <p:nvPr/>
        </p:nvSpPr>
        <p:spPr>
          <a:xfrm>
            <a:off x="457200" y="2843784"/>
            <a:ext cx="1600200" cy="713232"/>
          </a:xfrm>
          <a:prstGeom prst="rect">
            <a:avLst/>
          </a:prstGeom>
          <a:noFill/>
        </p:spPr>
        <p:txBody>
          <a:bodyPr wrap="square" lIns="45720" tIns="18288" rIns="45720" bIns="18288" anchor="ctr">
            <a:spAutoFit/>
          </a:bodyPr>
          <a:lstStyle/>
          <a:p>
            <a:pPr algn="l"/>
            <a:r>
              <a:rPr sz="1800" b="1">
                <a:solidFill>
                  <a:srgbClr val="E41A52"/>
                </a:solidFill>
                <a:latin typeface="Arial"/>
              </a:rPr>
              <a:t>$4.88M</a:t>
            </a:r>
          </a:p>
        </p:txBody>
      </p:sp>
      <p:sp>
        <p:nvSpPr>
          <p:cNvPr id="13" name="TextBox 12"/>
          <p:cNvSpPr txBox="1"/>
          <p:nvPr/>
        </p:nvSpPr>
        <p:spPr>
          <a:xfrm>
            <a:off x="2011679" y="2843784"/>
            <a:ext cx="2377440" cy="713232"/>
          </a:xfrm>
          <a:prstGeom prst="rect">
            <a:avLst/>
          </a:prstGeom>
          <a:noFill/>
        </p:spPr>
        <p:txBody>
          <a:bodyPr wrap="square" lIns="45720" tIns="18288" rIns="45720" bIns="18288" anchor="ctr">
            <a:spAutoFit/>
          </a:bodyPr>
          <a:lstStyle/>
          <a:p>
            <a:pPr algn="l"/>
            <a:r>
              <a:rPr sz="950" b="0">
                <a:solidFill>
                  <a:srgbClr val="1F2937"/>
                </a:solidFill>
                <a:latin typeface="Arial"/>
              </a:rPr>
              <a:t>Costo promedio global de un breach — récord histórico. (IBM 2024)</a:t>
            </a:r>
          </a:p>
        </p:txBody>
      </p:sp>
      <p:sp>
        <p:nvSpPr>
          <p:cNvPr id="14" name="TextBox 13"/>
          <p:cNvSpPr txBox="1"/>
          <p:nvPr/>
        </p:nvSpPr>
        <p:spPr>
          <a:xfrm>
            <a:off x="457200" y="3557015"/>
            <a:ext cx="1600200" cy="713232"/>
          </a:xfrm>
          <a:prstGeom prst="rect">
            <a:avLst/>
          </a:prstGeom>
          <a:noFill/>
        </p:spPr>
        <p:txBody>
          <a:bodyPr wrap="square" lIns="45720" tIns="18288" rIns="45720" bIns="18288" anchor="ctr">
            <a:spAutoFit/>
          </a:bodyPr>
          <a:lstStyle/>
          <a:p>
            <a:pPr algn="l"/>
            <a:r>
              <a:rPr sz="1800" b="1">
                <a:solidFill>
                  <a:srgbClr val="E41A52"/>
                </a:solidFill>
                <a:latin typeface="Arial"/>
              </a:rPr>
              <a:t>10 días</a:t>
            </a:r>
          </a:p>
        </p:txBody>
      </p:sp>
      <p:sp>
        <p:nvSpPr>
          <p:cNvPr id="15" name="TextBox 14"/>
          <p:cNvSpPr txBox="1"/>
          <p:nvPr/>
        </p:nvSpPr>
        <p:spPr>
          <a:xfrm>
            <a:off x="2011679" y="3557015"/>
            <a:ext cx="2377440" cy="713232"/>
          </a:xfrm>
          <a:prstGeom prst="rect">
            <a:avLst/>
          </a:prstGeom>
          <a:noFill/>
        </p:spPr>
        <p:txBody>
          <a:bodyPr wrap="square" lIns="45720" tIns="18288" rIns="45720" bIns="18288" anchor="ctr">
            <a:spAutoFit/>
          </a:bodyPr>
          <a:lstStyle/>
          <a:p>
            <a:pPr algn="l"/>
            <a:r>
              <a:rPr sz="950" b="0">
                <a:solidFill>
                  <a:srgbClr val="1F2937"/>
                </a:solidFill>
                <a:latin typeface="Arial"/>
              </a:rPr>
              <a:t>Dwell time mediano: el atacante vive adentro antes de ser detectado. (Mandiant 2024)</a:t>
            </a:r>
          </a:p>
        </p:txBody>
      </p:sp>
      <p:sp>
        <p:nvSpPr>
          <p:cNvPr id="16" name="Rectangle 15"/>
          <p:cNvSpPr/>
          <p:nvPr/>
        </p:nvSpPr>
        <p:spPr>
          <a:xfrm>
            <a:off x="4663440" y="868680"/>
            <a:ext cx="4114800" cy="352044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663440" y="868680"/>
            <a:ext cx="4114800" cy="4114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63440" y="868680"/>
            <a:ext cx="4114800" cy="411480"/>
          </a:xfrm>
          <a:prstGeom prst="rect">
            <a:avLst/>
          </a:prstGeom>
          <a:noFill/>
        </p:spPr>
        <p:txBody>
          <a:bodyPr wrap="square" lIns="45720" tIns="18288" rIns="45720" bIns="18288" anchor="ctr">
            <a:spAutoFit/>
          </a:bodyPr>
          <a:lstStyle/>
          <a:p>
            <a:pPr algn="ctr"/>
            <a:r>
              <a:rPr sz="1200" b="1">
                <a:solidFill>
                  <a:srgbClr val="FFFFFF"/>
                </a:solidFill>
                <a:latin typeface="Arial"/>
              </a:rPr>
              <a:t>LA ASIMETRÍA NO CAMBIÓ</a:t>
            </a:r>
          </a:p>
        </p:txBody>
      </p:sp>
      <p:sp>
        <p:nvSpPr>
          <p:cNvPr id="19" name="TextBox 18"/>
          <p:cNvSpPr txBox="1"/>
          <p:nvPr/>
        </p:nvSpPr>
        <p:spPr>
          <a:xfrm>
            <a:off x="4754879" y="1417320"/>
            <a:ext cx="1874519" cy="502920"/>
          </a:xfrm>
          <a:prstGeom prst="rect">
            <a:avLst/>
          </a:prstGeom>
          <a:noFill/>
        </p:spPr>
        <p:txBody>
          <a:bodyPr wrap="square" lIns="45720" tIns="18288" rIns="45720" bIns="18288" anchor="t">
            <a:spAutoFit/>
          </a:bodyPr>
          <a:lstStyle/>
          <a:p>
            <a:pPr algn="l"/>
            <a:r>
              <a:rPr sz="750" b="1">
                <a:solidFill>
                  <a:srgbClr val="E41A52"/>
                </a:solidFill>
                <a:latin typeface="Arial"/>
              </a:rPr>
              <a:t>ATACANTE</a:t>
            </a:r>
          </a:p>
        </p:txBody>
      </p:sp>
      <p:sp>
        <p:nvSpPr>
          <p:cNvPr id="20" name="TextBox 19"/>
          <p:cNvSpPr txBox="1"/>
          <p:nvPr/>
        </p:nvSpPr>
        <p:spPr>
          <a:xfrm>
            <a:off x="4754879" y="1581912"/>
            <a:ext cx="1874519" cy="502920"/>
          </a:xfrm>
          <a:prstGeom prst="rect">
            <a:avLst/>
          </a:prstGeom>
          <a:noFill/>
        </p:spPr>
        <p:txBody>
          <a:bodyPr wrap="square" lIns="45720" tIns="18288" rIns="45720" bIns="18288" anchor="t">
            <a:spAutoFit/>
          </a:bodyPr>
          <a:lstStyle/>
          <a:p>
            <a:pPr algn="l"/>
            <a:r>
              <a:rPr sz="900" b="0">
                <a:solidFill>
                  <a:srgbClr val="1F2937"/>
                </a:solidFill>
                <a:latin typeface="Arial"/>
              </a:rPr>
              <a:t>Elige momento, vector y objetivo.</a:t>
            </a:r>
          </a:p>
        </p:txBody>
      </p:sp>
      <p:sp>
        <p:nvSpPr>
          <p:cNvPr id="21" name="Rectangle 20"/>
          <p:cNvSpPr/>
          <p:nvPr/>
        </p:nvSpPr>
        <p:spPr>
          <a:xfrm>
            <a:off x="6716268" y="1463040"/>
            <a:ext cx="9144" cy="4114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12279" y="1417320"/>
            <a:ext cx="1874519" cy="502920"/>
          </a:xfrm>
          <a:prstGeom prst="rect">
            <a:avLst/>
          </a:prstGeom>
          <a:noFill/>
        </p:spPr>
        <p:txBody>
          <a:bodyPr wrap="square" lIns="45720" tIns="18288" rIns="45720" bIns="18288" anchor="t">
            <a:spAutoFit/>
          </a:bodyPr>
          <a:lstStyle/>
          <a:p>
            <a:pPr algn="l"/>
            <a:r>
              <a:rPr sz="750" b="1">
                <a:solidFill>
                  <a:srgbClr val="1F2937"/>
                </a:solidFill>
                <a:latin typeface="Arial"/>
              </a:rPr>
              <a:t>DEFENSOR</a:t>
            </a:r>
          </a:p>
        </p:txBody>
      </p:sp>
      <p:sp>
        <p:nvSpPr>
          <p:cNvPr id="23" name="TextBox 22"/>
          <p:cNvSpPr txBox="1"/>
          <p:nvPr/>
        </p:nvSpPr>
        <p:spPr>
          <a:xfrm>
            <a:off x="6812279" y="1581912"/>
            <a:ext cx="1874519" cy="502920"/>
          </a:xfrm>
          <a:prstGeom prst="rect">
            <a:avLst/>
          </a:prstGeom>
          <a:noFill/>
        </p:spPr>
        <p:txBody>
          <a:bodyPr wrap="square" lIns="45720" tIns="18288" rIns="45720" bIns="18288" anchor="t">
            <a:spAutoFit/>
          </a:bodyPr>
          <a:lstStyle/>
          <a:p>
            <a:pPr algn="l"/>
            <a:r>
              <a:rPr sz="900" b="0">
                <a:solidFill>
                  <a:srgbClr val="1F2937"/>
                </a:solidFill>
                <a:latin typeface="Arial"/>
              </a:rPr>
              <a:t>Cubre todo, todo el tiempo.</a:t>
            </a:r>
          </a:p>
        </p:txBody>
      </p:sp>
      <p:sp>
        <p:nvSpPr>
          <p:cNvPr id="24" name="TextBox 23"/>
          <p:cNvSpPr txBox="1"/>
          <p:nvPr/>
        </p:nvSpPr>
        <p:spPr>
          <a:xfrm>
            <a:off x="4754879" y="1993392"/>
            <a:ext cx="1874519" cy="502920"/>
          </a:xfrm>
          <a:prstGeom prst="rect">
            <a:avLst/>
          </a:prstGeom>
          <a:noFill/>
        </p:spPr>
        <p:txBody>
          <a:bodyPr wrap="square" lIns="45720" tIns="18288" rIns="45720" bIns="18288" anchor="t">
            <a:spAutoFit/>
          </a:bodyPr>
          <a:lstStyle/>
          <a:p>
            <a:pPr algn="l"/>
            <a:r>
              <a:rPr sz="750" b="1">
                <a:solidFill>
                  <a:srgbClr val="E41A52"/>
                </a:solidFill>
                <a:latin typeface="Arial"/>
              </a:rPr>
              <a:t>ATACANTE</a:t>
            </a:r>
          </a:p>
        </p:txBody>
      </p:sp>
      <p:sp>
        <p:nvSpPr>
          <p:cNvPr id="25" name="TextBox 24"/>
          <p:cNvSpPr txBox="1"/>
          <p:nvPr/>
        </p:nvSpPr>
        <p:spPr>
          <a:xfrm>
            <a:off x="4754879" y="2157984"/>
            <a:ext cx="1874519" cy="502920"/>
          </a:xfrm>
          <a:prstGeom prst="rect">
            <a:avLst/>
          </a:prstGeom>
          <a:noFill/>
        </p:spPr>
        <p:txBody>
          <a:bodyPr wrap="square" lIns="45720" tIns="18288" rIns="45720" bIns="18288" anchor="t">
            <a:spAutoFit/>
          </a:bodyPr>
          <a:lstStyle/>
          <a:p>
            <a:pPr algn="l"/>
            <a:r>
              <a:rPr sz="900" b="0">
                <a:solidFill>
                  <a:srgbClr val="1F2937"/>
                </a:solidFill>
                <a:latin typeface="Arial"/>
              </a:rPr>
              <a:t>Una puerta abierta alcanza.</a:t>
            </a:r>
          </a:p>
        </p:txBody>
      </p:sp>
      <p:sp>
        <p:nvSpPr>
          <p:cNvPr id="26" name="Rectangle 25"/>
          <p:cNvSpPr/>
          <p:nvPr/>
        </p:nvSpPr>
        <p:spPr>
          <a:xfrm>
            <a:off x="6716268" y="2039112"/>
            <a:ext cx="9144" cy="4114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12279" y="1993392"/>
            <a:ext cx="1874519" cy="502920"/>
          </a:xfrm>
          <a:prstGeom prst="rect">
            <a:avLst/>
          </a:prstGeom>
          <a:noFill/>
        </p:spPr>
        <p:txBody>
          <a:bodyPr wrap="square" lIns="45720" tIns="18288" rIns="45720" bIns="18288" anchor="t">
            <a:spAutoFit/>
          </a:bodyPr>
          <a:lstStyle/>
          <a:p>
            <a:pPr algn="l"/>
            <a:r>
              <a:rPr sz="750" b="1">
                <a:solidFill>
                  <a:srgbClr val="1F2937"/>
                </a:solidFill>
                <a:latin typeface="Arial"/>
              </a:rPr>
              <a:t>DEFENSOR</a:t>
            </a:r>
          </a:p>
        </p:txBody>
      </p:sp>
      <p:sp>
        <p:nvSpPr>
          <p:cNvPr id="28" name="TextBox 27"/>
          <p:cNvSpPr txBox="1"/>
          <p:nvPr/>
        </p:nvSpPr>
        <p:spPr>
          <a:xfrm>
            <a:off x="6812279" y="2157984"/>
            <a:ext cx="1874519" cy="502920"/>
          </a:xfrm>
          <a:prstGeom prst="rect">
            <a:avLst/>
          </a:prstGeom>
          <a:noFill/>
        </p:spPr>
        <p:txBody>
          <a:bodyPr wrap="square" lIns="45720" tIns="18288" rIns="45720" bIns="18288" anchor="t">
            <a:spAutoFit/>
          </a:bodyPr>
          <a:lstStyle/>
          <a:p>
            <a:pPr algn="l"/>
            <a:r>
              <a:rPr sz="900" b="0">
                <a:solidFill>
                  <a:srgbClr val="1F2937"/>
                </a:solidFill>
                <a:latin typeface="Arial"/>
              </a:rPr>
              <a:t>Tiene que cerrar todas.</a:t>
            </a:r>
          </a:p>
        </p:txBody>
      </p:sp>
      <p:sp>
        <p:nvSpPr>
          <p:cNvPr id="29" name="TextBox 28"/>
          <p:cNvSpPr txBox="1"/>
          <p:nvPr/>
        </p:nvSpPr>
        <p:spPr>
          <a:xfrm>
            <a:off x="4754879" y="2569464"/>
            <a:ext cx="1874519" cy="502920"/>
          </a:xfrm>
          <a:prstGeom prst="rect">
            <a:avLst/>
          </a:prstGeom>
          <a:noFill/>
        </p:spPr>
        <p:txBody>
          <a:bodyPr wrap="square" lIns="45720" tIns="18288" rIns="45720" bIns="18288" anchor="t">
            <a:spAutoFit/>
          </a:bodyPr>
          <a:lstStyle/>
          <a:p>
            <a:pPr algn="l"/>
            <a:r>
              <a:rPr sz="750" b="1">
                <a:solidFill>
                  <a:srgbClr val="E41A52"/>
                </a:solidFill>
                <a:latin typeface="Arial"/>
              </a:rPr>
              <a:t>ATACANTE</a:t>
            </a:r>
          </a:p>
        </p:txBody>
      </p:sp>
      <p:sp>
        <p:nvSpPr>
          <p:cNvPr id="30" name="TextBox 29"/>
          <p:cNvSpPr txBox="1"/>
          <p:nvPr/>
        </p:nvSpPr>
        <p:spPr>
          <a:xfrm>
            <a:off x="4754879" y="2734056"/>
            <a:ext cx="1874519" cy="502920"/>
          </a:xfrm>
          <a:prstGeom prst="rect">
            <a:avLst/>
          </a:prstGeom>
          <a:noFill/>
        </p:spPr>
        <p:txBody>
          <a:bodyPr wrap="square" lIns="45720" tIns="18288" rIns="45720" bIns="18288" anchor="t">
            <a:spAutoFit/>
          </a:bodyPr>
          <a:lstStyle/>
          <a:p>
            <a:pPr algn="l"/>
            <a:r>
              <a:rPr sz="900" b="0">
                <a:solidFill>
                  <a:srgbClr val="1F2937"/>
                </a:solidFill>
                <a:latin typeface="Arial"/>
              </a:rPr>
              <a:t>Itera barato, falla sin costo.</a:t>
            </a:r>
          </a:p>
        </p:txBody>
      </p:sp>
      <p:sp>
        <p:nvSpPr>
          <p:cNvPr id="31" name="Rectangle 30"/>
          <p:cNvSpPr/>
          <p:nvPr/>
        </p:nvSpPr>
        <p:spPr>
          <a:xfrm>
            <a:off x="6716268" y="2615184"/>
            <a:ext cx="9144" cy="4114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12279" y="2569464"/>
            <a:ext cx="1874519" cy="502920"/>
          </a:xfrm>
          <a:prstGeom prst="rect">
            <a:avLst/>
          </a:prstGeom>
          <a:noFill/>
        </p:spPr>
        <p:txBody>
          <a:bodyPr wrap="square" lIns="45720" tIns="18288" rIns="45720" bIns="18288" anchor="t">
            <a:spAutoFit/>
          </a:bodyPr>
          <a:lstStyle/>
          <a:p>
            <a:pPr algn="l"/>
            <a:r>
              <a:rPr sz="750" b="1">
                <a:solidFill>
                  <a:srgbClr val="1F2937"/>
                </a:solidFill>
                <a:latin typeface="Arial"/>
              </a:rPr>
              <a:t>DEFENSOR</a:t>
            </a:r>
          </a:p>
        </p:txBody>
      </p:sp>
      <p:sp>
        <p:nvSpPr>
          <p:cNvPr id="33" name="TextBox 32"/>
          <p:cNvSpPr txBox="1"/>
          <p:nvPr/>
        </p:nvSpPr>
        <p:spPr>
          <a:xfrm>
            <a:off x="6812279" y="2734056"/>
            <a:ext cx="1874519" cy="502920"/>
          </a:xfrm>
          <a:prstGeom prst="rect">
            <a:avLst/>
          </a:prstGeom>
          <a:noFill/>
        </p:spPr>
        <p:txBody>
          <a:bodyPr wrap="square" lIns="45720" tIns="18288" rIns="45720" bIns="18288" anchor="t">
            <a:spAutoFit/>
          </a:bodyPr>
          <a:lstStyle/>
          <a:p>
            <a:pPr algn="l"/>
            <a:r>
              <a:rPr sz="900" b="0">
                <a:solidFill>
                  <a:srgbClr val="1F2937"/>
                </a:solidFill>
                <a:latin typeface="Arial"/>
              </a:rPr>
              <a:t>Cada falso positivo cuesta horas.</a:t>
            </a:r>
          </a:p>
        </p:txBody>
      </p:sp>
      <p:sp>
        <p:nvSpPr>
          <p:cNvPr id="34" name="TextBox 33"/>
          <p:cNvSpPr txBox="1"/>
          <p:nvPr/>
        </p:nvSpPr>
        <p:spPr>
          <a:xfrm>
            <a:off x="4754879" y="3145536"/>
            <a:ext cx="1874519" cy="502920"/>
          </a:xfrm>
          <a:prstGeom prst="rect">
            <a:avLst/>
          </a:prstGeom>
          <a:noFill/>
        </p:spPr>
        <p:txBody>
          <a:bodyPr wrap="square" lIns="45720" tIns="18288" rIns="45720" bIns="18288" anchor="t">
            <a:spAutoFit/>
          </a:bodyPr>
          <a:lstStyle/>
          <a:p>
            <a:pPr algn="l"/>
            <a:r>
              <a:rPr sz="750" b="1">
                <a:solidFill>
                  <a:srgbClr val="E41A52"/>
                </a:solidFill>
                <a:latin typeface="Arial"/>
              </a:rPr>
              <a:t>ATACANTE</a:t>
            </a:r>
          </a:p>
        </p:txBody>
      </p:sp>
      <p:sp>
        <p:nvSpPr>
          <p:cNvPr id="35" name="TextBox 34"/>
          <p:cNvSpPr txBox="1"/>
          <p:nvPr/>
        </p:nvSpPr>
        <p:spPr>
          <a:xfrm>
            <a:off x="4754879" y="3310128"/>
            <a:ext cx="1874519" cy="502920"/>
          </a:xfrm>
          <a:prstGeom prst="rect">
            <a:avLst/>
          </a:prstGeom>
          <a:noFill/>
        </p:spPr>
        <p:txBody>
          <a:bodyPr wrap="square" lIns="45720" tIns="18288" rIns="45720" bIns="18288" anchor="t">
            <a:spAutoFit/>
          </a:bodyPr>
          <a:lstStyle/>
          <a:p>
            <a:pPr algn="l"/>
            <a:r>
              <a:rPr sz="900" b="0">
                <a:solidFill>
                  <a:srgbClr val="1F2937"/>
                </a:solidFill>
                <a:latin typeface="Arial"/>
              </a:rPr>
              <a:t>Conoce a su víctima.</a:t>
            </a:r>
          </a:p>
        </p:txBody>
      </p:sp>
      <p:sp>
        <p:nvSpPr>
          <p:cNvPr id="36" name="Rectangle 35"/>
          <p:cNvSpPr/>
          <p:nvPr/>
        </p:nvSpPr>
        <p:spPr>
          <a:xfrm>
            <a:off x="6716268" y="3191256"/>
            <a:ext cx="9144" cy="4114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12279" y="3145536"/>
            <a:ext cx="1874519" cy="502920"/>
          </a:xfrm>
          <a:prstGeom prst="rect">
            <a:avLst/>
          </a:prstGeom>
          <a:noFill/>
        </p:spPr>
        <p:txBody>
          <a:bodyPr wrap="square" lIns="45720" tIns="18288" rIns="45720" bIns="18288" anchor="t">
            <a:spAutoFit/>
          </a:bodyPr>
          <a:lstStyle/>
          <a:p>
            <a:pPr algn="l"/>
            <a:r>
              <a:rPr sz="750" b="1">
                <a:solidFill>
                  <a:srgbClr val="1F2937"/>
                </a:solidFill>
                <a:latin typeface="Arial"/>
              </a:rPr>
              <a:t>DEFENSOR</a:t>
            </a:r>
          </a:p>
        </p:txBody>
      </p:sp>
      <p:sp>
        <p:nvSpPr>
          <p:cNvPr id="38" name="TextBox 37"/>
          <p:cNvSpPr txBox="1"/>
          <p:nvPr/>
        </p:nvSpPr>
        <p:spPr>
          <a:xfrm>
            <a:off x="6812279" y="3310128"/>
            <a:ext cx="1874519" cy="502920"/>
          </a:xfrm>
          <a:prstGeom prst="rect">
            <a:avLst/>
          </a:prstGeom>
          <a:noFill/>
        </p:spPr>
        <p:txBody>
          <a:bodyPr wrap="square" lIns="45720" tIns="18288" rIns="45720" bIns="18288" anchor="t">
            <a:spAutoFit/>
          </a:bodyPr>
          <a:lstStyle/>
          <a:p>
            <a:pPr algn="l"/>
            <a:r>
              <a:rPr sz="900" b="0">
                <a:solidFill>
                  <a:srgbClr val="1F2937"/>
                </a:solidFill>
                <a:latin typeface="Arial"/>
              </a:rPr>
              <a:t>¿Conoce a su adversario?</a:t>
            </a:r>
          </a:p>
        </p:txBody>
      </p:sp>
      <p:sp>
        <p:nvSpPr>
          <p:cNvPr id="42" name="TextBox 41"/>
          <p:cNvSpPr txBox="1"/>
          <p:nvPr/>
        </p:nvSpPr>
        <p:spPr>
          <a:xfrm>
            <a:off x="8046720" y="4818888"/>
            <a:ext cx="868680" cy="274320"/>
          </a:xfrm>
          <a:prstGeom prst="rect">
            <a:avLst/>
          </a:prstGeom>
          <a:noFill/>
        </p:spPr>
        <p:txBody>
          <a:bodyPr wrap="square" lIns="45720" tIns="18288" rIns="45720" bIns="18288" anchor="t">
            <a:spAutoFit/>
          </a:bodyPr>
          <a:lstStyle/>
          <a:p>
            <a:pPr algn="r"/>
            <a:r>
              <a:rPr sz="800" b="0">
                <a:solidFill>
                  <a:srgbClr val="525B66"/>
                </a:solidFill>
                <a:latin typeface="Arial"/>
              </a:rPr>
              <a:t>4 / 38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8412480" cy="365760"/>
          </a:xfrm>
          <a:prstGeom prst="rect">
            <a:avLst/>
          </a:prstGeom>
          <a:noFill/>
        </p:spPr>
        <p:txBody>
          <a:bodyPr wrap="square" lIns="45720" tIns="18288" rIns="45720" bIns="18288" anchor="t">
            <a:spAutoFit/>
          </a:bodyPr>
          <a:lstStyle/>
          <a:p>
            <a:pPr algn="l"/>
            <a:r>
              <a:rPr sz="2200" b="1">
                <a:solidFill>
                  <a:srgbClr val="FFFFFF"/>
                </a:solidFill>
                <a:latin typeface="Arial"/>
              </a:rPr>
              <a:t>¿Qué NO es CTI?</a:t>
            </a:r>
          </a:p>
        </p:txBody>
      </p:sp>
      <p:sp>
        <p:nvSpPr>
          <p:cNvPr id="5" name="TextBox 4"/>
          <p:cNvSpPr txBox="1"/>
          <p:nvPr/>
        </p:nvSpPr>
        <p:spPr>
          <a:xfrm>
            <a:off x="365760" y="420624"/>
            <a:ext cx="8412480" cy="274320"/>
          </a:xfrm>
          <a:prstGeom prst="rect">
            <a:avLst/>
          </a:prstGeom>
          <a:noFill/>
        </p:spPr>
        <p:txBody>
          <a:bodyPr wrap="square" lIns="45720" tIns="18288" rIns="45720" bIns="18288" anchor="t">
            <a:spAutoFit/>
          </a:bodyPr>
          <a:lstStyle/>
          <a:p>
            <a:pPr algn="l"/>
            <a:r>
              <a:rPr sz="1200" b="0">
                <a:solidFill>
                  <a:srgbClr val="FFFFFF"/>
                </a:solidFill>
                <a:latin typeface="Arial"/>
              </a:rPr>
              <a:t>Tres mitos que matamos antes de seguir.</a:t>
            </a:r>
          </a:p>
        </p:txBody>
      </p:sp>
      <p:sp>
        <p:nvSpPr>
          <p:cNvPr id="6" name="Rectangle 5"/>
          <p:cNvSpPr/>
          <p:nvPr/>
        </p:nvSpPr>
        <p:spPr>
          <a:xfrm>
            <a:off x="365760" y="914400"/>
            <a:ext cx="2743200" cy="34747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914400"/>
            <a:ext cx="2743200" cy="5029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914400"/>
            <a:ext cx="2743200" cy="502920"/>
          </a:xfrm>
          <a:prstGeom prst="rect">
            <a:avLst/>
          </a:prstGeom>
          <a:noFill/>
        </p:spPr>
        <p:txBody>
          <a:bodyPr wrap="square" lIns="45720" tIns="18288" rIns="45720" bIns="18288" anchor="ctr">
            <a:spAutoFit/>
          </a:bodyPr>
          <a:lstStyle/>
          <a:p>
            <a:pPr algn="ctr"/>
            <a:r>
              <a:rPr sz="1200" b="1">
                <a:solidFill>
                  <a:srgbClr val="FFFFFF"/>
                </a:solidFill>
                <a:latin typeface="Arial"/>
              </a:rPr>
              <a:t>NO es un feed de IOCs</a:t>
            </a:r>
          </a:p>
        </p:txBody>
      </p:sp>
      <p:sp>
        <p:nvSpPr>
          <p:cNvPr id="10" name="TextBox 9"/>
          <p:cNvSpPr txBox="1"/>
          <p:nvPr/>
        </p:nvSpPr>
        <p:spPr>
          <a:xfrm>
            <a:off x="548640" y="1513662"/>
            <a:ext cx="2377440" cy="544765"/>
          </a:xfrm>
          <a:prstGeom prst="rect">
            <a:avLst/>
          </a:prstGeom>
          <a:noFill/>
        </p:spPr>
        <p:txBody>
          <a:bodyPr wrap="square" lIns="45720" tIns="18288" rIns="45720" bIns="18288" anchor="t">
            <a:spAutoFit/>
          </a:bodyPr>
          <a:lstStyle/>
          <a:p>
            <a:pPr algn="l"/>
            <a:r>
              <a:rPr sz="1100" b="0" dirty="0">
                <a:solidFill>
                  <a:srgbClr val="1F2937"/>
                </a:solidFill>
                <a:latin typeface="Arial"/>
              </a:rPr>
              <a:t>Un feed sin </a:t>
            </a:r>
            <a:r>
              <a:rPr sz="1100" b="0" dirty="0" err="1">
                <a:solidFill>
                  <a:srgbClr val="1F2937"/>
                </a:solidFill>
                <a:latin typeface="Arial"/>
              </a:rPr>
              <a:t>contexto</a:t>
            </a:r>
            <a:r>
              <a:rPr sz="1100" b="0" dirty="0">
                <a:solidFill>
                  <a:srgbClr val="1F2937"/>
                </a:solidFill>
                <a:latin typeface="Arial"/>
              </a:rPr>
              <a:t> es </a:t>
            </a:r>
            <a:r>
              <a:rPr sz="1100" b="0" dirty="0" err="1">
                <a:solidFill>
                  <a:srgbClr val="1F2937"/>
                </a:solidFill>
                <a:latin typeface="Arial"/>
              </a:rPr>
              <a:t>ruido</a:t>
            </a:r>
            <a:r>
              <a:rPr sz="1100" b="0" dirty="0">
                <a:solidFill>
                  <a:srgbClr val="1F2937"/>
                </a:solidFill>
                <a:latin typeface="Arial"/>
              </a:rPr>
              <a:t> </a:t>
            </a:r>
            <a:r>
              <a:rPr sz="1100" b="0" dirty="0" err="1">
                <a:solidFill>
                  <a:srgbClr val="1F2937"/>
                </a:solidFill>
                <a:latin typeface="Arial"/>
              </a:rPr>
              <a:t>caro</a:t>
            </a:r>
            <a:r>
              <a:rPr sz="1100" b="0" dirty="0">
                <a:solidFill>
                  <a:srgbClr val="1F2937"/>
                </a:solidFill>
                <a:latin typeface="Arial"/>
              </a:rPr>
              <a:t>. La </a:t>
            </a:r>
            <a:r>
              <a:rPr sz="1100" b="0" dirty="0" err="1">
                <a:solidFill>
                  <a:srgbClr val="1F2937"/>
                </a:solidFill>
                <a:latin typeface="Arial"/>
              </a:rPr>
              <a:t>inteligencia</a:t>
            </a:r>
            <a:r>
              <a:rPr sz="1100" b="0" dirty="0">
                <a:solidFill>
                  <a:srgbClr val="1F2937"/>
                </a:solidFill>
                <a:latin typeface="Arial"/>
              </a:rPr>
              <a:t> </a:t>
            </a:r>
            <a:r>
              <a:rPr sz="1100" b="0" dirty="0" err="1">
                <a:solidFill>
                  <a:srgbClr val="1F2937"/>
                </a:solidFill>
                <a:latin typeface="Arial"/>
              </a:rPr>
              <a:t>empieza</a:t>
            </a:r>
            <a:r>
              <a:rPr sz="1100" b="0" dirty="0">
                <a:solidFill>
                  <a:srgbClr val="1F2937"/>
                </a:solidFill>
                <a:latin typeface="Arial"/>
              </a:rPr>
              <a:t> </a:t>
            </a:r>
            <a:r>
              <a:rPr sz="1100" b="0" dirty="0" err="1">
                <a:solidFill>
                  <a:srgbClr val="1F2937"/>
                </a:solidFill>
                <a:latin typeface="Arial"/>
              </a:rPr>
              <a:t>cuando</a:t>
            </a:r>
            <a:r>
              <a:rPr sz="1100" b="0" dirty="0">
                <a:solidFill>
                  <a:srgbClr val="1F2937"/>
                </a:solidFill>
                <a:latin typeface="Arial"/>
              </a:rPr>
              <a:t> </a:t>
            </a:r>
            <a:r>
              <a:rPr sz="1100" b="0" dirty="0" err="1">
                <a:solidFill>
                  <a:srgbClr val="1F2937"/>
                </a:solidFill>
                <a:latin typeface="Arial"/>
              </a:rPr>
              <a:t>preguntás</a:t>
            </a:r>
            <a:r>
              <a:rPr sz="1100" b="0" dirty="0">
                <a:solidFill>
                  <a:srgbClr val="1F2937"/>
                </a:solidFill>
                <a:latin typeface="Arial"/>
              </a:rPr>
              <a:t> ¿</a:t>
            </a:r>
            <a:r>
              <a:rPr sz="1100" b="0" dirty="0" err="1">
                <a:solidFill>
                  <a:srgbClr val="1F2937"/>
                </a:solidFill>
                <a:latin typeface="Arial"/>
              </a:rPr>
              <a:t>esto</a:t>
            </a:r>
            <a:r>
              <a:rPr sz="1100" b="0" dirty="0">
                <a:solidFill>
                  <a:srgbClr val="1F2937"/>
                </a:solidFill>
                <a:latin typeface="Arial"/>
              </a:rPr>
              <a:t> me </a:t>
            </a:r>
            <a:r>
              <a:rPr sz="1100" b="0" dirty="0" err="1">
                <a:solidFill>
                  <a:srgbClr val="1F2937"/>
                </a:solidFill>
                <a:latin typeface="Arial"/>
              </a:rPr>
              <a:t>afecta</a:t>
            </a:r>
            <a:r>
              <a:rPr sz="1100" b="0" dirty="0">
                <a:solidFill>
                  <a:srgbClr val="1F2937"/>
                </a:solidFill>
                <a:latin typeface="Arial"/>
              </a:rPr>
              <a:t>?</a:t>
            </a:r>
          </a:p>
        </p:txBody>
      </p:sp>
      <p:sp>
        <p:nvSpPr>
          <p:cNvPr id="11" name="Rectangle 10"/>
          <p:cNvSpPr/>
          <p:nvPr/>
        </p:nvSpPr>
        <p:spPr>
          <a:xfrm>
            <a:off x="3200400" y="914400"/>
            <a:ext cx="2743200" cy="34747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00400" y="914400"/>
            <a:ext cx="2743200" cy="5029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00400" y="914400"/>
            <a:ext cx="2743200" cy="502920"/>
          </a:xfrm>
          <a:prstGeom prst="rect">
            <a:avLst/>
          </a:prstGeom>
          <a:noFill/>
        </p:spPr>
        <p:txBody>
          <a:bodyPr wrap="square" lIns="45720" tIns="18288" rIns="45720" bIns="18288" anchor="ctr">
            <a:spAutoFit/>
          </a:bodyPr>
          <a:lstStyle/>
          <a:p>
            <a:pPr algn="ctr"/>
            <a:r>
              <a:rPr sz="1200" b="1">
                <a:solidFill>
                  <a:srgbClr val="FFFFFF"/>
                </a:solidFill>
                <a:latin typeface="Arial"/>
              </a:rPr>
              <a:t>NO es un dashboard de actores</a:t>
            </a:r>
          </a:p>
        </p:txBody>
      </p:sp>
      <p:sp>
        <p:nvSpPr>
          <p:cNvPr id="15" name="TextBox 14"/>
          <p:cNvSpPr txBox="1"/>
          <p:nvPr/>
        </p:nvSpPr>
        <p:spPr>
          <a:xfrm>
            <a:off x="3383280" y="1546320"/>
            <a:ext cx="2377440" cy="544765"/>
          </a:xfrm>
          <a:prstGeom prst="rect">
            <a:avLst/>
          </a:prstGeom>
          <a:noFill/>
        </p:spPr>
        <p:txBody>
          <a:bodyPr wrap="square" lIns="45720" tIns="18288" rIns="45720" bIns="18288" anchor="t">
            <a:spAutoFit/>
          </a:bodyPr>
          <a:lstStyle/>
          <a:p>
            <a:pPr algn="l"/>
            <a:r>
              <a:rPr sz="1100" b="0" dirty="0" err="1">
                <a:solidFill>
                  <a:srgbClr val="1F2937"/>
                </a:solidFill>
                <a:latin typeface="Arial"/>
              </a:rPr>
              <a:t>Conocer</a:t>
            </a:r>
            <a:r>
              <a:rPr sz="1100" b="0" dirty="0">
                <a:solidFill>
                  <a:srgbClr val="1F2937"/>
                </a:solidFill>
                <a:latin typeface="Arial"/>
              </a:rPr>
              <a:t> </a:t>
            </a:r>
            <a:r>
              <a:rPr sz="1100" b="0" dirty="0" err="1">
                <a:solidFill>
                  <a:srgbClr val="1F2937"/>
                </a:solidFill>
                <a:latin typeface="Arial"/>
              </a:rPr>
              <a:t>los</a:t>
            </a:r>
            <a:r>
              <a:rPr sz="1100" b="0" dirty="0">
                <a:solidFill>
                  <a:srgbClr val="1F2937"/>
                </a:solidFill>
                <a:latin typeface="Arial"/>
              </a:rPr>
              <a:t> </a:t>
            </a:r>
            <a:r>
              <a:rPr sz="1100" b="0" dirty="0" err="1">
                <a:solidFill>
                  <a:srgbClr val="1F2937"/>
                </a:solidFill>
                <a:latin typeface="Arial"/>
              </a:rPr>
              <a:t>nombres</a:t>
            </a:r>
            <a:r>
              <a:rPr sz="1100" b="0" dirty="0">
                <a:solidFill>
                  <a:srgbClr val="1F2937"/>
                </a:solidFill>
                <a:latin typeface="Arial"/>
              </a:rPr>
              <a:t> no </a:t>
            </a:r>
            <a:r>
              <a:rPr sz="1100" b="0" dirty="0" err="1">
                <a:solidFill>
                  <a:srgbClr val="1F2937"/>
                </a:solidFill>
                <a:latin typeface="Arial"/>
              </a:rPr>
              <a:t>defiende</a:t>
            </a:r>
            <a:r>
              <a:rPr sz="1100" b="0" dirty="0">
                <a:solidFill>
                  <a:srgbClr val="1F2937"/>
                </a:solidFill>
                <a:latin typeface="Arial"/>
              </a:rPr>
              <a:t>. </a:t>
            </a:r>
            <a:r>
              <a:rPr sz="1100" b="0" dirty="0" err="1">
                <a:solidFill>
                  <a:srgbClr val="1F2937"/>
                </a:solidFill>
                <a:latin typeface="Arial"/>
              </a:rPr>
              <a:t>Conocer</a:t>
            </a:r>
            <a:r>
              <a:rPr sz="1100" b="0" dirty="0">
                <a:solidFill>
                  <a:srgbClr val="1F2937"/>
                </a:solidFill>
                <a:latin typeface="Arial"/>
              </a:rPr>
              <a:t> </a:t>
            </a:r>
            <a:r>
              <a:rPr sz="1100" b="0" dirty="0" err="1">
                <a:solidFill>
                  <a:srgbClr val="1F2937"/>
                </a:solidFill>
                <a:latin typeface="Arial"/>
              </a:rPr>
              <a:t>los</a:t>
            </a:r>
            <a:r>
              <a:rPr sz="1100" b="0" dirty="0">
                <a:solidFill>
                  <a:srgbClr val="1F2937"/>
                </a:solidFill>
                <a:latin typeface="Arial"/>
              </a:rPr>
              <a:t> TTPs </a:t>
            </a:r>
            <a:r>
              <a:rPr sz="1100" b="0" dirty="0" err="1">
                <a:solidFill>
                  <a:srgbClr val="1F2937"/>
                </a:solidFill>
                <a:latin typeface="Arial"/>
              </a:rPr>
              <a:t>que</a:t>
            </a:r>
            <a:r>
              <a:rPr sz="1100" b="0" dirty="0">
                <a:solidFill>
                  <a:srgbClr val="1F2937"/>
                </a:solidFill>
                <a:latin typeface="Arial"/>
              </a:rPr>
              <a:t> </a:t>
            </a:r>
            <a:r>
              <a:rPr sz="1100" b="0" dirty="0" err="1">
                <a:solidFill>
                  <a:srgbClr val="1F2937"/>
                </a:solidFill>
                <a:latin typeface="Arial"/>
              </a:rPr>
              <a:t>usan</a:t>
            </a:r>
            <a:r>
              <a:rPr sz="1100" b="0" dirty="0">
                <a:solidFill>
                  <a:srgbClr val="1F2937"/>
                </a:solidFill>
                <a:latin typeface="Arial"/>
              </a:rPr>
              <a:t> contra </a:t>
            </a:r>
            <a:r>
              <a:rPr lang="es-419" sz="1100" b="0" dirty="0">
                <a:solidFill>
                  <a:srgbClr val="1F2937"/>
                </a:solidFill>
                <a:latin typeface="Arial"/>
              </a:rPr>
              <a:t>la</a:t>
            </a:r>
            <a:r>
              <a:rPr sz="1100" b="0" dirty="0">
                <a:solidFill>
                  <a:srgbClr val="1F2937"/>
                </a:solidFill>
                <a:latin typeface="Arial"/>
              </a:rPr>
              <a:t> </a:t>
            </a:r>
            <a:r>
              <a:rPr sz="1100" b="0" dirty="0" err="1">
                <a:solidFill>
                  <a:srgbClr val="1F2937"/>
                </a:solidFill>
                <a:latin typeface="Arial"/>
              </a:rPr>
              <a:t>industria</a:t>
            </a:r>
            <a:r>
              <a:rPr sz="1100" b="0" dirty="0">
                <a:solidFill>
                  <a:srgbClr val="1F2937"/>
                </a:solidFill>
                <a:latin typeface="Arial"/>
              </a:rPr>
              <a:t>, y </a:t>
            </a:r>
            <a:r>
              <a:rPr sz="1100" b="0" dirty="0" err="1">
                <a:solidFill>
                  <a:srgbClr val="1F2937"/>
                </a:solidFill>
                <a:latin typeface="Arial"/>
              </a:rPr>
              <a:t>dónde</a:t>
            </a:r>
            <a:r>
              <a:rPr sz="1100" b="0" dirty="0">
                <a:solidFill>
                  <a:srgbClr val="1F2937"/>
                </a:solidFill>
                <a:latin typeface="Arial"/>
              </a:rPr>
              <a:t> </a:t>
            </a:r>
            <a:r>
              <a:rPr sz="1100" b="0" dirty="0" err="1">
                <a:solidFill>
                  <a:srgbClr val="1F2937"/>
                </a:solidFill>
                <a:latin typeface="Arial"/>
              </a:rPr>
              <a:t>te</a:t>
            </a:r>
            <a:r>
              <a:rPr sz="1100" b="0" dirty="0">
                <a:solidFill>
                  <a:srgbClr val="1F2937"/>
                </a:solidFill>
                <a:latin typeface="Arial"/>
              </a:rPr>
              <a:t> </a:t>
            </a:r>
            <a:r>
              <a:rPr sz="1100" b="0" dirty="0" err="1">
                <a:solidFill>
                  <a:srgbClr val="1F2937"/>
                </a:solidFill>
                <a:latin typeface="Arial"/>
              </a:rPr>
              <a:t>tocan</a:t>
            </a:r>
            <a:r>
              <a:rPr sz="1100" b="0" dirty="0">
                <a:solidFill>
                  <a:srgbClr val="1F2937"/>
                </a:solidFill>
                <a:latin typeface="Arial"/>
              </a:rPr>
              <a:t>, </a:t>
            </a:r>
            <a:r>
              <a:rPr sz="1100" b="0" dirty="0" err="1">
                <a:solidFill>
                  <a:srgbClr val="1F2937"/>
                </a:solidFill>
                <a:latin typeface="Arial"/>
              </a:rPr>
              <a:t>sí</a:t>
            </a:r>
            <a:r>
              <a:rPr sz="1100" b="0" dirty="0">
                <a:solidFill>
                  <a:srgbClr val="1F2937"/>
                </a:solidFill>
                <a:latin typeface="Arial"/>
              </a:rPr>
              <a:t>.</a:t>
            </a:r>
          </a:p>
        </p:txBody>
      </p:sp>
      <p:sp>
        <p:nvSpPr>
          <p:cNvPr id="16" name="Rectangle 15"/>
          <p:cNvSpPr/>
          <p:nvPr/>
        </p:nvSpPr>
        <p:spPr>
          <a:xfrm>
            <a:off x="6035040" y="914400"/>
            <a:ext cx="2743200" cy="34747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35040" y="914400"/>
            <a:ext cx="2743200" cy="5029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5040" y="914400"/>
            <a:ext cx="2743200" cy="502920"/>
          </a:xfrm>
          <a:prstGeom prst="rect">
            <a:avLst/>
          </a:prstGeom>
          <a:noFill/>
        </p:spPr>
        <p:txBody>
          <a:bodyPr wrap="square" lIns="45720" tIns="18288" rIns="45720" bIns="18288" anchor="ctr">
            <a:spAutoFit/>
          </a:bodyPr>
          <a:lstStyle/>
          <a:p>
            <a:pPr algn="ctr"/>
            <a:r>
              <a:rPr sz="1200" b="1">
                <a:solidFill>
                  <a:srgbClr val="FFFFFF"/>
                </a:solidFill>
                <a:latin typeface="Arial"/>
              </a:rPr>
              <a:t>NO es atribución</a:t>
            </a:r>
          </a:p>
        </p:txBody>
      </p:sp>
      <p:sp>
        <p:nvSpPr>
          <p:cNvPr id="20" name="TextBox 19"/>
          <p:cNvSpPr txBox="1"/>
          <p:nvPr/>
        </p:nvSpPr>
        <p:spPr>
          <a:xfrm>
            <a:off x="6217920" y="1538152"/>
            <a:ext cx="2377440" cy="714042"/>
          </a:xfrm>
          <a:prstGeom prst="rect">
            <a:avLst/>
          </a:prstGeom>
          <a:noFill/>
        </p:spPr>
        <p:txBody>
          <a:bodyPr wrap="square" lIns="45720" tIns="18288" rIns="45720" bIns="18288" anchor="t">
            <a:spAutoFit/>
          </a:bodyPr>
          <a:lstStyle/>
          <a:p>
            <a:pPr algn="l"/>
            <a:r>
              <a:rPr sz="1100" b="0" dirty="0">
                <a:solidFill>
                  <a:srgbClr val="1F2937"/>
                </a:solidFill>
                <a:latin typeface="Arial"/>
              </a:rPr>
              <a:t>Saber </a:t>
            </a:r>
            <a:r>
              <a:rPr sz="1100" b="0" dirty="0" err="1">
                <a:solidFill>
                  <a:srgbClr val="1F2937"/>
                </a:solidFill>
                <a:latin typeface="Arial"/>
              </a:rPr>
              <a:t>quién</a:t>
            </a:r>
            <a:r>
              <a:rPr sz="1100" b="0" dirty="0">
                <a:solidFill>
                  <a:srgbClr val="1F2937"/>
                </a:solidFill>
                <a:latin typeface="Arial"/>
              </a:rPr>
              <a:t> </a:t>
            </a:r>
            <a:r>
              <a:rPr sz="1100" b="0" dirty="0" err="1">
                <a:solidFill>
                  <a:srgbClr val="1F2937"/>
                </a:solidFill>
                <a:latin typeface="Arial"/>
              </a:rPr>
              <a:t>atacó</a:t>
            </a:r>
            <a:r>
              <a:rPr sz="1100" b="0" dirty="0">
                <a:solidFill>
                  <a:srgbClr val="1F2937"/>
                </a:solidFill>
                <a:latin typeface="Arial"/>
              </a:rPr>
              <a:t> es un nice-to-have. Saber </a:t>
            </a:r>
            <a:r>
              <a:rPr sz="1100" b="0" dirty="0" err="1">
                <a:solidFill>
                  <a:srgbClr val="1F2937"/>
                </a:solidFill>
                <a:latin typeface="Arial"/>
              </a:rPr>
              <a:t>cómo</a:t>
            </a:r>
            <a:r>
              <a:rPr sz="1100" b="0" dirty="0">
                <a:solidFill>
                  <a:srgbClr val="1F2937"/>
                </a:solidFill>
                <a:latin typeface="Arial"/>
              </a:rPr>
              <a:t> </a:t>
            </a:r>
            <a:r>
              <a:rPr sz="1100" b="0" dirty="0" err="1">
                <a:solidFill>
                  <a:srgbClr val="1F2937"/>
                </a:solidFill>
                <a:latin typeface="Arial"/>
              </a:rPr>
              <a:t>te</a:t>
            </a:r>
            <a:r>
              <a:rPr sz="1100" b="0" dirty="0">
                <a:solidFill>
                  <a:srgbClr val="1F2937"/>
                </a:solidFill>
                <a:latin typeface="Arial"/>
              </a:rPr>
              <a:t> van a </a:t>
            </a:r>
            <a:r>
              <a:rPr lang="es-419" sz="1100" b="0" dirty="0">
                <a:solidFill>
                  <a:srgbClr val="1F2937"/>
                </a:solidFill>
                <a:latin typeface="Arial"/>
              </a:rPr>
              <a:t>atacar y</a:t>
            </a:r>
            <a:r>
              <a:rPr sz="1100" b="0" dirty="0">
                <a:solidFill>
                  <a:srgbClr val="1F2937"/>
                </a:solidFill>
                <a:latin typeface="Arial"/>
              </a:rPr>
              <a:t>, </a:t>
            </a:r>
            <a:r>
              <a:rPr sz="1100" b="0" dirty="0" err="1">
                <a:solidFill>
                  <a:srgbClr val="1F2937"/>
                </a:solidFill>
                <a:latin typeface="Arial"/>
              </a:rPr>
              <a:t>qué</a:t>
            </a:r>
            <a:r>
              <a:rPr sz="1100" b="0" dirty="0">
                <a:solidFill>
                  <a:srgbClr val="1F2937"/>
                </a:solidFill>
                <a:latin typeface="Arial"/>
              </a:rPr>
              <a:t> </a:t>
            </a:r>
            <a:r>
              <a:rPr sz="1100" b="0" dirty="0" err="1">
                <a:solidFill>
                  <a:srgbClr val="1F2937"/>
                </a:solidFill>
                <a:latin typeface="Arial"/>
              </a:rPr>
              <a:t>decisión</a:t>
            </a:r>
            <a:r>
              <a:rPr sz="1100" b="0" dirty="0">
                <a:solidFill>
                  <a:srgbClr val="1F2937"/>
                </a:solidFill>
                <a:latin typeface="Arial"/>
              </a:rPr>
              <a:t> </a:t>
            </a:r>
            <a:r>
              <a:rPr sz="1100" b="0" dirty="0" err="1">
                <a:solidFill>
                  <a:srgbClr val="1F2937"/>
                </a:solidFill>
                <a:latin typeface="Arial"/>
              </a:rPr>
              <a:t>tenés</a:t>
            </a:r>
            <a:r>
              <a:rPr sz="1100" b="0" dirty="0">
                <a:solidFill>
                  <a:srgbClr val="1F2937"/>
                </a:solidFill>
                <a:latin typeface="Arial"/>
              </a:rPr>
              <a:t> </a:t>
            </a:r>
            <a:r>
              <a:rPr sz="1100" b="0" dirty="0" err="1">
                <a:solidFill>
                  <a:srgbClr val="1F2937"/>
                </a:solidFill>
                <a:latin typeface="Arial"/>
              </a:rPr>
              <a:t>que</a:t>
            </a:r>
            <a:r>
              <a:rPr sz="1100" b="0" dirty="0">
                <a:solidFill>
                  <a:srgbClr val="1F2937"/>
                </a:solidFill>
                <a:latin typeface="Arial"/>
              </a:rPr>
              <a:t> </a:t>
            </a:r>
            <a:r>
              <a:rPr sz="1100" b="0" dirty="0" err="1">
                <a:solidFill>
                  <a:srgbClr val="1F2937"/>
                </a:solidFill>
                <a:latin typeface="Arial"/>
              </a:rPr>
              <a:t>tomar</a:t>
            </a:r>
            <a:r>
              <a:rPr sz="1100" b="0" dirty="0">
                <a:solidFill>
                  <a:srgbClr val="1F2937"/>
                </a:solidFill>
                <a:latin typeface="Arial"/>
              </a:rPr>
              <a:t> </a:t>
            </a:r>
            <a:r>
              <a:rPr sz="1100" b="0" dirty="0" err="1">
                <a:solidFill>
                  <a:srgbClr val="1F2937"/>
                </a:solidFill>
                <a:latin typeface="Arial"/>
              </a:rPr>
              <a:t>mañana</a:t>
            </a:r>
            <a:r>
              <a:rPr sz="1100" b="0" dirty="0">
                <a:solidFill>
                  <a:srgbClr val="1F2937"/>
                </a:solidFill>
                <a:latin typeface="Arial"/>
              </a:rPr>
              <a:t>, </a:t>
            </a:r>
            <a:r>
              <a:rPr sz="1100" b="0" dirty="0" err="1">
                <a:solidFill>
                  <a:srgbClr val="1F2937"/>
                </a:solidFill>
                <a:latin typeface="Arial"/>
              </a:rPr>
              <a:t>eso</a:t>
            </a:r>
            <a:r>
              <a:rPr sz="1100" b="0" dirty="0">
                <a:solidFill>
                  <a:srgbClr val="1F2937"/>
                </a:solidFill>
                <a:latin typeface="Arial"/>
              </a:rPr>
              <a:t> es CTI.</a:t>
            </a:r>
          </a:p>
        </p:txBody>
      </p:sp>
      <p:sp>
        <p:nvSpPr>
          <p:cNvPr id="21" name="Rectangle 20"/>
          <p:cNvSpPr/>
          <p:nvPr/>
        </p:nvSpPr>
        <p:spPr>
          <a:xfrm>
            <a:off x="365760" y="4480560"/>
            <a:ext cx="8412480" cy="292608"/>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4439121"/>
            <a:ext cx="8412480" cy="375487"/>
          </a:xfrm>
          <a:prstGeom prst="rect">
            <a:avLst/>
          </a:prstGeom>
          <a:noFill/>
        </p:spPr>
        <p:txBody>
          <a:bodyPr wrap="square" lIns="45720" tIns="18288" rIns="45720" bIns="18288" anchor="ctr">
            <a:spAutoFit/>
          </a:bodyPr>
          <a:lstStyle/>
          <a:p>
            <a:pPr algn="ctr"/>
            <a:r>
              <a:rPr sz="1100" b="1" dirty="0">
                <a:solidFill>
                  <a:srgbClr val="FFFFFF"/>
                </a:solidFill>
                <a:latin typeface="Arial"/>
              </a:rPr>
              <a:t>CTI es un </a:t>
            </a:r>
            <a:r>
              <a:rPr sz="1100" b="1" dirty="0" err="1">
                <a:solidFill>
                  <a:srgbClr val="FFFFFF"/>
                </a:solidFill>
                <a:latin typeface="Arial"/>
              </a:rPr>
              <a:t>proceso</a:t>
            </a:r>
            <a:r>
              <a:rPr sz="1100" b="1" dirty="0">
                <a:solidFill>
                  <a:srgbClr val="FFFFFF"/>
                </a:solidFill>
                <a:latin typeface="Arial"/>
              </a:rPr>
              <a:t> para responder </a:t>
            </a:r>
            <a:r>
              <a:rPr sz="1100" b="1" dirty="0" err="1">
                <a:solidFill>
                  <a:srgbClr val="FFFFFF"/>
                </a:solidFill>
                <a:latin typeface="Arial"/>
              </a:rPr>
              <a:t>preguntas</a:t>
            </a:r>
            <a:r>
              <a:rPr sz="1100" b="1" dirty="0">
                <a:solidFill>
                  <a:srgbClr val="FFFFFF"/>
                </a:solidFill>
                <a:latin typeface="Arial"/>
              </a:rPr>
              <a:t> </a:t>
            </a:r>
            <a:r>
              <a:rPr sz="1100" b="1" dirty="0" err="1">
                <a:solidFill>
                  <a:srgbClr val="FFFFFF"/>
                </a:solidFill>
                <a:latin typeface="Arial"/>
              </a:rPr>
              <a:t>que</a:t>
            </a:r>
            <a:r>
              <a:rPr sz="1100" b="1" dirty="0">
                <a:solidFill>
                  <a:srgbClr val="FFFFFF"/>
                </a:solidFill>
                <a:latin typeface="Arial"/>
              </a:rPr>
              <a:t> </a:t>
            </a:r>
            <a:r>
              <a:rPr sz="1100" b="1" dirty="0" err="1">
                <a:solidFill>
                  <a:srgbClr val="FFFFFF"/>
                </a:solidFill>
                <a:latin typeface="Arial"/>
              </a:rPr>
              <a:t>cambian</a:t>
            </a:r>
            <a:r>
              <a:rPr sz="1100" b="1" dirty="0">
                <a:solidFill>
                  <a:srgbClr val="FFFFFF"/>
                </a:solidFill>
                <a:latin typeface="Arial"/>
              </a:rPr>
              <a:t> </a:t>
            </a:r>
            <a:r>
              <a:rPr sz="1100" b="1" dirty="0" err="1">
                <a:solidFill>
                  <a:srgbClr val="FFFFFF"/>
                </a:solidFill>
                <a:latin typeface="Arial"/>
              </a:rPr>
              <a:t>decisiones</a:t>
            </a:r>
            <a:r>
              <a:rPr sz="1100" b="1" dirty="0">
                <a:solidFill>
                  <a:srgbClr val="FFFFFF"/>
                </a:solidFill>
                <a:latin typeface="Arial"/>
              </a:rPr>
              <a:t>.</a:t>
            </a:r>
            <a:r>
              <a:rPr lang="es-419" sz="1100" b="1" dirty="0">
                <a:solidFill>
                  <a:srgbClr val="FFFFFF"/>
                </a:solidFill>
                <a:latin typeface="Arial"/>
              </a:rPr>
              <a:t> Si la inteligencia que damos, no puede traducirse en una decision, es mala.</a:t>
            </a:r>
            <a:endParaRPr sz="1100" b="1" dirty="0">
              <a:solidFill>
                <a:srgbClr val="FFFFFF"/>
              </a:solidFill>
              <a:latin typeface="Arial"/>
            </a:endParaRPr>
          </a:p>
        </p:txBody>
      </p:sp>
      <p:sp>
        <p:nvSpPr>
          <p:cNvPr id="24" name="TextBox 23"/>
          <p:cNvSpPr txBox="1"/>
          <p:nvPr/>
        </p:nvSpPr>
        <p:spPr>
          <a:xfrm>
            <a:off x="8046720" y="4818888"/>
            <a:ext cx="868680" cy="274320"/>
          </a:xfrm>
          <a:prstGeom prst="rect">
            <a:avLst/>
          </a:prstGeom>
          <a:noFill/>
        </p:spPr>
        <p:txBody>
          <a:bodyPr wrap="square" lIns="45720" tIns="18288" rIns="45720" bIns="18288" anchor="t">
            <a:spAutoFit/>
          </a:bodyPr>
          <a:lstStyle/>
          <a:p>
            <a:pPr algn="r"/>
            <a:r>
              <a:rPr sz="800" b="0">
                <a:solidFill>
                  <a:srgbClr val="525B66"/>
                </a:solidFill>
                <a:latin typeface="Arial"/>
              </a:rPr>
              <a:t>5 / 38</a:t>
            </a:r>
          </a:p>
        </p:txBody>
      </p:sp>
      <p:pic>
        <p:nvPicPr>
          <p:cNvPr id="25" name="Picture 24">
            <a:extLst>
              <a:ext uri="{FF2B5EF4-FFF2-40B4-BE49-F238E27FC236}">
                <a16:creationId xmlns:a16="http://schemas.microsoft.com/office/drawing/2014/main" id="{B3471F3A-221B-8E5D-FC81-D83000DA277B}"/>
              </a:ext>
            </a:extLst>
          </p:cNvPr>
          <p:cNvPicPr>
            <a:picLocks noChangeAspect="1"/>
          </p:cNvPicPr>
          <p:nvPr/>
        </p:nvPicPr>
        <p:blipFill>
          <a:blip r:embed="rId2"/>
          <a:stretch>
            <a:fillRect/>
          </a:stretch>
        </p:blipFill>
        <p:spPr>
          <a:xfrm>
            <a:off x="2645954" y="2516650"/>
            <a:ext cx="3389086" cy="18724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xEl>
                                              <p:pRg st="0" end="0"/>
                                            </p:txEl>
                                          </p:spTgt>
                                        </p:tgtEl>
                                        <p:attrNameLst>
                                          <p:attrName>style.visibility</p:attrName>
                                        </p:attrNameLst>
                                      </p:cBhvr>
                                      <p:to>
                                        <p:strVal val="visible"/>
                                      </p:to>
                                    </p:set>
                                    <p:anim calcmode="lin" valueType="num">
                                      <p:cBhvr additive="base">
                                        <p:cTn id="13"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2"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1000"/>
                                        <p:tgtEl>
                                          <p:spTgt spid="25"/>
                                        </p:tgtEl>
                                        <p:attrNameLst>
                                          <p:attrName>ppt_x</p:attrName>
                                        </p:attrNameLst>
                                      </p:cBhvr>
                                      <p:tavLst>
                                        <p:tav tm="0">
                                          <p:val>
                                            <p:strVal val="#ppt_x+#ppt_w*1.125000"/>
                                          </p:val>
                                        </p:tav>
                                        <p:tav tm="100000">
                                          <p:val>
                                            <p:strVal val="#ppt_x"/>
                                          </p:val>
                                        </p:tav>
                                      </p:tavLst>
                                    </p:anim>
                                    <p:animEffect transition="in" filter="wipe(left)">
                                      <p:cBhvr>
                                        <p:cTn id="26" dur="10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1000"/>
                                        <p:tgtEl>
                                          <p:spTgt spid="22"/>
                                        </p:tgtEl>
                                        <p:attrNameLst>
                                          <p:attrName>ppt_y</p:attrName>
                                        </p:attrNameLst>
                                      </p:cBhvr>
                                      <p:tavLst>
                                        <p:tav tm="0">
                                          <p:val>
                                            <p:strVal val="#ppt_y+#ppt_h*1.125000"/>
                                          </p:val>
                                        </p:tav>
                                        <p:tav tm="100000">
                                          <p:val>
                                            <p:strVal val="#ppt_y"/>
                                          </p:val>
                                        </p:tav>
                                      </p:tavLst>
                                    </p:anim>
                                    <p:animEffect transition="in" filter="wipe(up)">
                                      <p:cBhvr>
                                        <p:cTn id="32"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41A52"/>
        </a:solidFill>
        <a:effectLst/>
      </p:bgPr>
    </p:bg>
    <p:spTree>
      <p:nvGrpSpPr>
        <p:cNvPr id="1" name=""/>
        <p:cNvGrpSpPr/>
        <p:nvPr/>
      </p:nvGrpSpPr>
      <p:grpSpPr>
        <a:xfrm>
          <a:off x="0" y="0"/>
          <a:ext cx="0" cy="0"/>
          <a:chOff x="0" y="0"/>
          <a:chExt cx="0" cy="0"/>
        </a:xfrm>
      </p:grpSpPr>
      <p:sp>
        <p:nvSpPr>
          <p:cNvPr id="2" name="Rectangle 1"/>
          <p:cNvSpPr/>
          <p:nvPr/>
        </p:nvSpPr>
        <p:spPr>
          <a:xfrm>
            <a:off x="0" y="4114800"/>
            <a:ext cx="9144000" cy="102870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left.png"/>
          <p:cNvPicPr>
            <a:picLocks noChangeAspect="1"/>
          </p:cNvPicPr>
          <p:nvPr/>
        </p:nvPicPr>
        <p:blipFill>
          <a:blip r:embed="rId2">
            <a:alphaModFix amt="25000"/>
          </a:blip>
          <a:stretch>
            <a:fillRect/>
          </a:stretch>
        </p:blipFill>
        <p:spPr>
          <a:xfrm>
            <a:off x="-548640" y="365760"/>
            <a:ext cx="2413248" cy="4572000"/>
          </a:xfrm>
          <a:prstGeom prst="rect">
            <a:avLst/>
          </a:prstGeom>
        </p:spPr>
      </p:pic>
      <p:pic>
        <p:nvPicPr>
          <p:cNvPr id="4" name="Picture 3" descr="brand_palm_right.png"/>
          <p:cNvPicPr>
            <a:picLocks noChangeAspect="1"/>
          </p:cNvPicPr>
          <p:nvPr/>
        </p:nvPicPr>
        <p:blipFill>
          <a:blip r:embed="rId3">
            <a:alphaModFix amt="25000"/>
          </a:blip>
          <a:stretch>
            <a:fillRect/>
          </a:stretch>
        </p:blipFill>
        <p:spPr>
          <a:xfrm>
            <a:off x="6583680" y="365760"/>
            <a:ext cx="2323951" cy="4572000"/>
          </a:xfrm>
          <a:prstGeom prst="rect">
            <a:avLst/>
          </a:prstGeom>
        </p:spPr>
      </p:pic>
      <p:sp>
        <p:nvSpPr>
          <p:cNvPr id="5" name="Rectangle 4"/>
          <p:cNvSpPr/>
          <p:nvPr/>
        </p:nvSpPr>
        <p:spPr>
          <a:xfrm>
            <a:off x="365760" y="274320"/>
            <a:ext cx="841248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0624" y="329184"/>
            <a:ext cx="8302752" cy="603504"/>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29184"/>
            <a:ext cx="8046720" cy="603504"/>
          </a:xfrm>
          <a:prstGeom prst="rect">
            <a:avLst/>
          </a:prstGeom>
          <a:noFill/>
        </p:spPr>
        <p:txBody>
          <a:bodyPr wrap="square" lIns="25400" tIns="12700" rIns="25400" bIns="12700" anchor="ctr">
            <a:spAutoFit/>
          </a:bodyPr>
          <a:lstStyle/>
          <a:p>
            <a:pPr algn="l"/>
            <a:r>
              <a:rPr sz="1800" b="1" i="0" spc="200">
                <a:solidFill>
                  <a:srgbClr val="FFFFFF"/>
                </a:solidFill>
                <a:latin typeface="Arial"/>
              </a:rPr>
              <a:t>BLOQUE  02  ·  FUNDAMENTOS</a:t>
            </a:r>
          </a:p>
        </p:txBody>
      </p:sp>
      <p:sp>
        <p:nvSpPr>
          <p:cNvPr id="8" name="TextBox 7"/>
          <p:cNvSpPr txBox="1"/>
          <p:nvPr/>
        </p:nvSpPr>
        <p:spPr>
          <a:xfrm>
            <a:off x="548640" y="1645920"/>
            <a:ext cx="8046720" cy="1920240"/>
          </a:xfrm>
          <a:prstGeom prst="rect">
            <a:avLst/>
          </a:prstGeom>
          <a:noFill/>
        </p:spPr>
        <p:txBody>
          <a:bodyPr wrap="square" lIns="25400" tIns="12700" rIns="25400" bIns="12700" anchor="ctr">
            <a:spAutoFit/>
          </a:bodyPr>
          <a:lstStyle/>
          <a:p>
            <a:pPr algn="l"/>
            <a:r>
              <a:rPr sz="2200" b="1" i="1">
                <a:solidFill>
                  <a:srgbClr val="FFFFFF"/>
                </a:solidFill>
                <a:latin typeface="Arial"/>
              </a:rPr>
              <a:t>Data, Information, Intelligence — y los marcos para convertirla en decisión.</a:t>
            </a:r>
          </a:p>
        </p:txBody>
      </p:sp>
      <p:sp>
        <p:nvSpPr>
          <p:cNvPr id="10" name="TextBox 9"/>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6 / 38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right.png"/>
          <p:cNvPicPr>
            <a:picLocks noChangeAspect="1"/>
          </p:cNvPicPr>
          <p:nvPr/>
        </p:nvPicPr>
        <p:blipFill>
          <a:blip r:embed="rId2">
            <a:alphaModFix amt="12000"/>
          </a:blip>
          <a:stretch>
            <a:fillRect/>
          </a:stretch>
        </p:blipFill>
        <p:spPr>
          <a:xfrm>
            <a:off x="7772400" y="777240"/>
            <a:ext cx="2138035" cy="4206240"/>
          </a:xfrm>
          <a:prstGeom prst="rect">
            <a:avLst/>
          </a:prstGeom>
        </p:spPr>
      </p:pic>
      <p:sp>
        <p:nvSpPr>
          <p:cNvPr id="4" name="TextBox 3"/>
          <p:cNvSpPr txBox="1"/>
          <p:nvPr/>
        </p:nvSpPr>
        <p:spPr>
          <a:xfrm>
            <a:off x="365760" y="146304"/>
            <a:ext cx="8412480" cy="420624"/>
          </a:xfrm>
          <a:prstGeom prst="rect">
            <a:avLst/>
          </a:prstGeom>
          <a:noFill/>
        </p:spPr>
        <p:txBody>
          <a:bodyPr wrap="square" lIns="25400" tIns="12700" rIns="25400" bIns="12700" anchor="ctr">
            <a:spAutoFit/>
          </a:bodyPr>
          <a:lstStyle/>
          <a:p>
            <a:pPr algn="l"/>
            <a:r>
              <a:rPr sz="2000" b="1" i="0">
                <a:solidFill>
                  <a:srgbClr val="FFFFFF"/>
                </a:solidFill>
                <a:latin typeface="Arial"/>
              </a:rPr>
              <a:t>Data → Information → Intelligence</a:t>
            </a:r>
          </a:p>
        </p:txBody>
      </p:sp>
      <p:sp>
        <p:nvSpPr>
          <p:cNvPr id="5" name="Rectangle 4"/>
          <p:cNvSpPr/>
          <p:nvPr/>
        </p:nvSpPr>
        <p:spPr>
          <a:xfrm>
            <a:off x="1325880" y="1188720"/>
            <a:ext cx="2286000" cy="539496"/>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1188720"/>
            <a:ext cx="2286000" cy="539496"/>
          </a:xfrm>
          <a:prstGeom prst="rect">
            <a:avLst/>
          </a:prstGeom>
          <a:noFill/>
        </p:spPr>
        <p:txBody>
          <a:bodyPr wrap="square" lIns="25400" tIns="12700" rIns="25400" bIns="12700" anchor="ctr">
            <a:spAutoFit/>
          </a:bodyPr>
          <a:lstStyle/>
          <a:p>
            <a:pPr algn="ctr"/>
            <a:r>
              <a:rPr sz="1500" b="1" i="0" spc="400">
                <a:solidFill>
                  <a:srgbClr val="FFFFFF"/>
                </a:solidFill>
                <a:latin typeface="Arial"/>
              </a:rPr>
              <a:t>INTELLIGENCE</a:t>
            </a:r>
          </a:p>
        </p:txBody>
      </p:sp>
      <p:sp>
        <p:nvSpPr>
          <p:cNvPr id="7" name="TextBox 6"/>
          <p:cNvSpPr txBox="1"/>
          <p:nvPr/>
        </p:nvSpPr>
        <p:spPr>
          <a:xfrm>
            <a:off x="3703320" y="1188720"/>
            <a:ext cx="2377440" cy="539496"/>
          </a:xfrm>
          <a:prstGeom prst="rect">
            <a:avLst/>
          </a:prstGeom>
          <a:noFill/>
        </p:spPr>
        <p:txBody>
          <a:bodyPr wrap="square" lIns="25400" tIns="12700" rIns="25400" bIns="12700" anchor="ctr">
            <a:spAutoFit/>
          </a:bodyPr>
          <a:lstStyle/>
          <a:p>
            <a:pPr algn="l"/>
            <a:r>
              <a:rPr sz="1000" b="0" i="1">
                <a:solidFill>
                  <a:srgbClr val="525B66"/>
                </a:solidFill>
                <a:latin typeface="Arial"/>
              </a:rPr>
              <a:t>Análisis accionable para un decisor.</a:t>
            </a:r>
          </a:p>
        </p:txBody>
      </p:sp>
      <p:sp>
        <p:nvSpPr>
          <p:cNvPr id="8" name="Rectangle 7"/>
          <p:cNvSpPr/>
          <p:nvPr/>
        </p:nvSpPr>
        <p:spPr>
          <a:xfrm>
            <a:off x="640080" y="1783080"/>
            <a:ext cx="3657600" cy="539496"/>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783080"/>
            <a:ext cx="3657600" cy="539496"/>
          </a:xfrm>
          <a:prstGeom prst="rect">
            <a:avLst/>
          </a:prstGeom>
          <a:noFill/>
        </p:spPr>
        <p:txBody>
          <a:bodyPr wrap="square" lIns="25400" tIns="12700" rIns="25400" bIns="12700" anchor="ctr">
            <a:spAutoFit/>
          </a:bodyPr>
          <a:lstStyle/>
          <a:p>
            <a:pPr algn="ctr"/>
            <a:r>
              <a:rPr sz="1500" b="1" i="0" spc="400">
                <a:solidFill>
                  <a:srgbClr val="FFFFFF"/>
                </a:solidFill>
                <a:latin typeface="Arial"/>
              </a:rPr>
              <a:t>INFORMATION</a:t>
            </a:r>
          </a:p>
        </p:txBody>
      </p:sp>
      <p:sp>
        <p:nvSpPr>
          <p:cNvPr id="10" name="TextBox 9"/>
          <p:cNvSpPr txBox="1"/>
          <p:nvPr/>
        </p:nvSpPr>
        <p:spPr>
          <a:xfrm>
            <a:off x="4389120" y="1783080"/>
            <a:ext cx="2377440" cy="539496"/>
          </a:xfrm>
          <a:prstGeom prst="rect">
            <a:avLst/>
          </a:prstGeom>
          <a:noFill/>
        </p:spPr>
        <p:txBody>
          <a:bodyPr wrap="square" lIns="25400" tIns="12700" rIns="25400" bIns="12700" anchor="ctr">
            <a:spAutoFit/>
          </a:bodyPr>
          <a:lstStyle/>
          <a:p>
            <a:pPr algn="l"/>
            <a:r>
              <a:rPr sz="1000" b="0" i="1">
                <a:solidFill>
                  <a:srgbClr val="525B66"/>
                </a:solidFill>
                <a:latin typeface="Arial"/>
              </a:rPr>
              <a:t>Datos procesados con contexto.</a:t>
            </a:r>
          </a:p>
        </p:txBody>
      </p:sp>
      <p:sp>
        <p:nvSpPr>
          <p:cNvPr id="11" name="Rectangle 10"/>
          <p:cNvSpPr/>
          <p:nvPr/>
        </p:nvSpPr>
        <p:spPr>
          <a:xfrm>
            <a:off x="11429" y="2377440"/>
            <a:ext cx="5029200" cy="539496"/>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593" y="2377440"/>
            <a:ext cx="5029200" cy="539496"/>
          </a:xfrm>
          <a:prstGeom prst="rect">
            <a:avLst/>
          </a:prstGeom>
          <a:noFill/>
        </p:spPr>
        <p:txBody>
          <a:bodyPr wrap="square" lIns="25400" tIns="12700" rIns="25400" bIns="12700" anchor="ctr">
            <a:spAutoFit/>
          </a:bodyPr>
          <a:lstStyle/>
          <a:p>
            <a:pPr algn="ctr"/>
            <a:r>
              <a:rPr sz="1500" b="1" i="0" spc="400">
                <a:solidFill>
                  <a:srgbClr val="1F2937"/>
                </a:solidFill>
                <a:latin typeface="Arial"/>
              </a:rPr>
              <a:t>DATA</a:t>
            </a:r>
          </a:p>
        </p:txBody>
      </p:sp>
      <p:sp>
        <p:nvSpPr>
          <p:cNvPr id="13" name="TextBox 12"/>
          <p:cNvSpPr txBox="1"/>
          <p:nvPr/>
        </p:nvSpPr>
        <p:spPr>
          <a:xfrm>
            <a:off x="5074920" y="2377440"/>
            <a:ext cx="2377440" cy="539496"/>
          </a:xfrm>
          <a:prstGeom prst="rect">
            <a:avLst/>
          </a:prstGeom>
          <a:noFill/>
        </p:spPr>
        <p:txBody>
          <a:bodyPr wrap="square" lIns="25400" tIns="12700" rIns="25400" bIns="12700" anchor="ctr">
            <a:spAutoFit/>
          </a:bodyPr>
          <a:lstStyle/>
          <a:p>
            <a:pPr algn="l"/>
            <a:r>
              <a:rPr sz="1000" b="0" i="1">
                <a:solidFill>
                  <a:srgbClr val="525B66"/>
                </a:solidFill>
                <a:latin typeface="Arial"/>
              </a:rPr>
              <a:t>Hashes, IPs, logs crudos sin contexto.</a:t>
            </a:r>
          </a:p>
        </p:txBody>
      </p:sp>
      <p:sp>
        <p:nvSpPr>
          <p:cNvPr id="14" name="TextBox 13"/>
          <p:cNvSpPr txBox="1"/>
          <p:nvPr/>
        </p:nvSpPr>
        <p:spPr>
          <a:xfrm>
            <a:off x="5486400" y="2834640"/>
            <a:ext cx="3383280" cy="320040"/>
          </a:xfrm>
          <a:prstGeom prst="rect">
            <a:avLst/>
          </a:prstGeom>
          <a:noFill/>
        </p:spPr>
        <p:txBody>
          <a:bodyPr wrap="square" lIns="25400" tIns="12700" rIns="25400" bIns="12700" anchor="t">
            <a:spAutoFit/>
          </a:bodyPr>
          <a:lstStyle/>
          <a:p>
            <a:pPr algn="l"/>
            <a:r>
              <a:rPr sz="1400" b="1" i="0" spc="200">
                <a:solidFill>
                  <a:srgbClr val="E41A52"/>
                </a:solidFill>
                <a:latin typeface="Arial"/>
              </a:rPr>
              <a:t>Cyber Threat Intelligence</a:t>
            </a:r>
          </a:p>
        </p:txBody>
      </p:sp>
      <p:sp>
        <p:nvSpPr>
          <p:cNvPr id="15" name="TextBox 14"/>
          <p:cNvSpPr txBox="1"/>
          <p:nvPr/>
        </p:nvSpPr>
        <p:spPr>
          <a:xfrm>
            <a:off x="5486400" y="3154680"/>
            <a:ext cx="3383280" cy="1379865"/>
          </a:xfrm>
          <a:prstGeom prst="rect">
            <a:avLst/>
          </a:prstGeom>
          <a:noFill/>
        </p:spPr>
        <p:txBody>
          <a:bodyPr wrap="square" lIns="25400" tIns="12700" rIns="25400" bIns="12700" anchor="t">
            <a:spAutoFit/>
          </a:bodyPr>
          <a:lstStyle/>
          <a:p>
            <a:r>
              <a:rPr lang="en-US" sz="1100" b="1" i="1" dirty="0">
                <a:solidFill>
                  <a:srgbClr val="1F2937"/>
                </a:solidFill>
              </a:rPr>
              <a:t>Cyber Threat Intelligence es </a:t>
            </a:r>
            <a:r>
              <a:rPr lang="en-US" sz="1100" b="1" i="1" dirty="0" err="1">
                <a:solidFill>
                  <a:srgbClr val="1F2937"/>
                </a:solidFill>
              </a:rPr>
              <a:t>el</a:t>
            </a:r>
            <a:r>
              <a:rPr lang="en-US" sz="1100" b="1" i="1" dirty="0">
                <a:solidFill>
                  <a:srgbClr val="1F2937"/>
                </a:solidFill>
              </a:rPr>
              <a:t> </a:t>
            </a:r>
            <a:r>
              <a:rPr lang="en-US" sz="1100" b="1" i="1" dirty="0" err="1">
                <a:solidFill>
                  <a:srgbClr val="1F2937"/>
                </a:solidFill>
              </a:rPr>
              <a:t>proceso</a:t>
            </a:r>
            <a:r>
              <a:rPr lang="en-US" sz="1100" b="1" i="1" dirty="0">
                <a:solidFill>
                  <a:srgbClr val="1F2937"/>
                </a:solidFill>
              </a:rPr>
              <a:t> de </a:t>
            </a:r>
            <a:r>
              <a:rPr lang="en-US" sz="1100" b="1" i="1" dirty="0" err="1">
                <a:solidFill>
                  <a:srgbClr val="1F2937"/>
                </a:solidFill>
              </a:rPr>
              <a:t>recolectar</a:t>
            </a:r>
            <a:r>
              <a:rPr lang="en-US" sz="1100" b="1" i="1" dirty="0">
                <a:solidFill>
                  <a:srgbClr val="1F2937"/>
                </a:solidFill>
              </a:rPr>
              <a:t>, </a:t>
            </a:r>
            <a:r>
              <a:rPr lang="en-US" sz="1100" b="1" i="1" dirty="0" err="1">
                <a:solidFill>
                  <a:srgbClr val="1F2937"/>
                </a:solidFill>
              </a:rPr>
              <a:t>procesar</a:t>
            </a:r>
            <a:r>
              <a:rPr lang="en-US" sz="1100" b="1" i="1" dirty="0">
                <a:solidFill>
                  <a:srgbClr val="1F2937"/>
                </a:solidFill>
              </a:rPr>
              <a:t>, </a:t>
            </a:r>
            <a:r>
              <a:rPr lang="en-US" sz="1100" b="1" i="1" dirty="0" err="1">
                <a:solidFill>
                  <a:srgbClr val="1F2937"/>
                </a:solidFill>
              </a:rPr>
              <a:t>analizar</a:t>
            </a:r>
            <a:r>
              <a:rPr lang="en-US" sz="1100" b="1" i="1" dirty="0">
                <a:solidFill>
                  <a:srgbClr val="1F2937"/>
                </a:solidFill>
              </a:rPr>
              <a:t> y </a:t>
            </a:r>
            <a:r>
              <a:rPr lang="en-US" sz="1100" b="1" i="1" dirty="0" err="1">
                <a:solidFill>
                  <a:srgbClr val="1F2937"/>
                </a:solidFill>
              </a:rPr>
              <a:t>diseminar</a:t>
            </a:r>
            <a:r>
              <a:rPr lang="en-US" sz="1100" b="1" i="1" dirty="0">
                <a:solidFill>
                  <a:srgbClr val="1F2937"/>
                </a:solidFill>
              </a:rPr>
              <a:t> </a:t>
            </a:r>
            <a:r>
              <a:rPr lang="en-US" sz="1100" b="1" i="1" dirty="0" err="1">
                <a:solidFill>
                  <a:srgbClr val="1F2937"/>
                </a:solidFill>
              </a:rPr>
              <a:t>información</a:t>
            </a:r>
            <a:r>
              <a:rPr lang="en-US" sz="1100" b="1" i="1" dirty="0">
                <a:solidFill>
                  <a:srgbClr val="1F2937"/>
                </a:solidFill>
              </a:rPr>
              <a:t> </a:t>
            </a:r>
            <a:r>
              <a:rPr lang="en-US" sz="1100" b="1" i="1" dirty="0" err="1">
                <a:solidFill>
                  <a:srgbClr val="1F2937"/>
                </a:solidFill>
              </a:rPr>
              <a:t>sobre</a:t>
            </a:r>
            <a:r>
              <a:rPr lang="en-US" sz="1100" b="1" i="1" dirty="0">
                <a:solidFill>
                  <a:srgbClr val="1F2937"/>
                </a:solidFill>
              </a:rPr>
              <a:t> </a:t>
            </a:r>
            <a:r>
              <a:rPr lang="en-US" sz="1100" b="1" i="1" dirty="0" err="1">
                <a:solidFill>
                  <a:srgbClr val="1F2937"/>
                </a:solidFill>
              </a:rPr>
              <a:t>adversarios</a:t>
            </a:r>
            <a:r>
              <a:rPr lang="en-US" sz="1100" b="1" i="1" dirty="0">
                <a:solidFill>
                  <a:srgbClr val="1F2937"/>
                </a:solidFill>
              </a:rPr>
              <a:t> — para </a:t>
            </a:r>
            <a:r>
              <a:rPr lang="en-US" sz="1100" b="1" i="1" dirty="0" err="1">
                <a:solidFill>
                  <a:srgbClr val="1F2937"/>
                </a:solidFill>
              </a:rPr>
              <a:t>que</a:t>
            </a:r>
            <a:r>
              <a:rPr lang="en-US" sz="1100" b="1" i="1" dirty="0">
                <a:solidFill>
                  <a:srgbClr val="1F2937"/>
                </a:solidFill>
              </a:rPr>
              <a:t> </a:t>
            </a:r>
            <a:r>
              <a:rPr lang="en-US" sz="1100" b="1" i="1" dirty="0" err="1">
                <a:solidFill>
                  <a:srgbClr val="1F2937"/>
                </a:solidFill>
              </a:rPr>
              <a:t>los</a:t>
            </a:r>
            <a:r>
              <a:rPr lang="en-US" sz="1100" b="1" i="1" dirty="0">
                <a:solidFill>
                  <a:srgbClr val="1F2937"/>
                </a:solidFill>
              </a:rPr>
              <a:t> </a:t>
            </a:r>
            <a:r>
              <a:rPr lang="en-US" sz="1100" b="1" i="1" dirty="0" err="1">
                <a:solidFill>
                  <a:srgbClr val="1F2937"/>
                </a:solidFill>
              </a:rPr>
              <a:t>defensores</a:t>
            </a:r>
            <a:r>
              <a:rPr lang="en-US" sz="1100" b="1" i="1" dirty="0">
                <a:solidFill>
                  <a:srgbClr val="1F2937"/>
                </a:solidFill>
              </a:rPr>
              <a:t> </a:t>
            </a:r>
            <a:r>
              <a:rPr lang="en-US" sz="1100" b="1" i="1" dirty="0" err="1">
                <a:solidFill>
                  <a:srgbClr val="1F2937"/>
                </a:solidFill>
              </a:rPr>
              <a:t>tomen</a:t>
            </a:r>
            <a:r>
              <a:rPr lang="en-US" sz="1100" b="1" i="1" dirty="0">
                <a:solidFill>
                  <a:srgbClr val="1F2937"/>
                </a:solidFill>
              </a:rPr>
              <a:t> </a:t>
            </a:r>
            <a:r>
              <a:rPr lang="en-US" sz="1100" b="1" i="1" dirty="0" err="1">
                <a:solidFill>
                  <a:srgbClr val="1F2937"/>
                </a:solidFill>
              </a:rPr>
              <a:t>decisiones</a:t>
            </a:r>
            <a:r>
              <a:rPr lang="en-US" sz="1100" b="1" i="1" dirty="0">
                <a:solidFill>
                  <a:srgbClr val="1F2937"/>
                </a:solidFill>
              </a:rPr>
              <a:t> </a:t>
            </a:r>
            <a:r>
              <a:rPr lang="en-US" sz="1100" b="1" i="1" dirty="0" err="1">
                <a:solidFill>
                  <a:srgbClr val="1F2937"/>
                </a:solidFill>
              </a:rPr>
              <a:t>informadas</a:t>
            </a:r>
            <a:r>
              <a:rPr lang="en-US" sz="1100" b="1" i="1" dirty="0">
                <a:solidFill>
                  <a:srgbClr val="1F2937"/>
                </a:solidFill>
              </a:rPr>
              <a:t>. </a:t>
            </a:r>
          </a:p>
          <a:p>
            <a:endParaRPr lang="en-US" sz="1100" b="1" i="1" dirty="0">
              <a:solidFill>
                <a:srgbClr val="1F2937"/>
              </a:solidFill>
            </a:endParaRPr>
          </a:p>
          <a:p>
            <a:r>
              <a:rPr lang="en-US" sz="1100" b="1" i="1" dirty="0">
                <a:solidFill>
                  <a:srgbClr val="1F2937"/>
                </a:solidFill>
              </a:rPr>
              <a:t>SANS Institute  ·  FOR578: Cyber Threat Intelligence</a:t>
            </a:r>
          </a:p>
          <a:p>
            <a:pPr algn="l"/>
            <a:endParaRPr sz="1100" b="0" i="1" dirty="0">
              <a:solidFill>
                <a:srgbClr val="1F2937"/>
              </a:solidFill>
              <a:latin typeface="Arial"/>
            </a:endParaRPr>
          </a:p>
        </p:txBody>
      </p:sp>
      <p:sp>
        <p:nvSpPr>
          <p:cNvPr id="16" name="Rectangle 15"/>
          <p:cNvSpPr/>
          <p:nvPr/>
        </p:nvSpPr>
        <p:spPr>
          <a:xfrm>
            <a:off x="5859424" y="877824"/>
            <a:ext cx="1554480" cy="347472"/>
          </a:xfrm>
          <a:prstGeom prst="rect">
            <a:avLst/>
          </a:prstGeom>
          <a:solidFill>
            <a:srgbClr val="FFFFFF"/>
          </a:solidFill>
          <a:ln>
            <a:solidFill>
              <a:srgbClr val="E41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59424" y="877824"/>
            <a:ext cx="1554480" cy="347472"/>
          </a:xfrm>
          <a:prstGeom prst="rect">
            <a:avLst/>
          </a:prstGeom>
          <a:noFill/>
        </p:spPr>
        <p:txBody>
          <a:bodyPr wrap="square" lIns="25400" tIns="12700" rIns="25400" bIns="12700" anchor="ctr">
            <a:spAutoFit/>
          </a:bodyPr>
          <a:lstStyle/>
          <a:p>
            <a:pPr algn="ctr"/>
            <a:r>
              <a:rPr sz="1000" b="1" i="0" spc="200">
                <a:solidFill>
                  <a:srgbClr val="E41A52"/>
                </a:solidFill>
                <a:latin typeface="Arial"/>
              </a:rPr>
              <a:t>OPORTUNA</a:t>
            </a:r>
          </a:p>
        </p:txBody>
      </p:sp>
      <p:sp>
        <p:nvSpPr>
          <p:cNvPr id="18" name="Rectangle 17"/>
          <p:cNvSpPr/>
          <p:nvPr/>
        </p:nvSpPr>
        <p:spPr>
          <a:xfrm>
            <a:off x="7551064" y="877824"/>
            <a:ext cx="1554480" cy="347472"/>
          </a:xfrm>
          <a:prstGeom prst="rect">
            <a:avLst/>
          </a:prstGeom>
          <a:solidFill>
            <a:srgbClr val="FFFFFF"/>
          </a:solidFill>
          <a:ln>
            <a:solidFill>
              <a:srgbClr val="E41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51064" y="877824"/>
            <a:ext cx="1554480" cy="347472"/>
          </a:xfrm>
          <a:prstGeom prst="rect">
            <a:avLst/>
          </a:prstGeom>
          <a:noFill/>
        </p:spPr>
        <p:txBody>
          <a:bodyPr wrap="square" lIns="25400" tIns="12700" rIns="25400" bIns="12700" anchor="ctr">
            <a:spAutoFit/>
          </a:bodyPr>
          <a:lstStyle/>
          <a:p>
            <a:pPr algn="ctr"/>
            <a:r>
              <a:rPr sz="1000" b="1" i="0" spc="200">
                <a:solidFill>
                  <a:srgbClr val="E41A52"/>
                </a:solidFill>
                <a:latin typeface="Arial"/>
              </a:rPr>
              <a:t>RELEVANTE</a:t>
            </a:r>
          </a:p>
        </p:txBody>
      </p:sp>
      <p:sp>
        <p:nvSpPr>
          <p:cNvPr id="20" name="Rectangle 19"/>
          <p:cNvSpPr/>
          <p:nvPr/>
        </p:nvSpPr>
        <p:spPr>
          <a:xfrm>
            <a:off x="5859424" y="1289304"/>
            <a:ext cx="1554480" cy="347472"/>
          </a:xfrm>
          <a:prstGeom prst="rect">
            <a:avLst/>
          </a:prstGeom>
          <a:solidFill>
            <a:srgbClr val="FFFFFF"/>
          </a:solidFill>
          <a:ln>
            <a:solidFill>
              <a:srgbClr val="E41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859424" y="1289304"/>
            <a:ext cx="1554480" cy="347472"/>
          </a:xfrm>
          <a:prstGeom prst="rect">
            <a:avLst/>
          </a:prstGeom>
          <a:noFill/>
        </p:spPr>
        <p:txBody>
          <a:bodyPr wrap="square" lIns="25400" tIns="12700" rIns="25400" bIns="12700" anchor="ctr">
            <a:spAutoFit/>
          </a:bodyPr>
          <a:lstStyle/>
          <a:p>
            <a:pPr algn="ctr"/>
            <a:r>
              <a:rPr sz="1000" b="1" i="0" spc="200">
                <a:solidFill>
                  <a:srgbClr val="E41A52"/>
                </a:solidFill>
                <a:latin typeface="Arial"/>
              </a:rPr>
              <a:t>PRECISA</a:t>
            </a:r>
          </a:p>
        </p:txBody>
      </p:sp>
      <p:sp>
        <p:nvSpPr>
          <p:cNvPr id="22" name="Rectangle 21"/>
          <p:cNvSpPr/>
          <p:nvPr/>
        </p:nvSpPr>
        <p:spPr>
          <a:xfrm>
            <a:off x="7551064" y="1289304"/>
            <a:ext cx="1554480" cy="347472"/>
          </a:xfrm>
          <a:prstGeom prst="rect">
            <a:avLst/>
          </a:prstGeom>
          <a:solidFill>
            <a:srgbClr val="FFFFFF"/>
          </a:solidFill>
          <a:ln>
            <a:solidFill>
              <a:srgbClr val="E41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51064" y="1289304"/>
            <a:ext cx="1554480" cy="347472"/>
          </a:xfrm>
          <a:prstGeom prst="rect">
            <a:avLst/>
          </a:prstGeom>
          <a:noFill/>
        </p:spPr>
        <p:txBody>
          <a:bodyPr wrap="square" lIns="25400" tIns="12700" rIns="25400" bIns="12700" anchor="ctr">
            <a:spAutoFit/>
          </a:bodyPr>
          <a:lstStyle/>
          <a:p>
            <a:pPr algn="ctr"/>
            <a:r>
              <a:rPr sz="1000" b="1" i="0" spc="200">
                <a:solidFill>
                  <a:srgbClr val="E41A52"/>
                </a:solidFill>
                <a:latin typeface="Arial"/>
              </a:rPr>
              <a:t>ACCIONABLE</a:t>
            </a:r>
          </a:p>
        </p:txBody>
      </p:sp>
      <p:sp>
        <p:nvSpPr>
          <p:cNvPr id="25" name="TextBox 24"/>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7 / 38</a:t>
            </a:r>
          </a:p>
        </p:txBody>
      </p:sp>
      <p:pic>
        <p:nvPicPr>
          <p:cNvPr id="26" name="Picture 25">
            <a:extLst>
              <a:ext uri="{FF2B5EF4-FFF2-40B4-BE49-F238E27FC236}">
                <a16:creationId xmlns:a16="http://schemas.microsoft.com/office/drawing/2014/main" id="{4CDEBC1F-E916-45CF-B135-A45BCE757DFF}"/>
              </a:ext>
            </a:extLst>
          </p:cNvPr>
          <p:cNvPicPr>
            <a:picLocks noChangeAspect="1"/>
          </p:cNvPicPr>
          <p:nvPr/>
        </p:nvPicPr>
        <p:blipFill>
          <a:blip r:embed="rId3"/>
          <a:stretch>
            <a:fillRect/>
          </a:stretch>
        </p:blipFill>
        <p:spPr>
          <a:xfrm>
            <a:off x="621308" y="2916937"/>
            <a:ext cx="3870058" cy="221206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750" fill="hold"/>
                                        <p:tgtEl>
                                          <p:spTgt spid="26"/>
                                        </p:tgtEl>
                                        <p:attrNameLst>
                                          <p:attrName>ppt_x</p:attrName>
                                        </p:attrNameLst>
                                      </p:cBhvr>
                                      <p:tavLst>
                                        <p:tav tm="0">
                                          <p:val>
                                            <p:strVal val="#ppt_x"/>
                                          </p:val>
                                        </p:tav>
                                        <p:tav tm="100000">
                                          <p:val>
                                            <p:strVal val="#ppt_x"/>
                                          </p:val>
                                        </p:tav>
                                      </p:tavLst>
                                    </p:anim>
                                    <p:anim calcmode="lin" valueType="num">
                                      <p:cBhvr additive="base">
                                        <p:cTn id="14" dur="7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96012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61440" y="137160"/>
            <a:ext cx="7599680" cy="344710"/>
          </a:xfrm>
          <a:prstGeom prst="rect">
            <a:avLst/>
          </a:prstGeom>
          <a:noFill/>
        </p:spPr>
        <p:txBody>
          <a:bodyPr wrap="square" lIns="45720" tIns="18288" rIns="45720" bIns="18288" anchor="t">
            <a:spAutoFit/>
          </a:bodyPr>
          <a:lstStyle/>
          <a:p>
            <a:pPr algn="l"/>
            <a:r>
              <a:rPr sz="2000" b="1" i="0" dirty="0">
                <a:solidFill>
                  <a:srgbClr val="FFFFFF"/>
                </a:solidFill>
                <a:latin typeface="Arial"/>
              </a:rPr>
              <a:t>Known / Unknown</a:t>
            </a:r>
            <a:r>
              <a:rPr lang="es-419" sz="2000" b="1" i="0" dirty="0">
                <a:solidFill>
                  <a:srgbClr val="FFFFFF"/>
                </a:solidFill>
                <a:latin typeface="Arial"/>
              </a:rPr>
              <a:t>:</a:t>
            </a:r>
            <a:r>
              <a:rPr sz="2000" b="1" i="0" dirty="0">
                <a:solidFill>
                  <a:srgbClr val="FFFFFF"/>
                </a:solidFill>
                <a:latin typeface="Arial"/>
              </a:rPr>
              <a:t> </a:t>
            </a:r>
            <a:r>
              <a:rPr lang="es-419" sz="2000" b="1" i="0" dirty="0">
                <a:solidFill>
                  <a:srgbClr val="FFFFFF"/>
                </a:solidFill>
                <a:latin typeface="Arial"/>
              </a:rPr>
              <a:t>El modelo</a:t>
            </a:r>
            <a:r>
              <a:rPr sz="2000" b="1" i="0" dirty="0">
                <a:solidFill>
                  <a:srgbClr val="FFFFFF"/>
                </a:solidFill>
                <a:latin typeface="Arial"/>
              </a:rPr>
              <a:t> Rumsfeld</a:t>
            </a:r>
          </a:p>
        </p:txBody>
      </p:sp>
      <p:sp>
        <p:nvSpPr>
          <p:cNvPr id="7" name="Rectangle 6"/>
          <p:cNvSpPr/>
          <p:nvPr/>
        </p:nvSpPr>
        <p:spPr>
          <a:xfrm>
            <a:off x="365760" y="1078992"/>
            <a:ext cx="2743200" cy="333756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078992"/>
            <a:ext cx="2743200" cy="56692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06039" y="1124712"/>
            <a:ext cx="411480" cy="219456"/>
          </a:xfrm>
          <a:prstGeom prst="rect">
            <a:avLst/>
          </a:prstGeom>
          <a:noFill/>
        </p:spPr>
        <p:txBody>
          <a:bodyPr wrap="square" lIns="45720" tIns="18288" rIns="45720" bIns="18288" anchor="t">
            <a:spAutoFit/>
          </a:bodyPr>
          <a:lstStyle/>
          <a:p>
            <a:pPr algn="r"/>
            <a:r>
              <a:rPr sz="1200" b="1" i="0">
                <a:solidFill>
                  <a:srgbClr val="FFFFFF"/>
                </a:solidFill>
                <a:latin typeface="Arial"/>
              </a:rPr>
              <a:t>01</a:t>
            </a:r>
          </a:p>
        </p:txBody>
      </p:sp>
      <p:sp>
        <p:nvSpPr>
          <p:cNvPr id="10" name="TextBox 9"/>
          <p:cNvSpPr txBox="1"/>
          <p:nvPr/>
        </p:nvSpPr>
        <p:spPr>
          <a:xfrm>
            <a:off x="502920" y="1115568"/>
            <a:ext cx="2103120" cy="256032"/>
          </a:xfrm>
          <a:prstGeom prst="rect">
            <a:avLst/>
          </a:prstGeom>
          <a:noFill/>
        </p:spPr>
        <p:txBody>
          <a:bodyPr wrap="square" lIns="45720" tIns="18288" rIns="45720" bIns="18288" anchor="t">
            <a:spAutoFit/>
          </a:bodyPr>
          <a:lstStyle/>
          <a:p>
            <a:pPr algn="l"/>
            <a:r>
              <a:rPr sz="1100" b="1" i="0">
                <a:solidFill>
                  <a:srgbClr val="FFFFFF"/>
                </a:solidFill>
                <a:latin typeface="Arial"/>
              </a:rPr>
              <a:t>KNOWN KNOWNS</a:t>
            </a:r>
          </a:p>
        </p:txBody>
      </p:sp>
      <p:sp>
        <p:nvSpPr>
          <p:cNvPr id="11" name="TextBox 10"/>
          <p:cNvSpPr txBox="1"/>
          <p:nvPr/>
        </p:nvSpPr>
        <p:spPr>
          <a:xfrm>
            <a:off x="502920" y="1371600"/>
            <a:ext cx="2468880" cy="219456"/>
          </a:xfrm>
          <a:prstGeom prst="rect">
            <a:avLst/>
          </a:prstGeom>
          <a:noFill/>
        </p:spPr>
        <p:txBody>
          <a:bodyPr wrap="square" lIns="45720" tIns="18288" rIns="45720" bIns="18288" anchor="t">
            <a:spAutoFit/>
          </a:bodyPr>
          <a:lstStyle/>
          <a:p>
            <a:pPr algn="l"/>
            <a:r>
              <a:rPr sz="900" b="0" i="1">
                <a:solidFill>
                  <a:srgbClr val="FFFFFF"/>
                </a:solidFill>
                <a:latin typeface="Arial"/>
              </a:rPr>
              <a:t>Realidad operativa</a:t>
            </a:r>
          </a:p>
        </p:txBody>
      </p:sp>
      <p:sp>
        <p:nvSpPr>
          <p:cNvPr id="12" name="TextBox 11"/>
          <p:cNvSpPr txBox="1"/>
          <p:nvPr/>
        </p:nvSpPr>
        <p:spPr>
          <a:xfrm>
            <a:off x="530352" y="1719072"/>
            <a:ext cx="2414016" cy="256032"/>
          </a:xfrm>
          <a:prstGeom prst="rect">
            <a:avLst/>
          </a:prstGeom>
          <a:noFill/>
        </p:spPr>
        <p:txBody>
          <a:bodyPr wrap="square" lIns="45720" tIns="18288" rIns="45720" bIns="18288" anchor="t">
            <a:spAutoFit/>
          </a:bodyPr>
          <a:lstStyle/>
          <a:p>
            <a:pPr algn="l"/>
            <a:r>
              <a:rPr sz="1000" b="1" i="0">
                <a:solidFill>
                  <a:srgbClr val="1F2937"/>
                </a:solidFill>
                <a:latin typeface="Arial"/>
              </a:rPr>
              <a:t>Lo que sabemos que sabemos.</a:t>
            </a:r>
          </a:p>
        </p:txBody>
      </p:sp>
      <p:sp>
        <p:nvSpPr>
          <p:cNvPr id="13" name="TextBox 12"/>
          <p:cNvSpPr txBox="1"/>
          <p:nvPr/>
        </p:nvSpPr>
        <p:spPr>
          <a:xfrm>
            <a:off x="530352" y="2011679"/>
            <a:ext cx="2414016" cy="164592"/>
          </a:xfrm>
          <a:prstGeom prst="rect">
            <a:avLst/>
          </a:prstGeom>
          <a:noFill/>
        </p:spPr>
        <p:txBody>
          <a:bodyPr wrap="square" lIns="45720" tIns="18288" rIns="45720" bIns="18288" anchor="t">
            <a:spAutoFit/>
          </a:bodyPr>
          <a:lstStyle/>
          <a:p>
            <a:pPr algn="l"/>
            <a:r>
              <a:rPr sz="750" b="1" i="0">
                <a:solidFill>
                  <a:srgbClr val="525B66"/>
                </a:solidFill>
                <a:latin typeface="Arial"/>
              </a:rPr>
              <a:t>ESCENARIO</a:t>
            </a:r>
          </a:p>
        </p:txBody>
      </p:sp>
      <p:sp>
        <p:nvSpPr>
          <p:cNvPr id="14" name="TextBox 13"/>
          <p:cNvSpPr txBox="1"/>
          <p:nvPr/>
        </p:nvSpPr>
        <p:spPr>
          <a:xfrm>
            <a:off x="530352" y="2176272"/>
            <a:ext cx="2414016" cy="560153"/>
          </a:xfrm>
          <a:prstGeom prst="rect">
            <a:avLst/>
          </a:prstGeom>
          <a:noFill/>
        </p:spPr>
        <p:txBody>
          <a:bodyPr wrap="square" lIns="45720" tIns="18288" rIns="45720" bIns="18288" anchor="t">
            <a:spAutoFit/>
          </a:bodyPr>
          <a:lstStyle/>
          <a:p>
            <a:pPr algn="l"/>
            <a:r>
              <a:rPr sz="850" b="0" i="1" dirty="0">
                <a:solidFill>
                  <a:srgbClr val="1F2937"/>
                </a:solidFill>
                <a:latin typeface="Arial"/>
              </a:rPr>
              <a:t>IT </a:t>
            </a:r>
            <a:r>
              <a:rPr sz="850" b="0" i="1" dirty="0" err="1">
                <a:solidFill>
                  <a:srgbClr val="1F2937"/>
                </a:solidFill>
                <a:latin typeface="Arial"/>
              </a:rPr>
              <a:t>usa</a:t>
            </a:r>
            <a:r>
              <a:rPr sz="850" b="0" i="1" dirty="0">
                <a:solidFill>
                  <a:srgbClr val="1F2937"/>
                </a:solidFill>
                <a:latin typeface="Arial"/>
              </a:rPr>
              <a:t> </a:t>
            </a:r>
            <a:r>
              <a:rPr sz="850" b="0" i="1" dirty="0" err="1">
                <a:solidFill>
                  <a:srgbClr val="1F2937"/>
                </a:solidFill>
                <a:latin typeface="Arial"/>
              </a:rPr>
              <a:t>ScreenConnect</a:t>
            </a:r>
            <a:r>
              <a:rPr sz="850" b="0" i="1" dirty="0">
                <a:solidFill>
                  <a:srgbClr val="1F2937"/>
                </a:solidFill>
                <a:latin typeface="Arial"/>
              </a:rPr>
              <a:t> </a:t>
            </a:r>
            <a:r>
              <a:rPr sz="850" b="0" i="1" dirty="0" err="1">
                <a:solidFill>
                  <a:srgbClr val="1F2937"/>
                </a:solidFill>
                <a:latin typeface="Arial"/>
              </a:rPr>
              <a:t>autorizado</a:t>
            </a:r>
            <a:r>
              <a:rPr sz="850" b="0" i="1" dirty="0">
                <a:solidFill>
                  <a:srgbClr val="1F2937"/>
                </a:solidFill>
                <a:latin typeface="Arial"/>
              </a:rPr>
              <a:t>. </a:t>
            </a:r>
            <a:r>
              <a:rPr sz="850" b="0" i="1" dirty="0" err="1">
                <a:solidFill>
                  <a:srgbClr val="1F2937"/>
                </a:solidFill>
                <a:latin typeface="Arial"/>
              </a:rPr>
              <a:t>LockBit</a:t>
            </a:r>
            <a:r>
              <a:rPr sz="850" b="0" i="1" dirty="0">
                <a:solidFill>
                  <a:srgbClr val="1F2937"/>
                </a:solidFill>
                <a:latin typeface="Arial"/>
              </a:rPr>
              <a:t>, Akira y Medusa </a:t>
            </a:r>
            <a:r>
              <a:rPr sz="850" b="0" i="1" dirty="0" err="1">
                <a:solidFill>
                  <a:srgbClr val="1F2937"/>
                </a:solidFill>
                <a:latin typeface="Arial"/>
              </a:rPr>
              <a:t>abusan</a:t>
            </a:r>
            <a:r>
              <a:rPr sz="850" b="0" i="1" dirty="0">
                <a:solidFill>
                  <a:srgbClr val="1F2937"/>
                </a:solidFill>
                <a:latin typeface="Arial"/>
              </a:rPr>
              <a:t> </a:t>
            </a:r>
            <a:r>
              <a:rPr sz="850" b="0" i="1" dirty="0" err="1">
                <a:solidFill>
                  <a:srgbClr val="1F2937"/>
                </a:solidFill>
                <a:latin typeface="Arial"/>
              </a:rPr>
              <a:t>AnyDesk</a:t>
            </a:r>
            <a:r>
              <a:rPr sz="850" b="0" i="1" dirty="0">
                <a:solidFill>
                  <a:srgbClr val="1F2937"/>
                </a:solidFill>
                <a:latin typeface="Arial"/>
              </a:rPr>
              <a:t>, Atera y </a:t>
            </a:r>
            <a:r>
              <a:rPr sz="850" b="0" i="1" dirty="0" err="1">
                <a:solidFill>
                  <a:srgbClr val="1F2937"/>
                </a:solidFill>
                <a:latin typeface="Arial"/>
              </a:rPr>
              <a:t>SimpleHelp</a:t>
            </a:r>
            <a:r>
              <a:rPr sz="850" b="0" i="1" dirty="0">
                <a:solidFill>
                  <a:srgbClr val="1F2937"/>
                </a:solidFill>
                <a:latin typeface="Arial"/>
              </a:rPr>
              <a:t> — </a:t>
            </a:r>
            <a:r>
              <a:rPr sz="850" b="0" i="1" dirty="0" err="1">
                <a:solidFill>
                  <a:srgbClr val="1F2937"/>
                </a:solidFill>
                <a:latin typeface="Arial"/>
              </a:rPr>
              <a:t>firmados</a:t>
            </a:r>
            <a:r>
              <a:rPr sz="850" b="0" i="1" dirty="0">
                <a:solidFill>
                  <a:srgbClr val="1F2937"/>
                </a:solidFill>
                <a:latin typeface="Arial"/>
              </a:rPr>
              <a:t>, </a:t>
            </a:r>
            <a:r>
              <a:rPr sz="850" b="0" i="1" dirty="0" err="1">
                <a:solidFill>
                  <a:srgbClr val="1F2937"/>
                </a:solidFill>
                <a:latin typeface="Arial"/>
              </a:rPr>
              <a:t>allowlisteados</a:t>
            </a:r>
            <a:r>
              <a:rPr sz="850" b="0" i="1" dirty="0">
                <a:solidFill>
                  <a:srgbClr val="1F2937"/>
                </a:solidFill>
                <a:latin typeface="Arial"/>
              </a:rPr>
              <a:t>, invisibles para </a:t>
            </a:r>
            <a:r>
              <a:rPr sz="850" b="0" i="1" dirty="0" err="1">
                <a:solidFill>
                  <a:srgbClr val="1F2937"/>
                </a:solidFill>
                <a:latin typeface="Arial"/>
              </a:rPr>
              <a:t>tu</a:t>
            </a:r>
            <a:r>
              <a:rPr sz="850" b="0" i="1" dirty="0">
                <a:solidFill>
                  <a:srgbClr val="1F2937"/>
                </a:solidFill>
                <a:latin typeface="Arial"/>
              </a:rPr>
              <a:t> EDR.</a:t>
            </a:r>
          </a:p>
        </p:txBody>
      </p:sp>
      <p:sp>
        <p:nvSpPr>
          <p:cNvPr id="17" name="TextBox 16"/>
          <p:cNvSpPr txBox="1"/>
          <p:nvPr/>
        </p:nvSpPr>
        <p:spPr>
          <a:xfrm>
            <a:off x="530352" y="4142231"/>
            <a:ext cx="2414016" cy="167738"/>
          </a:xfrm>
          <a:prstGeom prst="rect">
            <a:avLst/>
          </a:prstGeom>
          <a:noFill/>
        </p:spPr>
        <p:txBody>
          <a:bodyPr wrap="square" lIns="45720" tIns="18288" rIns="45720" bIns="18288" anchor="t">
            <a:spAutoFit/>
          </a:bodyPr>
          <a:lstStyle/>
          <a:p>
            <a:pPr algn="l"/>
            <a:r>
              <a:rPr lang="es-419" sz="850" b="1" i="0" dirty="0">
                <a:solidFill>
                  <a:srgbClr val="1F2937"/>
                </a:solidFill>
                <a:latin typeface="Arial"/>
              </a:rPr>
              <a:t>Aca</a:t>
            </a:r>
            <a:r>
              <a:rPr sz="850" b="1" i="0" dirty="0">
                <a:solidFill>
                  <a:srgbClr val="1F2937"/>
                </a:solidFill>
                <a:latin typeface="Arial"/>
              </a:rPr>
              <a:t> </a:t>
            </a:r>
            <a:r>
              <a:rPr sz="850" b="1" i="0" dirty="0" err="1">
                <a:solidFill>
                  <a:srgbClr val="1F2937"/>
                </a:solidFill>
                <a:latin typeface="Arial"/>
              </a:rPr>
              <a:t>vive</a:t>
            </a:r>
            <a:r>
              <a:rPr sz="850" b="1" i="0" dirty="0">
                <a:solidFill>
                  <a:srgbClr val="1F2937"/>
                </a:solidFill>
                <a:latin typeface="Arial"/>
              </a:rPr>
              <a:t> </a:t>
            </a:r>
            <a:r>
              <a:rPr sz="850" b="1" i="0" dirty="0" err="1">
                <a:solidFill>
                  <a:srgbClr val="1F2937"/>
                </a:solidFill>
                <a:latin typeface="Arial"/>
              </a:rPr>
              <a:t>el</a:t>
            </a:r>
            <a:r>
              <a:rPr sz="850" b="1" i="0" dirty="0">
                <a:solidFill>
                  <a:srgbClr val="1F2937"/>
                </a:solidFill>
                <a:latin typeface="Arial"/>
              </a:rPr>
              <a:t> SOC </a:t>
            </a:r>
            <a:r>
              <a:rPr sz="850" b="1" i="0" dirty="0" err="1">
                <a:solidFill>
                  <a:srgbClr val="1F2937"/>
                </a:solidFill>
                <a:latin typeface="Arial"/>
              </a:rPr>
              <a:t>reactivo</a:t>
            </a:r>
            <a:r>
              <a:rPr sz="850" b="1" i="0" dirty="0">
                <a:solidFill>
                  <a:srgbClr val="1F2937"/>
                </a:solidFill>
                <a:latin typeface="Arial"/>
              </a:rPr>
              <a:t>.</a:t>
            </a:r>
          </a:p>
        </p:txBody>
      </p:sp>
      <p:sp>
        <p:nvSpPr>
          <p:cNvPr id="18" name="Rectangle 17"/>
          <p:cNvSpPr/>
          <p:nvPr/>
        </p:nvSpPr>
        <p:spPr>
          <a:xfrm>
            <a:off x="3200400" y="1078992"/>
            <a:ext cx="2743200" cy="333756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00400" y="1078992"/>
            <a:ext cx="2743200" cy="566928"/>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40680" y="1124712"/>
            <a:ext cx="411480" cy="219456"/>
          </a:xfrm>
          <a:prstGeom prst="rect">
            <a:avLst/>
          </a:prstGeom>
          <a:noFill/>
        </p:spPr>
        <p:txBody>
          <a:bodyPr wrap="square" lIns="45720" tIns="18288" rIns="45720" bIns="18288" anchor="t">
            <a:spAutoFit/>
          </a:bodyPr>
          <a:lstStyle/>
          <a:p>
            <a:pPr algn="r"/>
            <a:r>
              <a:rPr sz="1200" b="1" i="0">
                <a:solidFill>
                  <a:srgbClr val="FFFFFF"/>
                </a:solidFill>
                <a:latin typeface="Arial"/>
              </a:rPr>
              <a:t>02</a:t>
            </a:r>
          </a:p>
        </p:txBody>
      </p:sp>
      <p:sp>
        <p:nvSpPr>
          <p:cNvPr id="21" name="TextBox 20"/>
          <p:cNvSpPr txBox="1"/>
          <p:nvPr/>
        </p:nvSpPr>
        <p:spPr>
          <a:xfrm>
            <a:off x="3337560" y="1115568"/>
            <a:ext cx="2103120" cy="256032"/>
          </a:xfrm>
          <a:prstGeom prst="rect">
            <a:avLst/>
          </a:prstGeom>
          <a:noFill/>
        </p:spPr>
        <p:txBody>
          <a:bodyPr wrap="square" lIns="45720" tIns="18288" rIns="45720" bIns="18288" anchor="t">
            <a:spAutoFit/>
          </a:bodyPr>
          <a:lstStyle/>
          <a:p>
            <a:pPr algn="l"/>
            <a:r>
              <a:rPr sz="1100" b="1" i="0">
                <a:solidFill>
                  <a:srgbClr val="FFFFFF"/>
                </a:solidFill>
                <a:latin typeface="Arial"/>
              </a:rPr>
              <a:t>KNOWN UNKNOWNS</a:t>
            </a:r>
          </a:p>
        </p:txBody>
      </p:sp>
      <p:sp>
        <p:nvSpPr>
          <p:cNvPr id="22" name="TextBox 21"/>
          <p:cNvSpPr txBox="1"/>
          <p:nvPr/>
        </p:nvSpPr>
        <p:spPr>
          <a:xfrm>
            <a:off x="3337560" y="1371600"/>
            <a:ext cx="2468880" cy="219456"/>
          </a:xfrm>
          <a:prstGeom prst="rect">
            <a:avLst/>
          </a:prstGeom>
          <a:noFill/>
        </p:spPr>
        <p:txBody>
          <a:bodyPr wrap="square" lIns="45720" tIns="18288" rIns="45720" bIns="18288" anchor="t">
            <a:spAutoFit/>
          </a:bodyPr>
          <a:lstStyle/>
          <a:p>
            <a:pPr algn="l"/>
            <a:r>
              <a:rPr sz="900" b="0" i="1">
                <a:solidFill>
                  <a:srgbClr val="FFFFFF"/>
                </a:solidFill>
                <a:latin typeface="Arial"/>
              </a:rPr>
              <a:t>Incertidumbre estratégica</a:t>
            </a:r>
          </a:p>
        </p:txBody>
      </p:sp>
      <p:sp>
        <p:nvSpPr>
          <p:cNvPr id="23" name="TextBox 22"/>
          <p:cNvSpPr txBox="1"/>
          <p:nvPr/>
        </p:nvSpPr>
        <p:spPr>
          <a:xfrm>
            <a:off x="3364992" y="1719072"/>
            <a:ext cx="2414016" cy="256032"/>
          </a:xfrm>
          <a:prstGeom prst="rect">
            <a:avLst/>
          </a:prstGeom>
          <a:noFill/>
        </p:spPr>
        <p:txBody>
          <a:bodyPr wrap="square" lIns="45720" tIns="18288" rIns="45720" bIns="18288" anchor="t">
            <a:spAutoFit/>
          </a:bodyPr>
          <a:lstStyle/>
          <a:p>
            <a:pPr algn="l"/>
            <a:r>
              <a:rPr sz="1000" b="1" i="0">
                <a:solidFill>
                  <a:srgbClr val="1F2937"/>
                </a:solidFill>
                <a:latin typeface="Arial"/>
              </a:rPr>
              <a:t>Sabemos que hay cosas que no sabemos.</a:t>
            </a:r>
          </a:p>
        </p:txBody>
      </p:sp>
      <p:sp>
        <p:nvSpPr>
          <p:cNvPr id="24" name="TextBox 23"/>
          <p:cNvSpPr txBox="1"/>
          <p:nvPr/>
        </p:nvSpPr>
        <p:spPr>
          <a:xfrm>
            <a:off x="3364992" y="2011679"/>
            <a:ext cx="2414016" cy="164592"/>
          </a:xfrm>
          <a:prstGeom prst="rect">
            <a:avLst/>
          </a:prstGeom>
          <a:noFill/>
        </p:spPr>
        <p:txBody>
          <a:bodyPr wrap="square" lIns="45720" tIns="18288" rIns="45720" bIns="18288" anchor="t">
            <a:spAutoFit/>
          </a:bodyPr>
          <a:lstStyle/>
          <a:p>
            <a:pPr algn="l"/>
            <a:r>
              <a:rPr sz="750" b="1" i="0">
                <a:solidFill>
                  <a:srgbClr val="525B66"/>
                </a:solidFill>
                <a:latin typeface="Arial"/>
              </a:rPr>
              <a:t>ESCENARIO</a:t>
            </a:r>
          </a:p>
        </p:txBody>
      </p:sp>
      <p:sp>
        <p:nvSpPr>
          <p:cNvPr id="25" name="TextBox 24"/>
          <p:cNvSpPr txBox="1"/>
          <p:nvPr/>
        </p:nvSpPr>
        <p:spPr>
          <a:xfrm>
            <a:off x="3364992" y="2176272"/>
            <a:ext cx="2414016" cy="1005840"/>
          </a:xfrm>
          <a:prstGeom prst="rect">
            <a:avLst/>
          </a:prstGeom>
          <a:noFill/>
        </p:spPr>
        <p:txBody>
          <a:bodyPr wrap="square" lIns="45720" tIns="18288" rIns="45720" bIns="18288" anchor="t">
            <a:spAutoFit/>
          </a:bodyPr>
          <a:lstStyle/>
          <a:p>
            <a:pPr algn="l"/>
            <a:r>
              <a:rPr sz="850" b="0" i="1">
                <a:solidFill>
                  <a:srgbClr val="1F2937"/>
                </a:solidFill>
                <a:latin typeface="Arial"/>
              </a:rPr>
              <a:t>Infostealers (Lumma, Redline) capturan tokens de RMM cada día. La cookie de ScreenConnect de tu técnico puede estar en venta en Russian Market ahora mismo. No hackean — compran la llave.</a:t>
            </a:r>
          </a:p>
        </p:txBody>
      </p:sp>
      <p:sp>
        <p:nvSpPr>
          <p:cNvPr id="28" name="TextBox 27"/>
          <p:cNvSpPr txBox="1"/>
          <p:nvPr/>
        </p:nvSpPr>
        <p:spPr>
          <a:xfrm>
            <a:off x="3364992" y="4142231"/>
            <a:ext cx="2414016" cy="167738"/>
          </a:xfrm>
          <a:prstGeom prst="rect">
            <a:avLst/>
          </a:prstGeom>
          <a:noFill/>
        </p:spPr>
        <p:txBody>
          <a:bodyPr wrap="square" lIns="45720" tIns="18288" rIns="45720" bIns="18288" anchor="t">
            <a:spAutoFit/>
          </a:bodyPr>
          <a:lstStyle/>
          <a:p>
            <a:pPr algn="l"/>
            <a:r>
              <a:rPr lang="es-419" sz="850" b="1" i="0" dirty="0">
                <a:solidFill>
                  <a:srgbClr val="E41A52"/>
                </a:solidFill>
                <a:latin typeface="Arial"/>
              </a:rPr>
              <a:t>Aca</a:t>
            </a:r>
            <a:r>
              <a:rPr sz="850" b="1" i="0" dirty="0">
                <a:solidFill>
                  <a:srgbClr val="E41A52"/>
                </a:solidFill>
                <a:latin typeface="Arial"/>
              </a:rPr>
              <a:t> </a:t>
            </a:r>
            <a:r>
              <a:rPr sz="850" b="1" i="0" dirty="0" err="1">
                <a:solidFill>
                  <a:srgbClr val="E41A52"/>
                </a:solidFill>
                <a:latin typeface="Arial"/>
              </a:rPr>
              <a:t>viven</a:t>
            </a:r>
            <a:r>
              <a:rPr sz="850" b="1" i="0" dirty="0">
                <a:solidFill>
                  <a:srgbClr val="E41A52"/>
                </a:solidFill>
                <a:latin typeface="Arial"/>
              </a:rPr>
              <a:t> </a:t>
            </a:r>
            <a:r>
              <a:rPr sz="850" b="1" i="0" dirty="0" err="1">
                <a:solidFill>
                  <a:srgbClr val="E41A52"/>
                </a:solidFill>
                <a:latin typeface="Arial"/>
              </a:rPr>
              <a:t>los</a:t>
            </a:r>
            <a:r>
              <a:rPr sz="850" b="1" i="0" dirty="0">
                <a:solidFill>
                  <a:srgbClr val="E41A52"/>
                </a:solidFill>
                <a:latin typeface="Arial"/>
              </a:rPr>
              <a:t> PIRs y </a:t>
            </a:r>
            <a:r>
              <a:rPr sz="850" b="1" i="0" dirty="0" err="1">
                <a:solidFill>
                  <a:srgbClr val="E41A52"/>
                </a:solidFill>
                <a:latin typeface="Arial"/>
              </a:rPr>
              <a:t>el</a:t>
            </a:r>
            <a:r>
              <a:rPr sz="850" b="1" i="0" dirty="0">
                <a:solidFill>
                  <a:srgbClr val="E41A52"/>
                </a:solidFill>
                <a:latin typeface="Arial"/>
              </a:rPr>
              <a:t> threat hunting.</a:t>
            </a:r>
          </a:p>
        </p:txBody>
      </p:sp>
      <p:sp>
        <p:nvSpPr>
          <p:cNvPr id="29" name="Rectangle 28"/>
          <p:cNvSpPr/>
          <p:nvPr/>
        </p:nvSpPr>
        <p:spPr>
          <a:xfrm>
            <a:off x="6035040" y="1078992"/>
            <a:ext cx="2743200" cy="333756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035040" y="1078992"/>
            <a:ext cx="2743200" cy="566928"/>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75320" y="1124712"/>
            <a:ext cx="411480" cy="219456"/>
          </a:xfrm>
          <a:prstGeom prst="rect">
            <a:avLst/>
          </a:prstGeom>
          <a:noFill/>
        </p:spPr>
        <p:txBody>
          <a:bodyPr wrap="square" lIns="45720" tIns="18288" rIns="45720" bIns="18288" anchor="t">
            <a:spAutoFit/>
          </a:bodyPr>
          <a:lstStyle/>
          <a:p>
            <a:pPr algn="r"/>
            <a:r>
              <a:rPr sz="1200" b="1" i="0">
                <a:solidFill>
                  <a:srgbClr val="FFFFFF"/>
                </a:solidFill>
                <a:latin typeface="Arial"/>
              </a:rPr>
              <a:t>03</a:t>
            </a:r>
          </a:p>
        </p:txBody>
      </p:sp>
      <p:sp>
        <p:nvSpPr>
          <p:cNvPr id="32" name="TextBox 31"/>
          <p:cNvSpPr txBox="1"/>
          <p:nvPr/>
        </p:nvSpPr>
        <p:spPr>
          <a:xfrm>
            <a:off x="6172200" y="1115568"/>
            <a:ext cx="2103120" cy="256032"/>
          </a:xfrm>
          <a:prstGeom prst="rect">
            <a:avLst/>
          </a:prstGeom>
          <a:noFill/>
        </p:spPr>
        <p:txBody>
          <a:bodyPr wrap="square" lIns="45720" tIns="18288" rIns="45720" bIns="18288" anchor="t">
            <a:spAutoFit/>
          </a:bodyPr>
          <a:lstStyle/>
          <a:p>
            <a:pPr algn="l"/>
            <a:r>
              <a:rPr sz="1100" b="1" i="0">
                <a:solidFill>
                  <a:srgbClr val="FFFFFF"/>
                </a:solidFill>
                <a:latin typeface="Arial"/>
              </a:rPr>
              <a:t>UNKNOWN UNKNOWNS</a:t>
            </a:r>
          </a:p>
        </p:txBody>
      </p:sp>
      <p:sp>
        <p:nvSpPr>
          <p:cNvPr id="33" name="TextBox 32"/>
          <p:cNvSpPr txBox="1"/>
          <p:nvPr/>
        </p:nvSpPr>
        <p:spPr>
          <a:xfrm>
            <a:off x="6172200" y="1371600"/>
            <a:ext cx="2468880" cy="219456"/>
          </a:xfrm>
          <a:prstGeom prst="rect">
            <a:avLst/>
          </a:prstGeom>
          <a:noFill/>
        </p:spPr>
        <p:txBody>
          <a:bodyPr wrap="square" lIns="45720" tIns="18288" rIns="45720" bIns="18288" anchor="t">
            <a:spAutoFit/>
          </a:bodyPr>
          <a:lstStyle/>
          <a:p>
            <a:pPr algn="l"/>
            <a:r>
              <a:rPr sz="900" b="0" i="1">
                <a:solidFill>
                  <a:srgbClr val="FFFFFF"/>
                </a:solidFill>
                <a:latin typeface="Arial"/>
              </a:rPr>
              <a:t>Cisne negro cibernético</a:t>
            </a:r>
          </a:p>
        </p:txBody>
      </p:sp>
      <p:sp>
        <p:nvSpPr>
          <p:cNvPr id="34" name="TextBox 33"/>
          <p:cNvSpPr txBox="1"/>
          <p:nvPr/>
        </p:nvSpPr>
        <p:spPr>
          <a:xfrm>
            <a:off x="6199632" y="1719072"/>
            <a:ext cx="2414016" cy="256032"/>
          </a:xfrm>
          <a:prstGeom prst="rect">
            <a:avLst/>
          </a:prstGeom>
          <a:noFill/>
        </p:spPr>
        <p:txBody>
          <a:bodyPr wrap="square" lIns="45720" tIns="18288" rIns="45720" bIns="18288" anchor="t">
            <a:spAutoFit/>
          </a:bodyPr>
          <a:lstStyle/>
          <a:p>
            <a:pPr algn="l"/>
            <a:r>
              <a:rPr sz="1000" b="1" i="0">
                <a:solidFill>
                  <a:srgbClr val="1F2937"/>
                </a:solidFill>
                <a:latin typeface="Arial"/>
              </a:rPr>
              <a:t>Lo que no sabemos que no sabemos.</a:t>
            </a:r>
          </a:p>
        </p:txBody>
      </p:sp>
      <p:sp>
        <p:nvSpPr>
          <p:cNvPr id="35" name="TextBox 34"/>
          <p:cNvSpPr txBox="1"/>
          <p:nvPr/>
        </p:nvSpPr>
        <p:spPr>
          <a:xfrm>
            <a:off x="6199632" y="2011679"/>
            <a:ext cx="2414016" cy="164592"/>
          </a:xfrm>
          <a:prstGeom prst="rect">
            <a:avLst/>
          </a:prstGeom>
          <a:noFill/>
        </p:spPr>
        <p:txBody>
          <a:bodyPr wrap="square" lIns="45720" tIns="18288" rIns="45720" bIns="18288" anchor="t">
            <a:spAutoFit/>
          </a:bodyPr>
          <a:lstStyle/>
          <a:p>
            <a:pPr algn="l"/>
            <a:r>
              <a:rPr sz="750" b="1" i="0">
                <a:solidFill>
                  <a:srgbClr val="525B66"/>
                </a:solidFill>
                <a:latin typeface="Arial"/>
              </a:rPr>
              <a:t>ESCENARIO</a:t>
            </a:r>
          </a:p>
        </p:txBody>
      </p:sp>
      <p:sp>
        <p:nvSpPr>
          <p:cNvPr id="36" name="TextBox 35"/>
          <p:cNvSpPr txBox="1"/>
          <p:nvPr/>
        </p:nvSpPr>
        <p:spPr>
          <a:xfrm>
            <a:off x="6199632" y="2176272"/>
            <a:ext cx="2414016" cy="690958"/>
          </a:xfrm>
          <a:prstGeom prst="rect">
            <a:avLst/>
          </a:prstGeom>
          <a:noFill/>
        </p:spPr>
        <p:txBody>
          <a:bodyPr wrap="square" lIns="45720" tIns="18288" rIns="45720" bIns="18288" anchor="t">
            <a:spAutoFit/>
          </a:bodyPr>
          <a:lstStyle/>
          <a:p>
            <a:pPr algn="l"/>
            <a:r>
              <a:rPr sz="850" b="0" i="1" dirty="0">
                <a:solidFill>
                  <a:srgbClr val="1F2937"/>
                </a:solidFill>
                <a:latin typeface="Arial"/>
              </a:rPr>
              <a:t>Zero-day </a:t>
            </a:r>
            <a:r>
              <a:rPr sz="850" b="0" i="1" dirty="0" err="1">
                <a:solidFill>
                  <a:srgbClr val="1F2937"/>
                </a:solidFill>
                <a:latin typeface="Arial"/>
              </a:rPr>
              <a:t>en</a:t>
            </a:r>
            <a:r>
              <a:rPr sz="850" b="0" i="1" dirty="0">
                <a:solidFill>
                  <a:srgbClr val="1F2937"/>
                </a:solidFill>
                <a:latin typeface="Arial"/>
              </a:rPr>
              <a:t> </a:t>
            </a:r>
            <a:r>
              <a:rPr sz="850" b="0" i="1" dirty="0" err="1">
                <a:solidFill>
                  <a:srgbClr val="1F2937"/>
                </a:solidFill>
                <a:latin typeface="Arial"/>
              </a:rPr>
              <a:t>el</a:t>
            </a:r>
            <a:r>
              <a:rPr sz="850" b="0" i="1" dirty="0">
                <a:solidFill>
                  <a:srgbClr val="1F2937"/>
                </a:solidFill>
                <a:latin typeface="Arial"/>
              </a:rPr>
              <a:t> </a:t>
            </a:r>
            <a:r>
              <a:rPr sz="850" b="0" i="1" dirty="0" err="1">
                <a:solidFill>
                  <a:srgbClr val="1F2937"/>
                </a:solidFill>
                <a:latin typeface="Arial"/>
              </a:rPr>
              <a:t>servidor</a:t>
            </a:r>
            <a:r>
              <a:rPr sz="850" b="0" i="1" dirty="0">
                <a:solidFill>
                  <a:srgbClr val="1F2937"/>
                </a:solidFill>
                <a:latin typeface="Arial"/>
              </a:rPr>
              <a:t> RMM. (CVE-2024-1708/1709 </a:t>
            </a:r>
            <a:r>
              <a:rPr sz="850" b="0" i="1" dirty="0" err="1">
                <a:solidFill>
                  <a:srgbClr val="1F2937"/>
                </a:solidFill>
                <a:latin typeface="Arial"/>
              </a:rPr>
              <a:t>en</a:t>
            </a:r>
            <a:r>
              <a:rPr sz="850" b="0" i="1" dirty="0">
                <a:solidFill>
                  <a:srgbClr val="1F2937"/>
                </a:solidFill>
                <a:latin typeface="Arial"/>
              </a:rPr>
              <a:t> </a:t>
            </a:r>
            <a:r>
              <a:rPr sz="850" b="0" i="1" dirty="0" err="1">
                <a:solidFill>
                  <a:srgbClr val="1F2937"/>
                </a:solidFill>
                <a:latin typeface="Arial"/>
              </a:rPr>
              <a:t>ScreenConnect</a:t>
            </a:r>
            <a:r>
              <a:rPr sz="850" b="0" i="1" dirty="0">
                <a:solidFill>
                  <a:srgbClr val="1F2937"/>
                </a:solidFill>
                <a:latin typeface="Arial"/>
              </a:rPr>
              <a:t>, CVSS 10.0): bypass de auth, admins </a:t>
            </a:r>
            <a:r>
              <a:rPr sz="850" b="0" i="1" dirty="0" err="1">
                <a:solidFill>
                  <a:srgbClr val="1F2937"/>
                </a:solidFill>
                <a:latin typeface="Arial"/>
              </a:rPr>
              <a:t>fantasma</a:t>
            </a:r>
            <a:r>
              <a:rPr sz="850" b="0" i="1" dirty="0">
                <a:solidFill>
                  <a:srgbClr val="1F2937"/>
                </a:solidFill>
                <a:latin typeface="Arial"/>
              </a:rPr>
              <a:t> sin </a:t>
            </a:r>
            <a:r>
              <a:rPr sz="850" b="0" i="1" dirty="0" err="1">
                <a:solidFill>
                  <a:srgbClr val="1F2937"/>
                </a:solidFill>
                <a:latin typeface="Arial"/>
              </a:rPr>
              <a:t>alertas</a:t>
            </a:r>
            <a:r>
              <a:rPr sz="850" b="0" i="1" dirty="0">
                <a:solidFill>
                  <a:srgbClr val="1F2937"/>
                </a:solidFill>
                <a:latin typeface="Arial"/>
              </a:rPr>
              <a:t>. Black Basta y </a:t>
            </a:r>
            <a:r>
              <a:rPr sz="850" b="0" i="1" dirty="0" err="1">
                <a:solidFill>
                  <a:srgbClr val="1F2937"/>
                </a:solidFill>
                <a:latin typeface="Arial"/>
              </a:rPr>
              <a:t>LockBit</a:t>
            </a:r>
            <a:r>
              <a:rPr sz="850" b="0" i="1" dirty="0">
                <a:solidFill>
                  <a:srgbClr val="1F2937"/>
                </a:solidFill>
                <a:latin typeface="Arial"/>
              </a:rPr>
              <a:t> </a:t>
            </a:r>
            <a:r>
              <a:rPr sz="850" b="0" i="1" dirty="0" err="1">
                <a:solidFill>
                  <a:srgbClr val="1F2937"/>
                </a:solidFill>
                <a:latin typeface="Arial"/>
              </a:rPr>
              <a:t>ya</a:t>
            </a:r>
            <a:r>
              <a:rPr sz="850" b="0" i="1" dirty="0">
                <a:solidFill>
                  <a:srgbClr val="1F2937"/>
                </a:solidFill>
                <a:latin typeface="Arial"/>
              </a:rPr>
              <a:t> lo </a:t>
            </a:r>
            <a:r>
              <a:rPr sz="850" b="0" i="1" dirty="0" err="1">
                <a:solidFill>
                  <a:srgbClr val="1F2937"/>
                </a:solidFill>
                <a:latin typeface="Arial"/>
              </a:rPr>
              <a:t>explotaban</a:t>
            </a:r>
            <a:r>
              <a:rPr sz="850" b="0" i="1" dirty="0">
                <a:solidFill>
                  <a:srgbClr val="1F2937"/>
                </a:solidFill>
                <a:latin typeface="Arial"/>
              </a:rPr>
              <a:t> antes del </a:t>
            </a:r>
            <a:r>
              <a:rPr sz="850" b="0" i="1" dirty="0" err="1">
                <a:solidFill>
                  <a:srgbClr val="1F2937"/>
                </a:solidFill>
                <a:latin typeface="Arial"/>
              </a:rPr>
              <a:t>parche</a:t>
            </a:r>
            <a:r>
              <a:rPr sz="850" b="0" i="1" dirty="0">
                <a:solidFill>
                  <a:srgbClr val="1F2937"/>
                </a:solidFill>
                <a:latin typeface="Arial"/>
              </a:rPr>
              <a:t>.</a:t>
            </a:r>
          </a:p>
        </p:txBody>
      </p:sp>
      <p:sp>
        <p:nvSpPr>
          <p:cNvPr id="39" name="TextBox 38"/>
          <p:cNvSpPr txBox="1"/>
          <p:nvPr/>
        </p:nvSpPr>
        <p:spPr>
          <a:xfrm>
            <a:off x="6199632" y="4142231"/>
            <a:ext cx="2414016" cy="167738"/>
          </a:xfrm>
          <a:prstGeom prst="rect">
            <a:avLst/>
          </a:prstGeom>
          <a:noFill/>
        </p:spPr>
        <p:txBody>
          <a:bodyPr wrap="square" lIns="45720" tIns="18288" rIns="45720" bIns="18288" anchor="t">
            <a:spAutoFit/>
          </a:bodyPr>
          <a:lstStyle/>
          <a:p>
            <a:pPr algn="l"/>
            <a:r>
              <a:rPr lang="es-419" sz="850" b="1" i="0" dirty="0">
                <a:solidFill>
                  <a:srgbClr val="B2163F"/>
                </a:solidFill>
                <a:latin typeface="Arial"/>
              </a:rPr>
              <a:t>Aca</a:t>
            </a:r>
            <a:r>
              <a:rPr sz="850" b="1" i="0" dirty="0">
                <a:solidFill>
                  <a:srgbClr val="B2163F"/>
                </a:solidFill>
                <a:latin typeface="Arial"/>
              </a:rPr>
              <a:t> </a:t>
            </a:r>
            <a:r>
              <a:rPr sz="850" b="1" i="0" dirty="0" err="1">
                <a:solidFill>
                  <a:srgbClr val="B2163F"/>
                </a:solidFill>
                <a:latin typeface="Arial"/>
              </a:rPr>
              <a:t>vive</a:t>
            </a:r>
            <a:r>
              <a:rPr sz="850" b="1" i="0" dirty="0">
                <a:solidFill>
                  <a:srgbClr val="B2163F"/>
                </a:solidFill>
                <a:latin typeface="Arial"/>
              </a:rPr>
              <a:t> la </a:t>
            </a:r>
            <a:r>
              <a:rPr sz="850" b="1" i="0" dirty="0" err="1">
                <a:solidFill>
                  <a:srgbClr val="B2163F"/>
                </a:solidFill>
                <a:latin typeface="Arial"/>
              </a:rPr>
              <a:t>inteligencia</a:t>
            </a:r>
            <a:r>
              <a:rPr sz="850" b="1" i="0" dirty="0">
                <a:solidFill>
                  <a:srgbClr val="B2163F"/>
                </a:solidFill>
                <a:latin typeface="Arial"/>
              </a:rPr>
              <a:t> </a:t>
            </a:r>
            <a:r>
              <a:rPr sz="850" b="1" i="0" dirty="0" err="1">
                <a:solidFill>
                  <a:srgbClr val="B2163F"/>
                </a:solidFill>
                <a:latin typeface="Arial"/>
              </a:rPr>
              <a:t>anticipatoria</a:t>
            </a:r>
            <a:r>
              <a:rPr sz="850" b="1" i="0" dirty="0">
                <a:solidFill>
                  <a:srgbClr val="B2163F"/>
                </a:solidFill>
                <a:latin typeface="Arial"/>
              </a:rPr>
              <a:t>.</a:t>
            </a:r>
          </a:p>
        </p:txBody>
      </p:sp>
      <p:sp>
        <p:nvSpPr>
          <p:cNvPr id="40" name="Rectangle 39"/>
          <p:cNvSpPr/>
          <p:nvPr/>
        </p:nvSpPr>
        <p:spPr>
          <a:xfrm>
            <a:off x="365760" y="4480560"/>
            <a:ext cx="8412480" cy="292608"/>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5760" y="4480560"/>
            <a:ext cx="8412480" cy="292608"/>
          </a:xfrm>
          <a:prstGeom prst="rect">
            <a:avLst/>
          </a:prstGeom>
          <a:noFill/>
        </p:spPr>
        <p:txBody>
          <a:bodyPr wrap="square" lIns="45720" tIns="18288" rIns="45720" bIns="18288" anchor="ctr">
            <a:spAutoFit/>
          </a:bodyPr>
          <a:lstStyle/>
          <a:p>
            <a:pPr algn="ctr"/>
            <a:r>
              <a:rPr sz="1100" b="1" i="0">
                <a:solidFill>
                  <a:srgbClr val="FFFFFF"/>
                </a:solidFill>
                <a:latin typeface="Arial"/>
              </a:rPr>
              <a:t>El objetivo de CTI: mover lo máximo posible de Unknown a Known — y aceptar lo que no podés mover.</a:t>
            </a:r>
          </a:p>
        </p:txBody>
      </p:sp>
      <p:sp>
        <p:nvSpPr>
          <p:cNvPr id="43" name="TextBox 42"/>
          <p:cNvSpPr txBox="1"/>
          <p:nvPr/>
        </p:nvSpPr>
        <p:spPr>
          <a:xfrm>
            <a:off x="8046720" y="4818888"/>
            <a:ext cx="868680" cy="274320"/>
          </a:xfrm>
          <a:prstGeom prst="rect">
            <a:avLst/>
          </a:prstGeom>
          <a:noFill/>
        </p:spPr>
        <p:txBody>
          <a:bodyPr wrap="square" lIns="45720" tIns="18288" rIns="45720" bIns="18288" anchor="t">
            <a:spAutoFit/>
          </a:bodyPr>
          <a:lstStyle/>
          <a:p>
            <a:pPr algn="r"/>
            <a:r>
              <a:rPr sz="800" b="0" i="0">
                <a:solidFill>
                  <a:srgbClr val="525B66"/>
                </a:solidFill>
                <a:latin typeface="Arial"/>
              </a:rPr>
              <a:t>8 / 38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8412480" cy="365760"/>
          </a:xfrm>
          <a:prstGeom prst="rect">
            <a:avLst/>
          </a:prstGeom>
          <a:noFill/>
        </p:spPr>
        <p:txBody>
          <a:bodyPr wrap="square" lIns="45720" tIns="18288" rIns="45720" bIns="18288" anchor="t">
            <a:spAutoFit/>
          </a:bodyPr>
          <a:lstStyle/>
          <a:p>
            <a:pPr algn="l"/>
            <a:r>
              <a:rPr sz="2200" b="1" i="0">
                <a:solidFill>
                  <a:srgbClr val="FFFFFF"/>
                </a:solidFill>
                <a:latin typeface="Arial"/>
              </a:rPr>
              <a:t>Visualizando los Knowns / Unknowns</a:t>
            </a:r>
          </a:p>
        </p:txBody>
      </p:sp>
      <p:sp>
        <p:nvSpPr>
          <p:cNvPr id="5" name="TextBox 4"/>
          <p:cNvSpPr txBox="1"/>
          <p:nvPr/>
        </p:nvSpPr>
        <p:spPr>
          <a:xfrm>
            <a:off x="365760" y="429768"/>
            <a:ext cx="8412480" cy="237744"/>
          </a:xfrm>
          <a:prstGeom prst="rect">
            <a:avLst/>
          </a:prstGeom>
          <a:noFill/>
        </p:spPr>
        <p:txBody>
          <a:bodyPr wrap="square" lIns="45720" tIns="18288" rIns="45720" bIns="18288" anchor="t">
            <a:spAutoFit/>
          </a:bodyPr>
          <a:lstStyle/>
          <a:p>
            <a:pPr algn="l"/>
            <a:r>
              <a:rPr sz="1100" b="0" i="1">
                <a:solidFill>
                  <a:srgbClr val="FFFFFF"/>
                </a:solidFill>
                <a:latin typeface="Arial"/>
              </a:rPr>
              <a:t>El mismo marco del slide anterior — aplicado al modelado de adversarios (Attack Trees).</a:t>
            </a:r>
          </a:p>
        </p:txBody>
      </p:sp>
      <p:pic>
        <p:nvPicPr>
          <p:cNvPr id="6" name="Picture 5" descr="unknow unknow.jpg"/>
          <p:cNvPicPr>
            <a:picLocks noChangeAspect="1"/>
          </p:cNvPicPr>
          <p:nvPr/>
        </p:nvPicPr>
        <p:blipFill>
          <a:blip r:embed="rId2"/>
          <a:stretch>
            <a:fillRect/>
          </a:stretch>
        </p:blipFill>
        <p:spPr>
          <a:xfrm>
            <a:off x="2930979" y="715072"/>
            <a:ext cx="6213021" cy="4428428"/>
          </a:xfrm>
          <a:prstGeom prst="rect">
            <a:avLst/>
          </a:prstGeom>
        </p:spPr>
      </p:pic>
      <p:sp>
        <p:nvSpPr>
          <p:cNvPr id="11" name="TextBox 10"/>
          <p:cNvSpPr txBox="1"/>
          <p:nvPr/>
        </p:nvSpPr>
        <p:spPr>
          <a:xfrm>
            <a:off x="8046720" y="4818888"/>
            <a:ext cx="868680" cy="274320"/>
          </a:xfrm>
          <a:prstGeom prst="rect">
            <a:avLst/>
          </a:prstGeom>
          <a:noFill/>
        </p:spPr>
        <p:txBody>
          <a:bodyPr wrap="square" lIns="45720" tIns="18288" rIns="45720" bIns="18288" anchor="t">
            <a:spAutoFit/>
          </a:bodyPr>
          <a:lstStyle/>
          <a:p>
            <a:pPr algn="r"/>
            <a:r>
              <a:rPr sz="800" b="0" i="0">
                <a:solidFill>
                  <a:srgbClr val="525B66"/>
                </a:solidFill>
                <a:latin typeface="Arial"/>
              </a:rPr>
              <a:t>9 / 38</a:t>
            </a:r>
          </a:p>
        </p:txBody>
      </p:sp>
      <p:pic>
        <p:nvPicPr>
          <p:cNvPr id="13" name="Picture 12">
            <a:extLst>
              <a:ext uri="{FF2B5EF4-FFF2-40B4-BE49-F238E27FC236}">
                <a16:creationId xmlns:a16="http://schemas.microsoft.com/office/drawing/2014/main" id="{F594C73F-5C5A-9148-236E-E029D9C739A9}"/>
              </a:ext>
            </a:extLst>
          </p:cNvPr>
          <p:cNvPicPr>
            <a:picLocks noChangeAspect="1"/>
          </p:cNvPicPr>
          <p:nvPr/>
        </p:nvPicPr>
        <p:blipFill>
          <a:blip r:embed="rId3"/>
          <a:stretch>
            <a:fillRect/>
          </a:stretch>
        </p:blipFill>
        <p:spPr>
          <a:xfrm>
            <a:off x="693964" y="721396"/>
            <a:ext cx="1721913" cy="2063605"/>
          </a:xfrm>
          <a:prstGeom prst="rect">
            <a:avLst/>
          </a:prstGeom>
        </p:spPr>
      </p:pic>
      <p:sp>
        <p:nvSpPr>
          <p:cNvPr id="14" name="TextBox 13">
            <a:extLst>
              <a:ext uri="{FF2B5EF4-FFF2-40B4-BE49-F238E27FC236}">
                <a16:creationId xmlns:a16="http://schemas.microsoft.com/office/drawing/2014/main" id="{EE93A2D0-52B2-482D-5A47-D537F6414A06}"/>
              </a:ext>
            </a:extLst>
          </p:cNvPr>
          <p:cNvSpPr txBox="1"/>
          <p:nvPr/>
        </p:nvSpPr>
        <p:spPr>
          <a:xfrm>
            <a:off x="0" y="2822557"/>
            <a:ext cx="2735036" cy="1114151"/>
          </a:xfrm>
          <a:prstGeom prst="rect">
            <a:avLst/>
          </a:prstGeom>
          <a:noFill/>
        </p:spPr>
        <p:txBody>
          <a:bodyPr wrap="square" lIns="45720" tIns="18288" rIns="45720" bIns="18288" anchor="t">
            <a:spAutoFit/>
          </a:bodyPr>
          <a:lstStyle/>
          <a:p>
            <a:r>
              <a:rPr lang="en-US" sz="1000" dirty="0">
                <a:solidFill>
                  <a:srgbClr val="1F2937"/>
                </a:solidFill>
                <a:sym typeface="Urbanist"/>
              </a:rPr>
              <a:t>El </a:t>
            </a:r>
            <a:r>
              <a:rPr lang="en-US" sz="1000" dirty="0" err="1">
                <a:solidFill>
                  <a:srgbClr val="1F2937"/>
                </a:solidFill>
                <a:sym typeface="Urbanist"/>
              </a:rPr>
              <a:t>Secretario</a:t>
            </a:r>
            <a:r>
              <a:rPr lang="en-US" sz="1000" dirty="0">
                <a:solidFill>
                  <a:srgbClr val="1F2937"/>
                </a:solidFill>
                <a:sym typeface="Urbanist"/>
              </a:rPr>
              <a:t> de Defensa de EE.UU, </a:t>
            </a:r>
            <a:r>
              <a:rPr lang="en-US" sz="1000" dirty="0" err="1">
                <a:solidFill>
                  <a:srgbClr val="1F2937"/>
                </a:solidFill>
                <a:sym typeface="Urbanist"/>
              </a:rPr>
              <a:t>durante</a:t>
            </a:r>
            <a:r>
              <a:rPr lang="en-US" sz="1000" dirty="0">
                <a:solidFill>
                  <a:srgbClr val="1F2937"/>
                </a:solidFill>
                <a:sym typeface="Urbanist"/>
              </a:rPr>
              <a:t> la Guerra </a:t>
            </a:r>
            <a:r>
              <a:rPr lang="en-US" sz="1000" dirty="0" err="1">
                <a:solidFill>
                  <a:srgbClr val="1F2937"/>
                </a:solidFill>
                <a:sym typeface="Urbanist"/>
              </a:rPr>
              <a:t>en</a:t>
            </a:r>
            <a:r>
              <a:rPr lang="en-US" sz="1000" dirty="0">
                <a:solidFill>
                  <a:srgbClr val="1F2937"/>
                </a:solidFill>
                <a:sym typeface="Urbanist"/>
              </a:rPr>
              <a:t> </a:t>
            </a:r>
            <a:r>
              <a:rPr lang="en-US" sz="1000" dirty="0" err="1">
                <a:solidFill>
                  <a:srgbClr val="1F2937"/>
                </a:solidFill>
                <a:sym typeface="Urbanist"/>
              </a:rPr>
              <a:t>Irak</a:t>
            </a:r>
            <a:r>
              <a:rPr lang="en-US" sz="1000" dirty="0">
                <a:solidFill>
                  <a:srgbClr val="1F2937"/>
                </a:solidFill>
                <a:sym typeface="Urbanist"/>
              </a:rPr>
              <a:t>, </a:t>
            </a:r>
            <a:r>
              <a:rPr lang="en-US" sz="1000" dirty="0" err="1">
                <a:solidFill>
                  <a:srgbClr val="1F2937"/>
                </a:solidFill>
                <a:sym typeface="Urbanist"/>
              </a:rPr>
              <a:t>popularizó</a:t>
            </a:r>
            <a:r>
              <a:rPr lang="en-US" sz="1000" dirty="0">
                <a:solidFill>
                  <a:srgbClr val="1F2937"/>
                </a:solidFill>
                <a:sym typeface="Urbanist"/>
              </a:rPr>
              <a:t> un </a:t>
            </a:r>
            <a:r>
              <a:rPr lang="en-US" sz="1000" dirty="0" err="1">
                <a:solidFill>
                  <a:srgbClr val="1F2937"/>
                </a:solidFill>
                <a:sym typeface="Urbanist"/>
              </a:rPr>
              <a:t>marco</a:t>
            </a:r>
            <a:r>
              <a:rPr lang="en-US" sz="1000" dirty="0">
                <a:solidFill>
                  <a:srgbClr val="1F2937"/>
                </a:solidFill>
                <a:sym typeface="Urbanist"/>
              </a:rPr>
              <a:t> de </a:t>
            </a:r>
            <a:r>
              <a:rPr lang="en-US" sz="1000" dirty="0" err="1">
                <a:solidFill>
                  <a:srgbClr val="1F2937"/>
                </a:solidFill>
                <a:sym typeface="Urbanist"/>
              </a:rPr>
              <a:t>gestión</a:t>
            </a:r>
            <a:r>
              <a:rPr lang="en-US" sz="1000" dirty="0">
                <a:solidFill>
                  <a:srgbClr val="1F2937"/>
                </a:solidFill>
                <a:sym typeface="Urbanist"/>
              </a:rPr>
              <a:t> de </a:t>
            </a:r>
            <a:r>
              <a:rPr lang="en-US" sz="1000" dirty="0" err="1">
                <a:solidFill>
                  <a:srgbClr val="1F2937"/>
                </a:solidFill>
                <a:sym typeface="Urbanist"/>
              </a:rPr>
              <a:t>riesgos</a:t>
            </a:r>
            <a:r>
              <a:rPr lang="en-US" sz="1000" dirty="0">
                <a:solidFill>
                  <a:srgbClr val="1F2937"/>
                </a:solidFill>
                <a:sym typeface="Urbanist"/>
              </a:rPr>
              <a:t> </a:t>
            </a:r>
            <a:r>
              <a:rPr lang="en-US" sz="1000" dirty="0" err="1">
                <a:solidFill>
                  <a:srgbClr val="1F2937"/>
                </a:solidFill>
                <a:sym typeface="Urbanist"/>
              </a:rPr>
              <a:t>basado</a:t>
            </a:r>
            <a:r>
              <a:rPr lang="en-US" sz="1000" dirty="0">
                <a:solidFill>
                  <a:srgbClr val="1F2937"/>
                </a:solidFill>
                <a:sym typeface="Urbanist"/>
              </a:rPr>
              <a:t> </a:t>
            </a:r>
            <a:r>
              <a:rPr lang="en-US" sz="1000" dirty="0" err="1">
                <a:solidFill>
                  <a:srgbClr val="1F2937"/>
                </a:solidFill>
                <a:sym typeface="Urbanist"/>
              </a:rPr>
              <a:t>en</a:t>
            </a:r>
            <a:r>
              <a:rPr lang="en-US" sz="1000" dirty="0">
                <a:solidFill>
                  <a:srgbClr val="1F2937"/>
                </a:solidFill>
                <a:sym typeface="Urbanist"/>
              </a:rPr>
              <a:t> lo </a:t>
            </a:r>
            <a:r>
              <a:rPr lang="en-US" sz="1000" dirty="0" err="1">
                <a:solidFill>
                  <a:srgbClr val="1F2937"/>
                </a:solidFill>
                <a:sym typeface="Urbanist"/>
              </a:rPr>
              <a:t>que</a:t>
            </a:r>
            <a:r>
              <a:rPr lang="en-US" sz="1000" dirty="0">
                <a:solidFill>
                  <a:srgbClr val="1F2937"/>
                </a:solidFill>
                <a:sym typeface="Urbanist"/>
              </a:rPr>
              <a:t> </a:t>
            </a:r>
            <a:r>
              <a:rPr lang="en-US" sz="1000" dirty="0" err="1">
                <a:solidFill>
                  <a:srgbClr val="1F2937"/>
                </a:solidFill>
                <a:sym typeface="Urbanist"/>
              </a:rPr>
              <a:t>sabemos</a:t>
            </a:r>
            <a:r>
              <a:rPr lang="en-US" sz="1000" dirty="0">
                <a:solidFill>
                  <a:srgbClr val="1F2937"/>
                </a:solidFill>
                <a:sym typeface="Urbanist"/>
              </a:rPr>
              <a:t> y lo </a:t>
            </a:r>
            <a:r>
              <a:rPr lang="en-US" sz="1000" dirty="0" err="1">
                <a:solidFill>
                  <a:srgbClr val="1F2937"/>
                </a:solidFill>
                <a:sym typeface="Urbanist"/>
              </a:rPr>
              <a:t>que</a:t>
            </a:r>
            <a:r>
              <a:rPr lang="en-US" sz="1000" dirty="0">
                <a:solidFill>
                  <a:srgbClr val="1F2937"/>
                </a:solidFill>
                <a:sym typeface="Urbanist"/>
              </a:rPr>
              <a:t> </a:t>
            </a:r>
            <a:r>
              <a:rPr lang="en-US" sz="1000" dirty="0" err="1">
                <a:solidFill>
                  <a:srgbClr val="1F2937"/>
                </a:solidFill>
                <a:sym typeface="Urbanist"/>
              </a:rPr>
              <a:t>ignoramos</a:t>
            </a:r>
            <a:r>
              <a:rPr lang="en-US" sz="1000" dirty="0">
                <a:solidFill>
                  <a:srgbClr val="1F2937"/>
                </a:solidFill>
                <a:sym typeface="Urbanist"/>
              </a:rPr>
              <a:t>. El </a:t>
            </a:r>
            <a:r>
              <a:rPr lang="en-US" sz="1000" dirty="0" err="1">
                <a:solidFill>
                  <a:srgbClr val="1F2937"/>
                </a:solidFill>
                <a:sym typeface="Urbanist"/>
              </a:rPr>
              <a:t>modelo</a:t>
            </a:r>
            <a:r>
              <a:rPr lang="en-US" sz="1000" dirty="0">
                <a:solidFill>
                  <a:srgbClr val="1F2937"/>
                </a:solidFill>
                <a:sym typeface="Urbanist"/>
              </a:rPr>
              <a:t> se </a:t>
            </a:r>
            <a:r>
              <a:rPr lang="en-US" sz="1000" dirty="0" err="1">
                <a:solidFill>
                  <a:srgbClr val="1F2937"/>
                </a:solidFill>
                <a:sym typeface="Urbanist"/>
              </a:rPr>
              <a:t>convirtio</a:t>
            </a:r>
            <a:r>
              <a:rPr lang="en-US" sz="1000">
                <a:solidFill>
                  <a:srgbClr val="1F2937"/>
                </a:solidFill>
                <a:sym typeface="Urbanist"/>
              </a:rPr>
              <a:t> en</a:t>
            </a:r>
            <a:r>
              <a:rPr lang="en-US" sz="1000" dirty="0">
                <a:solidFill>
                  <a:srgbClr val="1F2937"/>
                </a:solidFill>
                <a:sym typeface="Urbanist"/>
              </a:rPr>
              <a:t> </a:t>
            </a:r>
            <a:r>
              <a:rPr lang="en-US" sz="1000" dirty="0" err="1">
                <a:solidFill>
                  <a:srgbClr val="1F2937"/>
                </a:solidFill>
                <a:sym typeface="Urbanist"/>
              </a:rPr>
              <a:t>una</a:t>
            </a:r>
            <a:r>
              <a:rPr lang="en-US" sz="1000" dirty="0">
                <a:solidFill>
                  <a:srgbClr val="1F2937"/>
                </a:solidFill>
                <a:sym typeface="Urbanist"/>
              </a:rPr>
              <a:t> </a:t>
            </a:r>
            <a:r>
              <a:rPr lang="en-US" sz="1000" dirty="0" err="1">
                <a:solidFill>
                  <a:srgbClr val="1F2937"/>
                </a:solidFill>
                <a:sym typeface="Urbanist"/>
              </a:rPr>
              <a:t>herramienta</a:t>
            </a:r>
            <a:r>
              <a:rPr lang="en-US" sz="1000" dirty="0">
                <a:solidFill>
                  <a:srgbClr val="1F2937"/>
                </a:solidFill>
                <a:sym typeface="Urbanist"/>
              </a:rPr>
              <a:t> </a:t>
            </a:r>
            <a:r>
              <a:rPr lang="en-US" sz="1000" dirty="0" err="1">
                <a:solidFill>
                  <a:srgbClr val="1F2937"/>
                </a:solidFill>
                <a:sym typeface="Urbanist"/>
              </a:rPr>
              <a:t>esencial</a:t>
            </a:r>
            <a:r>
              <a:rPr lang="en-US" sz="1000" dirty="0">
                <a:solidFill>
                  <a:srgbClr val="1F2937"/>
                </a:solidFill>
                <a:sym typeface="Urbanist"/>
              </a:rPr>
              <a:t> para </a:t>
            </a:r>
            <a:r>
              <a:rPr lang="en-US" sz="1000" dirty="0" err="1">
                <a:solidFill>
                  <a:srgbClr val="1F2937"/>
                </a:solidFill>
                <a:sym typeface="Urbanist"/>
              </a:rPr>
              <a:t>analistas</a:t>
            </a:r>
            <a:r>
              <a:rPr lang="en-US" sz="1000" dirty="0">
                <a:solidFill>
                  <a:srgbClr val="1F2937"/>
                </a:solidFill>
                <a:sym typeface="Urbanist"/>
              </a:rPr>
              <a:t> de </a:t>
            </a:r>
            <a:r>
              <a:rPr lang="en-US" sz="1000" dirty="0" err="1">
                <a:solidFill>
                  <a:srgbClr val="1F2937"/>
                </a:solidFill>
                <a:sym typeface="Urbanist"/>
              </a:rPr>
              <a:t>inteligencia</a:t>
            </a:r>
            <a:r>
              <a:rPr lang="en-US" sz="1000" dirty="0">
                <a:solidFill>
                  <a:srgbClr val="1F2937"/>
                </a:solidFill>
                <a:sym typeface="Urbanist"/>
              </a:rPr>
              <a:t> para </a:t>
            </a:r>
            <a:r>
              <a:rPr lang="en-US" sz="1000" dirty="0" err="1">
                <a:solidFill>
                  <a:srgbClr val="1F2937"/>
                </a:solidFill>
                <a:sym typeface="Urbanist"/>
              </a:rPr>
              <a:t>categorizar</a:t>
            </a:r>
            <a:r>
              <a:rPr lang="en-US" sz="1000" dirty="0">
                <a:solidFill>
                  <a:srgbClr val="1F2937"/>
                </a:solidFill>
                <a:sym typeface="Urbanist"/>
              </a:rPr>
              <a:t> </a:t>
            </a:r>
            <a:r>
              <a:rPr lang="en-US" sz="1000" dirty="0" err="1">
                <a:solidFill>
                  <a:srgbClr val="1F2937"/>
                </a:solidFill>
                <a:sym typeface="Urbanist"/>
              </a:rPr>
              <a:t>riesgos</a:t>
            </a:r>
            <a:r>
              <a:rPr lang="en-US" sz="1000" dirty="0">
                <a:solidFill>
                  <a:srgbClr val="1F2937"/>
                </a:solidFill>
                <a:sym typeface="Urbanist"/>
              </a:rPr>
              <a:t> y </a:t>
            </a:r>
            <a:r>
              <a:rPr lang="en-US" sz="1000" dirty="0" err="1">
                <a:solidFill>
                  <a:srgbClr val="1F2937"/>
                </a:solidFill>
                <a:sym typeface="Urbanist"/>
              </a:rPr>
              <a:t>priorizar</a:t>
            </a:r>
            <a:r>
              <a:rPr lang="en-US" sz="1000" dirty="0">
                <a:solidFill>
                  <a:srgbClr val="1F2937"/>
                </a:solidFill>
                <a:sym typeface="Urbanist"/>
              </a:rPr>
              <a:t> la </a:t>
            </a:r>
            <a:r>
              <a:rPr lang="en-US" sz="1000" dirty="0" err="1">
                <a:solidFill>
                  <a:srgbClr val="1F2937"/>
                </a:solidFill>
                <a:sym typeface="Urbanist"/>
              </a:rPr>
              <a:t>recolección</a:t>
            </a:r>
            <a:r>
              <a:rPr lang="en-US" sz="1000" dirty="0">
                <a:solidFill>
                  <a:srgbClr val="1F2937"/>
                </a:solidFill>
                <a:sym typeface="Urbanist"/>
              </a:rPr>
              <a:t> de </a:t>
            </a:r>
            <a:r>
              <a:rPr lang="en-US" sz="1000" dirty="0" err="1">
                <a:solidFill>
                  <a:srgbClr val="1F2937"/>
                </a:solidFill>
                <a:sym typeface="Urbanist"/>
              </a:rPr>
              <a:t>datos</a:t>
            </a:r>
            <a:r>
              <a:rPr lang="en-US" sz="1000" dirty="0">
                <a:solidFill>
                  <a:srgbClr val="1F2937"/>
                </a:solidFill>
                <a:sym typeface="Urbanist"/>
              </a:rPr>
              <a:t>.</a:t>
            </a:r>
            <a:endParaRPr lang="en-US" sz="1000" dirty="0">
              <a:solidFill>
                <a:srgbClr val="1F2937"/>
              </a:solidFill>
            </a:endParaRPr>
          </a:p>
        </p:txBody>
      </p:sp>
    </p:spTree>
  </p:cSld>
  <p:clrMapOvr>
    <a:masterClrMapping/>
  </p:clrMapOvr>
  <p:transition spd="med">
    <p:zoom/>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right.png"/>
          <p:cNvPicPr>
            <a:picLocks noChangeAspect="1"/>
          </p:cNvPicPr>
          <p:nvPr/>
        </p:nvPicPr>
        <p:blipFill>
          <a:blip r:embed="rId2">
            <a:alphaModFix amt="12000"/>
          </a:blip>
          <a:stretch>
            <a:fillRect/>
          </a:stretch>
        </p:blipFill>
        <p:spPr>
          <a:xfrm>
            <a:off x="7772400" y="777240"/>
            <a:ext cx="2138035" cy="4206240"/>
          </a:xfrm>
          <a:prstGeom prst="rect">
            <a:avLst/>
          </a:prstGeom>
        </p:spPr>
      </p:pic>
      <p:sp>
        <p:nvSpPr>
          <p:cNvPr id="4" name="TextBox 3"/>
          <p:cNvSpPr txBox="1"/>
          <p:nvPr/>
        </p:nvSpPr>
        <p:spPr>
          <a:xfrm>
            <a:off x="365760" y="146304"/>
            <a:ext cx="8412480" cy="420624"/>
          </a:xfrm>
          <a:prstGeom prst="rect">
            <a:avLst/>
          </a:prstGeom>
          <a:noFill/>
        </p:spPr>
        <p:txBody>
          <a:bodyPr wrap="square" lIns="25400" tIns="12700" rIns="25400" bIns="12700" anchor="ctr">
            <a:spAutoFit/>
          </a:bodyPr>
          <a:lstStyle/>
          <a:p>
            <a:pPr algn="l"/>
            <a:r>
              <a:rPr sz="2000" b="1" i="0">
                <a:solidFill>
                  <a:srgbClr val="FFFFFF"/>
                </a:solidFill>
                <a:latin typeface="Arial"/>
              </a:rPr>
              <a:t>Tipos de CTI: mismo dato, distinto consumidor</a:t>
            </a:r>
          </a:p>
        </p:txBody>
      </p:sp>
      <p:sp>
        <p:nvSpPr>
          <p:cNvPr id="5" name="Rectangle 4"/>
          <p:cNvSpPr/>
          <p:nvPr/>
        </p:nvSpPr>
        <p:spPr>
          <a:xfrm>
            <a:off x="365760" y="1005840"/>
            <a:ext cx="2697480" cy="35204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005840"/>
            <a:ext cx="2697480" cy="50292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005840"/>
            <a:ext cx="2697480" cy="502920"/>
          </a:xfrm>
          <a:prstGeom prst="rect">
            <a:avLst/>
          </a:prstGeom>
          <a:noFill/>
        </p:spPr>
        <p:txBody>
          <a:bodyPr wrap="square" lIns="25400" tIns="12700" rIns="25400" bIns="12700" anchor="ctr">
            <a:spAutoFit/>
          </a:bodyPr>
          <a:lstStyle/>
          <a:p>
            <a:pPr algn="ctr"/>
            <a:r>
              <a:rPr sz="1500" b="1" i="0" spc="400">
                <a:solidFill>
                  <a:srgbClr val="FFFFFF"/>
                </a:solidFill>
                <a:latin typeface="Arial"/>
              </a:rPr>
              <a:t>ESTRATÉGICA</a:t>
            </a:r>
          </a:p>
        </p:txBody>
      </p:sp>
      <p:sp>
        <p:nvSpPr>
          <p:cNvPr id="8" name="TextBox 7"/>
          <p:cNvSpPr txBox="1"/>
          <p:nvPr/>
        </p:nvSpPr>
        <p:spPr>
          <a:xfrm>
            <a:off x="548640" y="1645920"/>
            <a:ext cx="2423160" cy="274320"/>
          </a:xfrm>
          <a:prstGeom prst="rect">
            <a:avLst/>
          </a:prstGeom>
          <a:noFill/>
        </p:spPr>
        <p:txBody>
          <a:bodyPr wrap="square" lIns="25400" tIns="12700" rIns="25400" bIns="12700" anchor="t">
            <a:spAutoFit/>
          </a:bodyPr>
          <a:lstStyle/>
          <a:p>
            <a:pPr algn="l"/>
            <a:r>
              <a:rPr sz="900" b="1" i="0" spc="300">
                <a:solidFill>
                  <a:srgbClr val="525B66"/>
                </a:solidFill>
                <a:latin typeface="Arial"/>
              </a:rPr>
              <a:t>CONSUMIDOR</a:t>
            </a:r>
          </a:p>
        </p:txBody>
      </p:sp>
      <p:sp>
        <p:nvSpPr>
          <p:cNvPr id="9" name="TextBox 8"/>
          <p:cNvSpPr txBox="1"/>
          <p:nvPr/>
        </p:nvSpPr>
        <p:spPr>
          <a:xfrm>
            <a:off x="548640" y="1874519"/>
            <a:ext cx="2423160" cy="365760"/>
          </a:xfrm>
          <a:prstGeom prst="rect">
            <a:avLst/>
          </a:prstGeom>
          <a:noFill/>
        </p:spPr>
        <p:txBody>
          <a:bodyPr wrap="square" lIns="25400" tIns="12700" rIns="25400" bIns="12700" anchor="t">
            <a:spAutoFit/>
          </a:bodyPr>
          <a:lstStyle/>
          <a:p>
            <a:pPr algn="l"/>
            <a:r>
              <a:rPr sz="1200" b="1" i="0">
                <a:solidFill>
                  <a:srgbClr val="1F2937"/>
                </a:solidFill>
                <a:latin typeface="Arial"/>
              </a:rPr>
              <a:t>CISO · Board · CEO</a:t>
            </a:r>
          </a:p>
        </p:txBody>
      </p:sp>
      <p:sp>
        <p:nvSpPr>
          <p:cNvPr id="10" name="TextBox 9"/>
          <p:cNvSpPr txBox="1"/>
          <p:nvPr/>
        </p:nvSpPr>
        <p:spPr>
          <a:xfrm>
            <a:off x="548640" y="2331720"/>
            <a:ext cx="2423160" cy="274320"/>
          </a:xfrm>
          <a:prstGeom prst="rect">
            <a:avLst/>
          </a:prstGeom>
          <a:noFill/>
        </p:spPr>
        <p:txBody>
          <a:bodyPr wrap="square" lIns="25400" tIns="12700" rIns="25400" bIns="12700" anchor="t">
            <a:spAutoFit/>
          </a:bodyPr>
          <a:lstStyle/>
          <a:p>
            <a:pPr algn="l"/>
            <a:r>
              <a:rPr sz="900" b="1" i="0" spc="300">
                <a:solidFill>
                  <a:srgbClr val="525B66"/>
                </a:solidFill>
                <a:latin typeface="Arial"/>
              </a:rPr>
              <a:t>CONTENIDO</a:t>
            </a:r>
          </a:p>
        </p:txBody>
      </p:sp>
      <p:sp>
        <p:nvSpPr>
          <p:cNvPr id="11" name="TextBox 10"/>
          <p:cNvSpPr txBox="1"/>
          <p:nvPr/>
        </p:nvSpPr>
        <p:spPr>
          <a:xfrm>
            <a:off x="548640" y="2560320"/>
            <a:ext cx="2423160" cy="1097280"/>
          </a:xfrm>
          <a:prstGeom prst="rect">
            <a:avLst/>
          </a:prstGeom>
          <a:noFill/>
        </p:spPr>
        <p:txBody>
          <a:bodyPr wrap="square" lIns="25400" tIns="12700" rIns="25400" bIns="12700" anchor="t">
            <a:spAutoFit/>
          </a:bodyPr>
          <a:lstStyle/>
          <a:p>
            <a:pPr algn="l"/>
            <a:r>
              <a:rPr sz="1100" b="0" i="0">
                <a:solidFill>
                  <a:srgbClr val="1F2937"/>
                </a:solidFill>
                <a:latin typeface="Arial"/>
              </a:rPr>
              <a:t>Tendencias, riesgos geopolíticos, decisiones de inversión.</a:t>
            </a:r>
          </a:p>
        </p:txBody>
      </p:sp>
      <p:sp>
        <p:nvSpPr>
          <p:cNvPr id="12" name="TextBox 11"/>
          <p:cNvSpPr txBox="1"/>
          <p:nvPr/>
        </p:nvSpPr>
        <p:spPr>
          <a:xfrm>
            <a:off x="548640" y="3749039"/>
            <a:ext cx="2423160" cy="274320"/>
          </a:xfrm>
          <a:prstGeom prst="rect">
            <a:avLst/>
          </a:prstGeom>
          <a:noFill/>
        </p:spPr>
        <p:txBody>
          <a:bodyPr wrap="square" lIns="25400" tIns="12700" rIns="25400" bIns="12700" anchor="t">
            <a:spAutoFit/>
          </a:bodyPr>
          <a:lstStyle/>
          <a:p>
            <a:pPr algn="l"/>
            <a:r>
              <a:rPr sz="900" b="1" i="0" spc="300">
                <a:solidFill>
                  <a:srgbClr val="525B66"/>
                </a:solidFill>
                <a:latin typeface="Arial"/>
              </a:rPr>
              <a:t>HORIZONTE</a:t>
            </a:r>
          </a:p>
        </p:txBody>
      </p:sp>
      <p:sp>
        <p:nvSpPr>
          <p:cNvPr id="13" name="TextBox 12"/>
          <p:cNvSpPr txBox="1"/>
          <p:nvPr/>
        </p:nvSpPr>
        <p:spPr>
          <a:xfrm>
            <a:off x="548640" y="3977639"/>
            <a:ext cx="2423160" cy="365760"/>
          </a:xfrm>
          <a:prstGeom prst="rect">
            <a:avLst/>
          </a:prstGeom>
          <a:noFill/>
        </p:spPr>
        <p:txBody>
          <a:bodyPr wrap="square" lIns="25400" tIns="12700" rIns="25400" bIns="12700" anchor="t">
            <a:spAutoFit/>
          </a:bodyPr>
          <a:lstStyle/>
          <a:p>
            <a:pPr algn="l"/>
            <a:r>
              <a:rPr sz="1200" b="1" i="0">
                <a:solidFill>
                  <a:srgbClr val="B2163F"/>
                </a:solidFill>
                <a:latin typeface="Arial"/>
              </a:rPr>
              <a:t>Meses → años</a:t>
            </a:r>
          </a:p>
        </p:txBody>
      </p:sp>
      <p:sp>
        <p:nvSpPr>
          <p:cNvPr id="14" name="Rectangle 13"/>
          <p:cNvSpPr/>
          <p:nvPr/>
        </p:nvSpPr>
        <p:spPr>
          <a:xfrm>
            <a:off x="3200400" y="1005840"/>
            <a:ext cx="2697480" cy="35204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0" y="1005840"/>
            <a:ext cx="2697480" cy="5029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0" y="1005840"/>
            <a:ext cx="2697480" cy="502920"/>
          </a:xfrm>
          <a:prstGeom prst="rect">
            <a:avLst/>
          </a:prstGeom>
          <a:noFill/>
        </p:spPr>
        <p:txBody>
          <a:bodyPr wrap="square" lIns="25400" tIns="12700" rIns="25400" bIns="12700" anchor="ctr">
            <a:spAutoFit/>
          </a:bodyPr>
          <a:lstStyle/>
          <a:p>
            <a:pPr algn="ctr"/>
            <a:r>
              <a:rPr sz="1500" b="1" i="0" spc="400">
                <a:solidFill>
                  <a:srgbClr val="FFFFFF"/>
                </a:solidFill>
                <a:latin typeface="Arial"/>
              </a:rPr>
              <a:t>OPERACIONAL</a:t>
            </a:r>
          </a:p>
        </p:txBody>
      </p:sp>
      <p:sp>
        <p:nvSpPr>
          <p:cNvPr id="17" name="TextBox 16"/>
          <p:cNvSpPr txBox="1"/>
          <p:nvPr/>
        </p:nvSpPr>
        <p:spPr>
          <a:xfrm>
            <a:off x="3383280" y="1645920"/>
            <a:ext cx="2423160" cy="274320"/>
          </a:xfrm>
          <a:prstGeom prst="rect">
            <a:avLst/>
          </a:prstGeom>
          <a:noFill/>
        </p:spPr>
        <p:txBody>
          <a:bodyPr wrap="square" lIns="25400" tIns="12700" rIns="25400" bIns="12700" anchor="t">
            <a:spAutoFit/>
          </a:bodyPr>
          <a:lstStyle/>
          <a:p>
            <a:pPr algn="l"/>
            <a:r>
              <a:rPr sz="900" b="1" i="0" spc="300">
                <a:solidFill>
                  <a:srgbClr val="525B66"/>
                </a:solidFill>
                <a:latin typeface="Arial"/>
              </a:rPr>
              <a:t>CONSUMIDOR</a:t>
            </a:r>
          </a:p>
        </p:txBody>
      </p:sp>
      <p:sp>
        <p:nvSpPr>
          <p:cNvPr id="18" name="TextBox 17"/>
          <p:cNvSpPr txBox="1"/>
          <p:nvPr/>
        </p:nvSpPr>
        <p:spPr>
          <a:xfrm>
            <a:off x="3383280" y="1874519"/>
            <a:ext cx="2423160" cy="365760"/>
          </a:xfrm>
          <a:prstGeom prst="rect">
            <a:avLst/>
          </a:prstGeom>
          <a:noFill/>
        </p:spPr>
        <p:txBody>
          <a:bodyPr wrap="square" lIns="25400" tIns="12700" rIns="25400" bIns="12700" anchor="t">
            <a:spAutoFit/>
          </a:bodyPr>
          <a:lstStyle/>
          <a:p>
            <a:pPr algn="l"/>
            <a:r>
              <a:rPr sz="1200" b="1" i="0">
                <a:solidFill>
                  <a:srgbClr val="1F2937"/>
                </a:solidFill>
                <a:latin typeface="Arial"/>
              </a:rPr>
              <a:t>SOC Manager · IR Lead</a:t>
            </a:r>
          </a:p>
        </p:txBody>
      </p:sp>
      <p:sp>
        <p:nvSpPr>
          <p:cNvPr id="19" name="TextBox 18"/>
          <p:cNvSpPr txBox="1"/>
          <p:nvPr/>
        </p:nvSpPr>
        <p:spPr>
          <a:xfrm>
            <a:off x="3383280" y="2331720"/>
            <a:ext cx="2423160" cy="274320"/>
          </a:xfrm>
          <a:prstGeom prst="rect">
            <a:avLst/>
          </a:prstGeom>
          <a:noFill/>
        </p:spPr>
        <p:txBody>
          <a:bodyPr wrap="square" lIns="25400" tIns="12700" rIns="25400" bIns="12700" anchor="t">
            <a:spAutoFit/>
          </a:bodyPr>
          <a:lstStyle/>
          <a:p>
            <a:pPr algn="l"/>
            <a:r>
              <a:rPr sz="900" b="1" i="0" spc="300">
                <a:solidFill>
                  <a:srgbClr val="525B66"/>
                </a:solidFill>
                <a:latin typeface="Arial"/>
              </a:rPr>
              <a:t>CONTENIDO</a:t>
            </a:r>
          </a:p>
        </p:txBody>
      </p:sp>
      <p:sp>
        <p:nvSpPr>
          <p:cNvPr id="20" name="TextBox 19"/>
          <p:cNvSpPr txBox="1"/>
          <p:nvPr/>
        </p:nvSpPr>
        <p:spPr>
          <a:xfrm>
            <a:off x="3383280" y="2560320"/>
            <a:ext cx="2423160" cy="1097280"/>
          </a:xfrm>
          <a:prstGeom prst="rect">
            <a:avLst/>
          </a:prstGeom>
          <a:noFill/>
        </p:spPr>
        <p:txBody>
          <a:bodyPr wrap="square" lIns="25400" tIns="12700" rIns="25400" bIns="12700" anchor="t">
            <a:spAutoFit/>
          </a:bodyPr>
          <a:lstStyle/>
          <a:p>
            <a:pPr algn="l"/>
            <a:r>
              <a:rPr sz="1100" b="0" i="0">
                <a:solidFill>
                  <a:srgbClr val="1F2937"/>
                </a:solidFill>
                <a:latin typeface="Arial"/>
              </a:rPr>
              <a:t>Campañas activas, actores apuntando al sector, IOCs y TTPs.</a:t>
            </a:r>
          </a:p>
        </p:txBody>
      </p:sp>
      <p:sp>
        <p:nvSpPr>
          <p:cNvPr id="21" name="TextBox 20"/>
          <p:cNvSpPr txBox="1"/>
          <p:nvPr/>
        </p:nvSpPr>
        <p:spPr>
          <a:xfrm>
            <a:off x="3383280" y="3749039"/>
            <a:ext cx="2423160" cy="274320"/>
          </a:xfrm>
          <a:prstGeom prst="rect">
            <a:avLst/>
          </a:prstGeom>
          <a:noFill/>
        </p:spPr>
        <p:txBody>
          <a:bodyPr wrap="square" lIns="25400" tIns="12700" rIns="25400" bIns="12700" anchor="t">
            <a:spAutoFit/>
          </a:bodyPr>
          <a:lstStyle/>
          <a:p>
            <a:pPr algn="l"/>
            <a:r>
              <a:rPr sz="900" b="1" i="0" spc="300">
                <a:solidFill>
                  <a:srgbClr val="525B66"/>
                </a:solidFill>
                <a:latin typeface="Arial"/>
              </a:rPr>
              <a:t>HORIZONTE</a:t>
            </a:r>
          </a:p>
        </p:txBody>
      </p:sp>
      <p:sp>
        <p:nvSpPr>
          <p:cNvPr id="22" name="TextBox 21"/>
          <p:cNvSpPr txBox="1"/>
          <p:nvPr/>
        </p:nvSpPr>
        <p:spPr>
          <a:xfrm>
            <a:off x="3383280" y="3977639"/>
            <a:ext cx="2423160" cy="365760"/>
          </a:xfrm>
          <a:prstGeom prst="rect">
            <a:avLst/>
          </a:prstGeom>
          <a:noFill/>
        </p:spPr>
        <p:txBody>
          <a:bodyPr wrap="square" lIns="25400" tIns="12700" rIns="25400" bIns="12700" anchor="t">
            <a:spAutoFit/>
          </a:bodyPr>
          <a:lstStyle/>
          <a:p>
            <a:pPr algn="l"/>
            <a:r>
              <a:rPr sz="1200" b="1" i="0">
                <a:solidFill>
                  <a:srgbClr val="1F2937"/>
                </a:solidFill>
                <a:latin typeface="Arial"/>
              </a:rPr>
              <a:t>Semanas → meses</a:t>
            </a:r>
          </a:p>
        </p:txBody>
      </p:sp>
      <p:sp>
        <p:nvSpPr>
          <p:cNvPr id="23" name="Rectangle 22"/>
          <p:cNvSpPr/>
          <p:nvPr/>
        </p:nvSpPr>
        <p:spPr>
          <a:xfrm>
            <a:off x="6035040" y="1005840"/>
            <a:ext cx="2697480" cy="35204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035040" y="1005840"/>
            <a:ext cx="2697480" cy="50292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35040" y="1005840"/>
            <a:ext cx="2697480" cy="502920"/>
          </a:xfrm>
          <a:prstGeom prst="rect">
            <a:avLst/>
          </a:prstGeom>
          <a:noFill/>
        </p:spPr>
        <p:txBody>
          <a:bodyPr wrap="square" lIns="25400" tIns="12700" rIns="25400" bIns="12700" anchor="ctr">
            <a:spAutoFit/>
          </a:bodyPr>
          <a:lstStyle/>
          <a:p>
            <a:pPr algn="ctr"/>
            <a:r>
              <a:rPr sz="1500" b="1" i="0" spc="400">
                <a:solidFill>
                  <a:srgbClr val="FFFFFF"/>
                </a:solidFill>
                <a:latin typeface="Arial"/>
              </a:rPr>
              <a:t>TÁCTICA</a:t>
            </a:r>
          </a:p>
        </p:txBody>
      </p:sp>
      <p:sp>
        <p:nvSpPr>
          <p:cNvPr id="26" name="TextBox 25"/>
          <p:cNvSpPr txBox="1"/>
          <p:nvPr/>
        </p:nvSpPr>
        <p:spPr>
          <a:xfrm>
            <a:off x="6217920" y="1645920"/>
            <a:ext cx="2423160" cy="274320"/>
          </a:xfrm>
          <a:prstGeom prst="rect">
            <a:avLst/>
          </a:prstGeom>
          <a:noFill/>
        </p:spPr>
        <p:txBody>
          <a:bodyPr wrap="square" lIns="25400" tIns="12700" rIns="25400" bIns="12700" anchor="t">
            <a:spAutoFit/>
          </a:bodyPr>
          <a:lstStyle/>
          <a:p>
            <a:pPr algn="l"/>
            <a:r>
              <a:rPr sz="900" b="1" i="0" spc="300">
                <a:solidFill>
                  <a:srgbClr val="525B66"/>
                </a:solidFill>
                <a:latin typeface="Arial"/>
              </a:rPr>
              <a:t>CONSUMIDOR</a:t>
            </a:r>
          </a:p>
        </p:txBody>
      </p:sp>
      <p:sp>
        <p:nvSpPr>
          <p:cNvPr id="27" name="TextBox 26"/>
          <p:cNvSpPr txBox="1"/>
          <p:nvPr/>
        </p:nvSpPr>
        <p:spPr>
          <a:xfrm>
            <a:off x="6217920" y="1874519"/>
            <a:ext cx="2423160" cy="365760"/>
          </a:xfrm>
          <a:prstGeom prst="rect">
            <a:avLst/>
          </a:prstGeom>
          <a:noFill/>
        </p:spPr>
        <p:txBody>
          <a:bodyPr wrap="square" lIns="25400" tIns="12700" rIns="25400" bIns="12700" anchor="t">
            <a:spAutoFit/>
          </a:bodyPr>
          <a:lstStyle/>
          <a:p>
            <a:pPr algn="l"/>
            <a:r>
              <a:rPr sz="1200" b="1" i="0">
                <a:solidFill>
                  <a:srgbClr val="1F2937"/>
                </a:solidFill>
                <a:latin typeface="Arial"/>
              </a:rPr>
              <a:t>SOC analyst · Threat hunter</a:t>
            </a:r>
          </a:p>
        </p:txBody>
      </p:sp>
      <p:sp>
        <p:nvSpPr>
          <p:cNvPr id="28" name="TextBox 27"/>
          <p:cNvSpPr txBox="1"/>
          <p:nvPr/>
        </p:nvSpPr>
        <p:spPr>
          <a:xfrm>
            <a:off x="6217920" y="2331720"/>
            <a:ext cx="2423160" cy="274320"/>
          </a:xfrm>
          <a:prstGeom prst="rect">
            <a:avLst/>
          </a:prstGeom>
          <a:noFill/>
        </p:spPr>
        <p:txBody>
          <a:bodyPr wrap="square" lIns="25400" tIns="12700" rIns="25400" bIns="12700" anchor="t">
            <a:spAutoFit/>
          </a:bodyPr>
          <a:lstStyle/>
          <a:p>
            <a:pPr algn="l"/>
            <a:r>
              <a:rPr sz="900" b="1" i="0" spc="300">
                <a:solidFill>
                  <a:srgbClr val="525B66"/>
                </a:solidFill>
                <a:latin typeface="Arial"/>
              </a:rPr>
              <a:t>CONTENIDO</a:t>
            </a:r>
          </a:p>
        </p:txBody>
      </p:sp>
      <p:sp>
        <p:nvSpPr>
          <p:cNvPr id="29" name="TextBox 28"/>
          <p:cNvSpPr txBox="1"/>
          <p:nvPr/>
        </p:nvSpPr>
        <p:spPr>
          <a:xfrm>
            <a:off x="6217920" y="2560320"/>
            <a:ext cx="2423160" cy="1097280"/>
          </a:xfrm>
          <a:prstGeom prst="rect">
            <a:avLst/>
          </a:prstGeom>
          <a:noFill/>
        </p:spPr>
        <p:txBody>
          <a:bodyPr wrap="square" lIns="25400" tIns="12700" rIns="25400" bIns="12700" anchor="t">
            <a:spAutoFit/>
          </a:bodyPr>
          <a:lstStyle/>
          <a:p>
            <a:pPr algn="l"/>
            <a:r>
              <a:rPr sz="1100" b="0" i="0">
                <a:solidFill>
                  <a:srgbClr val="1F2937"/>
                </a:solidFill>
                <a:latin typeface="Arial"/>
              </a:rPr>
              <a:t>Reglas Sigma/YARA, IOCs concretos, hunts puntuales.</a:t>
            </a:r>
          </a:p>
        </p:txBody>
      </p:sp>
      <p:sp>
        <p:nvSpPr>
          <p:cNvPr id="30" name="TextBox 29"/>
          <p:cNvSpPr txBox="1"/>
          <p:nvPr/>
        </p:nvSpPr>
        <p:spPr>
          <a:xfrm>
            <a:off x="6217920" y="3749039"/>
            <a:ext cx="2423160" cy="274320"/>
          </a:xfrm>
          <a:prstGeom prst="rect">
            <a:avLst/>
          </a:prstGeom>
          <a:noFill/>
        </p:spPr>
        <p:txBody>
          <a:bodyPr wrap="square" lIns="25400" tIns="12700" rIns="25400" bIns="12700" anchor="t">
            <a:spAutoFit/>
          </a:bodyPr>
          <a:lstStyle/>
          <a:p>
            <a:pPr algn="l"/>
            <a:r>
              <a:rPr sz="900" b="1" i="0" spc="300">
                <a:solidFill>
                  <a:srgbClr val="525B66"/>
                </a:solidFill>
                <a:latin typeface="Arial"/>
              </a:rPr>
              <a:t>HORIZONTE</a:t>
            </a:r>
          </a:p>
        </p:txBody>
      </p:sp>
      <p:sp>
        <p:nvSpPr>
          <p:cNvPr id="31" name="TextBox 30"/>
          <p:cNvSpPr txBox="1"/>
          <p:nvPr/>
        </p:nvSpPr>
        <p:spPr>
          <a:xfrm>
            <a:off x="6217920" y="3977639"/>
            <a:ext cx="2423160" cy="365760"/>
          </a:xfrm>
          <a:prstGeom prst="rect">
            <a:avLst/>
          </a:prstGeom>
          <a:noFill/>
        </p:spPr>
        <p:txBody>
          <a:bodyPr wrap="square" lIns="25400" tIns="12700" rIns="25400" bIns="12700" anchor="t">
            <a:spAutoFit/>
          </a:bodyPr>
          <a:lstStyle/>
          <a:p>
            <a:pPr algn="l"/>
            <a:r>
              <a:rPr sz="1200" b="1" i="0">
                <a:solidFill>
                  <a:srgbClr val="E41A52"/>
                </a:solidFill>
                <a:latin typeface="Arial"/>
              </a:rPr>
              <a:t>Horas → días</a:t>
            </a:r>
          </a:p>
        </p:txBody>
      </p:sp>
      <p:sp>
        <p:nvSpPr>
          <p:cNvPr id="33" name="TextBox 32"/>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10 / 38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right.png"/>
          <p:cNvPicPr>
            <a:picLocks noChangeAspect="1"/>
          </p:cNvPicPr>
          <p:nvPr/>
        </p:nvPicPr>
        <p:blipFill>
          <a:blip r:embed="rId2">
            <a:alphaModFix amt="12000"/>
          </a:blip>
          <a:stretch>
            <a:fillRect/>
          </a:stretch>
        </p:blipFill>
        <p:spPr>
          <a:xfrm>
            <a:off x="7772400" y="777240"/>
            <a:ext cx="2138035" cy="4206240"/>
          </a:xfrm>
          <a:prstGeom prst="rect">
            <a:avLst/>
          </a:prstGeom>
        </p:spPr>
      </p:pic>
      <p:sp>
        <p:nvSpPr>
          <p:cNvPr id="4" name="TextBox 3"/>
          <p:cNvSpPr txBox="1"/>
          <p:nvPr/>
        </p:nvSpPr>
        <p:spPr>
          <a:xfrm>
            <a:off x="365760" y="189903"/>
            <a:ext cx="8412480" cy="333425"/>
          </a:xfrm>
          <a:prstGeom prst="rect">
            <a:avLst/>
          </a:prstGeom>
          <a:noFill/>
        </p:spPr>
        <p:txBody>
          <a:bodyPr wrap="square" lIns="25400" tIns="12700" rIns="25400" bIns="12700" anchor="ctr">
            <a:spAutoFit/>
          </a:bodyPr>
          <a:lstStyle/>
          <a:p>
            <a:pPr algn="l"/>
            <a:r>
              <a:rPr lang="es-419" sz="2000" b="1" i="0" dirty="0">
                <a:solidFill>
                  <a:srgbClr val="FFFFFF"/>
                </a:solidFill>
                <a:latin typeface="Arial"/>
              </a:rPr>
              <a:t>Mismo </a:t>
            </a:r>
            <a:r>
              <a:rPr sz="2000" b="1" i="0" dirty="0" err="1">
                <a:solidFill>
                  <a:srgbClr val="FFFFFF"/>
                </a:solidFill>
                <a:latin typeface="Arial"/>
              </a:rPr>
              <a:t>análisis</a:t>
            </a:r>
            <a:r>
              <a:rPr sz="2000" b="1" i="0" dirty="0">
                <a:solidFill>
                  <a:srgbClr val="FFFFFF"/>
                </a:solidFill>
                <a:latin typeface="Arial"/>
              </a:rPr>
              <a:t>, 3 </a:t>
            </a:r>
            <a:r>
              <a:rPr sz="2000" b="1" i="0" dirty="0" err="1">
                <a:solidFill>
                  <a:srgbClr val="FFFFFF"/>
                </a:solidFill>
                <a:latin typeface="Arial"/>
              </a:rPr>
              <a:t>entregables</a:t>
            </a:r>
            <a:endParaRPr sz="2000" b="1" i="0" dirty="0">
              <a:solidFill>
                <a:srgbClr val="FFFFFF"/>
              </a:solidFill>
              <a:latin typeface="Arial"/>
            </a:endParaRPr>
          </a:p>
        </p:txBody>
      </p:sp>
      <p:sp>
        <p:nvSpPr>
          <p:cNvPr id="5" name="TextBox 4"/>
          <p:cNvSpPr txBox="1"/>
          <p:nvPr/>
        </p:nvSpPr>
        <p:spPr>
          <a:xfrm>
            <a:off x="365760" y="914400"/>
            <a:ext cx="8412480" cy="225703"/>
          </a:xfrm>
          <a:prstGeom prst="rect">
            <a:avLst/>
          </a:prstGeom>
          <a:noFill/>
        </p:spPr>
        <p:txBody>
          <a:bodyPr wrap="square" lIns="25400" tIns="12700" rIns="25400" bIns="12700" anchor="t">
            <a:spAutoFit/>
          </a:bodyPr>
          <a:lstStyle/>
          <a:p>
            <a:pPr algn="l"/>
            <a:r>
              <a:rPr lang="es-419" sz="1300" b="0" i="1" dirty="0">
                <a:solidFill>
                  <a:srgbClr val="525B66"/>
                </a:solidFill>
                <a:latin typeface="Arial"/>
              </a:rPr>
              <a:t>El </a:t>
            </a:r>
            <a:r>
              <a:rPr sz="1300" b="0" i="1" dirty="0" err="1">
                <a:solidFill>
                  <a:srgbClr val="525B66"/>
                </a:solidFill>
                <a:latin typeface="Arial"/>
              </a:rPr>
              <a:t>problema</a:t>
            </a:r>
            <a:r>
              <a:rPr sz="1300" b="0" i="1" dirty="0">
                <a:solidFill>
                  <a:srgbClr val="525B66"/>
                </a:solidFill>
                <a:latin typeface="Arial"/>
              </a:rPr>
              <a:t> no es la data, es </a:t>
            </a:r>
            <a:r>
              <a:rPr sz="1300" b="0" i="1" dirty="0" err="1">
                <a:solidFill>
                  <a:srgbClr val="525B66"/>
                </a:solidFill>
                <a:latin typeface="Arial"/>
              </a:rPr>
              <a:t>el</a:t>
            </a:r>
            <a:r>
              <a:rPr sz="1300" b="0" i="1" dirty="0">
                <a:solidFill>
                  <a:srgbClr val="525B66"/>
                </a:solidFill>
                <a:latin typeface="Arial"/>
              </a:rPr>
              <a:t> storytelling</a:t>
            </a:r>
            <a:r>
              <a:rPr lang="es-419" sz="1300" b="0" i="1" dirty="0">
                <a:solidFill>
                  <a:srgbClr val="525B66"/>
                </a:solidFill>
                <a:latin typeface="Arial"/>
              </a:rPr>
              <a:t> </a:t>
            </a:r>
            <a:r>
              <a:rPr sz="1300" b="0" i="1" dirty="0">
                <a:solidFill>
                  <a:srgbClr val="525B66"/>
                </a:solidFill>
                <a:latin typeface="Arial"/>
              </a:rPr>
              <a:t>.</a:t>
            </a:r>
          </a:p>
        </p:txBody>
      </p:sp>
      <p:sp>
        <p:nvSpPr>
          <p:cNvPr id="6" name="Rectangle 5"/>
          <p:cNvSpPr/>
          <p:nvPr/>
        </p:nvSpPr>
        <p:spPr>
          <a:xfrm>
            <a:off x="365760" y="1554480"/>
            <a:ext cx="2697480" cy="28346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2697480" cy="45720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554480"/>
            <a:ext cx="2697480" cy="457200"/>
          </a:xfrm>
          <a:prstGeom prst="rect">
            <a:avLst/>
          </a:prstGeom>
          <a:noFill/>
        </p:spPr>
        <p:txBody>
          <a:bodyPr wrap="square" lIns="25400" tIns="12700" rIns="25400" bIns="12700" anchor="ctr">
            <a:spAutoFit/>
          </a:bodyPr>
          <a:lstStyle/>
          <a:p>
            <a:pPr algn="ctr"/>
            <a:r>
              <a:rPr sz="1300" b="1" i="0" spc="400" dirty="0">
                <a:solidFill>
                  <a:srgbClr val="FFFFFF"/>
                </a:solidFill>
                <a:latin typeface="Arial"/>
              </a:rPr>
              <a:t>EJECUTIVO</a:t>
            </a:r>
          </a:p>
        </p:txBody>
      </p:sp>
      <p:sp>
        <p:nvSpPr>
          <p:cNvPr id="9" name="TextBox 8"/>
          <p:cNvSpPr txBox="1"/>
          <p:nvPr/>
        </p:nvSpPr>
        <p:spPr>
          <a:xfrm>
            <a:off x="548640" y="2194560"/>
            <a:ext cx="2423160" cy="320040"/>
          </a:xfrm>
          <a:prstGeom prst="rect">
            <a:avLst/>
          </a:prstGeom>
          <a:noFill/>
        </p:spPr>
        <p:txBody>
          <a:bodyPr wrap="square" lIns="25400" tIns="12700" rIns="25400" bIns="12700" anchor="t">
            <a:spAutoFit/>
          </a:bodyPr>
          <a:lstStyle/>
          <a:p>
            <a:pPr algn="l"/>
            <a:r>
              <a:rPr sz="900" b="1" i="0" spc="300">
                <a:solidFill>
                  <a:srgbClr val="525B66"/>
                </a:solidFill>
                <a:latin typeface="Arial"/>
              </a:rPr>
              <a:t>FORMATO</a:t>
            </a:r>
          </a:p>
        </p:txBody>
      </p:sp>
      <p:sp>
        <p:nvSpPr>
          <p:cNvPr id="10" name="TextBox 9"/>
          <p:cNvSpPr txBox="1"/>
          <p:nvPr/>
        </p:nvSpPr>
        <p:spPr>
          <a:xfrm>
            <a:off x="548640" y="2423160"/>
            <a:ext cx="2423160" cy="411480"/>
          </a:xfrm>
          <a:prstGeom prst="rect">
            <a:avLst/>
          </a:prstGeom>
          <a:noFill/>
        </p:spPr>
        <p:txBody>
          <a:bodyPr wrap="square" lIns="25400" tIns="12700" rIns="25400" bIns="12700" anchor="t">
            <a:spAutoFit/>
          </a:bodyPr>
          <a:lstStyle/>
          <a:p>
            <a:pPr algn="l"/>
            <a:r>
              <a:rPr sz="1300" b="1" i="0">
                <a:solidFill>
                  <a:srgbClr val="1F2937"/>
                </a:solidFill>
                <a:latin typeface="Arial"/>
              </a:rPr>
              <a:t>1 página · 1 gráfico</a:t>
            </a:r>
          </a:p>
        </p:txBody>
      </p:sp>
      <p:sp>
        <p:nvSpPr>
          <p:cNvPr id="11" name="TextBox 10"/>
          <p:cNvSpPr txBox="1"/>
          <p:nvPr/>
        </p:nvSpPr>
        <p:spPr>
          <a:xfrm>
            <a:off x="548640" y="2926080"/>
            <a:ext cx="2423160" cy="320040"/>
          </a:xfrm>
          <a:prstGeom prst="rect">
            <a:avLst/>
          </a:prstGeom>
          <a:noFill/>
        </p:spPr>
        <p:txBody>
          <a:bodyPr wrap="square" lIns="25400" tIns="12700" rIns="25400" bIns="12700" anchor="t">
            <a:spAutoFit/>
          </a:bodyPr>
          <a:lstStyle/>
          <a:p>
            <a:pPr algn="l"/>
            <a:r>
              <a:rPr sz="900" b="1" i="0" spc="300">
                <a:solidFill>
                  <a:srgbClr val="525B66"/>
                </a:solidFill>
                <a:latin typeface="Arial"/>
              </a:rPr>
              <a:t>PREGUNTA QUE LE INTERESA</a:t>
            </a:r>
          </a:p>
        </p:txBody>
      </p:sp>
      <p:sp>
        <p:nvSpPr>
          <p:cNvPr id="12" name="TextBox 11"/>
          <p:cNvSpPr txBox="1"/>
          <p:nvPr/>
        </p:nvSpPr>
        <p:spPr>
          <a:xfrm>
            <a:off x="548640" y="3200400"/>
            <a:ext cx="2423160" cy="1097280"/>
          </a:xfrm>
          <a:prstGeom prst="rect">
            <a:avLst/>
          </a:prstGeom>
          <a:noFill/>
        </p:spPr>
        <p:txBody>
          <a:bodyPr wrap="square" lIns="25400" tIns="12700" rIns="25400" bIns="12700" anchor="t">
            <a:spAutoFit/>
          </a:bodyPr>
          <a:lstStyle/>
          <a:p>
            <a:pPr algn="l"/>
            <a:r>
              <a:rPr sz="1200" b="0" i="1">
                <a:solidFill>
                  <a:srgbClr val="1F2937"/>
                </a:solidFill>
                <a:latin typeface="Arial"/>
              </a:rPr>
              <a:t>"¿Qué amenaza nuestro negocio y cuánto cuesta mitigarla?"</a:t>
            </a:r>
          </a:p>
        </p:txBody>
      </p:sp>
      <p:sp>
        <p:nvSpPr>
          <p:cNvPr id="13" name="Rectangle 12"/>
          <p:cNvSpPr/>
          <p:nvPr/>
        </p:nvSpPr>
        <p:spPr>
          <a:xfrm>
            <a:off x="3200400" y="1554480"/>
            <a:ext cx="2697480" cy="28346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00400" y="1554480"/>
            <a:ext cx="2697480" cy="45720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00400" y="1554480"/>
            <a:ext cx="2697480" cy="457200"/>
          </a:xfrm>
          <a:prstGeom prst="rect">
            <a:avLst/>
          </a:prstGeom>
          <a:noFill/>
        </p:spPr>
        <p:txBody>
          <a:bodyPr wrap="square" lIns="25400" tIns="12700" rIns="25400" bIns="12700" anchor="ctr">
            <a:spAutoFit/>
          </a:bodyPr>
          <a:lstStyle/>
          <a:p>
            <a:pPr algn="ctr"/>
            <a:r>
              <a:rPr sz="1300" b="1" i="0" spc="400">
                <a:solidFill>
                  <a:srgbClr val="FFFFFF"/>
                </a:solidFill>
                <a:latin typeface="Arial"/>
              </a:rPr>
              <a:t>MANAGER</a:t>
            </a:r>
          </a:p>
        </p:txBody>
      </p:sp>
      <p:sp>
        <p:nvSpPr>
          <p:cNvPr id="16" name="TextBox 15"/>
          <p:cNvSpPr txBox="1"/>
          <p:nvPr/>
        </p:nvSpPr>
        <p:spPr>
          <a:xfrm>
            <a:off x="3383280" y="2194560"/>
            <a:ext cx="2423160" cy="320040"/>
          </a:xfrm>
          <a:prstGeom prst="rect">
            <a:avLst/>
          </a:prstGeom>
          <a:noFill/>
        </p:spPr>
        <p:txBody>
          <a:bodyPr wrap="square" lIns="25400" tIns="12700" rIns="25400" bIns="12700" anchor="t">
            <a:spAutoFit/>
          </a:bodyPr>
          <a:lstStyle/>
          <a:p>
            <a:pPr algn="l"/>
            <a:r>
              <a:rPr sz="900" b="1" i="0" spc="300">
                <a:solidFill>
                  <a:srgbClr val="525B66"/>
                </a:solidFill>
                <a:latin typeface="Arial"/>
              </a:rPr>
              <a:t>FORMATO</a:t>
            </a:r>
          </a:p>
        </p:txBody>
      </p:sp>
      <p:sp>
        <p:nvSpPr>
          <p:cNvPr id="17" name="TextBox 16"/>
          <p:cNvSpPr txBox="1"/>
          <p:nvPr/>
        </p:nvSpPr>
        <p:spPr>
          <a:xfrm>
            <a:off x="3383280" y="2423160"/>
            <a:ext cx="2423160" cy="225703"/>
          </a:xfrm>
          <a:prstGeom prst="rect">
            <a:avLst/>
          </a:prstGeom>
          <a:noFill/>
        </p:spPr>
        <p:txBody>
          <a:bodyPr wrap="square" lIns="25400" tIns="12700" rIns="25400" bIns="12700" anchor="t">
            <a:spAutoFit/>
          </a:bodyPr>
          <a:lstStyle/>
          <a:p>
            <a:pPr algn="l"/>
            <a:r>
              <a:rPr sz="1300" b="1" i="0" dirty="0">
                <a:solidFill>
                  <a:srgbClr val="1F2937"/>
                </a:solidFill>
                <a:latin typeface="Arial"/>
              </a:rPr>
              <a:t>1 </a:t>
            </a:r>
            <a:r>
              <a:rPr lang="es-419" sz="1300" b="1" i="0" dirty="0">
                <a:solidFill>
                  <a:srgbClr val="1F2937"/>
                </a:solidFill>
                <a:latin typeface="Arial"/>
              </a:rPr>
              <a:t>informe</a:t>
            </a:r>
            <a:r>
              <a:rPr sz="1300" b="1" i="0" dirty="0">
                <a:solidFill>
                  <a:srgbClr val="1F2937"/>
                </a:solidFill>
                <a:latin typeface="Arial"/>
              </a:rPr>
              <a:t> · 5 </a:t>
            </a:r>
            <a:r>
              <a:rPr lang="es-419" sz="1300" b="1" i="0" dirty="0">
                <a:solidFill>
                  <a:srgbClr val="1F2937"/>
                </a:solidFill>
                <a:latin typeface="Arial"/>
              </a:rPr>
              <a:t>puntos clave</a:t>
            </a:r>
            <a:endParaRPr sz="1300" b="1" i="0" dirty="0">
              <a:solidFill>
                <a:srgbClr val="1F2937"/>
              </a:solidFill>
              <a:latin typeface="Arial"/>
            </a:endParaRPr>
          </a:p>
        </p:txBody>
      </p:sp>
      <p:sp>
        <p:nvSpPr>
          <p:cNvPr id="18" name="TextBox 17"/>
          <p:cNvSpPr txBox="1"/>
          <p:nvPr/>
        </p:nvSpPr>
        <p:spPr>
          <a:xfrm>
            <a:off x="3383280" y="2926080"/>
            <a:ext cx="2423160" cy="320040"/>
          </a:xfrm>
          <a:prstGeom prst="rect">
            <a:avLst/>
          </a:prstGeom>
          <a:noFill/>
        </p:spPr>
        <p:txBody>
          <a:bodyPr wrap="square" lIns="25400" tIns="12700" rIns="25400" bIns="12700" anchor="t">
            <a:spAutoFit/>
          </a:bodyPr>
          <a:lstStyle/>
          <a:p>
            <a:pPr algn="l"/>
            <a:r>
              <a:rPr sz="900" b="1" i="0" spc="300">
                <a:solidFill>
                  <a:srgbClr val="525B66"/>
                </a:solidFill>
                <a:latin typeface="Arial"/>
              </a:rPr>
              <a:t>PREGUNTA QUE LE INTERESA</a:t>
            </a:r>
          </a:p>
        </p:txBody>
      </p:sp>
      <p:sp>
        <p:nvSpPr>
          <p:cNvPr id="19" name="TextBox 18"/>
          <p:cNvSpPr txBox="1"/>
          <p:nvPr/>
        </p:nvSpPr>
        <p:spPr>
          <a:xfrm>
            <a:off x="3383280" y="3200400"/>
            <a:ext cx="2423160" cy="579646"/>
          </a:xfrm>
          <a:prstGeom prst="rect">
            <a:avLst/>
          </a:prstGeom>
          <a:noFill/>
        </p:spPr>
        <p:txBody>
          <a:bodyPr wrap="square" lIns="25400" tIns="12700" rIns="25400" bIns="12700" anchor="t">
            <a:spAutoFit/>
          </a:bodyPr>
          <a:lstStyle/>
          <a:p>
            <a:pPr algn="l"/>
            <a:r>
              <a:rPr lang="es-419" sz="1200" b="0" i="1" dirty="0">
                <a:solidFill>
                  <a:srgbClr val="1F2937"/>
                </a:solidFill>
                <a:latin typeface="Arial"/>
              </a:rPr>
              <a:t>Esto va a implicar un cambio en algun Software o Hardware que debamos sacar de produccion?</a:t>
            </a:r>
            <a:endParaRPr sz="1200" b="0" i="1" dirty="0">
              <a:solidFill>
                <a:srgbClr val="1F2937"/>
              </a:solidFill>
              <a:latin typeface="Arial"/>
            </a:endParaRPr>
          </a:p>
        </p:txBody>
      </p:sp>
      <p:sp>
        <p:nvSpPr>
          <p:cNvPr id="20" name="Rectangle 19"/>
          <p:cNvSpPr/>
          <p:nvPr/>
        </p:nvSpPr>
        <p:spPr>
          <a:xfrm>
            <a:off x="6035040" y="1554480"/>
            <a:ext cx="2697480" cy="28346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35040" y="1554480"/>
            <a:ext cx="2697480" cy="45720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35040" y="1554480"/>
            <a:ext cx="2697480" cy="457200"/>
          </a:xfrm>
          <a:prstGeom prst="rect">
            <a:avLst/>
          </a:prstGeom>
          <a:noFill/>
        </p:spPr>
        <p:txBody>
          <a:bodyPr wrap="square" lIns="25400" tIns="12700" rIns="25400" bIns="12700" anchor="ctr">
            <a:spAutoFit/>
          </a:bodyPr>
          <a:lstStyle/>
          <a:p>
            <a:pPr algn="ctr"/>
            <a:r>
              <a:rPr sz="1300" b="1" i="0" spc="400">
                <a:solidFill>
                  <a:srgbClr val="FFFFFF"/>
                </a:solidFill>
                <a:latin typeface="Arial"/>
              </a:rPr>
              <a:t>ESPECIALISTA</a:t>
            </a:r>
          </a:p>
        </p:txBody>
      </p:sp>
      <p:sp>
        <p:nvSpPr>
          <p:cNvPr id="23" name="TextBox 22"/>
          <p:cNvSpPr txBox="1"/>
          <p:nvPr/>
        </p:nvSpPr>
        <p:spPr>
          <a:xfrm>
            <a:off x="6217920" y="2194560"/>
            <a:ext cx="2423160" cy="320040"/>
          </a:xfrm>
          <a:prstGeom prst="rect">
            <a:avLst/>
          </a:prstGeom>
          <a:noFill/>
        </p:spPr>
        <p:txBody>
          <a:bodyPr wrap="square" lIns="25400" tIns="12700" rIns="25400" bIns="12700" anchor="t">
            <a:spAutoFit/>
          </a:bodyPr>
          <a:lstStyle/>
          <a:p>
            <a:pPr algn="l"/>
            <a:r>
              <a:rPr sz="900" b="1" i="0" spc="300">
                <a:solidFill>
                  <a:srgbClr val="525B66"/>
                </a:solidFill>
                <a:latin typeface="Arial"/>
              </a:rPr>
              <a:t>FORMATO</a:t>
            </a:r>
          </a:p>
        </p:txBody>
      </p:sp>
      <p:sp>
        <p:nvSpPr>
          <p:cNvPr id="24" name="TextBox 23"/>
          <p:cNvSpPr txBox="1"/>
          <p:nvPr/>
        </p:nvSpPr>
        <p:spPr>
          <a:xfrm>
            <a:off x="6217920" y="2423160"/>
            <a:ext cx="2423160" cy="411480"/>
          </a:xfrm>
          <a:prstGeom prst="rect">
            <a:avLst/>
          </a:prstGeom>
          <a:noFill/>
        </p:spPr>
        <p:txBody>
          <a:bodyPr wrap="square" lIns="25400" tIns="12700" rIns="25400" bIns="12700" anchor="t">
            <a:spAutoFit/>
          </a:bodyPr>
          <a:lstStyle/>
          <a:p>
            <a:pPr algn="l"/>
            <a:r>
              <a:rPr sz="1300" b="1" i="0">
                <a:solidFill>
                  <a:srgbClr val="1F2937"/>
                </a:solidFill>
                <a:latin typeface="Arial"/>
              </a:rPr>
              <a:t>Detalle técnico completo</a:t>
            </a:r>
          </a:p>
        </p:txBody>
      </p:sp>
      <p:sp>
        <p:nvSpPr>
          <p:cNvPr id="25" name="TextBox 24"/>
          <p:cNvSpPr txBox="1"/>
          <p:nvPr/>
        </p:nvSpPr>
        <p:spPr>
          <a:xfrm>
            <a:off x="6217920" y="2926080"/>
            <a:ext cx="2423160" cy="320040"/>
          </a:xfrm>
          <a:prstGeom prst="rect">
            <a:avLst/>
          </a:prstGeom>
          <a:noFill/>
        </p:spPr>
        <p:txBody>
          <a:bodyPr wrap="square" lIns="25400" tIns="12700" rIns="25400" bIns="12700" anchor="t">
            <a:spAutoFit/>
          </a:bodyPr>
          <a:lstStyle/>
          <a:p>
            <a:pPr algn="l"/>
            <a:r>
              <a:rPr sz="900" b="1" i="0" spc="300">
                <a:solidFill>
                  <a:srgbClr val="525B66"/>
                </a:solidFill>
                <a:latin typeface="Arial"/>
              </a:rPr>
              <a:t>PREGUNTA QUE LE INTERESA</a:t>
            </a:r>
          </a:p>
        </p:txBody>
      </p:sp>
      <p:sp>
        <p:nvSpPr>
          <p:cNvPr id="26" name="TextBox 25"/>
          <p:cNvSpPr txBox="1"/>
          <p:nvPr/>
        </p:nvSpPr>
        <p:spPr>
          <a:xfrm>
            <a:off x="6217920" y="3200400"/>
            <a:ext cx="2423160" cy="1097280"/>
          </a:xfrm>
          <a:prstGeom prst="rect">
            <a:avLst/>
          </a:prstGeom>
          <a:noFill/>
        </p:spPr>
        <p:txBody>
          <a:bodyPr wrap="square" lIns="25400" tIns="12700" rIns="25400" bIns="12700" anchor="t">
            <a:spAutoFit/>
          </a:bodyPr>
          <a:lstStyle/>
          <a:p>
            <a:pPr algn="l"/>
            <a:r>
              <a:rPr sz="1200" b="0" i="1">
                <a:solidFill>
                  <a:srgbClr val="1F2937"/>
                </a:solidFill>
                <a:latin typeface="Arial"/>
              </a:rPr>
              <a:t>"Dame las TTPs y los IOCs para automatizar."</a:t>
            </a:r>
          </a:p>
        </p:txBody>
      </p:sp>
      <p:sp>
        <p:nvSpPr>
          <p:cNvPr id="27" name="TextBox 26"/>
          <p:cNvSpPr txBox="1"/>
          <p:nvPr/>
        </p:nvSpPr>
        <p:spPr>
          <a:xfrm>
            <a:off x="365760" y="4526280"/>
            <a:ext cx="8412480" cy="533479"/>
          </a:xfrm>
          <a:prstGeom prst="rect">
            <a:avLst/>
          </a:prstGeom>
          <a:noFill/>
        </p:spPr>
        <p:txBody>
          <a:bodyPr wrap="square" lIns="25400" tIns="12700" rIns="25400" bIns="12700" anchor="t">
            <a:spAutoFit/>
          </a:bodyPr>
          <a:lstStyle/>
          <a:p>
            <a:pPr algn="ctr"/>
            <a:r>
              <a:rPr lang="en-AR" sz="1100" b="1" dirty="0"/>
              <a:t>Traduce lo técnico al idioma del negocio:</a:t>
            </a:r>
            <a:r>
              <a:rPr lang="en-AR" sz="1100" dirty="0"/>
              <a:t> A un CEO o a una junta directiva no les importan los hashes, las direcciones IP o las llaves de registro alteradas. El storytelling convierte un aburrido "detectamos el malware X" en un impactante "un grupo cibercriminal está intentando robar nuestra base de datos de clientes para extorsionarnos".</a:t>
            </a:r>
            <a:endParaRPr sz="1100" b="1" i="1" dirty="0">
              <a:solidFill>
                <a:srgbClr val="E41A52"/>
              </a:solidFill>
              <a:latin typeface="Arial"/>
            </a:endParaRPr>
          </a:p>
        </p:txBody>
      </p:sp>
      <p:sp>
        <p:nvSpPr>
          <p:cNvPr id="29" name="TextBox 28"/>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11 / 38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right.png"/>
          <p:cNvPicPr>
            <a:picLocks noChangeAspect="1"/>
          </p:cNvPicPr>
          <p:nvPr/>
        </p:nvPicPr>
        <p:blipFill>
          <a:blip r:embed="rId2">
            <a:alphaModFix amt="12000"/>
          </a:blip>
          <a:stretch>
            <a:fillRect/>
          </a:stretch>
        </p:blipFill>
        <p:spPr>
          <a:xfrm>
            <a:off x="7772400" y="777240"/>
            <a:ext cx="2138035" cy="4206240"/>
          </a:xfrm>
          <a:prstGeom prst="rect">
            <a:avLst/>
          </a:prstGeom>
        </p:spPr>
      </p:pic>
      <p:sp>
        <p:nvSpPr>
          <p:cNvPr id="4" name="TextBox 3"/>
          <p:cNvSpPr txBox="1"/>
          <p:nvPr/>
        </p:nvSpPr>
        <p:spPr>
          <a:xfrm>
            <a:off x="365760" y="146304"/>
            <a:ext cx="8412480" cy="420624"/>
          </a:xfrm>
          <a:prstGeom prst="rect">
            <a:avLst/>
          </a:prstGeom>
          <a:noFill/>
        </p:spPr>
        <p:txBody>
          <a:bodyPr wrap="square" lIns="25400" tIns="12700" rIns="25400" bIns="12700" anchor="ctr">
            <a:spAutoFit/>
          </a:bodyPr>
          <a:lstStyle/>
          <a:p>
            <a:pPr algn="l"/>
            <a:r>
              <a:rPr sz="2000" b="1" i="0">
                <a:solidFill>
                  <a:srgbClr val="FFFFFF"/>
                </a:solidFill>
                <a:latin typeface="Arial"/>
              </a:rPr>
              <a:t>Ciclo de inteligencia · 6 fases</a:t>
            </a:r>
          </a:p>
        </p:txBody>
      </p:sp>
      <p:sp>
        <p:nvSpPr>
          <p:cNvPr id="5" name="Rectangle 4"/>
          <p:cNvSpPr/>
          <p:nvPr/>
        </p:nvSpPr>
        <p:spPr>
          <a:xfrm>
            <a:off x="365760" y="1005840"/>
            <a:ext cx="2697480" cy="16459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097280"/>
            <a:ext cx="731520" cy="777240"/>
          </a:xfrm>
          <a:prstGeom prst="rect">
            <a:avLst/>
          </a:prstGeom>
          <a:noFill/>
        </p:spPr>
        <p:txBody>
          <a:bodyPr wrap="square" lIns="25400" tIns="12700" rIns="25400" bIns="12700" anchor="t">
            <a:spAutoFit/>
          </a:bodyPr>
          <a:lstStyle/>
          <a:p>
            <a:pPr algn="l"/>
            <a:r>
              <a:rPr sz="4200" b="1" i="0">
                <a:solidFill>
                  <a:srgbClr val="E41A52"/>
                </a:solidFill>
                <a:latin typeface="Arial"/>
              </a:rPr>
              <a:t>1</a:t>
            </a:r>
          </a:p>
        </p:txBody>
      </p:sp>
      <p:sp>
        <p:nvSpPr>
          <p:cNvPr id="7" name="TextBox 6"/>
          <p:cNvSpPr txBox="1"/>
          <p:nvPr/>
        </p:nvSpPr>
        <p:spPr>
          <a:xfrm>
            <a:off x="1280160" y="1188720"/>
            <a:ext cx="1737360" cy="502920"/>
          </a:xfrm>
          <a:prstGeom prst="rect">
            <a:avLst/>
          </a:prstGeom>
          <a:noFill/>
        </p:spPr>
        <p:txBody>
          <a:bodyPr wrap="square" lIns="25400" tIns="12700" rIns="25400" bIns="12700" anchor="ctr">
            <a:spAutoFit/>
          </a:bodyPr>
          <a:lstStyle/>
          <a:p>
            <a:pPr algn="l"/>
            <a:r>
              <a:rPr sz="1600" b="1" i="0">
                <a:solidFill>
                  <a:srgbClr val="1F2937"/>
                </a:solidFill>
                <a:latin typeface="Arial"/>
              </a:rPr>
              <a:t>Dirección</a:t>
            </a:r>
          </a:p>
        </p:txBody>
      </p:sp>
      <p:sp>
        <p:nvSpPr>
          <p:cNvPr id="8" name="TextBox 7"/>
          <p:cNvSpPr txBox="1"/>
          <p:nvPr/>
        </p:nvSpPr>
        <p:spPr>
          <a:xfrm>
            <a:off x="502920" y="1874519"/>
            <a:ext cx="2423160" cy="731520"/>
          </a:xfrm>
          <a:prstGeom prst="rect">
            <a:avLst/>
          </a:prstGeom>
          <a:noFill/>
        </p:spPr>
        <p:txBody>
          <a:bodyPr wrap="square" lIns="25400" tIns="12700" rIns="25400" bIns="12700" anchor="t">
            <a:spAutoFit/>
          </a:bodyPr>
          <a:lstStyle/>
          <a:p>
            <a:pPr algn="l"/>
            <a:r>
              <a:rPr sz="1100" b="0" i="0" dirty="0" err="1">
                <a:solidFill>
                  <a:srgbClr val="525B66"/>
                </a:solidFill>
                <a:latin typeface="Arial"/>
              </a:rPr>
              <a:t>Definir</a:t>
            </a:r>
            <a:r>
              <a:rPr sz="1100" b="0" i="0" dirty="0">
                <a:solidFill>
                  <a:srgbClr val="525B66"/>
                </a:solidFill>
                <a:latin typeface="Arial"/>
              </a:rPr>
              <a:t> PIRs y </a:t>
            </a:r>
            <a:r>
              <a:rPr sz="1100" b="0" i="0" dirty="0" err="1">
                <a:solidFill>
                  <a:srgbClr val="525B66"/>
                </a:solidFill>
                <a:latin typeface="Arial"/>
              </a:rPr>
              <a:t>necesidades</a:t>
            </a:r>
            <a:r>
              <a:rPr sz="1100" b="0" i="0" dirty="0">
                <a:solidFill>
                  <a:srgbClr val="525B66"/>
                </a:solidFill>
                <a:latin typeface="Arial"/>
              </a:rPr>
              <a:t> del </a:t>
            </a:r>
            <a:r>
              <a:rPr sz="1100" b="0" i="0" dirty="0" err="1">
                <a:solidFill>
                  <a:srgbClr val="525B66"/>
                </a:solidFill>
                <a:latin typeface="Arial"/>
              </a:rPr>
              <a:t>decisor</a:t>
            </a:r>
            <a:r>
              <a:rPr sz="1100" b="0" i="0" dirty="0">
                <a:solidFill>
                  <a:srgbClr val="525B66"/>
                </a:solidFill>
                <a:latin typeface="Arial"/>
              </a:rPr>
              <a:t>.</a:t>
            </a:r>
          </a:p>
        </p:txBody>
      </p:sp>
      <p:sp>
        <p:nvSpPr>
          <p:cNvPr id="9" name="Rectangle 8"/>
          <p:cNvSpPr/>
          <p:nvPr/>
        </p:nvSpPr>
        <p:spPr>
          <a:xfrm>
            <a:off x="3200400" y="1005840"/>
            <a:ext cx="2697480" cy="16459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37560" y="1097280"/>
            <a:ext cx="731520" cy="777240"/>
          </a:xfrm>
          <a:prstGeom prst="rect">
            <a:avLst/>
          </a:prstGeom>
          <a:noFill/>
        </p:spPr>
        <p:txBody>
          <a:bodyPr wrap="square" lIns="25400" tIns="12700" rIns="25400" bIns="12700" anchor="t">
            <a:spAutoFit/>
          </a:bodyPr>
          <a:lstStyle/>
          <a:p>
            <a:pPr algn="l"/>
            <a:r>
              <a:rPr sz="4200" b="1" i="0">
                <a:solidFill>
                  <a:srgbClr val="E41A52"/>
                </a:solidFill>
                <a:latin typeface="Arial"/>
              </a:rPr>
              <a:t>2</a:t>
            </a:r>
          </a:p>
        </p:txBody>
      </p:sp>
      <p:sp>
        <p:nvSpPr>
          <p:cNvPr id="11" name="TextBox 10"/>
          <p:cNvSpPr txBox="1"/>
          <p:nvPr/>
        </p:nvSpPr>
        <p:spPr>
          <a:xfrm>
            <a:off x="4114800" y="1188720"/>
            <a:ext cx="1737360" cy="502920"/>
          </a:xfrm>
          <a:prstGeom prst="rect">
            <a:avLst/>
          </a:prstGeom>
          <a:noFill/>
        </p:spPr>
        <p:txBody>
          <a:bodyPr wrap="square" lIns="25400" tIns="12700" rIns="25400" bIns="12700" anchor="ctr">
            <a:spAutoFit/>
          </a:bodyPr>
          <a:lstStyle/>
          <a:p>
            <a:pPr algn="l"/>
            <a:r>
              <a:rPr sz="1600" b="1" i="0">
                <a:solidFill>
                  <a:srgbClr val="1F2937"/>
                </a:solidFill>
                <a:latin typeface="Arial"/>
              </a:rPr>
              <a:t>Recolección</a:t>
            </a:r>
          </a:p>
        </p:txBody>
      </p:sp>
      <p:sp>
        <p:nvSpPr>
          <p:cNvPr id="12" name="TextBox 11"/>
          <p:cNvSpPr txBox="1"/>
          <p:nvPr/>
        </p:nvSpPr>
        <p:spPr>
          <a:xfrm>
            <a:off x="3337560" y="1874519"/>
            <a:ext cx="2423160" cy="731520"/>
          </a:xfrm>
          <a:prstGeom prst="rect">
            <a:avLst/>
          </a:prstGeom>
          <a:noFill/>
        </p:spPr>
        <p:txBody>
          <a:bodyPr wrap="square" lIns="25400" tIns="12700" rIns="25400" bIns="12700" anchor="t">
            <a:spAutoFit/>
          </a:bodyPr>
          <a:lstStyle/>
          <a:p>
            <a:pPr algn="l"/>
            <a:r>
              <a:rPr sz="1100" b="0" i="0">
                <a:solidFill>
                  <a:srgbClr val="525B66"/>
                </a:solidFill>
                <a:latin typeface="Arial"/>
              </a:rPr>
              <a:t>OSINT, HUMINT, SIGINT, telemetría interna.</a:t>
            </a:r>
          </a:p>
        </p:txBody>
      </p:sp>
      <p:sp>
        <p:nvSpPr>
          <p:cNvPr id="13" name="Rectangle 12"/>
          <p:cNvSpPr/>
          <p:nvPr/>
        </p:nvSpPr>
        <p:spPr>
          <a:xfrm>
            <a:off x="6035040" y="1005840"/>
            <a:ext cx="2697480" cy="16459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72200" y="1097280"/>
            <a:ext cx="731520" cy="777240"/>
          </a:xfrm>
          <a:prstGeom prst="rect">
            <a:avLst/>
          </a:prstGeom>
          <a:noFill/>
        </p:spPr>
        <p:txBody>
          <a:bodyPr wrap="square" lIns="25400" tIns="12700" rIns="25400" bIns="12700" anchor="t">
            <a:spAutoFit/>
          </a:bodyPr>
          <a:lstStyle/>
          <a:p>
            <a:pPr algn="l"/>
            <a:r>
              <a:rPr sz="4200" b="1" i="0">
                <a:solidFill>
                  <a:srgbClr val="E41A52"/>
                </a:solidFill>
                <a:latin typeface="Arial"/>
              </a:rPr>
              <a:t>3</a:t>
            </a:r>
          </a:p>
        </p:txBody>
      </p:sp>
      <p:sp>
        <p:nvSpPr>
          <p:cNvPr id="15" name="TextBox 14"/>
          <p:cNvSpPr txBox="1"/>
          <p:nvPr/>
        </p:nvSpPr>
        <p:spPr>
          <a:xfrm>
            <a:off x="6949440" y="1188720"/>
            <a:ext cx="1737360" cy="502920"/>
          </a:xfrm>
          <a:prstGeom prst="rect">
            <a:avLst/>
          </a:prstGeom>
          <a:noFill/>
        </p:spPr>
        <p:txBody>
          <a:bodyPr wrap="square" lIns="25400" tIns="12700" rIns="25400" bIns="12700" anchor="ctr">
            <a:spAutoFit/>
          </a:bodyPr>
          <a:lstStyle/>
          <a:p>
            <a:pPr algn="l"/>
            <a:r>
              <a:rPr sz="1600" b="1" i="0">
                <a:solidFill>
                  <a:srgbClr val="1F2937"/>
                </a:solidFill>
                <a:latin typeface="Arial"/>
              </a:rPr>
              <a:t>Procesamiento</a:t>
            </a:r>
          </a:p>
        </p:txBody>
      </p:sp>
      <p:sp>
        <p:nvSpPr>
          <p:cNvPr id="16" name="TextBox 15"/>
          <p:cNvSpPr txBox="1"/>
          <p:nvPr/>
        </p:nvSpPr>
        <p:spPr>
          <a:xfrm>
            <a:off x="6172200" y="1874519"/>
            <a:ext cx="2423160" cy="731520"/>
          </a:xfrm>
          <a:prstGeom prst="rect">
            <a:avLst/>
          </a:prstGeom>
          <a:noFill/>
        </p:spPr>
        <p:txBody>
          <a:bodyPr wrap="square" lIns="25400" tIns="12700" rIns="25400" bIns="12700" anchor="t">
            <a:spAutoFit/>
          </a:bodyPr>
          <a:lstStyle/>
          <a:p>
            <a:pPr algn="l"/>
            <a:r>
              <a:rPr sz="1100" b="0" i="0">
                <a:solidFill>
                  <a:srgbClr val="525B66"/>
                </a:solidFill>
                <a:latin typeface="Arial"/>
              </a:rPr>
              <a:t>Normalizar, deduplicar, enriquecer.</a:t>
            </a:r>
          </a:p>
        </p:txBody>
      </p:sp>
      <p:sp>
        <p:nvSpPr>
          <p:cNvPr id="17" name="Rectangle 16"/>
          <p:cNvSpPr/>
          <p:nvPr/>
        </p:nvSpPr>
        <p:spPr>
          <a:xfrm>
            <a:off x="365760" y="2788920"/>
            <a:ext cx="2697480" cy="16459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2880360"/>
            <a:ext cx="731520" cy="777240"/>
          </a:xfrm>
          <a:prstGeom prst="rect">
            <a:avLst/>
          </a:prstGeom>
          <a:noFill/>
        </p:spPr>
        <p:txBody>
          <a:bodyPr wrap="square" lIns="25400" tIns="12700" rIns="25400" bIns="12700" anchor="t">
            <a:spAutoFit/>
          </a:bodyPr>
          <a:lstStyle/>
          <a:p>
            <a:pPr algn="l"/>
            <a:r>
              <a:rPr sz="4200" b="1" i="0">
                <a:solidFill>
                  <a:srgbClr val="E41A52"/>
                </a:solidFill>
                <a:latin typeface="Arial"/>
              </a:rPr>
              <a:t>4</a:t>
            </a:r>
          </a:p>
        </p:txBody>
      </p:sp>
      <p:sp>
        <p:nvSpPr>
          <p:cNvPr id="19" name="TextBox 18"/>
          <p:cNvSpPr txBox="1"/>
          <p:nvPr/>
        </p:nvSpPr>
        <p:spPr>
          <a:xfrm>
            <a:off x="1280160" y="2971800"/>
            <a:ext cx="1737360" cy="502920"/>
          </a:xfrm>
          <a:prstGeom prst="rect">
            <a:avLst/>
          </a:prstGeom>
          <a:noFill/>
        </p:spPr>
        <p:txBody>
          <a:bodyPr wrap="square" lIns="25400" tIns="12700" rIns="25400" bIns="12700" anchor="ctr">
            <a:spAutoFit/>
          </a:bodyPr>
          <a:lstStyle/>
          <a:p>
            <a:pPr algn="l"/>
            <a:r>
              <a:rPr sz="1600" b="1" i="0">
                <a:solidFill>
                  <a:srgbClr val="1F2937"/>
                </a:solidFill>
                <a:latin typeface="Arial"/>
              </a:rPr>
              <a:t>Análisis</a:t>
            </a:r>
          </a:p>
        </p:txBody>
      </p:sp>
      <p:sp>
        <p:nvSpPr>
          <p:cNvPr id="20" name="TextBox 19"/>
          <p:cNvSpPr txBox="1"/>
          <p:nvPr/>
        </p:nvSpPr>
        <p:spPr>
          <a:xfrm>
            <a:off x="502920" y="3657600"/>
            <a:ext cx="2423160" cy="194925"/>
          </a:xfrm>
          <a:prstGeom prst="rect">
            <a:avLst/>
          </a:prstGeom>
          <a:noFill/>
        </p:spPr>
        <p:txBody>
          <a:bodyPr wrap="square" lIns="25400" tIns="12700" rIns="25400" bIns="12700" anchor="t">
            <a:spAutoFit/>
          </a:bodyPr>
          <a:lstStyle/>
          <a:p>
            <a:pPr algn="l"/>
            <a:r>
              <a:rPr sz="1100" b="0" i="0" dirty="0" err="1">
                <a:solidFill>
                  <a:srgbClr val="525B66"/>
                </a:solidFill>
                <a:latin typeface="Arial"/>
              </a:rPr>
              <a:t>Correlación</a:t>
            </a:r>
            <a:r>
              <a:rPr sz="1100" b="0" i="0" dirty="0">
                <a:solidFill>
                  <a:srgbClr val="525B66"/>
                </a:solidFill>
                <a:latin typeface="Arial"/>
              </a:rPr>
              <a:t>, </a:t>
            </a:r>
            <a:r>
              <a:rPr sz="1100" b="0" i="0" dirty="0" err="1">
                <a:solidFill>
                  <a:srgbClr val="525B66"/>
                </a:solidFill>
                <a:latin typeface="Arial"/>
              </a:rPr>
              <a:t>hipótesis</a:t>
            </a:r>
            <a:r>
              <a:rPr sz="1100" b="0" i="0" dirty="0">
                <a:solidFill>
                  <a:srgbClr val="525B66"/>
                </a:solidFill>
                <a:latin typeface="Arial"/>
              </a:rPr>
              <a:t>, </a:t>
            </a:r>
            <a:r>
              <a:rPr sz="1100" b="0" i="0" dirty="0" err="1">
                <a:solidFill>
                  <a:srgbClr val="525B66"/>
                </a:solidFill>
                <a:latin typeface="Arial"/>
              </a:rPr>
              <a:t>atribu</a:t>
            </a:r>
            <a:r>
              <a:rPr lang="es-419" sz="1100" b="0" i="0" dirty="0">
                <a:solidFill>
                  <a:srgbClr val="525B66"/>
                </a:solidFill>
                <a:latin typeface="Arial"/>
              </a:rPr>
              <a:t>c</a:t>
            </a:r>
            <a:r>
              <a:rPr sz="1100" b="0" i="0" dirty="0">
                <a:solidFill>
                  <a:srgbClr val="525B66"/>
                </a:solidFill>
                <a:latin typeface="Arial"/>
              </a:rPr>
              <a:t>ion.</a:t>
            </a:r>
          </a:p>
        </p:txBody>
      </p:sp>
      <p:sp>
        <p:nvSpPr>
          <p:cNvPr id="21" name="Rectangle 20"/>
          <p:cNvSpPr/>
          <p:nvPr/>
        </p:nvSpPr>
        <p:spPr>
          <a:xfrm>
            <a:off x="3200400" y="2788920"/>
            <a:ext cx="2697480" cy="16459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37560" y="2880360"/>
            <a:ext cx="731520" cy="777240"/>
          </a:xfrm>
          <a:prstGeom prst="rect">
            <a:avLst/>
          </a:prstGeom>
          <a:noFill/>
        </p:spPr>
        <p:txBody>
          <a:bodyPr wrap="square" lIns="25400" tIns="12700" rIns="25400" bIns="12700" anchor="t">
            <a:spAutoFit/>
          </a:bodyPr>
          <a:lstStyle/>
          <a:p>
            <a:pPr algn="l"/>
            <a:r>
              <a:rPr sz="4200" b="1" i="0">
                <a:solidFill>
                  <a:srgbClr val="E41A52"/>
                </a:solidFill>
                <a:latin typeface="Arial"/>
              </a:rPr>
              <a:t>5</a:t>
            </a:r>
          </a:p>
        </p:txBody>
      </p:sp>
      <p:sp>
        <p:nvSpPr>
          <p:cNvPr id="23" name="TextBox 22"/>
          <p:cNvSpPr txBox="1"/>
          <p:nvPr/>
        </p:nvSpPr>
        <p:spPr>
          <a:xfrm>
            <a:off x="4114800" y="2971800"/>
            <a:ext cx="1737360" cy="502920"/>
          </a:xfrm>
          <a:prstGeom prst="rect">
            <a:avLst/>
          </a:prstGeom>
          <a:noFill/>
        </p:spPr>
        <p:txBody>
          <a:bodyPr wrap="square" lIns="25400" tIns="12700" rIns="25400" bIns="12700" anchor="ctr">
            <a:spAutoFit/>
          </a:bodyPr>
          <a:lstStyle/>
          <a:p>
            <a:pPr algn="l"/>
            <a:r>
              <a:rPr sz="1600" b="1" i="0">
                <a:solidFill>
                  <a:srgbClr val="1F2937"/>
                </a:solidFill>
                <a:latin typeface="Arial"/>
              </a:rPr>
              <a:t>Diseminación</a:t>
            </a:r>
          </a:p>
        </p:txBody>
      </p:sp>
      <p:sp>
        <p:nvSpPr>
          <p:cNvPr id="24" name="TextBox 23"/>
          <p:cNvSpPr txBox="1"/>
          <p:nvPr/>
        </p:nvSpPr>
        <p:spPr>
          <a:xfrm>
            <a:off x="3337560" y="3657600"/>
            <a:ext cx="2423160" cy="731520"/>
          </a:xfrm>
          <a:prstGeom prst="rect">
            <a:avLst/>
          </a:prstGeom>
          <a:noFill/>
        </p:spPr>
        <p:txBody>
          <a:bodyPr wrap="square" lIns="25400" tIns="12700" rIns="25400" bIns="12700" anchor="t">
            <a:spAutoFit/>
          </a:bodyPr>
          <a:lstStyle/>
          <a:p>
            <a:pPr algn="l"/>
            <a:r>
              <a:rPr sz="1100" b="0" i="0">
                <a:solidFill>
                  <a:srgbClr val="525B66"/>
                </a:solidFill>
                <a:latin typeface="Arial"/>
              </a:rPr>
              <a:t>Reportes accionables al consumidor correcto.</a:t>
            </a:r>
          </a:p>
        </p:txBody>
      </p:sp>
      <p:sp>
        <p:nvSpPr>
          <p:cNvPr id="25" name="Rectangle 24"/>
          <p:cNvSpPr/>
          <p:nvPr/>
        </p:nvSpPr>
        <p:spPr>
          <a:xfrm>
            <a:off x="6035040" y="2788920"/>
            <a:ext cx="2697480" cy="16459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72200" y="2880360"/>
            <a:ext cx="731520" cy="777240"/>
          </a:xfrm>
          <a:prstGeom prst="rect">
            <a:avLst/>
          </a:prstGeom>
          <a:noFill/>
        </p:spPr>
        <p:txBody>
          <a:bodyPr wrap="square" lIns="25400" tIns="12700" rIns="25400" bIns="12700" anchor="t">
            <a:spAutoFit/>
          </a:bodyPr>
          <a:lstStyle/>
          <a:p>
            <a:pPr algn="l"/>
            <a:r>
              <a:rPr sz="4200" b="1" i="0">
                <a:solidFill>
                  <a:srgbClr val="E41A52"/>
                </a:solidFill>
                <a:latin typeface="Arial"/>
              </a:rPr>
              <a:t>6</a:t>
            </a:r>
          </a:p>
        </p:txBody>
      </p:sp>
      <p:sp>
        <p:nvSpPr>
          <p:cNvPr id="27" name="TextBox 26"/>
          <p:cNvSpPr txBox="1"/>
          <p:nvPr/>
        </p:nvSpPr>
        <p:spPr>
          <a:xfrm>
            <a:off x="6949440" y="2971800"/>
            <a:ext cx="1737360" cy="502920"/>
          </a:xfrm>
          <a:prstGeom prst="rect">
            <a:avLst/>
          </a:prstGeom>
          <a:noFill/>
        </p:spPr>
        <p:txBody>
          <a:bodyPr wrap="square" lIns="25400" tIns="12700" rIns="25400" bIns="12700" anchor="ctr">
            <a:spAutoFit/>
          </a:bodyPr>
          <a:lstStyle/>
          <a:p>
            <a:pPr algn="l"/>
            <a:r>
              <a:rPr sz="1600" b="1" i="0">
                <a:solidFill>
                  <a:srgbClr val="1F2937"/>
                </a:solidFill>
                <a:latin typeface="Arial"/>
              </a:rPr>
              <a:t>Feedback</a:t>
            </a:r>
          </a:p>
        </p:txBody>
      </p:sp>
      <p:sp>
        <p:nvSpPr>
          <p:cNvPr id="28" name="TextBox 27"/>
          <p:cNvSpPr txBox="1"/>
          <p:nvPr/>
        </p:nvSpPr>
        <p:spPr>
          <a:xfrm>
            <a:off x="6172200" y="3657600"/>
            <a:ext cx="2423160" cy="731520"/>
          </a:xfrm>
          <a:prstGeom prst="rect">
            <a:avLst/>
          </a:prstGeom>
          <a:noFill/>
        </p:spPr>
        <p:txBody>
          <a:bodyPr wrap="square" lIns="25400" tIns="12700" rIns="25400" bIns="12700" anchor="t">
            <a:spAutoFit/>
          </a:bodyPr>
          <a:lstStyle/>
          <a:p>
            <a:pPr algn="l"/>
            <a:r>
              <a:rPr sz="1100" b="0" i="0">
                <a:solidFill>
                  <a:srgbClr val="525B66"/>
                </a:solidFill>
                <a:latin typeface="Arial"/>
              </a:rPr>
              <a:t>Medir si cambió alguna decisión. El paso que casi todos saltan.</a:t>
            </a:r>
          </a:p>
        </p:txBody>
      </p:sp>
      <p:sp>
        <p:nvSpPr>
          <p:cNvPr id="30" name="TextBox 29"/>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12 / 38</a:t>
            </a:r>
          </a:p>
        </p:txBody>
      </p:sp>
      <p:pic>
        <p:nvPicPr>
          <p:cNvPr id="34" name="Picture 33">
            <a:extLst>
              <a:ext uri="{FF2B5EF4-FFF2-40B4-BE49-F238E27FC236}">
                <a16:creationId xmlns:a16="http://schemas.microsoft.com/office/drawing/2014/main" id="{64365810-585B-975C-AFCA-93CC595BAE79}"/>
              </a:ext>
            </a:extLst>
          </p:cNvPr>
          <p:cNvPicPr>
            <a:picLocks noChangeAspect="1"/>
          </p:cNvPicPr>
          <p:nvPr/>
        </p:nvPicPr>
        <p:blipFill>
          <a:blip r:embed="rId3"/>
          <a:stretch>
            <a:fillRect/>
          </a:stretch>
        </p:blipFill>
        <p:spPr>
          <a:xfrm>
            <a:off x="1917124" y="0"/>
            <a:ext cx="4997196" cy="49971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circle(in)">
                                      <p:cBhvr>
                                        <p:cTn id="11" dur="2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91440"/>
            <a:ext cx="8412480" cy="344710"/>
          </a:xfrm>
          <a:prstGeom prst="rect">
            <a:avLst/>
          </a:prstGeom>
          <a:noFill/>
        </p:spPr>
        <p:txBody>
          <a:bodyPr wrap="square" lIns="45720" tIns="18288" rIns="45720" bIns="18288" anchor="t">
            <a:spAutoFit/>
          </a:bodyPr>
          <a:lstStyle/>
          <a:p>
            <a:r>
              <a:rPr sz="2000" b="1" i="0" dirty="0">
                <a:solidFill>
                  <a:srgbClr val="FFFFFF"/>
                </a:solidFill>
                <a:latin typeface="Arial"/>
              </a:rPr>
              <a:t>PIR </a:t>
            </a:r>
            <a:r>
              <a:rPr lang="es-419" sz="2000" b="1" dirty="0">
                <a:solidFill>
                  <a:srgbClr val="FFFFFF"/>
                </a:solidFill>
              </a:rPr>
              <a:t>(</a:t>
            </a:r>
            <a:r>
              <a:rPr lang="en-US" sz="2000" b="1" dirty="0">
                <a:solidFill>
                  <a:srgbClr val="FFFFFF"/>
                </a:solidFill>
              </a:rPr>
              <a:t>Priority Intelligence Requirements</a:t>
            </a:r>
            <a:r>
              <a:rPr lang="en-AR" sz="2000" b="1" dirty="0">
                <a:solidFill>
                  <a:srgbClr val="FFFFFF"/>
                </a:solidFill>
              </a:rPr>
              <a:t>)</a:t>
            </a:r>
            <a:endParaRPr sz="2000" b="1" i="0" dirty="0">
              <a:solidFill>
                <a:srgbClr val="FFFFFF"/>
              </a:solidFill>
              <a:latin typeface="Arial"/>
            </a:endParaRPr>
          </a:p>
        </p:txBody>
      </p:sp>
      <p:sp>
        <p:nvSpPr>
          <p:cNvPr id="6" name="Rectangle 5"/>
          <p:cNvSpPr/>
          <p:nvPr/>
        </p:nvSpPr>
        <p:spPr>
          <a:xfrm>
            <a:off x="365760" y="841248"/>
            <a:ext cx="4114800" cy="2788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841248"/>
            <a:ext cx="4114800" cy="38404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841248"/>
            <a:ext cx="4114800" cy="384048"/>
          </a:xfrm>
          <a:prstGeom prst="rect">
            <a:avLst/>
          </a:prstGeom>
          <a:noFill/>
        </p:spPr>
        <p:txBody>
          <a:bodyPr wrap="square" lIns="45720" tIns="18288" rIns="45720" bIns="18288" anchor="ctr">
            <a:spAutoFit/>
          </a:bodyPr>
          <a:lstStyle/>
          <a:p>
            <a:pPr algn="ctr"/>
            <a:r>
              <a:rPr sz="1100" b="1" i="0">
                <a:solidFill>
                  <a:srgbClr val="FFFFFF"/>
                </a:solidFill>
                <a:latin typeface="Arial"/>
              </a:rPr>
              <a:t>QUÉ ES UN PIR</a:t>
            </a:r>
          </a:p>
        </p:txBody>
      </p:sp>
      <p:sp>
        <p:nvSpPr>
          <p:cNvPr id="9" name="TextBox 8"/>
          <p:cNvSpPr txBox="1"/>
          <p:nvPr/>
        </p:nvSpPr>
        <p:spPr>
          <a:xfrm>
            <a:off x="548640" y="1316736"/>
            <a:ext cx="3749039" cy="777240"/>
          </a:xfrm>
          <a:prstGeom prst="rect">
            <a:avLst/>
          </a:prstGeom>
          <a:noFill/>
        </p:spPr>
        <p:txBody>
          <a:bodyPr wrap="square" lIns="45720" tIns="18288" rIns="45720" bIns="18288" anchor="t">
            <a:spAutoFit/>
          </a:bodyPr>
          <a:lstStyle/>
          <a:p>
            <a:pPr algn="l"/>
            <a:r>
              <a:rPr sz="1100" b="1" i="1">
                <a:solidFill>
                  <a:srgbClr val="1F2937"/>
                </a:solidFill>
                <a:latin typeface="Arial"/>
              </a:rPr>
              <a:t>La pregunta concreta que el decisor necesita que CTI responda para tomar una acción defensiva específica.</a:t>
            </a:r>
          </a:p>
        </p:txBody>
      </p:sp>
      <p:sp>
        <p:nvSpPr>
          <p:cNvPr id="10" name="TextBox 9"/>
          <p:cNvSpPr txBox="1"/>
          <p:nvPr/>
        </p:nvSpPr>
        <p:spPr>
          <a:xfrm>
            <a:off x="548640" y="2167128"/>
            <a:ext cx="1417320" cy="182880"/>
          </a:xfrm>
          <a:prstGeom prst="rect">
            <a:avLst/>
          </a:prstGeom>
          <a:noFill/>
        </p:spPr>
        <p:txBody>
          <a:bodyPr wrap="square" lIns="45720" tIns="18288" rIns="45720" bIns="18288" anchor="t">
            <a:spAutoFit/>
          </a:bodyPr>
          <a:lstStyle/>
          <a:p>
            <a:pPr algn="l"/>
            <a:r>
              <a:rPr sz="800" b="1" i="0">
                <a:solidFill>
                  <a:srgbClr val="E41A52"/>
                </a:solidFill>
                <a:latin typeface="Arial"/>
              </a:rPr>
              <a:t>QUIÉN LO ESCRIBE</a:t>
            </a:r>
          </a:p>
        </p:txBody>
      </p:sp>
      <p:sp>
        <p:nvSpPr>
          <p:cNvPr id="11" name="TextBox 10"/>
          <p:cNvSpPr txBox="1"/>
          <p:nvPr/>
        </p:nvSpPr>
        <p:spPr>
          <a:xfrm>
            <a:off x="548640" y="2331720"/>
            <a:ext cx="3749039" cy="292608"/>
          </a:xfrm>
          <a:prstGeom prst="rect">
            <a:avLst/>
          </a:prstGeom>
          <a:noFill/>
        </p:spPr>
        <p:txBody>
          <a:bodyPr wrap="square" lIns="45720" tIns="18288" rIns="45720" bIns="18288" anchor="t">
            <a:spAutoFit/>
          </a:bodyPr>
          <a:lstStyle/>
          <a:p>
            <a:pPr algn="l"/>
            <a:r>
              <a:rPr sz="950" b="0" i="0">
                <a:solidFill>
                  <a:srgbClr val="1F2937"/>
                </a:solidFill>
                <a:latin typeface="Arial"/>
              </a:rPr>
              <a:t>El decisor: CISO, SOC Manager, IR Lead. No el analista.</a:t>
            </a:r>
          </a:p>
        </p:txBody>
      </p:sp>
      <p:sp>
        <p:nvSpPr>
          <p:cNvPr id="12" name="TextBox 11"/>
          <p:cNvSpPr txBox="1"/>
          <p:nvPr/>
        </p:nvSpPr>
        <p:spPr>
          <a:xfrm>
            <a:off x="548640" y="2624328"/>
            <a:ext cx="1417320" cy="182880"/>
          </a:xfrm>
          <a:prstGeom prst="rect">
            <a:avLst/>
          </a:prstGeom>
          <a:noFill/>
        </p:spPr>
        <p:txBody>
          <a:bodyPr wrap="square" lIns="45720" tIns="18288" rIns="45720" bIns="18288" anchor="t">
            <a:spAutoFit/>
          </a:bodyPr>
          <a:lstStyle/>
          <a:p>
            <a:pPr algn="l"/>
            <a:r>
              <a:rPr sz="800" b="1" i="0">
                <a:solidFill>
                  <a:srgbClr val="E41A52"/>
                </a:solidFill>
                <a:latin typeface="Arial"/>
              </a:rPr>
              <a:t>QUIÉN LO RESPONDE</a:t>
            </a:r>
          </a:p>
        </p:txBody>
      </p:sp>
      <p:sp>
        <p:nvSpPr>
          <p:cNvPr id="13" name="TextBox 12"/>
          <p:cNvSpPr txBox="1"/>
          <p:nvPr/>
        </p:nvSpPr>
        <p:spPr>
          <a:xfrm>
            <a:off x="548640" y="2788920"/>
            <a:ext cx="3749039" cy="292608"/>
          </a:xfrm>
          <a:prstGeom prst="rect">
            <a:avLst/>
          </a:prstGeom>
          <a:noFill/>
        </p:spPr>
        <p:txBody>
          <a:bodyPr wrap="square" lIns="45720" tIns="18288" rIns="45720" bIns="18288" anchor="t">
            <a:spAutoFit/>
          </a:bodyPr>
          <a:lstStyle/>
          <a:p>
            <a:pPr algn="l"/>
            <a:r>
              <a:rPr sz="950" b="0" i="0">
                <a:solidFill>
                  <a:srgbClr val="1F2937"/>
                </a:solidFill>
                <a:latin typeface="Arial"/>
              </a:rPr>
              <a:t>El equipo de CTI.</a:t>
            </a:r>
          </a:p>
        </p:txBody>
      </p:sp>
      <p:sp>
        <p:nvSpPr>
          <p:cNvPr id="14" name="TextBox 13"/>
          <p:cNvSpPr txBox="1"/>
          <p:nvPr/>
        </p:nvSpPr>
        <p:spPr>
          <a:xfrm>
            <a:off x="548640" y="3081528"/>
            <a:ext cx="1417320" cy="182880"/>
          </a:xfrm>
          <a:prstGeom prst="rect">
            <a:avLst/>
          </a:prstGeom>
          <a:noFill/>
        </p:spPr>
        <p:txBody>
          <a:bodyPr wrap="square" lIns="45720" tIns="18288" rIns="45720" bIns="18288" anchor="t">
            <a:spAutoFit/>
          </a:bodyPr>
          <a:lstStyle/>
          <a:p>
            <a:pPr algn="l"/>
            <a:r>
              <a:rPr sz="800" b="1" i="0">
                <a:solidFill>
                  <a:srgbClr val="E41A52"/>
                </a:solidFill>
                <a:latin typeface="Arial"/>
              </a:rPr>
              <a:t>SU ROL</a:t>
            </a:r>
          </a:p>
        </p:txBody>
      </p:sp>
      <p:sp>
        <p:nvSpPr>
          <p:cNvPr id="15" name="TextBox 14"/>
          <p:cNvSpPr txBox="1"/>
          <p:nvPr/>
        </p:nvSpPr>
        <p:spPr>
          <a:xfrm>
            <a:off x="548640" y="3246120"/>
            <a:ext cx="3749039" cy="292608"/>
          </a:xfrm>
          <a:prstGeom prst="rect">
            <a:avLst/>
          </a:prstGeom>
          <a:noFill/>
        </p:spPr>
        <p:txBody>
          <a:bodyPr wrap="square" lIns="45720" tIns="18288" rIns="45720" bIns="18288" anchor="t">
            <a:spAutoFit/>
          </a:bodyPr>
          <a:lstStyle/>
          <a:p>
            <a:pPr algn="l"/>
            <a:r>
              <a:rPr sz="950" b="0" i="0">
                <a:solidFill>
                  <a:srgbClr val="1F2937"/>
                </a:solidFill>
                <a:latin typeface="Arial"/>
              </a:rPr>
              <a:t>Filtra el ruido del feed infinito para que llegue solo lo que importa.</a:t>
            </a:r>
          </a:p>
        </p:txBody>
      </p:sp>
      <p:sp>
        <p:nvSpPr>
          <p:cNvPr id="16" name="Rectangle 15"/>
          <p:cNvSpPr/>
          <p:nvPr/>
        </p:nvSpPr>
        <p:spPr>
          <a:xfrm>
            <a:off x="4663440" y="841248"/>
            <a:ext cx="4114800" cy="2788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663440" y="841248"/>
            <a:ext cx="4114800" cy="384048"/>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63440" y="841248"/>
            <a:ext cx="4114800" cy="384048"/>
          </a:xfrm>
          <a:prstGeom prst="rect">
            <a:avLst/>
          </a:prstGeom>
          <a:noFill/>
        </p:spPr>
        <p:txBody>
          <a:bodyPr wrap="square" lIns="45720" tIns="18288" rIns="45720" bIns="18288" anchor="ctr">
            <a:spAutoFit/>
          </a:bodyPr>
          <a:lstStyle/>
          <a:p>
            <a:pPr algn="ctr"/>
            <a:r>
              <a:rPr sz="1100" b="1" i="0">
                <a:solidFill>
                  <a:srgbClr val="FFFFFF"/>
                </a:solidFill>
                <a:latin typeface="Arial"/>
              </a:rPr>
              <a:t>CÓMO SE ESCRIBE UNO</a:t>
            </a:r>
          </a:p>
        </p:txBody>
      </p:sp>
      <p:sp>
        <p:nvSpPr>
          <p:cNvPr id="19" name="TextBox 18"/>
          <p:cNvSpPr txBox="1"/>
          <p:nvPr/>
        </p:nvSpPr>
        <p:spPr>
          <a:xfrm>
            <a:off x="4846320" y="1316736"/>
            <a:ext cx="3749039" cy="201168"/>
          </a:xfrm>
          <a:prstGeom prst="rect">
            <a:avLst/>
          </a:prstGeom>
          <a:noFill/>
        </p:spPr>
        <p:txBody>
          <a:bodyPr wrap="square" lIns="45720" tIns="18288" rIns="45720" bIns="18288" anchor="t">
            <a:spAutoFit/>
          </a:bodyPr>
          <a:lstStyle/>
          <a:p>
            <a:pPr algn="l"/>
            <a:r>
              <a:rPr sz="800" b="1" i="0">
                <a:solidFill>
                  <a:srgbClr val="525B66"/>
                </a:solidFill>
                <a:latin typeface="Arial"/>
              </a:rPr>
              <a:t>FÓRMULA</a:t>
            </a:r>
          </a:p>
        </p:txBody>
      </p:sp>
      <p:sp>
        <p:nvSpPr>
          <p:cNvPr id="20" name="Rectangle 19"/>
          <p:cNvSpPr/>
          <p:nvPr/>
        </p:nvSpPr>
        <p:spPr>
          <a:xfrm>
            <a:off x="4846320" y="1517904"/>
            <a:ext cx="3749039" cy="566928"/>
          </a:xfrm>
          <a:prstGeom prst="rect">
            <a:avLst/>
          </a:prstGeom>
          <a:solidFill>
            <a:srgbClr val="F7F7F9"/>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937759" y="1554480"/>
            <a:ext cx="3566160" cy="493776"/>
          </a:xfrm>
          <a:prstGeom prst="rect">
            <a:avLst/>
          </a:prstGeom>
          <a:noFill/>
        </p:spPr>
        <p:txBody>
          <a:bodyPr wrap="square" lIns="45720" tIns="18288" rIns="45720" bIns="18288" anchor="ctr">
            <a:spAutoFit/>
          </a:bodyPr>
          <a:lstStyle/>
          <a:p>
            <a:pPr algn="l"/>
            <a:r>
              <a:rPr sz="1000" b="1" i="0">
                <a:solidFill>
                  <a:srgbClr val="1F2937"/>
                </a:solidFill>
                <a:latin typeface="Arial"/>
              </a:rPr>
              <a:t>¿[Qué actor/amenaza] está haciendo [qué TTP] contra [nuestro sector/empresa] en [qué período]?</a:t>
            </a:r>
          </a:p>
        </p:txBody>
      </p:sp>
      <p:sp>
        <p:nvSpPr>
          <p:cNvPr id="22" name="TextBox 21"/>
          <p:cNvSpPr txBox="1"/>
          <p:nvPr/>
        </p:nvSpPr>
        <p:spPr>
          <a:xfrm>
            <a:off x="4846320" y="2167128"/>
            <a:ext cx="3749039" cy="201168"/>
          </a:xfrm>
          <a:prstGeom prst="rect">
            <a:avLst/>
          </a:prstGeom>
          <a:noFill/>
        </p:spPr>
        <p:txBody>
          <a:bodyPr wrap="square" lIns="45720" tIns="18288" rIns="45720" bIns="18288" anchor="t">
            <a:spAutoFit/>
          </a:bodyPr>
          <a:lstStyle/>
          <a:p>
            <a:pPr algn="l"/>
            <a:r>
              <a:rPr sz="800" b="1" i="0">
                <a:solidFill>
                  <a:srgbClr val="525B66"/>
                </a:solidFill>
                <a:latin typeface="Arial"/>
              </a:rPr>
              <a:t>TRES TESTS QUE DEBE PASAR</a:t>
            </a:r>
          </a:p>
        </p:txBody>
      </p:sp>
      <p:sp>
        <p:nvSpPr>
          <p:cNvPr id="23" name="Rectangle 22"/>
          <p:cNvSpPr/>
          <p:nvPr/>
        </p:nvSpPr>
        <p:spPr>
          <a:xfrm>
            <a:off x="4864607" y="2441448"/>
            <a:ext cx="91440" cy="9144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0" y="2368296"/>
            <a:ext cx="3566160" cy="182880"/>
          </a:xfrm>
          <a:prstGeom prst="rect">
            <a:avLst/>
          </a:prstGeom>
          <a:noFill/>
        </p:spPr>
        <p:txBody>
          <a:bodyPr wrap="square" lIns="45720" tIns="18288" rIns="45720" bIns="18288" anchor="t">
            <a:spAutoFit/>
          </a:bodyPr>
          <a:lstStyle/>
          <a:p>
            <a:pPr algn="l"/>
            <a:r>
              <a:rPr sz="950" b="1" i="0">
                <a:solidFill>
                  <a:srgbClr val="1F2937"/>
                </a:solidFill>
                <a:latin typeface="Arial"/>
              </a:rPr>
              <a:t>Centrado en el negocio</a:t>
            </a:r>
          </a:p>
        </p:txBody>
      </p:sp>
      <p:sp>
        <p:nvSpPr>
          <p:cNvPr id="25" name="TextBox 24"/>
          <p:cNvSpPr txBox="1"/>
          <p:nvPr/>
        </p:nvSpPr>
        <p:spPr>
          <a:xfrm>
            <a:off x="5029200" y="2551176"/>
            <a:ext cx="3566160" cy="201168"/>
          </a:xfrm>
          <a:prstGeom prst="rect">
            <a:avLst/>
          </a:prstGeom>
          <a:noFill/>
        </p:spPr>
        <p:txBody>
          <a:bodyPr wrap="square" lIns="45720" tIns="18288" rIns="45720" bIns="18288" anchor="t">
            <a:spAutoFit/>
          </a:bodyPr>
          <a:lstStyle/>
          <a:p>
            <a:pPr algn="l"/>
            <a:r>
              <a:rPr sz="850" b="0" i="0">
                <a:solidFill>
                  <a:srgbClr val="1F2937"/>
                </a:solidFill>
                <a:latin typeface="Arial"/>
              </a:rPr>
              <a:t>No en la tecnología.</a:t>
            </a:r>
          </a:p>
        </p:txBody>
      </p:sp>
      <p:sp>
        <p:nvSpPr>
          <p:cNvPr id="26" name="Rectangle 25"/>
          <p:cNvSpPr/>
          <p:nvPr/>
        </p:nvSpPr>
        <p:spPr>
          <a:xfrm>
            <a:off x="4864607" y="2852928"/>
            <a:ext cx="91440" cy="9144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0" y="2779776"/>
            <a:ext cx="3566160" cy="182880"/>
          </a:xfrm>
          <a:prstGeom prst="rect">
            <a:avLst/>
          </a:prstGeom>
          <a:noFill/>
        </p:spPr>
        <p:txBody>
          <a:bodyPr wrap="square" lIns="45720" tIns="18288" rIns="45720" bIns="18288" anchor="t">
            <a:spAutoFit/>
          </a:bodyPr>
          <a:lstStyle/>
          <a:p>
            <a:pPr algn="l"/>
            <a:r>
              <a:rPr sz="950" b="1" i="0">
                <a:solidFill>
                  <a:srgbClr val="1F2937"/>
                </a:solidFill>
                <a:latin typeface="Arial"/>
              </a:rPr>
              <a:t>Específico</a:t>
            </a:r>
          </a:p>
        </p:txBody>
      </p:sp>
      <p:sp>
        <p:nvSpPr>
          <p:cNvPr id="28" name="TextBox 27"/>
          <p:cNvSpPr txBox="1"/>
          <p:nvPr/>
        </p:nvSpPr>
        <p:spPr>
          <a:xfrm>
            <a:off x="5029200" y="2962656"/>
            <a:ext cx="3566160" cy="201168"/>
          </a:xfrm>
          <a:prstGeom prst="rect">
            <a:avLst/>
          </a:prstGeom>
          <a:noFill/>
        </p:spPr>
        <p:txBody>
          <a:bodyPr wrap="square" lIns="45720" tIns="18288" rIns="45720" bIns="18288" anchor="t">
            <a:spAutoFit/>
          </a:bodyPr>
          <a:lstStyle/>
          <a:p>
            <a:pPr algn="l"/>
            <a:r>
              <a:rPr sz="850" b="0" i="0">
                <a:solidFill>
                  <a:srgbClr val="1F2937"/>
                </a:solidFill>
                <a:latin typeface="Arial"/>
              </a:rPr>
              <a:t>Acota sector, geografía o tecnología.</a:t>
            </a:r>
          </a:p>
        </p:txBody>
      </p:sp>
      <p:sp>
        <p:nvSpPr>
          <p:cNvPr id="29" name="Rectangle 28"/>
          <p:cNvSpPr/>
          <p:nvPr/>
        </p:nvSpPr>
        <p:spPr>
          <a:xfrm>
            <a:off x="4864607" y="3264408"/>
            <a:ext cx="91440" cy="9144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0" y="3191256"/>
            <a:ext cx="3566160" cy="182880"/>
          </a:xfrm>
          <a:prstGeom prst="rect">
            <a:avLst/>
          </a:prstGeom>
          <a:noFill/>
        </p:spPr>
        <p:txBody>
          <a:bodyPr wrap="square" lIns="45720" tIns="18288" rIns="45720" bIns="18288" anchor="t">
            <a:spAutoFit/>
          </a:bodyPr>
          <a:lstStyle/>
          <a:p>
            <a:pPr algn="l"/>
            <a:r>
              <a:rPr sz="950" b="1" i="0">
                <a:solidFill>
                  <a:srgbClr val="1F2937"/>
                </a:solidFill>
                <a:latin typeface="Arial"/>
              </a:rPr>
              <a:t>Accionable</a:t>
            </a:r>
          </a:p>
        </p:txBody>
      </p:sp>
      <p:sp>
        <p:nvSpPr>
          <p:cNvPr id="31" name="TextBox 30"/>
          <p:cNvSpPr txBox="1"/>
          <p:nvPr/>
        </p:nvSpPr>
        <p:spPr>
          <a:xfrm>
            <a:off x="5029200" y="3374136"/>
            <a:ext cx="3566160" cy="201168"/>
          </a:xfrm>
          <a:prstGeom prst="rect">
            <a:avLst/>
          </a:prstGeom>
          <a:noFill/>
        </p:spPr>
        <p:txBody>
          <a:bodyPr wrap="square" lIns="45720" tIns="18288" rIns="45720" bIns="18288" anchor="t">
            <a:spAutoFit/>
          </a:bodyPr>
          <a:lstStyle/>
          <a:p>
            <a:pPr algn="l"/>
            <a:r>
              <a:rPr sz="850" b="0" i="0">
                <a:solidFill>
                  <a:srgbClr val="1F2937"/>
                </a:solidFill>
                <a:latin typeface="Arial"/>
              </a:rPr>
              <a:t>La respuesta dispara una decisión defensiva concreta.</a:t>
            </a:r>
          </a:p>
        </p:txBody>
      </p:sp>
      <p:sp>
        <p:nvSpPr>
          <p:cNvPr id="32" name="Rectangle 31"/>
          <p:cNvSpPr/>
          <p:nvPr/>
        </p:nvSpPr>
        <p:spPr>
          <a:xfrm>
            <a:off x="365760" y="3703320"/>
            <a:ext cx="4114800" cy="7315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65760" y="3703320"/>
            <a:ext cx="91440" cy="731520"/>
          </a:xfrm>
          <a:prstGeom prst="rect">
            <a:avLst/>
          </a:prstGeom>
          <a:solidFill>
            <a:srgbClr val="525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8640" y="3749039"/>
            <a:ext cx="457200" cy="274320"/>
          </a:xfrm>
          <a:prstGeom prst="rect">
            <a:avLst/>
          </a:prstGeom>
          <a:noFill/>
        </p:spPr>
        <p:txBody>
          <a:bodyPr wrap="square" lIns="45720" tIns="18288" rIns="45720" bIns="18288" anchor="t">
            <a:spAutoFit/>
          </a:bodyPr>
          <a:lstStyle/>
          <a:p>
            <a:pPr algn="l"/>
            <a:r>
              <a:rPr sz="1800" b="1" i="0">
                <a:solidFill>
                  <a:srgbClr val="525B66"/>
                </a:solidFill>
                <a:latin typeface="Arial"/>
              </a:rPr>
              <a:t>✕</a:t>
            </a:r>
          </a:p>
        </p:txBody>
      </p:sp>
      <p:sp>
        <p:nvSpPr>
          <p:cNvPr id="35" name="TextBox 34"/>
          <p:cNvSpPr txBox="1"/>
          <p:nvPr/>
        </p:nvSpPr>
        <p:spPr>
          <a:xfrm>
            <a:off x="960120" y="3749039"/>
            <a:ext cx="914400" cy="201168"/>
          </a:xfrm>
          <a:prstGeom prst="rect">
            <a:avLst/>
          </a:prstGeom>
          <a:noFill/>
        </p:spPr>
        <p:txBody>
          <a:bodyPr wrap="square" lIns="45720" tIns="18288" rIns="45720" bIns="18288" anchor="t">
            <a:spAutoFit/>
          </a:bodyPr>
          <a:lstStyle/>
          <a:p>
            <a:pPr algn="l"/>
            <a:r>
              <a:rPr sz="850" b="1" i="0">
                <a:solidFill>
                  <a:srgbClr val="525B66"/>
                </a:solidFill>
                <a:latin typeface="Arial"/>
              </a:rPr>
              <a:t>MAL PIR</a:t>
            </a:r>
          </a:p>
        </p:txBody>
      </p:sp>
      <p:sp>
        <p:nvSpPr>
          <p:cNvPr id="36" name="TextBox 35"/>
          <p:cNvSpPr txBox="1"/>
          <p:nvPr/>
        </p:nvSpPr>
        <p:spPr>
          <a:xfrm>
            <a:off x="960120" y="3941063"/>
            <a:ext cx="3429000" cy="457200"/>
          </a:xfrm>
          <a:prstGeom prst="rect">
            <a:avLst/>
          </a:prstGeom>
          <a:noFill/>
        </p:spPr>
        <p:txBody>
          <a:bodyPr wrap="square" lIns="45720" tIns="18288" rIns="45720" bIns="18288" anchor="t">
            <a:spAutoFit/>
          </a:bodyPr>
          <a:lstStyle/>
          <a:p>
            <a:pPr algn="l"/>
            <a:r>
              <a:rPr sz="900" b="0" i="1">
                <a:solidFill>
                  <a:srgbClr val="1F2937"/>
                </a:solidFill>
                <a:latin typeface="Arial"/>
              </a:rPr>
              <a:t>"¿Cuáles son los nuevos hackeos en internet?"  —  vago, infinito, no dispara nada.</a:t>
            </a:r>
          </a:p>
        </p:txBody>
      </p:sp>
      <p:sp>
        <p:nvSpPr>
          <p:cNvPr id="37" name="Rectangle 36"/>
          <p:cNvSpPr/>
          <p:nvPr/>
        </p:nvSpPr>
        <p:spPr>
          <a:xfrm>
            <a:off x="4663440" y="3703320"/>
            <a:ext cx="4114800" cy="7315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663440" y="3703320"/>
            <a:ext cx="91440" cy="73152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846320" y="3749039"/>
            <a:ext cx="457200" cy="274320"/>
          </a:xfrm>
          <a:prstGeom prst="rect">
            <a:avLst/>
          </a:prstGeom>
          <a:noFill/>
        </p:spPr>
        <p:txBody>
          <a:bodyPr wrap="square" lIns="45720" tIns="18288" rIns="45720" bIns="18288" anchor="t">
            <a:spAutoFit/>
          </a:bodyPr>
          <a:lstStyle/>
          <a:p>
            <a:pPr algn="l"/>
            <a:r>
              <a:rPr sz="1800" b="1" i="0">
                <a:solidFill>
                  <a:srgbClr val="E41A52"/>
                </a:solidFill>
                <a:latin typeface="Arial"/>
              </a:rPr>
              <a:t>✓</a:t>
            </a:r>
          </a:p>
        </p:txBody>
      </p:sp>
      <p:sp>
        <p:nvSpPr>
          <p:cNvPr id="40" name="TextBox 39"/>
          <p:cNvSpPr txBox="1"/>
          <p:nvPr/>
        </p:nvSpPr>
        <p:spPr>
          <a:xfrm>
            <a:off x="5257800" y="3749039"/>
            <a:ext cx="1371600" cy="201168"/>
          </a:xfrm>
          <a:prstGeom prst="rect">
            <a:avLst/>
          </a:prstGeom>
          <a:noFill/>
        </p:spPr>
        <p:txBody>
          <a:bodyPr wrap="square" lIns="45720" tIns="18288" rIns="45720" bIns="18288" anchor="t">
            <a:spAutoFit/>
          </a:bodyPr>
          <a:lstStyle/>
          <a:p>
            <a:pPr algn="l"/>
            <a:r>
              <a:rPr sz="850" b="1" i="0">
                <a:solidFill>
                  <a:srgbClr val="E41A52"/>
                </a:solidFill>
                <a:latin typeface="Arial"/>
              </a:rPr>
              <a:t>BUEN PIR</a:t>
            </a:r>
          </a:p>
        </p:txBody>
      </p:sp>
      <p:sp>
        <p:nvSpPr>
          <p:cNvPr id="41" name="TextBox 40"/>
          <p:cNvSpPr txBox="1"/>
          <p:nvPr/>
        </p:nvSpPr>
        <p:spPr>
          <a:xfrm>
            <a:off x="5257800" y="3941063"/>
            <a:ext cx="3429000" cy="298543"/>
          </a:xfrm>
          <a:prstGeom prst="rect">
            <a:avLst/>
          </a:prstGeom>
          <a:noFill/>
        </p:spPr>
        <p:txBody>
          <a:bodyPr wrap="square" lIns="45720" tIns="18288" rIns="45720" bIns="18288" anchor="t">
            <a:spAutoFit/>
          </a:bodyPr>
          <a:lstStyle/>
          <a:p>
            <a:pPr algn="l"/>
            <a:r>
              <a:rPr sz="850" b="0" i="1" dirty="0">
                <a:solidFill>
                  <a:srgbClr val="1F2937"/>
                </a:solidFill>
                <a:latin typeface="Arial"/>
              </a:rPr>
              <a:t>¿</a:t>
            </a:r>
            <a:r>
              <a:rPr sz="850" b="0" i="1" dirty="0" err="1">
                <a:solidFill>
                  <a:srgbClr val="1F2937"/>
                </a:solidFill>
                <a:latin typeface="Arial"/>
              </a:rPr>
              <a:t>Qué</a:t>
            </a:r>
            <a:r>
              <a:rPr sz="850" b="0" i="1" dirty="0">
                <a:solidFill>
                  <a:srgbClr val="1F2937"/>
                </a:solidFill>
                <a:latin typeface="Arial"/>
              </a:rPr>
              <a:t> </a:t>
            </a:r>
            <a:r>
              <a:rPr sz="850" b="0" i="1" dirty="0" err="1">
                <a:solidFill>
                  <a:srgbClr val="1F2937"/>
                </a:solidFill>
                <a:latin typeface="Arial"/>
              </a:rPr>
              <a:t>grupos</a:t>
            </a:r>
            <a:r>
              <a:rPr sz="850" b="0" i="1" dirty="0">
                <a:solidFill>
                  <a:srgbClr val="1F2937"/>
                </a:solidFill>
                <a:latin typeface="Arial"/>
              </a:rPr>
              <a:t> </a:t>
            </a:r>
            <a:r>
              <a:rPr lang="es-419" sz="850" b="0" i="1" dirty="0">
                <a:solidFill>
                  <a:srgbClr val="1F2937"/>
                </a:solidFill>
                <a:latin typeface="Arial"/>
              </a:rPr>
              <a:t>estan atacando infraestructuras gubernamentales en </a:t>
            </a:r>
            <a:r>
              <a:rPr sz="850" b="0" i="1" dirty="0">
                <a:solidFill>
                  <a:srgbClr val="1F2937"/>
                </a:solidFill>
                <a:latin typeface="Arial"/>
              </a:rPr>
              <a:t>LATAM </a:t>
            </a:r>
            <a:r>
              <a:rPr sz="850" b="0" i="1" dirty="0" err="1">
                <a:solidFill>
                  <a:srgbClr val="1F2937"/>
                </a:solidFill>
                <a:latin typeface="Arial"/>
              </a:rPr>
              <a:t>aprovechando</a:t>
            </a:r>
            <a:r>
              <a:rPr sz="850" b="0" i="1" dirty="0">
                <a:solidFill>
                  <a:srgbClr val="1F2937"/>
                </a:solidFill>
                <a:latin typeface="Arial"/>
              </a:rPr>
              <a:t> </a:t>
            </a:r>
            <a:r>
              <a:rPr lang="es-419" sz="850" b="0" i="1" dirty="0">
                <a:solidFill>
                  <a:srgbClr val="1F2937"/>
                </a:solidFill>
                <a:latin typeface="Arial"/>
              </a:rPr>
              <a:t>misconfigurations y credenciales validas?</a:t>
            </a:r>
            <a:endParaRPr sz="850" b="0" i="1" dirty="0">
              <a:solidFill>
                <a:srgbClr val="1F2937"/>
              </a:solidFill>
              <a:latin typeface="Arial"/>
            </a:endParaRPr>
          </a:p>
        </p:txBody>
      </p:sp>
      <p:sp>
        <p:nvSpPr>
          <p:cNvPr id="42" name="Rectangle 41"/>
          <p:cNvSpPr/>
          <p:nvPr/>
        </p:nvSpPr>
        <p:spPr>
          <a:xfrm>
            <a:off x="365760" y="4480560"/>
            <a:ext cx="8412480" cy="292608"/>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65760" y="4523759"/>
            <a:ext cx="8412480" cy="206210"/>
          </a:xfrm>
          <a:prstGeom prst="rect">
            <a:avLst/>
          </a:prstGeom>
          <a:noFill/>
        </p:spPr>
        <p:txBody>
          <a:bodyPr wrap="square" lIns="45720" tIns="18288" rIns="45720" bIns="18288" anchor="ctr">
            <a:spAutoFit/>
          </a:bodyPr>
          <a:lstStyle/>
          <a:p>
            <a:pPr algn="ctr"/>
            <a:r>
              <a:rPr sz="1100" b="1" i="0" dirty="0">
                <a:solidFill>
                  <a:srgbClr val="FFFFFF"/>
                </a:solidFill>
                <a:latin typeface="Arial"/>
              </a:rPr>
              <a:t>Los PIRs son las </a:t>
            </a:r>
            <a:r>
              <a:rPr sz="1100" b="1" i="0" dirty="0" err="1">
                <a:solidFill>
                  <a:srgbClr val="FFFFFF"/>
                </a:solidFill>
                <a:latin typeface="Arial"/>
              </a:rPr>
              <a:t>preguntas</a:t>
            </a:r>
            <a:r>
              <a:rPr sz="1100" b="1" i="0" dirty="0">
                <a:solidFill>
                  <a:srgbClr val="FFFFFF"/>
                </a:solidFill>
                <a:latin typeface="Arial"/>
              </a:rPr>
              <a:t> </a:t>
            </a:r>
            <a:r>
              <a:rPr sz="1100" b="1" i="0" dirty="0" err="1">
                <a:solidFill>
                  <a:srgbClr val="FFFFFF"/>
                </a:solidFill>
                <a:latin typeface="Arial"/>
              </a:rPr>
              <a:t>que</a:t>
            </a:r>
            <a:r>
              <a:rPr sz="1100" b="1" i="0" dirty="0">
                <a:solidFill>
                  <a:srgbClr val="FFFFFF"/>
                </a:solidFill>
                <a:latin typeface="Arial"/>
              </a:rPr>
              <a:t> </a:t>
            </a:r>
            <a:r>
              <a:rPr sz="1100" b="1" i="0" dirty="0" err="1">
                <a:solidFill>
                  <a:srgbClr val="FFFFFF"/>
                </a:solidFill>
                <a:latin typeface="Arial"/>
              </a:rPr>
              <a:t>el</a:t>
            </a:r>
            <a:r>
              <a:rPr sz="1100" b="1" i="0" dirty="0">
                <a:solidFill>
                  <a:srgbClr val="FFFFFF"/>
                </a:solidFill>
                <a:latin typeface="Arial"/>
              </a:rPr>
              <a:t> </a:t>
            </a:r>
            <a:r>
              <a:rPr sz="1100" b="1" i="0" dirty="0" err="1">
                <a:solidFill>
                  <a:srgbClr val="FFFFFF"/>
                </a:solidFill>
                <a:latin typeface="Arial"/>
              </a:rPr>
              <a:t>negocio</a:t>
            </a:r>
            <a:r>
              <a:rPr sz="1100" b="1" i="0" dirty="0">
                <a:solidFill>
                  <a:srgbClr val="FFFFFF"/>
                </a:solidFill>
                <a:latin typeface="Arial"/>
              </a:rPr>
              <a:t> </a:t>
            </a:r>
            <a:r>
              <a:rPr sz="1100" b="1" i="0" dirty="0" err="1">
                <a:solidFill>
                  <a:srgbClr val="FFFFFF"/>
                </a:solidFill>
                <a:latin typeface="Arial"/>
              </a:rPr>
              <a:t>necesita</a:t>
            </a:r>
            <a:r>
              <a:rPr sz="1100" b="1" i="0" dirty="0">
                <a:solidFill>
                  <a:srgbClr val="FFFFFF"/>
                </a:solidFill>
                <a:latin typeface="Arial"/>
              </a:rPr>
              <a:t> </a:t>
            </a:r>
            <a:r>
              <a:rPr sz="1100" b="1" i="0" dirty="0" err="1">
                <a:solidFill>
                  <a:srgbClr val="FFFFFF"/>
                </a:solidFill>
                <a:latin typeface="Arial"/>
              </a:rPr>
              <a:t>que</a:t>
            </a:r>
            <a:r>
              <a:rPr sz="1100" b="1" i="0" dirty="0">
                <a:solidFill>
                  <a:srgbClr val="FFFFFF"/>
                </a:solidFill>
                <a:latin typeface="Arial"/>
              </a:rPr>
              <a:t> CTI </a:t>
            </a:r>
            <a:r>
              <a:rPr sz="1100" b="1" i="0" dirty="0" err="1">
                <a:solidFill>
                  <a:srgbClr val="FFFFFF"/>
                </a:solidFill>
                <a:latin typeface="Arial"/>
              </a:rPr>
              <a:t>responda</a:t>
            </a:r>
            <a:r>
              <a:rPr sz="1100" b="1" i="0" dirty="0">
                <a:solidFill>
                  <a:srgbClr val="FFFFFF"/>
                </a:solidFill>
                <a:latin typeface="Arial"/>
              </a:rPr>
              <a:t>. </a:t>
            </a:r>
            <a:r>
              <a:rPr lang="es-419" sz="1100" b="1" i="0" dirty="0">
                <a:solidFill>
                  <a:srgbClr val="FFFFFF"/>
                </a:solidFill>
                <a:latin typeface="Arial"/>
              </a:rPr>
              <a:t>Sin PIR, </a:t>
            </a:r>
            <a:r>
              <a:rPr lang="es-419" sz="1100" b="1" dirty="0">
                <a:solidFill>
                  <a:srgbClr val="FFFFFF"/>
                </a:solidFill>
              </a:rPr>
              <a:t>t</a:t>
            </a:r>
            <a:r>
              <a:rPr sz="1100" b="1" i="0" dirty="0" err="1">
                <a:solidFill>
                  <a:srgbClr val="FFFFFF"/>
                </a:solidFill>
                <a:latin typeface="Arial"/>
              </a:rPr>
              <a:t>odo</a:t>
            </a:r>
            <a:r>
              <a:rPr sz="1100" b="1" i="0" dirty="0">
                <a:solidFill>
                  <a:srgbClr val="FFFFFF"/>
                </a:solidFill>
                <a:latin typeface="Arial"/>
              </a:rPr>
              <a:t> lo </a:t>
            </a:r>
            <a:r>
              <a:rPr sz="1100" b="1" i="0" dirty="0" err="1">
                <a:solidFill>
                  <a:srgbClr val="FFFFFF"/>
                </a:solidFill>
                <a:latin typeface="Arial"/>
              </a:rPr>
              <a:t>demás</a:t>
            </a:r>
            <a:r>
              <a:rPr sz="1100" b="1" i="0" dirty="0">
                <a:solidFill>
                  <a:srgbClr val="FFFFFF"/>
                </a:solidFill>
                <a:latin typeface="Arial"/>
              </a:rPr>
              <a:t> es </a:t>
            </a:r>
            <a:r>
              <a:rPr sz="1100" b="1" i="0" dirty="0" err="1">
                <a:solidFill>
                  <a:srgbClr val="FFFFFF"/>
                </a:solidFill>
                <a:latin typeface="Arial"/>
              </a:rPr>
              <a:t>ruido</a:t>
            </a:r>
            <a:r>
              <a:rPr sz="1100" b="1" i="0" dirty="0">
                <a:solidFill>
                  <a:srgbClr val="FFFFFF"/>
                </a:solidFill>
                <a:latin typeface="Arial"/>
              </a:rPr>
              <a:t>.</a:t>
            </a:r>
          </a:p>
        </p:txBody>
      </p:sp>
      <p:sp>
        <p:nvSpPr>
          <p:cNvPr id="45" name="TextBox 44"/>
          <p:cNvSpPr txBox="1"/>
          <p:nvPr/>
        </p:nvSpPr>
        <p:spPr>
          <a:xfrm>
            <a:off x="8046720" y="4818888"/>
            <a:ext cx="868680" cy="274320"/>
          </a:xfrm>
          <a:prstGeom prst="rect">
            <a:avLst/>
          </a:prstGeom>
          <a:noFill/>
        </p:spPr>
        <p:txBody>
          <a:bodyPr wrap="square" lIns="45720" tIns="18288" rIns="45720" bIns="18288" anchor="t">
            <a:spAutoFit/>
          </a:bodyPr>
          <a:lstStyle/>
          <a:p>
            <a:pPr algn="r"/>
            <a:r>
              <a:rPr sz="800" b="0" i="0">
                <a:solidFill>
                  <a:srgbClr val="525B66"/>
                </a:solidFill>
                <a:latin typeface="Arial"/>
              </a:rPr>
              <a:t>13 / 38</a:t>
            </a:r>
          </a:p>
        </p:txBody>
      </p:sp>
      <p:pic>
        <p:nvPicPr>
          <p:cNvPr id="47" name="Picture 46">
            <a:extLst>
              <a:ext uri="{FF2B5EF4-FFF2-40B4-BE49-F238E27FC236}">
                <a16:creationId xmlns:a16="http://schemas.microsoft.com/office/drawing/2014/main" id="{1036724E-14F2-DA5E-E314-A9B29DBD723C}"/>
              </a:ext>
            </a:extLst>
          </p:cNvPr>
          <p:cNvPicPr>
            <a:picLocks noChangeAspect="1"/>
          </p:cNvPicPr>
          <p:nvPr/>
        </p:nvPicPr>
        <p:blipFill>
          <a:blip r:embed="rId2"/>
          <a:stretch>
            <a:fillRect/>
          </a:stretch>
        </p:blipFill>
        <p:spPr>
          <a:xfrm>
            <a:off x="4663438" y="822933"/>
            <a:ext cx="4114799" cy="36119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1000" fill="hold"/>
                                        <p:tgtEl>
                                          <p:spTgt spid="47"/>
                                        </p:tgtEl>
                                        <p:attrNameLst>
                                          <p:attrName>ppt_x</p:attrName>
                                        </p:attrNameLst>
                                      </p:cBhvr>
                                      <p:tavLst>
                                        <p:tav tm="0">
                                          <p:val>
                                            <p:strVal val="#ppt_x"/>
                                          </p:val>
                                        </p:tav>
                                        <p:tav tm="100000">
                                          <p:val>
                                            <p:strVal val="#ppt_x"/>
                                          </p:val>
                                        </p:tav>
                                      </p:tavLst>
                                    </p:anim>
                                    <p:anim calcmode="lin" valueType="num">
                                      <p:cBhvr additive="base">
                                        <p:cTn id="8" dur="10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right.png"/>
          <p:cNvPicPr>
            <a:picLocks noChangeAspect="1"/>
          </p:cNvPicPr>
          <p:nvPr/>
        </p:nvPicPr>
        <p:blipFill>
          <a:blip r:embed="rId2">
            <a:alphaModFix amt="12000"/>
          </a:blip>
          <a:stretch>
            <a:fillRect/>
          </a:stretch>
        </p:blipFill>
        <p:spPr>
          <a:xfrm>
            <a:off x="7772400" y="777240"/>
            <a:ext cx="2138035" cy="4206240"/>
          </a:xfrm>
          <a:prstGeom prst="rect">
            <a:avLst/>
          </a:prstGeom>
        </p:spPr>
      </p:pic>
      <p:sp>
        <p:nvSpPr>
          <p:cNvPr id="4" name="TextBox 3"/>
          <p:cNvSpPr txBox="1"/>
          <p:nvPr/>
        </p:nvSpPr>
        <p:spPr>
          <a:xfrm>
            <a:off x="365760" y="146304"/>
            <a:ext cx="8412480" cy="420624"/>
          </a:xfrm>
          <a:prstGeom prst="rect">
            <a:avLst/>
          </a:prstGeom>
          <a:noFill/>
        </p:spPr>
        <p:txBody>
          <a:bodyPr wrap="square" lIns="25400" tIns="12700" rIns="25400" bIns="12700" anchor="ctr">
            <a:spAutoFit/>
          </a:bodyPr>
          <a:lstStyle/>
          <a:p>
            <a:pPr algn="l"/>
            <a:r>
              <a:rPr sz="2000" b="1" i="0" dirty="0">
                <a:solidFill>
                  <a:srgbClr val="FFFFFF"/>
                </a:solidFill>
                <a:latin typeface="Arial"/>
              </a:rPr>
              <a:t>PIRs · Priority Intelligence Requirements</a:t>
            </a:r>
          </a:p>
        </p:txBody>
      </p:sp>
      <p:sp>
        <p:nvSpPr>
          <p:cNvPr id="5" name="TextBox 4"/>
          <p:cNvSpPr txBox="1"/>
          <p:nvPr/>
        </p:nvSpPr>
        <p:spPr>
          <a:xfrm>
            <a:off x="365760" y="914400"/>
            <a:ext cx="8412480" cy="365760"/>
          </a:xfrm>
          <a:prstGeom prst="rect">
            <a:avLst/>
          </a:prstGeom>
          <a:noFill/>
        </p:spPr>
        <p:txBody>
          <a:bodyPr wrap="square" lIns="25400" tIns="12700" rIns="25400" bIns="12700" anchor="t">
            <a:spAutoFit/>
          </a:bodyPr>
          <a:lstStyle/>
          <a:p>
            <a:pPr algn="l"/>
            <a:r>
              <a:rPr sz="1300" b="0" i="1">
                <a:solidFill>
                  <a:srgbClr val="525B66"/>
                </a:solidFill>
                <a:latin typeface="Arial"/>
              </a:rPr>
              <a:t>Las preguntas concretas del decisor que CTI tiene que responder.</a:t>
            </a:r>
          </a:p>
        </p:txBody>
      </p:sp>
      <p:sp>
        <p:nvSpPr>
          <p:cNvPr id="6" name="Rectangle 5"/>
          <p:cNvSpPr/>
          <p:nvPr/>
        </p:nvSpPr>
        <p:spPr>
          <a:xfrm>
            <a:off x="365760" y="1463040"/>
            <a:ext cx="2103120" cy="6858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463040"/>
            <a:ext cx="2103120" cy="685800"/>
          </a:xfrm>
          <a:prstGeom prst="rect">
            <a:avLst/>
          </a:prstGeom>
          <a:noFill/>
        </p:spPr>
        <p:txBody>
          <a:bodyPr wrap="square" lIns="25400" tIns="12700" rIns="25400" bIns="12700" anchor="ctr">
            <a:spAutoFit/>
          </a:bodyPr>
          <a:lstStyle/>
          <a:p>
            <a:pPr algn="ctr"/>
            <a:r>
              <a:rPr sz="1200" b="1" i="0" spc="400">
                <a:solidFill>
                  <a:srgbClr val="FFFFFF"/>
                </a:solidFill>
                <a:latin typeface="Arial"/>
              </a:rPr>
              <a:t>ESTRATÉGICO</a:t>
            </a:r>
          </a:p>
        </p:txBody>
      </p:sp>
      <p:sp>
        <p:nvSpPr>
          <p:cNvPr id="8" name="Rectangle 7"/>
          <p:cNvSpPr/>
          <p:nvPr/>
        </p:nvSpPr>
        <p:spPr>
          <a:xfrm>
            <a:off x="2468880" y="1463040"/>
            <a:ext cx="6309360" cy="68580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06040" y="1463040"/>
            <a:ext cx="6126480" cy="685800"/>
          </a:xfrm>
          <a:prstGeom prst="rect">
            <a:avLst/>
          </a:prstGeom>
          <a:noFill/>
        </p:spPr>
        <p:txBody>
          <a:bodyPr wrap="square" lIns="25400" tIns="12700" rIns="25400" bIns="12700" anchor="ctr">
            <a:spAutoFit/>
          </a:bodyPr>
          <a:lstStyle/>
          <a:p>
            <a:pPr algn="l"/>
            <a:r>
              <a:rPr sz="1300" b="0" i="1">
                <a:solidFill>
                  <a:srgbClr val="1F2937"/>
                </a:solidFill>
                <a:latin typeface="Arial"/>
              </a:rPr>
              <a:t>¿Qué actores con motivación geopolítica están apuntando a fintech en LATAM?</a:t>
            </a:r>
          </a:p>
        </p:txBody>
      </p:sp>
      <p:sp>
        <p:nvSpPr>
          <p:cNvPr id="10" name="Rectangle 9"/>
          <p:cNvSpPr/>
          <p:nvPr/>
        </p:nvSpPr>
        <p:spPr>
          <a:xfrm>
            <a:off x="365760" y="2240280"/>
            <a:ext cx="2103120" cy="6858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2240280"/>
            <a:ext cx="2103120" cy="685800"/>
          </a:xfrm>
          <a:prstGeom prst="rect">
            <a:avLst/>
          </a:prstGeom>
          <a:noFill/>
        </p:spPr>
        <p:txBody>
          <a:bodyPr wrap="square" lIns="25400" tIns="12700" rIns="25400" bIns="12700" anchor="ctr">
            <a:spAutoFit/>
          </a:bodyPr>
          <a:lstStyle/>
          <a:p>
            <a:pPr algn="ctr"/>
            <a:r>
              <a:rPr sz="1200" b="1" i="0" spc="400">
                <a:solidFill>
                  <a:srgbClr val="FFFFFF"/>
                </a:solidFill>
                <a:latin typeface="Arial"/>
              </a:rPr>
              <a:t>OPERACIONAL</a:t>
            </a:r>
          </a:p>
        </p:txBody>
      </p:sp>
      <p:sp>
        <p:nvSpPr>
          <p:cNvPr id="12" name="Rectangle 11"/>
          <p:cNvSpPr/>
          <p:nvPr/>
        </p:nvSpPr>
        <p:spPr>
          <a:xfrm>
            <a:off x="2468880" y="2240280"/>
            <a:ext cx="6309360" cy="68580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06040" y="2240280"/>
            <a:ext cx="6126480" cy="685800"/>
          </a:xfrm>
          <a:prstGeom prst="rect">
            <a:avLst/>
          </a:prstGeom>
          <a:noFill/>
        </p:spPr>
        <p:txBody>
          <a:bodyPr wrap="square" lIns="25400" tIns="12700" rIns="25400" bIns="12700" anchor="ctr">
            <a:spAutoFit/>
          </a:bodyPr>
          <a:lstStyle/>
          <a:p>
            <a:pPr algn="l"/>
            <a:r>
              <a:rPr sz="1300" b="0" i="1">
                <a:solidFill>
                  <a:srgbClr val="1F2937"/>
                </a:solidFill>
                <a:latin typeface="Arial"/>
              </a:rPr>
              <a:t>¿Cuáles son las TTPs activas de ransomware contra retail los últimos 90 días?</a:t>
            </a:r>
          </a:p>
        </p:txBody>
      </p:sp>
      <p:sp>
        <p:nvSpPr>
          <p:cNvPr id="14" name="Rectangle 13"/>
          <p:cNvSpPr/>
          <p:nvPr/>
        </p:nvSpPr>
        <p:spPr>
          <a:xfrm>
            <a:off x="365760" y="3017520"/>
            <a:ext cx="2103120" cy="6858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3017520"/>
            <a:ext cx="2103120" cy="685800"/>
          </a:xfrm>
          <a:prstGeom prst="rect">
            <a:avLst/>
          </a:prstGeom>
          <a:noFill/>
        </p:spPr>
        <p:txBody>
          <a:bodyPr wrap="square" lIns="25400" tIns="12700" rIns="25400" bIns="12700" anchor="ctr">
            <a:spAutoFit/>
          </a:bodyPr>
          <a:lstStyle/>
          <a:p>
            <a:pPr algn="ctr"/>
            <a:r>
              <a:rPr sz="1200" b="1" i="0" spc="400">
                <a:solidFill>
                  <a:srgbClr val="FFFFFF"/>
                </a:solidFill>
                <a:latin typeface="Arial"/>
              </a:rPr>
              <a:t>TÁCTICO</a:t>
            </a:r>
          </a:p>
        </p:txBody>
      </p:sp>
      <p:sp>
        <p:nvSpPr>
          <p:cNvPr id="16" name="Rectangle 15"/>
          <p:cNvSpPr/>
          <p:nvPr/>
        </p:nvSpPr>
        <p:spPr>
          <a:xfrm>
            <a:off x="2468880" y="3017520"/>
            <a:ext cx="6309360" cy="68580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06040" y="3017520"/>
            <a:ext cx="6126480" cy="685800"/>
          </a:xfrm>
          <a:prstGeom prst="rect">
            <a:avLst/>
          </a:prstGeom>
          <a:noFill/>
        </p:spPr>
        <p:txBody>
          <a:bodyPr wrap="square" lIns="25400" tIns="12700" rIns="25400" bIns="12700" anchor="ctr">
            <a:spAutoFit/>
          </a:bodyPr>
          <a:lstStyle/>
          <a:p>
            <a:pPr algn="l"/>
            <a:r>
              <a:rPr sz="1300" b="0" i="1">
                <a:solidFill>
                  <a:srgbClr val="1F2937"/>
                </a:solidFill>
                <a:latin typeface="Arial"/>
              </a:rPr>
              <a:t>¿Qué indicadores de C2 de Lumma Stealer se reportaron esta semana?</a:t>
            </a:r>
          </a:p>
        </p:txBody>
      </p:sp>
      <p:sp>
        <p:nvSpPr>
          <p:cNvPr id="18" name="Rectangle 17"/>
          <p:cNvSpPr/>
          <p:nvPr/>
        </p:nvSpPr>
        <p:spPr>
          <a:xfrm>
            <a:off x="365760" y="4023360"/>
            <a:ext cx="8412480" cy="50292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4023360"/>
            <a:ext cx="8412480" cy="502920"/>
          </a:xfrm>
          <a:prstGeom prst="rect">
            <a:avLst/>
          </a:prstGeom>
          <a:noFill/>
        </p:spPr>
        <p:txBody>
          <a:bodyPr wrap="square" lIns="25400" tIns="12700" rIns="25400" bIns="12700" anchor="ctr">
            <a:spAutoFit/>
          </a:bodyPr>
          <a:lstStyle/>
          <a:p>
            <a:pPr algn="ctr"/>
            <a:r>
              <a:rPr sz="1400" b="1" i="0">
                <a:solidFill>
                  <a:srgbClr val="FFFFFF"/>
                </a:solidFill>
                <a:latin typeface="Arial"/>
              </a:rPr>
              <a:t>No podés defender todo, en todos lados, todo el tiempo. PIRs = dónde mirar primero.</a:t>
            </a:r>
          </a:p>
          <a:p>
            <a:pPr algn="ctr"/>
            <a:r>
              <a:rPr sz="1400" b="1" i="0">
                <a:solidFill>
                  <a:srgbClr val="FFFFFF"/>
                </a:solidFill>
                <a:latin typeface="Arial"/>
              </a:rPr>
              <a:t>Si tu reporte no responde un PIR, no es inteligencia. Es información que sobra.</a:t>
            </a:r>
          </a:p>
        </p:txBody>
      </p:sp>
      <p:sp>
        <p:nvSpPr>
          <p:cNvPr id="21" name="TextBox 20"/>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14 / 38</a:t>
            </a:r>
          </a:p>
        </p:txBody>
      </p:sp>
    </p:spTree>
    <p:extLst>
      <p:ext uri="{BB962C8B-B14F-4D97-AF65-F5344CB8AC3E}">
        <p14:creationId xmlns:p14="http://schemas.microsoft.com/office/powerpoint/2010/main" val="4126645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41A52"/>
        </a:solidFill>
        <a:effectLst/>
      </p:bgPr>
    </p:bg>
    <p:spTree>
      <p:nvGrpSpPr>
        <p:cNvPr id="1" name=""/>
        <p:cNvGrpSpPr/>
        <p:nvPr/>
      </p:nvGrpSpPr>
      <p:grpSpPr>
        <a:xfrm>
          <a:off x="0" y="0"/>
          <a:ext cx="0" cy="0"/>
          <a:chOff x="0" y="0"/>
          <a:chExt cx="0" cy="0"/>
        </a:xfrm>
      </p:grpSpPr>
      <p:sp>
        <p:nvSpPr>
          <p:cNvPr id="2" name="Rectangle 1"/>
          <p:cNvSpPr/>
          <p:nvPr/>
        </p:nvSpPr>
        <p:spPr>
          <a:xfrm>
            <a:off x="0" y="4114800"/>
            <a:ext cx="9144000" cy="102870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left.png"/>
          <p:cNvPicPr>
            <a:picLocks noChangeAspect="1"/>
          </p:cNvPicPr>
          <p:nvPr/>
        </p:nvPicPr>
        <p:blipFill>
          <a:blip r:embed="rId2">
            <a:alphaModFix amt="25000"/>
          </a:blip>
          <a:stretch>
            <a:fillRect/>
          </a:stretch>
        </p:blipFill>
        <p:spPr>
          <a:xfrm>
            <a:off x="-548640" y="365760"/>
            <a:ext cx="2413248" cy="4572000"/>
          </a:xfrm>
          <a:prstGeom prst="rect">
            <a:avLst/>
          </a:prstGeom>
        </p:spPr>
      </p:pic>
      <p:pic>
        <p:nvPicPr>
          <p:cNvPr id="4" name="Picture 3" descr="brand_palm_right.png"/>
          <p:cNvPicPr>
            <a:picLocks noChangeAspect="1"/>
          </p:cNvPicPr>
          <p:nvPr/>
        </p:nvPicPr>
        <p:blipFill>
          <a:blip r:embed="rId3">
            <a:alphaModFix amt="25000"/>
          </a:blip>
          <a:stretch>
            <a:fillRect/>
          </a:stretch>
        </p:blipFill>
        <p:spPr>
          <a:xfrm>
            <a:off x="6583680" y="365760"/>
            <a:ext cx="2323951" cy="4572000"/>
          </a:xfrm>
          <a:prstGeom prst="rect">
            <a:avLst/>
          </a:prstGeom>
        </p:spPr>
      </p:pic>
      <p:sp>
        <p:nvSpPr>
          <p:cNvPr id="5" name="Rectangle 4"/>
          <p:cNvSpPr/>
          <p:nvPr/>
        </p:nvSpPr>
        <p:spPr>
          <a:xfrm>
            <a:off x="365760" y="274320"/>
            <a:ext cx="841248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0624" y="329184"/>
            <a:ext cx="8302752" cy="603504"/>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29184"/>
            <a:ext cx="8046720" cy="603504"/>
          </a:xfrm>
          <a:prstGeom prst="rect">
            <a:avLst/>
          </a:prstGeom>
          <a:noFill/>
        </p:spPr>
        <p:txBody>
          <a:bodyPr wrap="square" lIns="25400" tIns="12700" rIns="25400" bIns="12700" anchor="ctr">
            <a:spAutoFit/>
          </a:bodyPr>
          <a:lstStyle/>
          <a:p>
            <a:pPr algn="l"/>
            <a:r>
              <a:rPr sz="1800" b="1" i="0" spc="200">
                <a:solidFill>
                  <a:srgbClr val="FFFFFF"/>
                </a:solidFill>
                <a:latin typeface="Arial"/>
              </a:rPr>
              <a:t>BLOQUE  03  ·  FUENTES DE THREAT INTELLIGENCE</a:t>
            </a:r>
          </a:p>
        </p:txBody>
      </p:sp>
      <p:sp>
        <p:nvSpPr>
          <p:cNvPr id="8" name="TextBox 7"/>
          <p:cNvSpPr txBox="1"/>
          <p:nvPr/>
        </p:nvSpPr>
        <p:spPr>
          <a:xfrm>
            <a:off x="548640" y="1645920"/>
            <a:ext cx="8046720" cy="1920240"/>
          </a:xfrm>
          <a:prstGeom prst="rect">
            <a:avLst/>
          </a:prstGeom>
          <a:noFill/>
        </p:spPr>
        <p:txBody>
          <a:bodyPr wrap="square" lIns="25400" tIns="12700" rIns="25400" bIns="12700" anchor="ctr">
            <a:spAutoFit/>
          </a:bodyPr>
          <a:lstStyle/>
          <a:p>
            <a:pPr algn="l"/>
            <a:r>
              <a:rPr sz="2200" b="1" i="1">
                <a:solidFill>
                  <a:srgbClr val="FFFFFF"/>
                </a:solidFill>
                <a:latin typeface="Arial"/>
              </a:rPr>
              <a:t>Rapid fire: 5 fuentes + cómo se gradan + VIBEINT.</a:t>
            </a:r>
          </a:p>
        </p:txBody>
      </p:sp>
      <p:sp>
        <p:nvSpPr>
          <p:cNvPr id="10" name="TextBox 9"/>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15 / 38</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right.png"/>
          <p:cNvPicPr>
            <a:picLocks noChangeAspect="1"/>
          </p:cNvPicPr>
          <p:nvPr/>
        </p:nvPicPr>
        <p:blipFill>
          <a:blip r:embed="rId2">
            <a:alphaModFix amt="12000"/>
          </a:blip>
          <a:stretch>
            <a:fillRect/>
          </a:stretch>
        </p:blipFill>
        <p:spPr>
          <a:xfrm>
            <a:off x="7772400" y="777240"/>
            <a:ext cx="2138035" cy="4206240"/>
          </a:xfrm>
          <a:prstGeom prst="rect">
            <a:avLst/>
          </a:prstGeom>
        </p:spPr>
      </p:pic>
      <p:sp>
        <p:nvSpPr>
          <p:cNvPr id="4" name="TextBox 3"/>
          <p:cNvSpPr txBox="1"/>
          <p:nvPr/>
        </p:nvSpPr>
        <p:spPr>
          <a:xfrm>
            <a:off x="365760" y="146304"/>
            <a:ext cx="8412480" cy="420624"/>
          </a:xfrm>
          <a:prstGeom prst="rect">
            <a:avLst/>
          </a:prstGeom>
          <a:noFill/>
        </p:spPr>
        <p:txBody>
          <a:bodyPr wrap="square" lIns="25400" tIns="12700" rIns="25400" bIns="12700" anchor="ctr">
            <a:spAutoFit/>
          </a:bodyPr>
          <a:lstStyle/>
          <a:p>
            <a:pPr algn="l"/>
            <a:r>
              <a:rPr sz="2000" b="1" i="0">
                <a:solidFill>
                  <a:srgbClr val="FFFFFF"/>
                </a:solidFill>
                <a:latin typeface="Arial"/>
              </a:rPr>
              <a:t>OSINT · HUMINT · SIGINT · GEOINT · CHIS</a:t>
            </a:r>
          </a:p>
        </p:txBody>
      </p:sp>
      <p:sp>
        <p:nvSpPr>
          <p:cNvPr id="5" name="Rectangle 4"/>
          <p:cNvSpPr/>
          <p:nvPr/>
        </p:nvSpPr>
        <p:spPr>
          <a:xfrm>
            <a:off x="365760" y="1005840"/>
            <a:ext cx="8412480" cy="6400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005840"/>
            <a:ext cx="1508760" cy="6400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005840"/>
            <a:ext cx="1508760" cy="640080"/>
          </a:xfrm>
          <a:prstGeom prst="rect">
            <a:avLst/>
          </a:prstGeom>
          <a:noFill/>
        </p:spPr>
        <p:txBody>
          <a:bodyPr wrap="square" lIns="25400" tIns="12700" rIns="25400" bIns="12700" anchor="ctr">
            <a:spAutoFit/>
          </a:bodyPr>
          <a:lstStyle/>
          <a:p>
            <a:pPr algn="ctr"/>
            <a:r>
              <a:rPr sz="1600" b="1" i="0" spc="400">
                <a:solidFill>
                  <a:srgbClr val="FFFFFF"/>
                </a:solidFill>
                <a:latin typeface="Arial"/>
              </a:rPr>
              <a:t>OSINT</a:t>
            </a:r>
          </a:p>
        </p:txBody>
      </p:sp>
      <p:sp>
        <p:nvSpPr>
          <p:cNvPr id="8" name="TextBox 7"/>
          <p:cNvSpPr txBox="1"/>
          <p:nvPr/>
        </p:nvSpPr>
        <p:spPr>
          <a:xfrm>
            <a:off x="2011680" y="1005840"/>
            <a:ext cx="6675120" cy="640080"/>
          </a:xfrm>
          <a:prstGeom prst="rect">
            <a:avLst/>
          </a:prstGeom>
          <a:noFill/>
        </p:spPr>
        <p:txBody>
          <a:bodyPr wrap="square" lIns="25400" tIns="12700" rIns="25400" bIns="12700" anchor="ctr">
            <a:spAutoFit/>
          </a:bodyPr>
          <a:lstStyle/>
          <a:p>
            <a:pPr algn="l"/>
            <a:r>
              <a:rPr sz="1200" b="0" i="0">
                <a:solidFill>
                  <a:srgbClr val="1F2937"/>
                </a:solidFill>
                <a:latin typeface="Arial"/>
              </a:rPr>
              <a:t>Open Source: foros, redes, leaks, certificate transparency, Shodan/Censys/GreyNoise.</a:t>
            </a:r>
          </a:p>
        </p:txBody>
      </p:sp>
      <p:sp>
        <p:nvSpPr>
          <p:cNvPr id="9" name="Rectangle 8"/>
          <p:cNvSpPr/>
          <p:nvPr/>
        </p:nvSpPr>
        <p:spPr>
          <a:xfrm>
            <a:off x="365760" y="1719072"/>
            <a:ext cx="8412480" cy="6400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1719072"/>
            <a:ext cx="1508760" cy="6400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719072"/>
            <a:ext cx="1508760" cy="640080"/>
          </a:xfrm>
          <a:prstGeom prst="rect">
            <a:avLst/>
          </a:prstGeom>
          <a:noFill/>
        </p:spPr>
        <p:txBody>
          <a:bodyPr wrap="square" lIns="25400" tIns="12700" rIns="25400" bIns="12700" anchor="ctr">
            <a:spAutoFit/>
          </a:bodyPr>
          <a:lstStyle/>
          <a:p>
            <a:pPr algn="ctr"/>
            <a:r>
              <a:rPr sz="1600" b="1" i="0" spc="400">
                <a:solidFill>
                  <a:srgbClr val="FFFFFF"/>
                </a:solidFill>
                <a:latin typeface="Arial"/>
              </a:rPr>
              <a:t>HUMINT</a:t>
            </a:r>
          </a:p>
        </p:txBody>
      </p:sp>
      <p:sp>
        <p:nvSpPr>
          <p:cNvPr id="12" name="TextBox 11"/>
          <p:cNvSpPr txBox="1"/>
          <p:nvPr/>
        </p:nvSpPr>
        <p:spPr>
          <a:xfrm>
            <a:off x="2011680" y="1719072"/>
            <a:ext cx="6675120" cy="640080"/>
          </a:xfrm>
          <a:prstGeom prst="rect">
            <a:avLst/>
          </a:prstGeom>
          <a:noFill/>
        </p:spPr>
        <p:txBody>
          <a:bodyPr wrap="square" lIns="25400" tIns="12700" rIns="25400" bIns="12700" anchor="ctr">
            <a:spAutoFit/>
          </a:bodyPr>
          <a:lstStyle/>
          <a:p>
            <a:pPr algn="l"/>
            <a:r>
              <a:rPr sz="1200" b="0" i="0">
                <a:solidFill>
                  <a:srgbClr val="1F2937"/>
                </a:solidFill>
                <a:latin typeface="Arial"/>
              </a:rPr>
              <a:t>Human: informantes, investigadores en foros, fuentes de la industria.</a:t>
            </a:r>
          </a:p>
        </p:txBody>
      </p:sp>
      <p:sp>
        <p:nvSpPr>
          <p:cNvPr id="13" name="Rectangle 12"/>
          <p:cNvSpPr/>
          <p:nvPr/>
        </p:nvSpPr>
        <p:spPr>
          <a:xfrm>
            <a:off x="365760" y="2432304"/>
            <a:ext cx="8412480" cy="6400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5760" y="2432304"/>
            <a:ext cx="1508760" cy="6400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2432304"/>
            <a:ext cx="1508760" cy="640080"/>
          </a:xfrm>
          <a:prstGeom prst="rect">
            <a:avLst/>
          </a:prstGeom>
          <a:noFill/>
        </p:spPr>
        <p:txBody>
          <a:bodyPr wrap="square" lIns="25400" tIns="12700" rIns="25400" bIns="12700" anchor="ctr">
            <a:spAutoFit/>
          </a:bodyPr>
          <a:lstStyle/>
          <a:p>
            <a:pPr algn="ctr"/>
            <a:r>
              <a:rPr sz="1600" b="1" i="0" spc="400">
                <a:solidFill>
                  <a:srgbClr val="FFFFFF"/>
                </a:solidFill>
                <a:latin typeface="Arial"/>
              </a:rPr>
              <a:t>SIGINT</a:t>
            </a:r>
          </a:p>
        </p:txBody>
      </p:sp>
      <p:sp>
        <p:nvSpPr>
          <p:cNvPr id="16" name="TextBox 15"/>
          <p:cNvSpPr txBox="1"/>
          <p:nvPr/>
        </p:nvSpPr>
        <p:spPr>
          <a:xfrm>
            <a:off x="2011680" y="2554854"/>
            <a:ext cx="6675120" cy="394980"/>
          </a:xfrm>
          <a:prstGeom prst="rect">
            <a:avLst/>
          </a:prstGeom>
          <a:noFill/>
        </p:spPr>
        <p:txBody>
          <a:bodyPr wrap="square" lIns="25400" tIns="12700" rIns="25400" bIns="12700" anchor="ctr">
            <a:spAutoFit/>
          </a:bodyPr>
          <a:lstStyle/>
          <a:p>
            <a:r>
              <a:rPr sz="1200" b="0" i="0" dirty="0">
                <a:solidFill>
                  <a:srgbClr val="1F2937"/>
                </a:solidFill>
                <a:latin typeface="Arial"/>
              </a:rPr>
              <a:t>Signals: </a:t>
            </a:r>
            <a:r>
              <a:rPr sz="1200" b="0" i="0" dirty="0" err="1">
                <a:solidFill>
                  <a:srgbClr val="1F2937"/>
                </a:solidFill>
                <a:latin typeface="Arial"/>
              </a:rPr>
              <a:t>telemetría</a:t>
            </a:r>
            <a:r>
              <a:rPr sz="1200" b="0" i="0" dirty="0">
                <a:solidFill>
                  <a:srgbClr val="1F2937"/>
                </a:solidFill>
                <a:latin typeface="Arial"/>
              </a:rPr>
              <a:t> de red, PDNS </a:t>
            </a:r>
            <a:r>
              <a:rPr sz="1200" b="0" i="0" dirty="0" err="1">
                <a:solidFill>
                  <a:srgbClr val="1F2937"/>
                </a:solidFill>
                <a:latin typeface="Arial"/>
              </a:rPr>
              <a:t>pasivo</a:t>
            </a:r>
            <a:r>
              <a:rPr sz="1200" b="0" i="0" dirty="0">
                <a:solidFill>
                  <a:srgbClr val="1F2937"/>
                </a:solidFill>
                <a:latin typeface="Arial"/>
              </a:rPr>
              <a:t>, NetFlow.</a:t>
            </a:r>
            <a:r>
              <a:rPr lang="es-419" sz="1200" b="0" i="0" dirty="0">
                <a:solidFill>
                  <a:srgbClr val="1F2937"/>
                </a:solidFill>
                <a:latin typeface="Arial"/>
              </a:rPr>
              <a:t> </a:t>
            </a:r>
            <a:r>
              <a:rPr lang="es-419" sz="1200" dirty="0">
                <a:solidFill>
                  <a:srgbClr val="1F2937"/>
                </a:solidFill>
              </a:rPr>
              <a:t>(</a:t>
            </a:r>
            <a:r>
              <a:rPr lang="en-AR" sz="1200" dirty="0">
                <a:solidFill>
                  <a:srgbClr val="1F2937"/>
                </a:solidFill>
              </a:rPr>
              <a:t>Government Communications Headquarters (GCHQ).</a:t>
            </a:r>
            <a:endParaRPr sz="1200" dirty="0">
              <a:solidFill>
                <a:srgbClr val="1F2937"/>
              </a:solidFill>
            </a:endParaRPr>
          </a:p>
        </p:txBody>
      </p:sp>
      <p:sp>
        <p:nvSpPr>
          <p:cNvPr id="17" name="Rectangle 16"/>
          <p:cNvSpPr/>
          <p:nvPr/>
        </p:nvSpPr>
        <p:spPr>
          <a:xfrm>
            <a:off x="365760" y="3145536"/>
            <a:ext cx="8412480" cy="6400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65760" y="3145536"/>
            <a:ext cx="1508760" cy="6400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3145536"/>
            <a:ext cx="1508760" cy="640080"/>
          </a:xfrm>
          <a:prstGeom prst="rect">
            <a:avLst/>
          </a:prstGeom>
          <a:noFill/>
        </p:spPr>
        <p:txBody>
          <a:bodyPr wrap="square" lIns="25400" tIns="12700" rIns="25400" bIns="12700" anchor="ctr">
            <a:spAutoFit/>
          </a:bodyPr>
          <a:lstStyle/>
          <a:p>
            <a:pPr algn="ctr"/>
            <a:r>
              <a:rPr sz="1600" b="1" i="0" spc="400" dirty="0">
                <a:solidFill>
                  <a:srgbClr val="FFFFFF"/>
                </a:solidFill>
                <a:latin typeface="Arial"/>
              </a:rPr>
              <a:t>GEOINT</a:t>
            </a:r>
          </a:p>
        </p:txBody>
      </p:sp>
      <p:sp>
        <p:nvSpPr>
          <p:cNvPr id="20" name="TextBox 19"/>
          <p:cNvSpPr txBox="1"/>
          <p:nvPr/>
        </p:nvSpPr>
        <p:spPr>
          <a:xfrm>
            <a:off x="2011680" y="3360419"/>
            <a:ext cx="6675120" cy="210314"/>
          </a:xfrm>
          <a:prstGeom prst="rect">
            <a:avLst/>
          </a:prstGeom>
          <a:noFill/>
        </p:spPr>
        <p:txBody>
          <a:bodyPr wrap="square" lIns="25400" tIns="12700" rIns="25400" bIns="12700" anchor="ctr">
            <a:spAutoFit/>
          </a:bodyPr>
          <a:lstStyle/>
          <a:p>
            <a:r>
              <a:rPr lang="en-AR" sz="1200" dirty="0"/>
              <a:t>Explotación y análisis de imágenes y datos geoespaciales</a:t>
            </a:r>
            <a:endParaRPr lang="en-AR" sz="1200" dirty="0">
              <a:effectLst/>
            </a:endParaRPr>
          </a:p>
        </p:txBody>
      </p:sp>
      <p:sp>
        <p:nvSpPr>
          <p:cNvPr id="21" name="Rectangle 20"/>
          <p:cNvSpPr/>
          <p:nvPr/>
        </p:nvSpPr>
        <p:spPr>
          <a:xfrm>
            <a:off x="365760" y="3858768"/>
            <a:ext cx="8412480" cy="6400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3858768"/>
            <a:ext cx="1508760" cy="6400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3858768"/>
            <a:ext cx="1508760" cy="640080"/>
          </a:xfrm>
          <a:prstGeom prst="rect">
            <a:avLst/>
          </a:prstGeom>
          <a:noFill/>
        </p:spPr>
        <p:txBody>
          <a:bodyPr wrap="square" lIns="25400" tIns="12700" rIns="25400" bIns="12700" anchor="ctr">
            <a:spAutoFit/>
          </a:bodyPr>
          <a:lstStyle/>
          <a:p>
            <a:pPr algn="ctr"/>
            <a:r>
              <a:rPr sz="1600" b="1" i="0" spc="400" dirty="0">
                <a:solidFill>
                  <a:srgbClr val="FFFFFF"/>
                </a:solidFill>
                <a:latin typeface="Arial"/>
              </a:rPr>
              <a:t>CHIS</a:t>
            </a:r>
          </a:p>
        </p:txBody>
      </p:sp>
      <p:sp>
        <p:nvSpPr>
          <p:cNvPr id="24" name="TextBox 23"/>
          <p:cNvSpPr txBox="1"/>
          <p:nvPr/>
        </p:nvSpPr>
        <p:spPr>
          <a:xfrm>
            <a:off x="2011680" y="3888985"/>
            <a:ext cx="6675120" cy="579646"/>
          </a:xfrm>
          <a:prstGeom prst="rect">
            <a:avLst/>
          </a:prstGeom>
          <a:noFill/>
        </p:spPr>
        <p:txBody>
          <a:bodyPr wrap="square" lIns="25400" tIns="12700" rIns="25400" bIns="12700" anchor="ctr">
            <a:spAutoFit/>
          </a:bodyPr>
          <a:lstStyle/>
          <a:p>
            <a:r>
              <a:rPr sz="1200" b="0" i="0" dirty="0">
                <a:solidFill>
                  <a:srgbClr val="1F2937"/>
                </a:solidFill>
                <a:latin typeface="Arial"/>
              </a:rPr>
              <a:t>Covert Human Intelligence Sources: </a:t>
            </a:r>
            <a:r>
              <a:rPr lang="en-AR" sz="1200" b="0" i="0" dirty="0">
                <a:solidFill>
                  <a:srgbClr val="1F2937"/>
                </a:solidFill>
                <a:latin typeface="Arial"/>
              </a:rPr>
              <a:t>P</a:t>
            </a:r>
            <a:r>
              <a:rPr lang="en-AR" sz="1200" dirty="0"/>
              <a:t>ersona que mantiene una relación (personal o de otro tipo) con otra persona de forma encubierta.</a:t>
            </a:r>
          </a:p>
          <a:p>
            <a:pPr algn="l"/>
            <a:endParaRPr sz="1200" b="0" i="0" dirty="0">
              <a:solidFill>
                <a:srgbClr val="1F2937"/>
              </a:solidFill>
              <a:latin typeface="Arial"/>
            </a:endParaRPr>
          </a:p>
        </p:txBody>
      </p:sp>
      <p:sp>
        <p:nvSpPr>
          <p:cNvPr id="26" name="TextBox 25"/>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16 / 38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right.png"/>
          <p:cNvPicPr>
            <a:picLocks noChangeAspect="1"/>
          </p:cNvPicPr>
          <p:nvPr/>
        </p:nvPicPr>
        <p:blipFill>
          <a:blip r:embed="rId2">
            <a:alphaModFix amt="12000"/>
          </a:blip>
          <a:stretch>
            <a:fillRect/>
          </a:stretch>
        </p:blipFill>
        <p:spPr>
          <a:xfrm>
            <a:off x="7772400" y="777240"/>
            <a:ext cx="2138035" cy="4206240"/>
          </a:xfrm>
          <a:prstGeom prst="rect">
            <a:avLst/>
          </a:prstGeom>
        </p:spPr>
      </p:pic>
      <p:sp>
        <p:nvSpPr>
          <p:cNvPr id="4" name="TextBox 3"/>
          <p:cNvSpPr txBox="1"/>
          <p:nvPr/>
        </p:nvSpPr>
        <p:spPr>
          <a:xfrm>
            <a:off x="365760" y="189903"/>
            <a:ext cx="8412480" cy="333425"/>
          </a:xfrm>
          <a:prstGeom prst="rect">
            <a:avLst/>
          </a:prstGeom>
          <a:noFill/>
        </p:spPr>
        <p:txBody>
          <a:bodyPr wrap="square" lIns="25400" tIns="12700" rIns="25400" bIns="12700" anchor="ctr">
            <a:spAutoFit/>
          </a:bodyPr>
          <a:lstStyle/>
          <a:p>
            <a:pPr algn="l"/>
            <a:r>
              <a:rPr sz="2000" b="1" i="0" dirty="0">
                <a:solidFill>
                  <a:srgbClr val="FFFFFF"/>
                </a:solidFill>
                <a:latin typeface="Arial"/>
              </a:rPr>
              <a:t>Admiralty Code</a:t>
            </a:r>
            <a:r>
              <a:rPr lang="es-419" sz="2000" b="1" i="0" dirty="0">
                <a:solidFill>
                  <a:srgbClr val="FFFFFF"/>
                </a:solidFill>
                <a:latin typeface="Arial"/>
              </a:rPr>
              <a:t>:</a:t>
            </a:r>
            <a:r>
              <a:rPr sz="2000" b="1" i="0" dirty="0">
                <a:solidFill>
                  <a:srgbClr val="FFFFFF"/>
                </a:solidFill>
                <a:latin typeface="Arial"/>
              </a:rPr>
              <a:t> </a:t>
            </a:r>
            <a:r>
              <a:rPr lang="es-419" sz="2000" b="1" dirty="0">
                <a:solidFill>
                  <a:srgbClr val="FFFFFF"/>
                </a:solidFill>
              </a:rPr>
              <a:t>C</a:t>
            </a:r>
            <a:r>
              <a:rPr sz="2000" b="1" i="0" dirty="0" err="1">
                <a:solidFill>
                  <a:srgbClr val="FFFFFF"/>
                </a:solidFill>
                <a:latin typeface="Arial"/>
              </a:rPr>
              <a:t>ómo</a:t>
            </a:r>
            <a:r>
              <a:rPr sz="2000" b="1" i="0" dirty="0">
                <a:solidFill>
                  <a:srgbClr val="FFFFFF"/>
                </a:solidFill>
                <a:latin typeface="Arial"/>
              </a:rPr>
              <a:t> </a:t>
            </a:r>
            <a:r>
              <a:rPr lang="es-419" sz="2000" b="1" i="0" dirty="0">
                <a:solidFill>
                  <a:srgbClr val="FFFFFF"/>
                </a:solidFill>
                <a:latin typeface="Arial"/>
              </a:rPr>
              <a:t>calificar las fuentes e informacion</a:t>
            </a:r>
            <a:endParaRPr sz="2000" b="1" i="0" dirty="0">
              <a:solidFill>
                <a:srgbClr val="FFFFFF"/>
              </a:solidFill>
              <a:latin typeface="Arial"/>
            </a:endParaRPr>
          </a:p>
        </p:txBody>
      </p:sp>
      <p:sp>
        <p:nvSpPr>
          <p:cNvPr id="5" name="TextBox 4"/>
          <p:cNvSpPr txBox="1"/>
          <p:nvPr/>
        </p:nvSpPr>
        <p:spPr>
          <a:xfrm>
            <a:off x="365760" y="960120"/>
            <a:ext cx="4023360" cy="320040"/>
          </a:xfrm>
          <a:prstGeom prst="rect">
            <a:avLst/>
          </a:prstGeom>
          <a:noFill/>
        </p:spPr>
        <p:txBody>
          <a:bodyPr wrap="square" lIns="25400" tIns="12700" rIns="25400" bIns="12700" anchor="t">
            <a:spAutoFit/>
          </a:bodyPr>
          <a:lstStyle/>
          <a:p>
            <a:pPr algn="l"/>
            <a:r>
              <a:rPr sz="1300" b="1" i="0">
                <a:solidFill>
                  <a:srgbClr val="E41A52"/>
                </a:solidFill>
                <a:latin typeface="Arial"/>
              </a:rPr>
              <a:t>Confiabilidad de la fuente</a:t>
            </a:r>
          </a:p>
        </p:txBody>
      </p:sp>
      <p:sp>
        <p:nvSpPr>
          <p:cNvPr id="6" name="Rectangle 5"/>
          <p:cNvSpPr/>
          <p:nvPr/>
        </p:nvSpPr>
        <p:spPr>
          <a:xfrm>
            <a:off x="365760" y="1371600"/>
            <a:ext cx="457200" cy="34747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71600"/>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A</a:t>
            </a:r>
          </a:p>
        </p:txBody>
      </p:sp>
      <p:sp>
        <p:nvSpPr>
          <p:cNvPr id="8" name="Rectangle 7"/>
          <p:cNvSpPr/>
          <p:nvPr/>
        </p:nvSpPr>
        <p:spPr>
          <a:xfrm>
            <a:off x="822960" y="1371600"/>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371600"/>
            <a:ext cx="3383280" cy="347472"/>
          </a:xfrm>
          <a:prstGeom prst="rect">
            <a:avLst/>
          </a:prstGeom>
          <a:noFill/>
        </p:spPr>
        <p:txBody>
          <a:bodyPr wrap="square" lIns="25400" tIns="12700" rIns="25400" bIns="12700" anchor="ctr">
            <a:spAutoFit/>
          </a:bodyPr>
          <a:lstStyle/>
          <a:p>
            <a:pPr algn="l"/>
            <a:r>
              <a:rPr sz="1100" b="0" i="0">
                <a:solidFill>
                  <a:srgbClr val="1F2937"/>
                </a:solidFill>
                <a:latin typeface="Arial"/>
              </a:rPr>
              <a:t>Completamente confiable</a:t>
            </a:r>
          </a:p>
        </p:txBody>
      </p:sp>
      <p:sp>
        <p:nvSpPr>
          <p:cNvPr id="10" name="Rectangle 9"/>
          <p:cNvSpPr/>
          <p:nvPr/>
        </p:nvSpPr>
        <p:spPr>
          <a:xfrm>
            <a:off x="365760" y="1755648"/>
            <a:ext cx="457200" cy="34747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755648"/>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B</a:t>
            </a:r>
          </a:p>
        </p:txBody>
      </p:sp>
      <p:sp>
        <p:nvSpPr>
          <p:cNvPr id="12" name="Rectangle 11"/>
          <p:cNvSpPr/>
          <p:nvPr/>
        </p:nvSpPr>
        <p:spPr>
          <a:xfrm>
            <a:off x="822960" y="1755648"/>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1755648"/>
            <a:ext cx="3383280" cy="347472"/>
          </a:xfrm>
          <a:prstGeom prst="rect">
            <a:avLst/>
          </a:prstGeom>
          <a:noFill/>
        </p:spPr>
        <p:txBody>
          <a:bodyPr wrap="square" lIns="25400" tIns="12700" rIns="25400" bIns="12700" anchor="ctr">
            <a:spAutoFit/>
          </a:bodyPr>
          <a:lstStyle/>
          <a:p>
            <a:pPr algn="l"/>
            <a:r>
              <a:rPr sz="1100" b="0" i="0">
                <a:solidFill>
                  <a:srgbClr val="1F2937"/>
                </a:solidFill>
                <a:latin typeface="Arial"/>
              </a:rPr>
              <a:t>Usualmente confiable</a:t>
            </a:r>
          </a:p>
        </p:txBody>
      </p:sp>
      <p:sp>
        <p:nvSpPr>
          <p:cNvPr id="14" name="Rectangle 13"/>
          <p:cNvSpPr/>
          <p:nvPr/>
        </p:nvSpPr>
        <p:spPr>
          <a:xfrm>
            <a:off x="365760" y="2139696"/>
            <a:ext cx="457200" cy="34747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2139696"/>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C</a:t>
            </a:r>
          </a:p>
        </p:txBody>
      </p:sp>
      <p:sp>
        <p:nvSpPr>
          <p:cNvPr id="16" name="Rectangle 15"/>
          <p:cNvSpPr/>
          <p:nvPr/>
        </p:nvSpPr>
        <p:spPr>
          <a:xfrm>
            <a:off x="822960" y="2139696"/>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2139696"/>
            <a:ext cx="3383280" cy="347472"/>
          </a:xfrm>
          <a:prstGeom prst="rect">
            <a:avLst/>
          </a:prstGeom>
          <a:noFill/>
        </p:spPr>
        <p:txBody>
          <a:bodyPr wrap="square" lIns="25400" tIns="12700" rIns="25400" bIns="12700" anchor="ctr">
            <a:spAutoFit/>
          </a:bodyPr>
          <a:lstStyle/>
          <a:p>
            <a:pPr algn="l"/>
            <a:r>
              <a:rPr sz="1100" b="0" i="0">
                <a:solidFill>
                  <a:srgbClr val="1F2937"/>
                </a:solidFill>
                <a:latin typeface="Arial"/>
              </a:rPr>
              <a:t>Razonablemente confiable</a:t>
            </a:r>
          </a:p>
        </p:txBody>
      </p:sp>
      <p:sp>
        <p:nvSpPr>
          <p:cNvPr id="18" name="Rectangle 17"/>
          <p:cNvSpPr/>
          <p:nvPr/>
        </p:nvSpPr>
        <p:spPr>
          <a:xfrm>
            <a:off x="365760" y="2523744"/>
            <a:ext cx="457200" cy="34747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2523744"/>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D</a:t>
            </a:r>
          </a:p>
        </p:txBody>
      </p:sp>
      <p:sp>
        <p:nvSpPr>
          <p:cNvPr id="20" name="Rectangle 19"/>
          <p:cNvSpPr/>
          <p:nvPr/>
        </p:nvSpPr>
        <p:spPr>
          <a:xfrm>
            <a:off x="822960" y="2523744"/>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2523744"/>
            <a:ext cx="3383280" cy="347472"/>
          </a:xfrm>
          <a:prstGeom prst="rect">
            <a:avLst/>
          </a:prstGeom>
          <a:noFill/>
        </p:spPr>
        <p:txBody>
          <a:bodyPr wrap="square" lIns="25400" tIns="12700" rIns="25400" bIns="12700" anchor="ctr">
            <a:spAutoFit/>
          </a:bodyPr>
          <a:lstStyle/>
          <a:p>
            <a:pPr algn="l"/>
            <a:r>
              <a:rPr sz="1100" b="0" i="0">
                <a:solidFill>
                  <a:srgbClr val="1F2937"/>
                </a:solidFill>
                <a:latin typeface="Arial"/>
              </a:rPr>
              <a:t>No usualmente confiable</a:t>
            </a:r>
          </a:p>
        </p:txBody>
      </p:sp>
      <p:sp>
        <p:nvSpPr>
          <p:cNvPr id="22" name="Rectangle 21"/>
          <p:cNvSpPr/>
          <p:nvPr/>
        </p:nvSpPr>
        <p:spPr>
          <a:xfrm>
            <a:off x="365760" y="2907791"/>
            <a:ext cx="457200" cy="34747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2907791"/>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E</a:t>
            </a:r>
          </a:p>
        </p:txBody>
      </p:sp>
      <p:sp>
        <p:nvSpPr>
          <p:cNvPr id="24" name="Rectangle 23"/>
          <p:cNvSpPr/>
          <p:nvPr/>
        </p:nvSpPr>
        <p:spPr>
          <a:xfrm>
            <a:off x="822960" y="2907791"/>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0120" y="2907791"/>
            <a:ext cx="3383280" cy="347472"/>
          </a:xfrm>
          <a:prstGeom prst="rect">
            <a:avLst/>
          </a:prstGeom>
          <a:noFill/>
        </p:spPr>
        <p:txBody>
          <a:bodyPr wrap="square" lIns="25400" tIns="12700" rIns="25400" bIns="12700" anchor="ctr">
            <a:spAutoFit/>
          </a:bodyPr>
          <a:lstStyle/>
          <a:p>
            <a:pPr algn="l"/>
            <a:r>
              <a:rPr sz="1100" b="0" i="0">
                <a:solidFill>
                  <a:srgbClr val="1F2937"/>
                </a:solidFill>
                <a:latin typeface="Arial"/>
              </a:rPr>
              <a:t>No confiable</a:t>
            </a:r>
          </a:p>
        </p:txBody>
      </p:sp>
      <p:sp>
        <p:nvSpPr>
          <p:cNvPr id="26" name="Rectangle 25"/>
          <p:cNvSpPr/>
          <p:nvPr/>
        </p:nvSpPr>
        <p:spPr>
          <a:xfrm>
            <a:off x="365760" y="3291840"/>
            <a:ext cx="457200" cy="34747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3291840"/>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F</a:t>
            </a:r>
          </a:p>
        </p:txBody>
      </p:sp>
      <p:sp>
        <p:nvSpPr>
          <p:cNvPr id="28" name="Rectangle 27"/>
          <p:cNvSpPr/>
          <p:nvPr/>
        </p:nvSpPr>
        <p:spPr>
          <a:xfrm>
            <a:off x="822960" y="3291840"/>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0120" y="3291840"/>
            <a:ext cx="3383280" cy="347472"/>
          </a:xfrm>
          <a:prstGeom prst="rect">
            <a:avLst/>
          </a:prstGeom>
          <a:noFill/>
        </p:spPr>
        <p:txBody>
          <a:bodyPr wrap="square" lIns="25400" tIns="12700" rIns="25400" bIns="12700" anchor="ctr">
            <a:spAutoFit/>
          </a:bodyPr>
          <a:lstStyle/>
          <a:p>
            <a:pPr algn="l"/>
            <a:r>
              <a:rPr sz="1100" b="0" i="0">
                <a:solidFill>
                  <a:srgbClr val="1F2937"/>
                </a:solidFill>
                <a:latin typeface="Arial"/>
              </a:rPr>
              <a:t>Confiabilidad desconocida</a:t>
            </a:r>
          </a:p>
        </p:txBody>
      </p:sp>
      <p:sp>
        <p:nvSpPr>
          <p:cNvPr id="30" name="TextBox 29"/>
          <p:cNvSpPr txBox="1"/>
          <p:nvPr/>
        </p:nvSpPr>
        <p:spPr>
          <a:xfrm>
            <a:off x="4663440" y="960120"/>
            <a:ext cx="4023360" cy="320040"/>
          </a:xfrm>
          <a:prstGeom prst="rect">
            <a:avLst/>
          </a:prstGeom>
          <a:noFill/>
        </p:spPr>
        <p:txBody>
          <a:bodyPr wrap="square" lIns="25400" tIns="12700" rIns="25400" bIns="12700" anchor="t">
            <a:spAutoFit/>
          </a:bodyPr>
          <a:lstStyle/>
          <a:p>
            <a:pPr algn="l"/>
            <a:r>
              <a:rPr sz="1300" b="1" i="0">
                <a:solidFill>
                  <a:srgbClr val="E41A52"/>
                </a:solidFill>
                <a:latin typeface="Arial"/>
              </a:rPr>
              <a:t>Credibilidad de la información</a:t>
            </a:r>
          </a:p>
        </p:txBody>
      </p:sp>
      <p:sp>
        <p:nvSpPr>
          <p:cNvPr id="31" name="Rectangle 30"/>
          <p:cNvSpPr/>
          <p:nvPr/>
        </p:nvSpPr>
        <p:spPr>
          <a:xfrm>
            <a:off x="4663440" y="1371600"/>
            <a:ext cx="457200" cy="34747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63440" y="1371600"/>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1</a:t>
            </a:r>
          </a:p>
        </p:txBody>
      </p:sp>
      <p:sp>
        <p:nvSpPr>
          <p:cNvPr id="33" name="Rectangle 32"/>
          <p:cNvSpPr/>
          <p:nvPr/>
        </p:nvSpPr>
        <p:spPr>
          <a:xfrm>
            <a:off x="5120640" y="1371600"/>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257800" y="1371600"/>
            <a:ext cx="3383280" cy="347472"/>
          </a:xfrm>
          <a:prstGeom prst="rect">
            <a:avLst/>
          </a:prstGeom>
          <a:noFill/>
        </p:spPr>
        <p:txBody>
          <a:bodyPr wrap="square" lIns="25400" tIns="12700" rIns="25400" bIns="12700" anchor="ctr">
            <a:spAutoFit/>
          </a:bodyPr>
          <a:lstStyle/>
          <a:p>
            <a:pPr algn="l"/>
            <a:r>
              <a:rPr sz="1100" b="0" i="0">
                <a:solidFill>
                  <a:srgbClr val="1F2937"/>
                </a:solidFill>
                <a:latin typeface="Arial"/>
              </a:rPr>
              <a:t>Confirmada por otras fuentes</a:t>
            </a:r>
          </a:p>
        </p:txBody>
      </p:sp>
      <p:sp>
        <p:nvSpPr>
          <p:cNvPr id="35" name="Rectangle 34"/>
          <p:cNvSpPr/>
          <p:nvPr/>
        </p:nvSpPr>
        <p:spPr>
          <a:xfrm>
            <a:off x="4663440" y="1755648"/>
            <a:ext cx="457200" cy="34747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1755648"/>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2</a:t>
            </a:r>
          </a:p>
        </p:txBody>
      </p:sp>
      <p:sp>
        <p:nvSpPr>
          <p:cNvPr id="37" name="Rectangle 36"/>
          <p:cNvSpPr/>
          <p:nvPr/>
        </p:nvSpPr>
        <p:spPr>
          <a:xfrm>
            <a:off x="5120640" y="1755648"/>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257800" y="1755648"/>
            <a:ext cx="3383280" cy="347472"/>
          </a:xfrm>
          <a:prstGeom prst="rect">
            <a:avLst/>
          </a:prstGeom>
          <a:noFill/>
        </p:spPr>
        <p:txBody>
          <a:bodyPr wrap="square" lIns="25400" tIns="12700" rIns="25400" bIns="12700" anchor="ctr">
            <a:spAutoFit/>
          </a:bodyPr>
          <a:lstStyle/>
          <a:p>
            <a:pPr algn="l"/>
            <a:r>
              <a:rPr sz="1100" b="0" i="0">
                <a:solidFill>
                  <a:srgbClr val="1F2937"/>
                </a:solidFill>
                <a:latin typeface="Arial"/>
              </a:rPr>
              <a:t>Probablemente cierta</a:t>
            </a:r>
          </a:p>
        </p:txBody>
      </p:sp>
      <p:sp>
        <p:nvSpPr>
          <p:cNvPr id="39" name="Rectangle 38"/>
          <p:cNvSpPr/>
          <p:nvPr/>
        </p:nvSpPr>
        <p:spPr>
          <a:xfrm>
            <a:off x="4663440" y="2139696"/>
            <a:ext cx="457200" cy="34747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663440" y="2139696"/>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3</a:t>
            </a:r>
          </a:p>
        </p:txBody>
      </p:sp>
      <p:sp>
        <p:nvSpPr>
          <p:cNvPr id="41" name="Rectangle 40"/>
          <p:cNvSpPr/>
          <p:nvPr/>
        </p:nvSpPr>
        <p:spPr>
          <a:xfrm>
            <a:off x="5120640" y="2139696"/>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257800" y="2139696"/>
            <a:ext cx="3383280" cy="347472"/>
          </a:xfrm>
          <a:prstGeom prst="rect">
            <a:avLst/>
          </a:prstGeom>
          <a:noFill/>
        </p:spPr>
        <p:txBody>
          <a:bodyPr wrap="square" lIns="25400" tIns="12700" rIns="25400" bIns="12700" anchor="ctr">
            <a:spAutoFit/>
          </a:bodyPr>
          <a:lstStyle/>
          <a:p>
            <a:pPr algn="l"/>
            <a:r>
              <a:rPr sz="1100" b="0" i="0">
                <a:solidFill>
                  <a:srgbClr val="1F2937"/>
                </a:solidFill>
                <a:latin typeface="Arial"/>
              </a:rPr>
              <a:t>Posiblemente cierta</a:t>
            </a:r>
          </a:p>
        </p:txBody>
      </p:sp>
      <p:sp>
        <p:nvSpPr>
          <p:cNvPr id="43" name="Rectangle 42"/>
          <p:cNvSpPr/>
          <p:nvPr/>
        </p:nvSpPr>
        <p:spPr>
          <a:xfrm>
            <a:off x="4663440" y="2523744"/>
            <a:ext cx="457200" cy="34747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663440" y="2523744"/>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4</a:t>
            </a:r>
          </a:p>
        </p:txBody>
      </p:sp>
      <p:sp>
        <p:nvSpPr>
          <p:cNvPr id="45" name="Rectangle 44"/>
          <p:cNvSpPr/>
          <p:nvPr/>
        </p:nvSpPr>
        <p:spPr>
          <a:xfrm>
            <a:off x="5120640" y="2523744"/>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257800" y="2523744"/>
            <a:ext cx="3383280" cy="347472"/>
          </a:xfrm>
          <a:prstGeom prst="rect">
            <a:avLst/>
          </a:prstGeom>
          <a:noFill/>
        </p:spPr>
        <p:txBody>
          <a:bodyPr wrap="square" lIns="25400" tIns="12700" rIns="25400" bIns="12700" anchor="ctr">
            <a:spAutoFit/>
          </a:bodyPr>
          <a:lstStyle/>
          <a:p>
            <a:pPr algn="l"/>
            <a:r>
              <a:rPr sz="1100" b="0" i="0">
                <a:solidFill>
                  <a:srgbClr val="1F2937"/>
                </a:solidFill>
                <a:latin typeface="Arial"/>
              </a:rPr>
              <a:t>Cierta dudosa</a:t>
            </a:r>
          </a:p>
        </p:txBody>
      </p:sp>
      <p:sp>
        <p:nvSpPr>
          <p:cNvPr id="47" name="Rectangle 46"/>
          <p:cNvSpPr/>
          <p:nvPr/>
        </p:nvSpPr>
        <p:spPr>
          <a:xfrm>
            <a:off x="4663440" y="2907791"/>
            <a:ext cx="457200" cy="34747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663440" y="2907791"/>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5</a:t>
            </a:r>
          </a:p>
        </p:txBody>
      </p:sp>
      <p:sp>
        <p:nvSpPr>
          <p:cNvPr id="49" name="Rectangle 48"/>
          <p:cNvSpPr/>
          <p:nvPr/>
        </p:nvSpPr>
        <p:spPr>
          <a:xfrm>
            <a:off x="5120640" y="2907791"/>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257800" y="2907791"/>
            <a:ext cx="3383280" cy="347472"/>
          </a:xfrm>
          <a:prstGeom prst="rect">
            <a:avLst/>
          </a:prstGeom>
          <a:noFill/>
        </p:spPr>
        <p:txBody>
          <a:bodyPr wrap="square" lIns="25400" tIns="12700" rIns="25400" bIns="12700" anchor="ctr">
            <a:spAutoFit/>
          </a:bodyPr>
          <a:lstStyle/>
          <a:p>
            <a:pPr algn="l"/>
            <a:r>
              <a:rPr sz="1100" b="0" i="0">
                <a:solidFill>
                  <a:srgbClr val="1F2937"/>
                </a:solidFill>
                <a:latin typeface="Arial"/>
              </a:rPr>
              <a:t>Improbable</a:t>
            </a:r>
          </a:p>
        </p:txBody>
      </p:sp>
      <p:sp>
        <p:nvSpPr>
          <p:cNvPr id="51" name="Rectangle 50"/>
          <p:cNvSpPr/>
          <p:nvPr/>
        </p:nvSpPr>
        <p:spPr>
          <a:xfrm>
            <a:off x="4663440" y="3291840"/>
            <a:ext cx="457200" cy="34747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663440" y="3291840"/>
            <a:ext cx="457200" cy="347472"/>
          </a:xfrm>
          <a:prstGeom prst="rect">
            <a:avLst/>
          </a:prstGeom>
          <a:noFill/>
        </p:spPr>
        <p:txBody>
          <a:bodyPr wrap="square" lIns="25400" tIns="12700" rIns="25400" bIns="12700" anchor="ctr">
            <a:spAutoFit/>
          </a:bodyPr>
          <a:lstStyle/>
          <a:p>
            <a:pPr algn="ctr"/>
            <a:r>
              <a:rPr sz="1500" b="1" i="0">
                <a:solidFill>
                  <a:srgbClr val="FFFFFF"/>
                </a:solidFill>
                <a:latin typeface="Arial"/>
              </a:rPr>
              <a:t>6</a:t>
            </a:r>
          </a:p>
        </p:txBody>
      </p:sp>
      <p:sp>
        <p:nvSpPr>
          <p:cNvPr id="53" name="Rectangle 52"/>
          <p:cNvSpPr/>
          <p:nvPr/>
        </p:nvSpPr>
        <p:spPr>
          <a:xfrm>
            <a:off x="5120640" y="3291840"/>
            <a:ext cx="3566160" cy="34747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257800" y="3291840"/>
            <a:ext cx="3383280" cy="347472"/>
          </a:xfrm>
          <a:prstGeom prst="rect">
            <a:avLst/>
          </a:prstGeom>
          <a:noFill/>
        </p:spPr>
        <p:txBody>
          <a:bodyPr wrap="square" lIns="25400" tIns="12700" rIns="25400" bIns="12700" anchor="ctr">
            <a:spAutoFit/>
          </a:bodyPr>
          <a:lstStyle/>
          <a:p>
            <a:pPr algn="l"/>
            <a:r>
              <a:rPr sz="1100" b="0" i="0">
                <a:solidFill>
                  <a:srgbClr val="1F2937"/>
                </a:solidFill>
                <a:latin typeface="Arial"/>
              </a:rPr>
              <a:t>Veracidad no determinable</a:t>
            </a:r>
          </a:p>
        </p:txBody>
      </p:sp>
      <p:sp>
        <p:nvSpPr>
          <p:cNvPr id="55" name="Rectangle 54"/>
          <p:cNvSpPr/>
          <p:nvPr/>
        </p:nvSpPr>
        <p:spPr>
          <a:xfrm>
            <a:off x="357447" y="3906980"/>
            <a:ext cx="8412480" cy="41148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57447" y="3890774"/>
            <a:ext cx="8412480" cy="411480"/>
          </a:xfrm>
          <a:prstGeom prst="rect">
            <a:avLst/>
          </a:prstGeom>
          <a:noFill/>
        </p:spPr>
        <p:txBody>
          <a:bodyPr wrap="square" lIns="25400" tIns="12700" rIns="25400" bIns="12700" anchor="ctr">
            <a:spAutoFit/>
          </a:bodyPr>
          <a:lstStyle/>
          <a:p>
            <a:pPr algn="ctr"/>
            <a:r>
              <a:rPr sz="1200" b="0" i="1" dirty="0">
                <a:solidFill>
                  <a:srgbClr val="FFFFFF"/>
                </a:solidFill>
                <a:latin typeface="Arial"/>
              </a:rPr>
              <a:t>Una </a:t>
            </a:r>
            <a:r>
              <a:rPr sz="1200" b="0" i="1" dirty="0" err="1">
                <a:solidFill>
                  <a:srgbClr val="FFFFFF"/>
                </a:solidFill>
                <a:latin typeface="Arial"/>
              </a:rPr>
              <a:t>fuente</a:t>
            </a:r>
            <a:r>
              <a:rPr sz="1200" b="0" i="1" dirty="0">
                <a:solidFill>
                  <a:srgbClr val="FFFFFF"/>
                </a:solidFill>
                <a:latin typeface="Arial"/>
              </a:rPr>
              <a:t> "A1" es </a:t>
            </a:r>
            <a:r>
              <a:rPr sz="1200" b="0" i="1" dirty="0" err="1">
                <a:solidFill>
                  <a:srgbClr val="FFFFFF"/>
                </a:solidFill>
                <a:latin typeface="Arial"/>
              </a:rPr>
              <a:t>confiable</a:t>
            </a:r>
            <a:r>
              <a:rPr sz="1200" b="0" i="1" dirty="0">
                <a:solidFill>
                  <a:srgbClr val="FFFFFF"/>
                </a:solidFill>
                <a:latin typeface="Arial"/>
              </a:rPr>
              <a:t> y </a:t>
            </a:r>
            <a:r>
              <a:rPr sz="1200" b="0" i="1" dirty="0" err="1">
                <a:solidFill>
                  <a:srgbClr val="FFFFFF"/>
                </a:solidFill>
                <a:latin typeface="Arial"/>
              </a:rPr>
              <a:t>confirmada</a:t>
            </a:r>
            <a:r>
              <a:rPr sz="1200" b="0" i="1" dirty="0">
                <a:solidFill>
                  <a:srgbClr val="FFFFFF"/>
                </a:solidFill>
                <a:latin typeface="Arial"/>
              </a:rPr>
              <a:t> · </a:t>
            </a:r>
            <a:r>
              <a:rPr sz="1200" b="0" i="1" dirty="0" err="1">
                <a:solidFill>
                  <a:srgbClr val="FFFFFF"/>
                </a:solidFill>
                <a:latin typeface="Arial"/>
              </a:rPr>
              <a:t>una</a:t>
            </a:r>
            <a:r>
              <a:rPr sz="1200" b="0" i="1" dirty="0">
                <a:solidFill>
                  <a:srgbClr val="FFFFFF"/>
                </a:solidFill>
                <a:latin typeface="Arial"/>
              </a:rPr>
              <a:t> "F6" </a:t>
            </a:r>
            <a:r>
              <a:rPr sz="1200" b="0" i="1" dirty="0" err="1">
                <a:solidFill>
                  <a:srgbClr val="FFFFFF"/>
                </a:solidFill>
                <a:latin typeface="Arial"/>
              </a:rPr>
              <a:t>aporta</a:t>
            </a:r>
            <a:r>
              <a:rPr sz="1200" b="0" i="1" dirty="0">
                <a:solidFill>
                  <a:srgbClr val="FFFFFF"/>
                </a:solidFill>
                <a:latin typeface="Arial"/>
              </a:rPr>
              <a:t> </a:t>
            </a:r>
            <a:r>
              <a:rPr sz="1200" b="0" i="1" dirty="0" err="1">
                <a:solidFill>
                  <a:srgbClr val="FFFFFF"/>
                </a:solidFill>
                <a:latin typeface="Arial"/>
              </a:rPr>
              <a:t>ruido</a:t>
            </a:r>
            <a:r>
              <a:rPr sz="1200" b="0" i="1" dirty="0">
                <a:solidFill>
                  <a:srgbClr val="FFFFFF"/>
                </a:solidFill>
                <a:latin typeface="Arial"/>
              </a:rPr>
              <a:t>, no </a:t>
            </a:r>
            <a:r>
              <a:rPr sz="1200" b="0" i="1" dirty="0" err="1">
                <a:solidFill>
                  <a:srgbClr val="FFFFFF"/>
                </a:solidFill>
                <a:latin typeface="Arial"/>
              </a:rPr>
              <a:t>inteligencia</a:t>
            </a:r>
            <a:r>
              <a:rPr sz="1200" b="0" i="1" dirty="0">
                <a:solidFill>
                  <a:srgbClr val="FFFFFF"/>
                </a:solidFill>
                <a:latin typeface="Arial"/>
              </a:rPr>
              <a:t>.</a:t>
            </a:r>
          </a:p>
        </p:txBody>
      </p:sp>
      <p:sp>
        <p:nvSpPr>
          <p:cNvPr id="58" name="TextBox 57"/>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17 / 38</a:t>
            </a:r>
          </a:p>
        </p:txBody>
      </p:sp>
      <p:sp>
        <p:nvSpPr>
          <p:cNvPr id="57" name="TextBox 56">
            <a:extLst>
              <a:ext uri="{FF2B5EF4-FFF2-40B4-BE49-F238E27FC236}">
                <a16:creationId xmlns:a16="http://schemas.microsoft.com/office/drawing/2014/main" id="{8379167A-F003-2044-DF0B-75A60DE2A5BB}"/>
              </a:ext>
            </a:extLst>
          </p:cNvPr>
          <p:cNvSpPr txBox="1"/>
          <p:nvPr/>
        </p:nvSpPr>
        <p:spPr>
          <a:xfrm>
            <a:off x="365760" y="4434840"/>
            <a:ext cx="8412480" cy="364202"/>
          </a:xfrm>
          <a:prstGeom prst="rect">
            <a:avLst/>
          </a:prstGeom>
          <a:noFill/>
        </p:spPr>
        <p:txBody>
          <a:bodyPr wrap="square" lIns="25400" tIns="12700" rIns="25400" bIns="12700" anchor="t">
            <a:spAutoFit/>
          </a:bodyPr>
          <a:lstStyle/>
          <a:p>
            <a:r>
              <a:rPr lang="en-AR" sz="1100" dirty="0"/>
              <a:t>El sistema nace en la </a:t>
            </a:r>
            <a:r>
              <a:rPr lang="en-AR" sz="1100" b="1" dirty="0"/>
              <a:t>Royal Navy británica</a:t>
            </a:r>
            <a:r>
              <a:rPr lang="en-AR" sz="1100" dirty="0"/>
              <a:t>, en el Naval Intelligence Division (NID). Lo utilizan OTAN, FBI, US Army, Europol, INTERPOL, fuerzas policiales de inteligencia en todo el mundo, y unidades de CTI de empresas.</a:t>
            </a:r>
            <a:endParaRPr sz="1100" b="1" i="0" dirty="0">
              <a:solidFill>
                <a:srgbClr val="1F2937"/>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additive="base">
                                        <p:cTn id="7" dur="1000" fill="hold"/>
                                        <p:tgtEl>
                                          <p:spTgt spid="56"/>
                                        </p:tgtEl>
                                        <p:attrNameLst>
                                          <p:attrName>ppt_x</p:attrName>
                                        </p:attrNameLst>
                                      </p:cBhvr>
                                      <p:tavLst>
                                        <p:tav tm="0">
                                          <p:val>
                                            <p:strVal val="#ppt_x"/>
                                          </p:val>
                                        </p:tav>
                                        <p:tav tm="100000">
                                          <p:val>
                                            <p:strVal val="#ppt_x"/>
                                          </p:val>
                                        </p:tav>
                                      </p:tavLst>
                                    </p:anim>
                                    <p:anim calcmode="lin" valueType="num">
                                      <p:cBhvr additive="base">
                                        <p:cTn id="8" dur="10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right.png"/>
          <p:cNvPicPr>
            <a:picLocks noChangeAspect="1"/>
          </p:cNvPicPr>
          <p:nvPr/>
        </p:nvPicPr>
        <p:blipFill>
          <a:blip r:embed="rId2">
            <a:alphaModFix amt="12000"/>
          </a:blip>
          <a:stretch>
            <a:fillRect/>
          </a:stretch>
        </p:blipFill>
        <p:spPr>
          <a:xfrm>
            <a:off x="7772400" y="777240"/>
            <a:ext cx="2138035" cy="4206240"/>
          </a:xfrm>
          <a:prstGeom prst="rect">
            <a:avLst/>
          </a:prstGeom>
        </p:spPr>
      </p:pic>
      <p:sp>
        <p:nvSpPr>
          <p:cNvPr id="4" name="TextBox 3"/>
          <p:cNvSpPr txBox="1"/>
          <p:nvPr/>
        </p:nvSpPr>
        <p:spPr>
          <a:xfrm>
            <a:off x="365760" y="189903"/>
            <a:ext cx="8412480" cy="333425"/>
          </a:xfrm>
          <a:prstGeom prst="rect">
            <a:avLst/>
          </a:prstGeom>
          <a:noFill/>
        </p:spPr>
        <p:txBody>
          <a:bodyPr wrap="square" lIns="25400" tIns="12700" rIns="25400" bIns="12700" anchor="ctr">
            <a:spAutoFit/>
          </a:bodyPr>
          <a:lstStyle/>
          <a:p>
            <a:pPr algn="l"/>
            <a:r>
              <a:rPr sz="2000" b="1" i="0" dirty="0">
                <a:solidFill>
                  <a:srgbClr val="FFFFFF"/>
                </a:solidFill>
                <a:latin typeface="Arial"/>
              </a:rPr>
              <a:t>Bonus track: </a:t>
            </a:r>
            <a:r>
              <a:rPr lang="es-419" sz="2000" b="1" i="0" dirty="0">
                <a:solidFill>
                  <a:srgbClr val="FFFFFF"/>
                </a:solidFill>
                <a:latin typeface="Arial"/>
              </a:rPr>
              <a:t>L</a:t>
            </a:r>
            <a:r>
              <a:rPr sz="2000" b="1" i="0" dirty="0">
                <a:solidFill>
                  <a:srgbClr val="FFFFFF"/>
                </a:solidFill>
                <a:latin typeface="Arial"/>
              </a:rPr>
              <a:t>a sexta </a:t>
            </a:r>
            <a:r>
              <a:rPr sz="2000" b="1" i="0" dirty="0" err="1">
                <a:solidFill>
                  <a:srgbClr val="FFFFFF"/>
                </a:solidFill>
                <a:latin typeface="Arial"/>
              </a:rPr>
              <a:t>fuente</a:t>
            </a:r>
            <a:r>
              <a:rPr sz="2000" b="1" i="0" dirty="0">
                <a:solidFill>
                  <a:srgbClr val="FFFFFF"/>
                </a:solidFill>
                <a:latin typeface="Arial"/>
              </a:rPr>
              <a:t> </a:t>
            </a:r>
            <a:r>
              <a:rPr sz="2000" b="1" i="0" dirty="0" err="1">
                <a:solidFill>
                  <a:srgbClr val="FFFFFF"/>
                </a:solidFill>
                <a:latin typeface="Arial"/>
              </a:rPr>
              <a:t>que</a:t>
            </a:r>
            <a:r>
              <a:rPr sz="2000" b="1" i="0" dirty="0">
                <a:solidFill>
                  <a:srgbClr val="FFFFFF"/>
                </a:solidFill>
                <a:latin typeface="Arial"/>
              </a:rPr>
              <a:t> </a:t>
            </a:r>
            <a:r>
              <a:rPr sz="2000" b="1" i="0" dirty="0" err="1">
                <a:solidFill>
                  <a:srgbClr val="FFFFFF"/>
                </a:solidFill>
                <a:latin typeface="Arial"/>
              </a:rPr>
              <a:t>nadie</a:t>
            </a:r>
            <a:r>
              <a:rPr sz="2000" b="1" i="0" dirty="0">
                <a:solidFill>
                  <a:srgbClr val="FFFFFF"/>
                </a:solidFill>
                <a:latin typeface="Arial"/>
              </a:rPr>
              <a:t> </a:t>
            </a:r>
            <a:r>
              <a:rPr sz="2000" b="1" i="0" dirty="0" err="1">
                <a:solidFill>
                  <a:srgbClr val="FFFFFF"/>
                </a:solidFill>
                <a:latin typeface="Arial"/>
              </a:rPr>
              <a:t>cita</a:t>
            </a:r>
            <a:endParaRPr sz="2000" b="1" i="0" dirty="0">
              <a:solidFill>
                <a:srgbClr val="FFFFFF"/>
              </a:solidFill>
              <a:latin typeface="Arial"/>
            </a:endParaRPr>
          </a:p>
        </p:txBody>
      </p:sp>
      <p:sp>
        <p:nvSpPr>
          <p:cNvPr id="5" name="TextBox 4"/>
          <p:cNvSpPr txBox="1"/>
          <p:nvPr/>
        </p:nvSpPr>
        <p:spPr>
          <a:xfrm>
            <a:off x="365760" y="914400"/>
            <a:ext cx="8412480" cy="365760"/>
          </a:xfrm>
          <a:prstGeom prst="rect">
            <a:avLst/>
          </a:prstGeom>
          <a:noFill/>
        </p:spPr>
        <p:txBody>
          <a:bodyPr wrap="square" lIns="25400" tIns="12700" rIns="25400" bIns="12700" anchor="t">
            <a:spAutoFit/>
          </a:bodyPr>
          <a:lstStyle/>
          <a:p>
            <a:pPr algn="l"/>
            <a:r>
              <a:rPr sz="1400" b="0" i="1">
                <a:solidFill>
                  <a:srgbClr val="525B66"/>
                </a:solidFill>
                <a:latin typeface="Arial"/>
              </a:rPr>
              <a:t>Hay una sexta fuente. No está en ningún manual. La uso todos los días.</a:t>
            </a:r>
          </a:p>
        </p:txBody>
      </p:sp>
      <p:sp>
        <p:nvSpPr>
          <p:cNvPr id="6" name="Rectangle 5"/>
          <p:cNvSpPr/>
          <p:nvPr/>
        </p:nvSpPr>
        <p:spPr>
          <a:xfrm>
            <a:off x="1097280" y="1508760"/>
            <a:ext cx="6949440" cy="26060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1691640"/>
            <a:ext cx="6400800" cy="640080"/>
          </a:xfrm>
          <a:prstGeom prst="rect">
            <a:avLst/>
          </a:prstGeom>
          <a:noFill/>
        </p:spPr>
        <p:txBody>
          <a:bodyPr wrap="square" lIns="25400" tIns="12700" rIns="25400" bIns="12700" anchor="ctr">
            <a:spAutoFit/>
          </a:bodyPr>
          <a:lstStyle/>
          <a:p>
            <a:pPr algn="l"/>
            <a:r>
              <a:rPr sz="4400" b="1" i="0">
                <a:solidFill>
                  <a:srgbClr val="E41A52"/>
                </a:solidFill>
                <a:latin typeface="Arial"/>
              </a:rPr>
              <a:t>VIBEINT</a:t>
            </a:r>
          </a:p>
        </p:txBody>
      </p:sp>
      <p:sp>
        <p:nvSpPr>
          <p:cNvPr id="8" name="TextBox 7"/>
          <p:cNvSpPr txBox="1"/>
          <p:nvPr/>
        </p:nvSpPr>
        <p:spPr>
          <a:xfrm>
            <a:off x="1371600" y="2377440"/>
            <a:ext cx="6400800" cy="1554480"/>
          </a:xfrm>
          <a:prstGeom prst="rect">
            <a:avLst/>
          </a:prstGeom>
          <a:noFill/>
        </p:spPr>
        <p:txBody>
          <a:bodyPr wrap="square" lIns="25400" tIns="12700" rIns="25400" bIns="12700" anchor="t">
            <a:spAutoFit/>
          </a:bodyPr>
          <a:lstStyle/>
          <a:p>
            <a:pPr algn="l"/>
            <a:r>
              <a:rPr sz="1600" b="0" i="1">
                <a:solidFill>
                  <a:srgbClr val="1F2937"/>
                </a:solidFill>
                <a:latin typeface="Arial"/>
              </a:rPr>
              <a:t>Información obtenida de un presentimiento o de la intuición — usualmente basada en experiencia previa. Mayormente no verificada, ocasionalmente lleva a un hallazgo real.</a:t>
            </a:r>
          </a:p>
        </p:txBody>
      </p:sp>
      <p:sp>
        <p:nvSpPr>
          <p:cNvPr id="12" name="TextBox 11"/>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18 / 38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41A52"/>
        </a:solidFill>
        <a:effectLst/>
      </p:bgPr>
    </p:bg>
    <p:spTree>
      <p:nvGrpSpPr>
        <p:cNvPr id="1" name=""/>
        <p:cNvGrpSpPr/>
        <p:nvPr/>
      </p:nvGrpSpPr>
      <p:grpSpPr>
        <a:xfrm>
          <a:off x="0" y="0"/>
          <a:ext cx="0" cy="0"/>
          <a:chOff x="0" y="0"/>
          <a:chExt cx="0" cy="0"/>
        </a:xfrm>
      </p:grpSpPr>
      <p:sp>
        <p:nvSpPr>
          <p:cNvPr id="2" name="Rectangle 1"/>
          <p:cNvSpPr/>
          <p:nvPr/>
        </p:nvSpPr>
        <p:spPr>
          <a:xfrm>
            <a:off x="0" y="4114800"/>
            <a:ext cx="9144000" cy="102870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left.png"/>
          <p:cNvPicPr>
            <a:picLocks noChangeAspect="1"/>
          </p:cNvPicPr>
          <p:nvPr/>
        </p:nvPicPr>
        <p:blipFill>
          <a:blip r:embed="rId2">
            <a:alphaModFix amt="25000"/>
          </a:blip>
          <a:stretch>
            <a:fillRect/>
          </a:stretch>
        </p:blipFill>
        <p:spPr>
          <a:xfrm>
            <a:off x="-548640" y="365760"/>
            <a:ext cx="2413248" cy="4572000"/>
          </a:xfrm>
          <a:prstGeom prst="rect">
            <a:avLst/>
          </a:prstGeom>
        </p:spPr>
      </p:pic>
      <p:pic>
        <p:nvPicPr>
          <p:cNvPr id="4" name="Picture 3" descr="brand_palm_right.png"/>
          <p:cNvPicPr>
            <a:picLocks noChangeAspect="1"/>
          </p:cNvPicPr>
          <p:nvPr/>
        </p:nvPicPr>
        <p:blipFill>
          <a:blip r:embed="rId3">
            <a:alphaModFix amt="25000"/>
          </a:blip>
          <a:stretch>
            <a:fillRect/>
          </a:stretch>
        </p:blipFill>
        <p:spPr>
          <a:xfrm>
            <a:off x="6583680" y="365760"/>
            <a:ext cx="2323951" cy="4572000"/>
          </a:xfrm>
          <a:prstGeom prst="rect">
            <a:avLst/>
          </a:prstGeom>
        </p:spPr>
      </p:pic>
      <p:sp>
        <p:nvSpPr>
          <p:cNvPr id="5" name="Rectangle 4"/>
          <p:cNvSpPr/>
          <p:nvPr/>
        </p:nvSpPr>
        <p:spPr>
          <a:xfrm>
            <a:off x="365760" y="274320"/>
            <a:ext cx="841248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0624" y="329184"/>
            <a:ext cx="8302752" cy="603504"/>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329184"/>
            <a:ext cx="8046720" cy="603504"/>
          </a:xfrm>
          <a:prstGeom prst="rect">
            <a:avLst/>
          </a:prstGeom>
          <a:noFill/>
        </p:spPr>
        <p:txBody>
          <a:bodyPr wrap="square" lIns="25400" tIns="12700" rIns="25400" bIns="12700" anchor="ctr">
            <a:spAutoFit/>
          </a:bodyPr>
          <a:lstStyle/>
          <a:p>
            <a:pPr algn="l"/>
            <a:r>
              <a:rPr sz="1800" b="1" i="0" spc="200">
                <a:solidFill>
                  <a:srgbClr val="FFFFFF"/>
                </a:solidFill>
                <a:latin typeface="Arial"/>
              </a:rPr>
              <a:t>BLOQUE  04  ·  FRAMEWORKS</a:t>
            </a:r>
          </a:p>
        </p:txBody>
      </p:sp>
      <p:sp>
        <p:nvSpPr>
          <p:cNvPr id="8" name="TextBox 7"/>
          <p:cNvSpPr txBox="1"/>
          <p:nvPr/>
        </p:nvSpPr>
        <p:spPr>
          <a:xfrm>
            <a:off x="548640" y="1645920"/>
            <a:ext cx="8046720" cy="1920240"/>
          </a:xfrm>
          <a:prstGeom prst="rect">
            <a:avLst/>
          </a:prstGeom>
          <a:noFill/>
        </p:spPr>
        <p:txBody>
          <a:bodyPr wrap="square" lIns="25400" tIns="12700" rIns="25400" bIns="12700" anchor="ctr">
            <a:spAutoFit/>
          </a:bodyPr>
          <a:lstStyle/>
          <a:p>
            <a:pPr algn="l"/>
            <a:r>
              <a:rPr sz="2200" b="1" i="1">
                <a:solidFill>
                  <a:srgbClr val="FFFFFF"/>
                </a:solidFill>
                <a:latin typeface="Arial"/>
              </a:rPr>
              <a:t>Kill Chain · Diamond · MITRE ATT&amp;CK · Pirámide del Dolor.</a:t>
            </a:r>
          </a:p>
        </p:txBody>
      </p:sp>
      <p:sp>
        <p:nvSpPr>
          <p:cNvPr id="10" name="TextBox 9"/>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19 / 38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right.png"/>
          <p:cNvPicPr>
            <a:picLocks noChangeAspect="1"/>
          </p:cNvPicPr>
          <p:nvPr/>
        </p:nvPicPr>
        <p:blipFill>
          <a:blip r:embed="rId2">
            <a:alphaModFix amt="12000"/>
          </a:blip>
          <a:stretch>
            <a:fillRect/>
          </a:stretch>
        </p:blipFill>
        <p:spPr>
          <a:xfrm>
            <a:off x="7772400" y="777240"/>
            <a:ext cx="2138035" cy="4206240"/>
          </a:xfrm>
          <a:prstGeom prst="rect">
            <a:avLst/>
          </a:prstGeom>
        </p:spPr>
      </p:pic>
      <p:sp>
        <p:nvSpPr>
          <p:cNvPr id="4" name="TextBox 3"/>
          <p:cNvSpPr txBox="1"/>
          <p:nvPr/>
        </p:nvSpPr>
        <p:spPr>
          <a:xfrm>
            <a:off x="365760" y="146304"/>
            <a:ext cx="8412480" cy="420624"/>
          </a:xfrm>
          <a:prstGeom prst="rect">
            <a:avLst/>
          </a:prstGeom>
          <a:noFill/>
        </p:spPr>
        <p:txBody>
          <a:bodyPr wrap="square" lIns="25400" tIns="12700" rIns="25400" bIns="12700" anchor="ctr">
            <a:spAutoFit/>
          </a:bodyPr>
          <a:lstStyle/>
          <a:p>
            <a:pPr algn="l"/>
            <a:r>
              <a:rPr sz="2000" b="1" i="0">
                <a:solidFill>
                  <a:srgbClr val="FFFFFF"/>
                </a:solidFill>
                <a:latin typeface="Arial"/>
              </a:rPr>
              <a:t>Los 4 frameworks no compiten — se componen</a:t>
            </a:r>
          </a:p>
        </p:txBody>
      </p:sp>
      <p:sp>
        <p:nvSpPr>
          <p:cNvPr id="5" name="Rectangle 4"/>
          <p:cNvSpPr/>
          <p:nvPr/>
        </p:nvSpPr>
        <p:spPr>
          <a:xfrm>
            <a:off x="365760" y="1005840"/>
            <a:ext cx="4160520" cy="16459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005840"/>
            <a:ext cx="91440" cy="164592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143000"/>
            <a:ext cx="3749039" cy="457200"/>
          </a:xfrm>
          <a:prstGeom prst="rect">
            <a:avLst/>
          </a:prstGeom>
          <a:noFill/>
        </p:spPr>
        <p:txBody>
          <a:bodyPr wrap="square" lIns="25400" tIns="12700" rIns="25400" bIns="12700" anchor="t">
            <a:spAutoFit/>
          </a:bodyPr>
          <a:lstStyle/>
          <a:p>
            <a:pPr algn="l"/>
            <a:r>
              <a:rPr sz="1700" b="1" i="0" spc="200">
                <a:solidFill>
                  <a:srgbClr val="1F2937"/>
                </a:solidFill>
                <a:latin typeface="Arial"/>
              </a:rPr>
              <a:t>CYBER KILL CHAIN</a:t>
            </a:r>
          </a:p>
        </p:txBody>
      </p:sp>
      <p:sp>
        <p:nvSpPr>
          <p:cNvPr id="8" name="TextBox 7"/>
          <p:cNvSpPr txBox="1"/>
          <p:nvPr/>
        </p:nvSpPr>
        <p:spPr>
          <a:xfrm>
            <a:off x="640080" y="1554480"/>
            <a:ext cx="3749039" cy="320040"/>
          </a:xfrm>
          <a:prstGeom prst="rect">
            <a:avLst/>
          </a:prstGeom>
          <a:noFill/>
        </p:spPr>
        <p:txBody>
          <a:bodyPr wrap="square" lIns="25400" tIns="12700" rIns="25400" bIns="12700" anchor="t">
            <a:spAutoFit/>
          </a:bodyPr>
          <a:lstStyle/>
          <a:p>
            <a:pPr algn="l"/>
            <a:r>
              <a:rPr sz="1100" b="0" i="1">
                <a:solidFill>
                  <a:srgbClr val="525B66"/>
                </a:solidFill>
                <a:latin typeface="Arial"/>
              </a:rPr>
              <a:t>Lockheed Martin · 2011</a:t>
            </a:r>
          </a:p>
        </p:txBody>
      </p:sp>
      <p:sp>
        <p:nvSpPr>
          <p:cNvPr id="9" name="TextBox 8"/>
          <p:cNvSpPr txBox="1"/>
          <p:nvPr/>
        </p:nvSpPr>
        <p:spPr>
          <a:xfrm>
            <a:off x="640080" y="1920240"/>
            <a:ext cx="3749039" cy="640080"/>
          </a:xfrm>
          <a:prstGeom prst="rect">
            <a:avLst/>
          </a:prstGeom>
          <a:noFill/>
        </p:spPr>
        <p:txBody>
          <a:bodyPr wrap="square" lIns="25400" tIns="12700" rIns="25400" bIns="12700" anchor="t">
            <a:spAutoFit/>
          </a:bodyPr>
          <a:lstStyle/>
          <a:p>
            <a:pPr algn="l"/>
            <a:r>
              <a:rPr sz="1300" b="0" i="0">
                <a:solidFill>
                  <a:srgbClr val="1F2937"/>
                </a:solidFill>
                <a:latin typeface="Arial"/>
              </a:rPr>
              <a:t>Las 7 fases de un ataque.</a:t>
            </a:r>
          </a:p>
        </p:txBody>
      </p:sp>
      <p:sp>
        <p:nvSpPr>
          <p:cNvPr id="10" name="Rectangle 9"/>
          <p:cNvSpPr/>
          <p:nvPr/>
        </p:nvSpPr>
        <p:spPr>
          <a:xfrm>
            <a:off x="4617720" y="1005840"/>
            <a:ext cx="4160520" cy="16459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617720" y="1005840"/>
            <a:ext cx="91440" cy="164592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92040" y="1143000"/>
            <a:ext cx="3749039" cy="457200"/>
          </a:xfrm>
          <a:prstGeom prst="rect">
            <a:avLst/>
          </a:prstGeom>
          <a:noFill/>
        </p:spPr>
        <p:txBody>
          <a:bodyPr wrap="square" lIns="25400" tIns="12700" rIns="25400" bIns="12700" anchor="t">
            <a:spAutoFit/>
          </a:bodyPr>
          <a:lstStyle/>
          <a:p>
            <a:pPr algn="l"/>
            <a:r>
              <a:rPr sz="1700" b="1" i="0" spc="200">
                <a:solidFill>
                  <a:srgbClr val="1F2937"/>
                </a:solidFill>
                <a:latin typeface="Arial"/>
              </a:rPr>
              <a:t>DIAMOND MODEL</a:t>
            </a:r>
          </a:p>
        </p:txBody>
      </p:sp>
      <p:sp>
        <p:nvSpPr>
          <p:cNvPr id="13" name="TextBox 12"/>
          <p:cNvSpPr txBox="1"/>
          <p:nvPr/>
        </p:nvSpPr>
        <p:spPr>
          <a:xfrm>
            <a:off x="4892040" y="1554480"/>
            <a:ext cx="3749039" cy="320040"/>
          </a:xfrm>
          <a:prstGeom prst="rect">
            <a:avLst/>
          </a:prstGeom>
          <a:noFill/>
        </p:spPr>
        <p:txBody>
          <a:bodyPr wrap="square" lIns="25400" tIns="12700" rIns="25400" bIns="12700" anchor="t">
            <a:spAutoFit/>
          </a:bodyPr>
          <a:lstStyle/>
          <a:p>
            <a:pPr algn="l"/>
            <a:r>
              <a:rPr sz="1100" b="0" i="1">
                <a:solidFill>
                  <a:srgbClr val="525B66"/>
                </a:solidFill>
                <a:latin typeface="Arial"/>
              </a:rPr>
              <a:t>Caltagirone et al. · 2013</a:t>
            </a:r>
          </a:p>
        </p:txBody>
      </p:sp>
      <p:sp>
        <p:nvSpPr>
          <p:cNvPr id="14" name="TextBox 13"/>
          <p:cNvSpPr txBox="1"/>
          <p:nvPr/>
        </p:nvSpPr>
        <p:spPr>
          <a:xfrm>
            <a:off x="4892040" y="1920240"/>
            <a:ext cx="3749039" cy="640080"/>
          </a:xfrm>
          <a:prstGeom prst="rect">
            <a:avLst/>
          </a:prstGeom>
          <a:noFill/>
        </p:spPr>
        <p:txBody>
          <a:bodyPr wrap="square" lIns="25400" tIns="12700" rIns="25400" bIns="12700" anchor="t">
            <a:spAutoFit/>
          </a:bodyPr>
          <a:lstStyle/>
          <a:p>
            <a:pPr algn="l"/>
            <a:r>
              <a:rPr sz="1300" b="0" i="0">
                <a:solidFill>
                  <a:srgbClr val="1F2937"/>
                </a:solidFill>
                <a:latin typeface="Arial"/>
              </a:rPr>
              <a:t>Adversary · Capability · Infrastructure · Victim.</a:t>
            </a:r>
          </a:p>
        </p:txBody>
      </p:sp>
      <p:sp>
        <p:nvSpPr>
          <p:cNvPr id="15" name="Rectangle 14"/>
          <p:cNvSpPr/>
          <p:nvPr/>
        </p:nvSpPr>
        <p:spPr>
          <a:xfrm>
            <a:off x="365760" y="2788920"/>
            <a:ext cx="4160520" cy="16459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5760" y="2788920"/>
            <a:ext cx="91440" cy="164592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926079"/>
            <a:ext cx="3749039" cy="457200"/>
          </a:xfrm>
          <a:prstGeom prst="rect">
            <a:avLst/>
          </a:prstGeom>
          <a:noFill/>
        </p:spPr>
        <p:txBody>
          <a:bodyPr wrap="square" lIns="25400" tIns="12700" rIns="25400" bIns="12700" anchor="t">
            <a:spAutoFit/>
          </a:bodyPr>
          <a:lstStyle/>
          <a:p>
            <a:pPr algn="l"/>
            <a:r>
              <a:rPr sz="1700" b="1" i="0" spc="200">
                <a:solidFill>
                  <a:srgbClr val="1F2937"/>
                </a:solidFill>
                <a:latin typeface="Arial"/>
              </a:rPr>
              <a:t>MITRE ATT&amp;CK</a:t>
            </a:r>
          </a:p>
        </p:txBody>
      </p:sp>
      <p:sp>
        <p:nvSpPr>
          <p:cNvPr id="18" name="TextBox 17"/>
          <p:cNvSpPr txBox="1"/>
          <p:nvPr/>
        </p:nvSpPr>
        <p:spPr>
          <a:xfrm>
            <a:off x="640080" y="3337560"/>
            <a:ext cx="3749039" cy="320040"/>
          </a:xfrm>
          <a:prstGeom prst="rect">
            <a:avLst/>
          </a:prstGeom>
          <a:noFill/>
        </p:spPr>
        <p:txBody>
          <a:bodyPr wrap="square" lIns="25400" tIns="12700" rIns="25400" bIns="12700" anchor="t">
            <a:spAutoFit/>
          </a:bodyPr>
          <a:lstStyle/>
          <a:p>
            <a:pPr algn="l"/>
            <a:r>
              <a:rPr sz="1100" b="0" i="1">
                <a:solidFill>
                  <a:srgbClr val="525B66"/>
                </a:solidFill>
                <a:latin typeface="Arial"/>
              </a:rPr>
              <a:t>MITRE · 2013 → presente</a:t>
            </a:r>
          </a:p>
        </p:txBody>
      </p:sp>
      <p:sp>
        <p:nvSpPr>
          <p:cNvPr id="19" name="TextBox 18"/>
          <p:cNvSpPr txBox="1"/>
          <p:nvPr/>
        </p:nvSpPr>
        <p:spPr>
          <a:xfrm>
            <a:off x="640080" y="3703320"/>
            <a:ext cx="3749039" cy="640080"/>
          </a:xfrm>
          <a:prstGeom prst="rect">
            <a:avLst/>
          </a:prstGeom>
          <a:noFill/>
        </p:spPr>
        <p:txBody>
          <a:bodyPr wrap="square" lIns="25400" tIns="12700" rIns="25400" bIns="12700" anchor="t">
            <a:spAutoFit/>
          </a:bodyPr>
          <a:lstStyle/>
          <a:p>
            <a:pPr algn="l"/>
            <a:r>
              <a:rPr sz="1300" b="0" i="0">
                <a:solidFill>
                  <a:srgbClr val="1F2937"/>
                </a:solidFill>
                <a:latin typeface="Arial"/>
              </a:rPr>
              <a:t>Catálogo de TTPs. Lingua franca de la industria.</a:t>
            </a:r>
          </a:p>
        </p:txBody>
      </p:sp>
      <p:sp>
        <p:nvSpPr>
          <p:cNvPr id="20" name="Rectangle 19"/>
          <p:cNvSpPr/>
          <p:nvPr/>
        </p:nvSpPr>
        <p:spPr>
          <a:xfrm>
            <a:off x="4617720" y="2788920"/>
            <a:ext cx="4160520" cy="16459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617720" y="2788920"/>
            <a:ext cx="91440" cy="164592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92040" y="2926079"/>
            <a:ext cx="3749039" cy="457200"/>
          </a:xfrm>
          <a:prstGeom prst="rect">
            <a:avLst/>
          </a:prstGeom>
          <a:noFill/>
        </p:spPr>
        <p:txBody>
          <a:bodyPr wrap="square" lIns="25400" tIns="12700" rIns="25400" bIns="12700" anchor="t">
            <a:spAutoFit/>
          </a:bodyPr>
          <a:lstStyle/>
          <a:p>
            <a:pPr algn="l"/>
            <a:r>
              <a:rPr sz="1700" b="1" i="0" spc="200">
                <a:solidFill>
                  <a:srgbClr val="1F2937"/>
                </a:solidFill>
                <a:latin typeface="Arial"/>
              </a:rPr>
              <a:t>PIRÁMIDE DEL DOLOR</a:t>
            </a:r>
          </a:p>
        </p:txBody>
      </p:sp>
      <p:sp>
        <p:nvSpPr>
          <p:cNvPr id="23" name="TextBox 22"/>
          <p:cNvSpPr txBox="1"/>
          <p:nvPr/>
        </p:nvSpPr>
        <p:spPr>
          <a:xfrm>
            <a:off x="4892040" y="3337560"/>
            <a:ext cx="3749039" cy="320040"/>
          </a:xfrm>
          <a:prstGeom prst="rect">
            <a:avLst/>
          </a:prstGeom>
          <a:noFill/>
        </p:spPr>
        <p:txBody>
          <a:bodyPr wrap="square" lIns="25400" tIns="12700" rIns="25400" bIns="12700" anchor="t">
            <a:spAutoFit/>
          </a:bodyPr>
          <a:lstStyle/>
          <a:p>
            <a:pPr algn="l"/>
            <a:r>
              <a:rPr sz="1100" b="0" i="1">
                <a:solidFill>
                  <a:srgbClr val="525B66"/>
                </a:solidFill>
                <a:latin typeface="Arial"/>
              </a:rPr>
              <a:t>David Bianco · 2013</a:t>
            </a:r>
          </a:p>
        </p:txBody>
      </p:sp>
      <p:sp>
        <p:nvSpPr>
          <p:cNvPr id="24" name="TextBox 23"/>
          <p:cNvSpPr txBox="1"/>
          <p:nvPr/>
        </p:nvSpPr>
        <p:spPr>
          <a:xfrm>
            <a:off x="4892040" y="3703320"/>
            <a:ext cx="3749039" cy="640080"/>
          </a:xfrm>
          <a:prstGeom prst="rect">
            <a:avLst/>
          </a:prstGeom>
          <a:noFill/>
        </p:spPr>
        <p:txBody>
          <a:bodyPr wrap="square" lIns="25400" tIns="12700" rIns="25400" bIns="12700" anchor="t">
            <a:spAutoFit/>
          </a:bodyPr>
          <a:lstStyle/>
          <a:p>
            <a:pPr algn="l"/>
            <a:r>
              <a:rPr sz="1300" b="0" i="0">
                <a:solidFill>
                  <a:srgbClr val="1F2937"/>
                </a:solidFill>
                <a:latin typeface="Arial"/>
              </a:rPr>
              <a:t>Qué duele al atacante: IOCs vs TTPs.</a:t>
            </a:r>
          </a:p>
        </p:txBody>
      </p:sp>
      <p:sp>
        <p:nvSpPr>
          <p:cNvPr id="26" name="TextBox 25"/>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20 / 38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right.png"/>
          <p:cNvPicPr>
            <a:picLocks noChangeAspect="1"/>
          </p:cNvPicPr>
          <p:nvPr/>
        </p:nvPicPr>
        <p:blipFill>
          <a:blip r:embed="rId2">
            <a:alphaModFix amt="12000"/>
          </a:blip>
          <a:stretch>
            <a:fillRect/>
          </a:stretch>
        </p:blipFill>
        <p:spPr>
          <a:xfrm>
            <a:off x="7772400" y="777240"/>
            <a:ext cx="2138035" cy="4206240"/>
          </a:xfrm>
          <a:prstGeom prst="rect">
            <a:avLst/>
          </a:prstGeom>
        </p:spPr>
      </p:pic>
      <p:sp>
        <p:nvSpPr>
          <p:cNvPr id="4" name="TextBox 3"/>
          <p:cNvSpPr txBox="1"/>
          <p:nvPr/>
        </p:nvSpPr>
        <p:spPr>
          <a:xfrm>
            <a:off x="365760" y="146304"/>
            <a:ext cx="8412480" cy="420624"/>
          </a:xfrm>
          <a:prstGeom prst="rect">
            <a:avLst/>
          </a:prstGeom>
          <a:noFill/>
        </p:spPr>
        <p:txBody>
          <a:bodyPr wrap="square" lIns="25400" tIns="12700" rIns="25400" bIns="12700" anchor="ctr">
            <a:spAutoFit/>
          </a:bodyPr>
          <a:lstStyle/>
          <a:p>
            <a:pPr algn="l"/>
            <a:r>
              <a:rPr sz="2000" b="1" i="0">
                <a:solidFill>
                  <a:srgbClr val="FFFFFF"/>
                </a:solidFill>
                <a:latin typeface="Arial"/>
              </a:rPr>
              <a:t>Cyber Kill Chain · 7 fases (Lockheed Martin, 2011)</a:t>
            </a:r>
          </a:p>
        </p:txBody>
      </p:sp>
      <p:sp>
        <p:nvSpPr>
          <p:cNvPr id="6" name="Rectangle 5"/>
          <p:cNvSpPr/>
          <p:nvPr/>
        </p:nvSpPr>
        <p:spPr>
          <a:xfrm>
            <a:off x="365760" y="1504603"/>
            <a:ext cx="1143000" cy="109728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577755"/>
            <a:ext cx="1143000" cy="292608"/>
          </a:xfrm>
          <a:prstGeom prst="rect">
            <a:avLst/>
          </a:prstGeom>
          <a:noFill/>
        </p:spPr>
        <p:txBody>
          <a:bodyPr wrap="square" lIns="25400" tIns="12700" rIns="25400" bIns="12700" anchor="t">
            <a:spAutoFit/>
          </a:bodyPr>
          <a:lstStyle/>
          <a:p>
            <a:pPr algn="ctr"/>
            <a:r>
              <a:rPr sz="1400" b="1" i="0">
                <a:solidFill>
                  <a:srgbClr val="FFFFFF"/>
                </a:solidFill>
                <a:latin typeface="Arial"/>
              </a:rPr>
              <a:t>1</a:t>
            </a:r>
          </a:p>
        </p:txBody>
      </p:sp>
      <p:sp>
        <p:nvSpPr>
          <p:cNvPr id="8" name="TextBox 7"/>
          <p:cNvSpPr txBox="1"/>
          <p:nvPr/>
        </p:nvSpPr>
        <p:spPr>
          <a:xfrm>
            <a:off x="365760" y="1888651"/>
            <a:ext cx="1143000" cy="365760"/>
          </a:xfrm>
          <a:prstGeom prst="rect">
            <a:avLst/>
          </a:prstGeom>
          <a:noFill/>
        </p:spPr>
        <p:txBody>
          <a:bodyPr wrap="square" lIns="25400" tIns="12700" rIns="25400" bIns="12700" anchor="t">
            <a:spAutoFit/>
          </a:bodyPr>
          <a:lstStyle/>
          <a:p>
            <a:pPr algn="ctr"/>
            <a:r>
              <a:rPr sz="1400" b="1" i="0">
                <a:solidFill>
                  <a:srgbClr val="FFFFFF"/>
                </a:solidFill>
                <a:latin typeface="Arial"/>
              </a:rPr>
              <a:t>Recon</a:t>
            </a:r>
          </a:p>
        </p:txBody>
      </p:sp>
      <p:sp>
        <p:nvSpPr>
          <p:cNvPr id="9" name="TextBox 8"/>
          <p:cNvSpPr txBox="1"/>
          <p:nvPr/>
        </p:nvSpPr>
        <p:spPr>
          <a:xfrm>
            <a:off x="365760" y="2254411"/>
            <a:ext cx="1143000" cy="320040"/>
          </a:xfrm>
          <a:prstGeom prst="rect">
            <a:avLst/>
          </a:prstGeom>
          <a:noFill/>
        </p:spPr>
        <p:txBody>
          <a:bodyPr wrap="square" lIns="25400" tIns="12700" rIns="25400" bIns="12700" anchor="t">
            <a:spAutoFit/>
          </a:bodyPr>
          <a:lstStyle/>
          <a:p>
            <a:pPr algn="ctr"/>
            <a:r>
              <a:rPr sz="900" b="0" i="0">
                <a:solidFill>
                  <a:srgbClr val="FFFFFF"/>
                </a:solidFill>
                <a:latin typeface="Arial"/>
              </a:rPr>
              <a:t>Identificar objetivos</a:t>
            </a:r>
          </a:p>
        </p:txBody>
      </p:sp>
      <p:sp>
        <p:nvSpPr>
          <p:cNvPr id="10" name="Rectangle 9"/>
          <p:cNvSpPr/>
          <p:nvPr/>
        </p:nvSpPr>
        <p:spPr>
          <a:xfrm>
            <a:off x="1563624" y="1504603"/>
            <a:ext cx="1143000" cy="109728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63624" y="1577755"/>
            <a:ext cx="1143000" cy="292608"/>
          </a:xfrm>
          <a:prstGeom prst="rect">
            <a:avLst/>
          </a:prstGeom>
          <a:noFill/>
        </p:spPr>
        <p:txBody>
          <a:bodyPr wrap="square" lIns="25400" tIns="12700" rIns="25400" bIns="12700" anchor="t">
            <a:spAutoFit/>
          </a:bodyPr>
          <a:lstStyle/>
          <a:p>
            <a:pPr algn="ctr"/>
            <a:r>
              <a:rPr sz="1400" b="1" i="0">
                <a:solidFill>
                  <a:srgbClr val="FFFFFF"/>
                </a:solidFill>
                <a:latin typeface="Arial"/>
              </a:rPr>
              <a:t>2</a:t>
            </a:r>
          </a:p>
        </p:txBody>
      </p:sp>
      <p:sp>
        <p:nvSpPr>
          <p:cNvPr id="12" name="TextBox 11"/>
          <p:cNvSpPr txBox="1"/>
          <p:nvPr/>
        </p:nvSpPr>
        <p:spPr>
          <a:xfrm>
            <a:off x="1563624" y="1888651"/>
            <a:ext cx="1143000" cy="365760"/>
          </a:xfrm>
          <a:prstGeom prst="rect">
            <a:avLst/>
          </a:prstGeom>
          <a:noFill/>
        </p:spPr>
        <p:txBody>
          <a:bodyPr wrap="square" lIns="25400" tIns="12700" rIns="25400" bIns="12700" anchor="t">
            <a:spAutoFit/>
          </a:bodyPr>
          <a:lstStyle/>
          <a:p>
            <a:pPr algn="ctr"/>
            <a:r>
              <a:rPr sz="1400" b="1" i="0">
                <a:solidFill>
                  <a:srgbClr val="FFFFFF"/>
                </a:solidFill>
                <a:latin typeface="Arial"/>
              </a:rPr>
              <a:t>Weaponize</a:t>
            </a:r>
          </a:p>
        </p:txBody>
      </p:sp>
      <p:sp>
        <p:nvSpPr>
          <p:cNvPr id="13" name="TextBox 12"/>
          <p:cNvSpPr txBox="1"/>
          <p:nvPr/>
        </p:nvSpPr>
        <p:spPr>
          <a:xfrm>
            <a:off x="1563624" y="2254411"/>
            <a:ext cx="1143000" cy="320040"/>
          </a:xfrm>
          <a:prstGeom prst="rect">
            <a:avLst/>
          </a:prstGeom>
          <a:noFill/>
        </p:spPr>
        <p:txBody>
          <a:bodyPr wrap="square" lIns="25400" tIns="12700" rIns="25400" bIns="12700" anchor="t">
            <a:spAutoFit/>
          </a:bodyPr>
          <a:lstStyle/>
          <a:p>
            <a:pPr algn="ctr"/>
            <a:r>
              <a:rPr sz="900" b="0" i="0">
                <a:solidFill>
                  <a:srgbClr val="FFFFFF"/>
                </a:solidFill>
                <a:latin typeface="Arial"/>
              </a:rPr>
              <a:t>Payload + exploit</a:t>
            </a:r>
          </a:p>
        </p:txBody>
      </p:sp>
      <p:sp>
        <p:nvSpPr>
          <p:cNvPr id="14" name="Rectangle 13"/>
          <p:cNvSpPr/>
          <p:nvPr/>
        </p:nvSpPr>
        <p:spPr>
          <a:xfrm>
            <a:off x="2761488" y="1504603"/>
            <a:ext cx="1143000" cy="109728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61488" y="1577755"/>
            <a:ext cx="1143000" cy="292608"/>
          </a:xfrm>
          <a:prstGeom prst="rect">
            <a:avLst/>
          </a:prstGeom>
          <a:noFill/>
        </p:spPr>
        <p:txBody>
          <a:bodyPr wrap="square" lIns="25400" tIns="12700" rIns="25400" bIns="12700" anchor="t">
            <a:spAutoFit/>
          </a:bodyPr>
          <a:lstStyle/>
          <a:p>
            <a:pPr algn="ctr"/>
            <a:r>
              <a:rPr sz="1400" b="1" i="0">
                <a:solidFill>
                  <a:srgbClr val="FFFFFF"/>
                </a:solidFill>
                <a:latin typeface="Arial"/>
              </a:rPr>
              <a:t>3</a:t>
            </a:r>
          </a:p>
        </p:txBody>
      </p:sp>
      <p:sp>
        <p:nvSpPr>
          <p:cNvPr id="16" name="TextBox 15"/>
          <p:cNvSpPr txBox="1"/>
          <p:nvPr/>
        </p:nvSpPr>
        <p:spPr>
          <a:xfrm>
            <a:off x="2761488" y="1888651"/>
            <a:ext cx="1143000" cy="365760"/>
          </a:xfrm>
          <a:prstGeom prst="rect">
            <a:avLst/>
          </a:prstGeom>
          <a:noFill/>
        </p:spPr>
        <p:txBody>
          <a:bodyPr wrap="square" lIns="25400" tIns="12700" rIns="25400" bIns="12700" anchor="t">
            <a:spAutoFit/>
          </a:bodyPr>
          <a:lstStyle/>
          <a:p>
            <a:pPr algn="ctr"/>
            <a:r>
              <a:rPr sz="1400" b="1" i="0">
                <a:solidFill>
                  <a:srgbClr val="FFFFFF"/>
                </a:solidFill>
                <a:latin typeface="Arial"/>
              </a:rPr>
              <a:t>Deliver</a:t>
            </a:r>
          </a:p>
        </p:txBody>
      </p:sp>
      <p:sp>
        <p:nvSpPr>
          <p:cNvPr id="17" name="TextBox 16"/>
          <p:cNvSpPr txBox="1"/>
          <p:nvPr/>
        </p:nvSpPr>
        <p:spPr>
          <a:xfrm>
            <a:off x="2761488" y="2254411"/>
            <a:ext cx="1143000" cy="320040"/>
          </a:xfrm>
          <a:prstGeom prst="rect">
            <a:avLst/>
          </a:prstGeom>
          <a:noFill/>
        </p:spPr>
        <p:txBody>
          <a:bodyPr wrap="square" lIns="25400" tIns="12700" rIns="25400" bIns="12700" anchor="t">
            <a:spAutoFit/>
          </a:bodyPr>
          <a:lstStyle/>
          <a:p>
            <a:pPr algn="ctr"/>
            <a:r>
              <a:rPr sz="900" b="0" i="0">
                <a:solidFill>
                  <a:srgbClr val="FFFFFF"/>
                </a:solidFill>
                <a:latin typeface="Arial"/>
              </a:rPr>
              <a:t>Email, USB, web</a:t>
            </a:r>
          </a:p>
        </p:txBody>
      </p:sp>
      <p:sp>
        <p:nvSpPr>
          <p:cNvPr id="18" name="Rectangle 17"/>
          <p:cNvSpPr/>
          <p:nvPr/>
        </p:nvSpPr>
        <p:spPr>
          <a:xfrm>
            <a:off x="3959352" y="1504603"/>
            <a:ext cx="1143000" cy="109728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59352" y="1577755"/>
            <a:ext cx="1143000" cy="292608"/>
          </a:xfrm>
          <a:prstGeom prst="rect">
            <a:avLst/>
          </a:prstGeom>
          <a:noFill/>
        </p:spPr>
        <p:txBody>
          <a:bodyPr wrap="square" lIns="25400" tIns="12700" rIns="25400" bIns="12700" anchor="t">
            <a:spAutoFit/>
          </a:bodyPr>
          <a:lstStyle/>
          <a:p>
            <a:pPr algn="ctr"/>
            <a:r>
              <a:rPr sz="1400" b="1" i="0">
                <a:solidFill>
                  <a:srgbClr val="FFFFFF"/>
                </a:solidFill>
                <a:latin typeface="Arial"/>
              </a:rPr>
              <a:t>4</a:t>
            </a:r>
          </a:p>
        </p:txBody>
      </p:sp>
      <p:sp>
        <p:nvSpPr>
          <p:cNvPr id="20" name="TextBox 19"/>
          <p:cNvSpPr txBox="1"/>
          <p:nvPr/>
        </p:nvSpPr>
        <p:spPr>
          <a:xfrm>
            <a:off x="3959352" y="1888651"/>
            <a:ext cx="1143000" cy="365760"/>
          </a:xfrm>
          <a:prstGeom prst="rect">
            <a:avLst/>
          </a:prstGeom>
          <a:noFill/>
        </p:spPr>
        <p:txBody>
          <a:bodyPr wrap="square" lIns="25400" tIns="12700" rIns="25400" bIns="12700" anchor="t">
            <a:spAutoFit/>
          </a:bodyPr>
          <a:lstStyle/>
          <a:p>
            <a:pPr algn="ctr"/>
            <a:r>
              <a:rPr sz="1400" b="1" i="0">
                <a:solidFill>
                  <a:srgbClr val="FFFFFF"/>
                </a:solidFill>
                <a:latin typeface="Arial"/>
              </a:rPr>
              <a:t>Exploit</a:t>
            </a:r>
          </a:p>
        </p:txBody>
      </p:sp>
      <p:sp>
        <p:nvSpPr>
          <p:cNvPr id="21" name="TextBox 20"/>
          <p:cNvSpPr txBox="1"/>
          <p:nvPr/>
        </p:nvSpPr>
        <p:spPr>
          <a:xfrm>
            <a:off x="3959352" y="2254411"/>
            <a:ext cx="1143000" cy="320040"/>
          </a:xfrm>
          <a:prstGeom prst="rect">
            <a:avLst/>
          </a:prstGeom>
          <a:noFill/>
        </p:spPr>
        <p:txBody>
          <a:bodyPr wrap="square" lIns="25400" tIns="12700" rIns="25400" bIns="12700" anchor="t">
            <a:spAutoFit/>
          </a:bodyPr>
          <a:lstStyle/>
          <a:p>
            <a:pPr algn="ctr"/>
            <a:r>
              <a:rPr sz="900" b="0" i="0">
                <a:solidFill>
                  <a:srgbClr val="FFFFFF"/>
                </a:solidFill>
                <a:latin typeface="Arial"/>
              </a:rPr>
              <a:t>Ejecutar código</a:t>
            </a:r>
          </a:p>
        </p:txBody>
      </p:sp>
      <p:sp>
        <p:nvSpPr>
          <p:cNvPr id="22" name="Rectangle 21"/>
          <p:cNvSpPr/>
          <p:nvPr/>
        </p:nvSpPr>
        <p:spPr>
          <a:xfrm>
            <a:off x="5157216" y="1504603"/>
            <a:ext cx="1143000" cy="109728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157216" y="1577755"/>
            <a:ext cx="1143000" cy="292608"/>
          </a:xfrm>
          <a:prstGeom prst="rect">
            <a:avLst/>
          </a:prstGeom>
          <a:noFill/>
        </p:spPr>
        <p:txBody>
          <a:bodyPr wrap="square" lIns="25400" tIns="12700" rIns="25400" bIns="12700" anchor="t">
            <a:spAutoFit/>
          </a:bodyPr>
          <a:lstStyle/>
          <a:p>
            <a:pPr algn="ctr"/>
            <a:r>
              <a:rPr sz="1400" b="1" i="0">
                <a:solidFill>
                  <a:srgbClr val="FFFFFF"/>
                </a:solidFill>
                <a:latin typeface="Arial"/>
              </a:rPr>
              <a:t>5</a:t>
            </a:r>
          </a:p>
        </p:txBody>
      </p:sp>
      <p:sp>
        <p:nvSpPr>
          <p:cNvPr id="24" name="TextBox 23"/>
          <p:cNvSpPr txBox="1"/>
          <p:nvPr/>
        </p:nvSpPr>
        <p:spPr>
          <a:xfrm>
            <a:off x="5157216" y="1888651"/>
            <a:ext cx="1143000" cy="365760"/>
          </a:xfrm>
          <a:prstGeom prst="rect">
            <a:avLst/>
          </a:prstGeom>
          <a:noFill/>
        </p:spPr>
        <p:txBody>
          <a:bodyPr wrap="square" lIns="25400" tIns="12700" rIns="25400" bIns="12700" anchor="t">
            <a:spAutoFit/>
          </a:bodyPr>
          <a:lstStyle/>
          <a:p>
            <a:pPr algn="ctr"/>
            <a:r>
              <a:rPr sz="1400" b="1" i="0">
                <a:solidFill>
                  <a:srgbClr val="FFFFFF"/>
                </a:solidFill>
                <a:latin typeface="Arial"/>
              </a:rPr>
              <a:t>Install</a:t>
            </a:r>
          </a:p>
        </p:txBody>
      </p:sp>
      <p:sp>
        <p:nvSpPr>
          <p:cNvPr id="25" name="TextBox 24"/>
          <p:cNvSpPr txBox="1"/>
          <p:nvPr/>
        </p:nvSpPr>
        <p:spPr>
          <a:xfrm>
            <a:off x="5157216" y="2254411"/>
            <a:ext cx="1143000" cy="320040"/>
          </a:xfrm>
          <a:prstGeom prst="rect">
            <a:avLst/>
          </a:prstGeom>
          <a:noFill/>
        </p:spPr>
        <p:txBody>
          <a:bodyPr wrap="square" lIns="25400" tIns="12700" rIns="25400" bIns="12700" anchor="t">
            <a:spAutoFit/>
          </a:bodyPr>
          <a:lstStyle/>
          <a:p>
            <a:pPr algn="ctr"/>
            <a:r>
              <a:rPr sz="900" b="0" i="0">
                <a:solidFill>
                  <a:srgbClr val="FFFFFF"/>
                </a:solidFill>
                <a:latin typeface="Arial"/>
              </a:rPr>
              <a:t>Persistencia</a:t>
            </a:r>
          </a:p>
        </p:txBody>
      </p:sp>
      <p:sp>
        <p:nvSpPr>
          <p:cNvPr id="26" name="Rectangle 25"/>
          <p:cNvSpPr/>
          <p:nvPr/>
        </p:nvSpPr>
        <p:spPr>
          <a:xfrm>
            <a:off x="6355080" y="1504603"/>
            <a:ext cx="1143000" cy="109728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55080" y="1577755"/>
            <a:ext cx="1143000" cy="292608"/>
          </a:xfrm>
          <a:prstGeom prst="rect">
            <a:avLst/>
          </a:prstGeom>
          <a:noFill/>
        </p:spPr>
        <p:txBody>
          <a:bodyPr wrap="square" lIns="25400" tIns="12700" rIns="25400" bIns="12700" anchor="t">
            <a:spAutoFit/>
          </a:bodyPr>
          <a:lstStyle/>
          <a:p>
            <a:pPr algn="ctr"/>
            <a:r>
              <a:rPr sz="1400" b="1" i="0">
                <a:solidFill>
                  <a:srgbClr val="FFFFFF"/>
                </a:solidFill>
                <a:latin typeface="Arial"/>
              </a:rPr>
              <a:t>6</a:t>
            </a:r>
          </a:p>
        </p:txBody>
      </p:sp>
      <p:sp>
        <p:nvSpPr>
          <p:cNvPr id="28" name="TextBox 27"/>
          <p:cNvSpPr txBox="1"/>
          <p:nvPr/>
        </p:nvSpPr>
        <p:spPr>
          <a:xfrm>
            <a:off x="6355080" y="1888651"/>
            <a:ext cx="1143000" cy="365760"/>
          </a:xfrm>
          <a:prstGeom prst="rect">
            <a:avLst/>
          </a:prstGeom>
          <a:noFill/>
        </p:spPr>
        <p:txBody>
          <a:bodyPr wrap="square" lIns="25400" tIns="12700" rIns="25400" bIns="12700" anchor="t">
            <a:spAutoFit/>
          </a:bodyPr>
          <a:lstStyle/>
          <a:p>
            <a:pPr algn="ctr"/>
            <a:r>
              <a:rPr sz="1400" b="1" i="0">
                <a:solidFill>
                  <a:srgbClr val="FFFFFF"/>
                </a:solidFill>
                <a:latin typeface="Arial"/>
              </a:rPr>
              <a:t>C2</a:t>
            </a:r>
          </a:p>
        </p:txBody>
      </p:sp>
      <p:sp>
        <p:nvSpPr>
          <p:cNvPr id="29" name="TextBox 28"/>
          <p:cNvSpPr txBox="1"/>
          <p:nvPr/>
        </p:nvSpPr>
        <p:spPr>
          <a:xfrm>
            <a:off x="6355080" y="2254411"/>
            <a:ext cx="1143000" cy="320040"/>
          </a:xfrm>
          <a:prstGeom prst="rect">
            <a:avLst/>
          </a:prstGeom>
          <a:noFill/>
        </p:spPr>
        <p:txBody>
          <a:bodyPr wrap="square" lIns="25400" tIns="12700" rIns="25400" bIns="12700" anchor="t">
            <a:spAutoFit/>
          </a:bodyPr>
          <a:lstStyle/>
          <a:p>
            <a:pPr algn="ctr"/>
            <a:r>
              <a:rPr sz="900" b="0" i="0">
                <a:solidFill>
                  <a:srgbClr val="FFFFFF"/>
                </a:solidFill>
                <a:latin typeface="Arial"/>
              </a:rPr>
              <a:t>Canal de comando</a:t>
            </a:r>
          </a:p>
        </p:txBody>
      </p:sp>
      <p:sp>
        <p:nvSpPr>
          <p:cNvPr id="30" name="Rectangle 29"/>
          <p:cNvSpPr/>
          <p:nvPr/>
        </p:nvSpPr>
        <p:spPr>
          <a:xfrm>
            <a:off x="7552944" y="1504603"/>
            <a:ext cx="1143000" cy="10972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552944" y="1577755"/>
            <a:ext cx="1143000" cy="292608"/>
          </a:xfrm>
          <a:prstGeom prst="rect">
            <a:avLst/>
          </a:prstGeom>
          <a:noFill/>
        </p:spPr>
        <p:txBody>
          <a:bodyPr wrap="square" lIns="25400" tIns="12700" rIns="25400" bIns="12700" anchor="t">
            <a:spAutoFit/>
          </a:bodyPr>
          <a:lstStyle/>
          <a:p>
            <a:pPr algn="ctr"/>
            <a:r>
              <a:rPr sz="1400" b="1" i="0">
                <a:solidFill>
                  <a:srgbClr val="FFFFFF"/>
                </a:solidFill>
                <a:latin typeface="Arial"/>
              </a:rPr>
              <a:t>7</a:t>
            </a:r>
          </a:p>
        </p:txBody>
      </p:sp>
      <p:sp>
        <p:nvSpPr>
          <p:cNvPr id="32" name="TextBox 31"/>
          <p:cNvSpPr txBox="1"/>
          <p:nvPr/>
        </p:nvSpPr>
        <p:spPr>
          <a:xfrm>
            <a:off x="7552944" y="1888651"/>
            <a:ext cx="1143000" cy="365760"/>
          </a:xfrm>
          <a:prstGeom prst="rect">
            <a:avLst/>
          </a:prstGeom>
          <a:noFill/>
        </p:spPr>
        <p:txBody>
          <a:bodyPr wrap="square" lIns="25400" tIns="12700" rIns="25400" bIns="12700" anchor="t">
            <a:spAutoFit/>
          </a:bodyPr>
          <a:lstStyle/>
          <a:p>
            <a:pPr algn="ctr"/>
            <a:r>
              <a:rPr sz="1400" b="1" i="0">
                <a:solidFill>
                  <a:srgbClr val="FFFFFF"/>
                </a:solidFill>
                <a:latin typeface="Arial"/>
              </a:rPr>
              <a:t>Actions</a:t>
            </a:r>
          </a:p>
        </p:txBody>
      </p:sp>
      <p:sp>
        <p:nvSpPr>
          <p:cNvPr id="33" name="TextBox 32"/>
          <p:cNvSpPr txBox="1"/>
          <p:nvPr/>
        </p:nvSpPr>
        <p:spPr>
          <a:xfrm>
            <a:off x="7552944" y="2254411"/>
            <a:ext cx="1143000" cy="320040"/>
          </a:xfrm>
          <a:prstGeom prst="rect">
            <a:avLst/>
          </a:prstGeom>
          <a:noFill/>
        </p:spPr>
        <p:txBody>
          <a:bodyPr wrap="square" lIns="25400" tIns="12700" rIns="25400" bIns="12700" anchor="t">
            <a:spAutoFit/>
          </a:bodyPr>
          <a:lstStyle/>
          <a:p>
            <a:pPr algn="ctr"/>
            <a:r>
              <a:rPr sz="900" b="0" i="0">
                <a:solidFill>
                  <a:srgbClr val="FFFFFF"/>
                </a:solidFill>
                <a:latin typeface="Arial"/>
              </a:rPr>
              <a:t>Objetivo final</a:t>
            </a:r>
          </a:p>
        </p:txBody>
      </p:sp>
      <p:sp>
        <p:nvSpPr>
          <p:cNvPr id="38" name="TextBox 37"/>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21 / 38</a:t>
            </a:r>
          </a:p>
        </p:txBody>
      </p:sp>
      <p:pic>
        <p:nvPicPr>
          <p:cNvPr id="39" name="Picture 38">
            <a:extLst>
              <a:ext uri="{FF2B5EF4-FFF2-40B4-BE49-F238E27FC236}">
                <a16:creationId xmlns:a16="http://schemas.microsoft.com/office/drawing/2014/main" id="{7547D992-C619-29D2-4F96-40D188117760}"/>
              </a:ext>
            </a:extLst>
          </p:cNvPr>
          <p:cNvPicPr>
            <a:picLocks noChangeAspect="1"/>
          </p:cNvPicPr>
          <p:nvPr/>
        </p:nvPicPr>
        <p:blipFill>
          <a:blip r:embed="rId3"/>
          <a:stretch>
            <a:fillRect/>
          </a:stretch>
        </p:blipFill>
        <p:spPr>
          <a:xfrm>
            <a:off x="365761" y="2621289"/>
            <a:ext cx="3538728" cy="2522211"/>
          </a:xfrm>
          <a:prstGeom prst="rect">
            <a:avLst/>
          </a:prstGeom>
        </p:spPr>
      </p:pic>
      <p:sp>
        <p:nvSpPr>
          <p:cNvPr id="40" name="TextBox 39">
            <a:extLst>
              <a:ext uri="{FF2B5EF4-FFF2-40B4-BE49-F238E27FC236}">
                <a16:creationId xmlns:a16="http://schemas.microsoft.com/office/drawing/2014/main" id="{4ADA7D54-0C00-4CD1-20B5-C491AC50D1DE}"/>
              </a:ext>
            </a:extLst>
          </p:cNvPr>
          <p:cNvSpPr txBox="1"/>
          <p:nvPr/>
        </p:nvSpPr>
        <p:spPr>
          <a:xfrm>
            <a:off x="3918204" y="2748136"/>
            <a:ext cx="8412480" cy="364202"/>
          </a:xfrm>
          <a:prstGeom prst="rect">
            <a:avLst/>
          </a:prstGeom>
          <a:noFill/>
        </p:spPr>
        <p:txBody>
          <a:bodyPr wrap="square" lIns="25400" tIns="12700" rIns="25400" bIns="12700" anchor="t">
            <a:spAutoFit/>
          </a:bodyPr>
          <a:lstStyle/>
          <a:p>
            <a:pPr marL="228600" indent="-228600">
              <a:buFont typeface="Arial" panose="020B0604020202020204" pitchFamily="34" charset="0"/>
              <a:buChar char="•"/>
            </a:pPr>
            <a:r>
              <a:rPr lang="en-AR" sz="1100" b="1" dirty="0"/>
              <a:t>Estructura lineal y secuencial: </a:t>
            </a:r>
            <a:r>
              <a:rPr lang="en-AR" sz="1100" dirty="0"/>
              <a:t>Asume que los ataques avanzan de forma </a:t>
            </a:r>
          </a:p>
          <a:p>
            <a:r>
              <a:rPr lang="en-US" sz="1100" dirty="0"/>
              <a:t>O</a:t>
            </a:r>
            <a:r>
              <a:rPr lang="en-AR" sz="1100" dirty="0"/>
              <a:t>rdenada y predecible.</a:t>
            </a:r>
          </a:p>
        </p:txBody>
      </p:sp>
      <p:sp>
        <p:nvSpPr>
          <p:cNvPr id="41" name="TextBox 40">
            <a:extLst>
              <a:ext uri="{FF2B5EF4-FFF2-40B4-BE49-F238E27FC236}">
                <a16:creationId xmlns:a16="http://schemas.microsoft.com/office/drawing/2014/main" id="{9B97AB79-98E0-9303-4D43-497BC24981CE}"/>
              </a:ext>
            </a:extLst>
          </p:cNvPr>
          <p:cNvSpPr txBox="1"/>
          <p:nvPr/>
        </p:nvSpPr>
        <p:spPr>
          <a:xfrm>
            <a:off x="3929284" y="3224734"/>
            <a:ext cx="8412480" cy="364202"/>
          </a:xfrm>
          <a:prstGeom prst="rect">
            <a:avLst/>
          </a:prstGeom>
          <a:noFill/>
        </p:spPr>
        <p:txBody>
          <a:bodyPr wrap="square" lIns="25400" tIns="12700" rIns="25400" bIns="12700" anchor="t">
            <a:spAutoFit/>
          </a:bodyPr>
          <a:lstStyle/>
          <a:p>
            <a:pPr marL="228600" indent="-228600">
              <a:buFont typeface="Arial" panose="020B0604020202020204" pitchFamily="34" charset="0"/>
              <a:buChar char="•"/>
            </a:pPr>
            <a:r>
              <a:rPr lang="en-AR" sz="1100" b="1" dirty="0"/>
              <a:t>Enfoque orientado a perímetro y malware: </a:t>
            </a:r>
            <a:r>
              <a:rPr lang="en-AR" sz="1100" dirty="0"/>
              <a:t>Fue diseñado principalmente</a:t>
            </a:r>
          </a:p>
          <a:p>
            <a:r>
              <a:rPr lang="en-AR" sz="1100" dirty="0"/>
              <a:t> para amenazas externas.</a:t>
            </a:r>
          </a:p>
        </p:txBody>
      </p:sp>
      <p:sp>
        <p:nvSpPr>
          <p:cNvPr id="42" name="TextBox 41">
            <a:extLst>
              <a:ext uri="{FF2B5EF4-FFF2-40B4-BE49-F238E27FC236}">
                <a16:creationId xmlns:a16="http://schemas.microsoft.com/office/drawing/2014/main" id="{02C98E13-0DF8-50E8-F1AF-CF37222583E1}"/>
              </a:ext>
            </a:extLst>
          </p:cNvPr>
          <p:cNvSpPr txBox="1"/>
          <p:nvPr/>
        </p:nvSpPr>
        <p:spPr>
          <a:xfrm>
            <a:off x="3948677" y="3759517"/>
            <a:ext cx="8412480" cy="533479"/>
          </a:xfrm>
          <a:prstGeom prst="rect">
            <a:avLst/>
          </a:prstGeom>
          <a:noFill/>
        </p:spPr>
        <p:txBody>
          <a:bodyPr wrap="square" lIns="25400" tIns="12700" rIns="25400" bIns="12700" anchor="t">
            <a:spAutoFit/>
          </a:bodyPr>
          <a:lstStyle/>
          <a:p>
            <a:pPr marL="228600" indent="-228600">
              <a:buFont typeface="Arial" panose="020B0604020202020204" pitchFamily="34" charset="0"/>
              <a:buChar char="•"/>
            </a:pPr>
            <a:r>
              <a:rPr lang="en-AR" sz="1100" b="1" dirty="0"/>
              <a:t>Falta de granularidad: </a:t>
            </a:r>
            <a:r>
              <a:rPr lang="en-AR" sz="1100" dirty="0"/>
              <a:t>Solo identifica fases de alto nivel sin detallar </a:t>
            </a:r>
          </a:p>
          <a:p>
            <a:r>
              <a:rPr lang="en-AR" sz="1100" dirty="0"/>
              <a:t>técnicas, procedimientos ni comportamientos específicos del adversario (TTPs).</a:t>
            </a:r>
          </a:p>
          <a:p>
            <a:pPr algn="ctr"/>
            <a:endParaRPr sz="1100" b="1" i="0" dirty="0">
              <a:solidFill>
                <a:srgbClr val="1F2937"/>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1000" fill="hold"/>
                                        <p:tgtEl>
                                          <p:spTgt spid="40"/>
                                        </p:tgtEl>
                                        <p:attrNameLst>
                                          <p:attrName>ppt_x</p:attrName>
                                        </p:attrNameLst>
                                      </p:cBhvr>
                                      <p:tavLst>
                                        <p:tav tm="0">
                                          <p:val>
                                            <p:strVal val="#ppt_x"/>
                                          </p:val>
                                        </p:tav>
                                        <p:tav tm="100000">
                                          <p:val>
                                            <p:strVal val="#ppt_x"/>
                                          </p:val>
                                        </p:tav>
                                      </p:tavLst>
                                    </p:anim>
                                    <p:anim calcmode="lin" valueType="num">
                                      <p:cBhvr additive="base">
                                        <p:cTn id="8" dur="10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
                                        </p:tgtEl>
                                        <p:attrNameLst>
                                          <p:attrName>style.visibility</p:attrName>
                                        </p:attrNameLst>
                                      </p:cBhvr>
                                      <p:to>
                                        <p:strVal val="visible"/>
                                      </p:to>
                                    </p:set>
                                    <p:anim calcmode="lin" valueType="num">
                                      <p:cBhvr additive="base">
                                        <p:cTn id="13" dur="1000" fill="hold"/>
                                        <p:tgtEl>
                                          <p:spTgt spid="41"/>
                                        </p:tgtEl>
                                        <p:attrNameLst>
                                          <p:attrName>ppt_x</p:attrName>
                                        </p:attrNameLst>
                                      </p:cBhvr>
                                      <p:tavLst>
                                        <p:tav tm="0">
                                          <p:val>
                                            <p:strVal val="#ppt_x"/>
                                          </p:val>
                                        </p:tav>
                                        <p:tav tm="100000">
                                          <p:val>
                                            <p:strVal val="#ppt_x"/>
                                          </p:val>
                                        </p:tav>
                                      </p:tavLst>
                                    </p:anim>
                                    <p:anim calcmode="lin" valueType="num">
                                      <p:cBhvr additive="base">
                                        <p:cTn id="14" dur="10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1000" fill="hold"/>
                                        <p:tgtEl>
                                          <p:spTgt spid="42"/>
                                        </p:tgtEl>
                                        <p:attrNameLst>
                                          <p:attrName>ppt_x</p:attrName>
                                        </p:attrNameLst>
                                      </p:cBhvr>
                                      <p:tavLst>
                                        <p:tav tm="0">
                                          <p:val>
                                            <p:strVal val="#ppt_x"/>
                                          </p:val>
                                        </p:tav>
                                        <p:tav tm="100000">
                                          <p:val>
                                            <p:strVal val="#ppt_x"/>
                                          </p:val>
                                        </p:tav>
                                      </p:tavLst>
                                    </p:anim>
                                    <p:anim calcmode="lin" valueType="num">
                                      <p:cBhvr additive="base">
                                        <p:cTn id="20" dur="10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right.png"/>
          <p:cNvPicPr>
            <a:picLocks noChangeAspect="1"/>
          </p:cNvPicPr>
          <p:nvPr/>
        </p:nvPicPr>
        <p:blipFill>
          <a:blip r:embed="rId2">
            <a:alphaModFix amt="12000"/>
          </a:blip>
          <a:stretch>
            <a:fillRect/>
          </a:stretch>
        </p:blipFill>
        <p:spPr>
          <a:xfrm>
            <a:off x="7772400" y="777240"/>
            <a:ext cx="2138035" cy="4206240"/>
          </a:xfrm>
          <a:prstGeom prst="rect">
            <a:avLst/>
          </a:prstGeom>
        </p:spPr>
      </p:pic>
      <p:sp>
        <p:nvSpPr>
          <p:cNvPr id="4" name="TextBox 3"/>
          <p:cNvSpPr txBox="1"/>
          <p:nvPr/>
        </p:nvSpPr>
        <p:spPr>
          <a:xfrm>
            <a:off x="365760" y="146304"/>
            <a:ext cx="8412480" cy="420624"/>
          </a:xfrm>
          <a:prstGeom prst="rect">
            <a:avLst/>
          </a:prstGeom>
          <a:noFill/>
        </p:spPr>
        <p:txBody>
          <a:bodyPr wrap="square" lIns="25400" tIns="12700" rIns="25400" bIns="12700" anchor="ctr">
            <a:spAutoFit/>
          </a:bodyPr>
          <a:lstStyle/>
          <a:p>
            <a:pPr algn="l"/>
            <a:r>
              <a:rPr sz="2000" b="1" i="0">
                <a:solidFill>
                  <a:srgbClr val="FFFFFF"/>
                </a:solidFill>
                <a:latin typeface="Arial"/>
              </a:rPr>
              <a:t>Diamond Model · 4 vértices que cuentan toda la historia</a:t>
            </a:r>
          </a:p>
        </p:txBody>
      </p:sp>
      <p:cxnSp>
        <p:nvCxnSpPr>
          <p:cNvPr id="5" name="Connector 4"/>
          <p:cNvCxnSpPr/>
          <p:nvPr/>
        </p:nvCxnSpPr>
        <p:spPr>
          <a:xfrm>
            <a:off x="2468880" y="1783080"/>
            <a:ext cx="1005840" cy="1005840"/>
          </a:xfrm>
          <a:prstGeom prst="line">
            <a:avLst/>
          </a:prstGeom>
          <a:ln w="15240">
            <a:solidFill>
              <a:srgbClr val="525B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2468880" y="2788920"/>
            <a:ext cx="1005840" cy="1005839"/>
          </a:xfrm>
          <a:prstGeom prst="line">
            <a:avLst/>
          </a:prstGeom>
          <a:ln w="15240">
            <a:solidFill>
              <a:srgbClr val="525B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1463040" y="2788920"/>
            <a:ext cx="1005840" cy="1005839"/>
          </a:xfrm>
          <a:prstGeom prst="line">
            <a:avLst/>
          </a:prstGeom>
          <a:ln w="15240">
            <a:solidFill>
              <a:srgbClr val="525B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463040" y="1783080"/>
            <a:ext cx="1005840" cy="1005840"/>
          </a:xfrm>
          <a:prstGeom prst="line">
            <a:avLst/>
          </a:prstGeom>
          <a:ln w="15240">
            <a:solidFill>
              <a:srgbClr val="525B66"/>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600200" y="1508760"/>
            <a:ext cx="1737360" cy="548640"/>
          </a:xfrm>
          <a:prstGeom prst="roundRect">
            <a:avLst>
              <a:gd name="adj" fmla="val 18000"/>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00200" y="1508760"/>
            <a:ext cx="1737360" cy="548640"/>
          </a:xfrm>
          <a:prstGeom prst="rect">
            <a:avLst/>
          </a:prstGeom>
          <a:noFill/>
        </p:spPr>
        <p:txBody>
          <a:bodyPr wrap="square" lIns="25400" tIns="12700" rIns="25400" bIns="12700" anchor="ctr">
            <a:spAutoFit/>
          </a:bodyPr>
          <a:lstStyle/>
          <a:p>
            <a:pPr algn="ctr"/>
            <a:r>
              <a:rPr sz="1300" b="1" i="0" spc="200">
                <a:solidFill>
                  <a:srgbClr val="FFFFFF"/>
                </a:solidFill>
                <a:latin typeface="Arial"/>
              </a:rPr>
              <a:t>ADVERSARY</a:t>
            </a:r>
          </a:p>
        </p:txBody>
      </p:sp>
      <p:sp>
        <p:nvSpPr>
          <p:cNvPr id="11" name="Rounded Rectangle 10"/>
          <p:cNvSpPr/>
          <p:nvPr/>
        </p:nvSpPr>
        <p:spPr>
          <a:xfrm>
            <a:off x="3246120" y="2514600"/>
            <a:ext cx="1554480" cy="548640"/>
          </a:xfrm>
          <a:prstGeom prst="roundRect">
            <a:avLst>
              <a:gd name="adj" fmla="val 18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46120" y="2514600"/>
            <a:ext cx="1554480" cy="548640"/>
          </a:xfrm>
          <a:prstGeom prst="rect">
            <a:avLst/>
          </a:prstGeom>
          <a:noFill/>
        </p:spPr>
        <p:txBody>
          <a:bodyPr wrap="square" lIns="25400" tIns="12700" rIns="25400" bIns="12700" anchor="ctr">
            <a:spAutoFit/>
          </a:bodyPr>
          <a:lstStyle/>
          <a:p>
            <a:pPr algn="ctr"/>
            <a:r>
              <a:rPr sz="1300" b="1" i="0" spc="200">
                <a:solidFill>
                  <a:srgbClr val="FFFFFF"/>
                </a:solidFill>
                <a:latin typeface="Arial"/>
              </a:rPr>
              <a:t>CAPABILITY</a:t>
            </a:r>
          </a:p>
        </p:txBody>
      </p:sp>
      <p:sp>
        <p:nvSpPr>
          <p:cNvPr id="13" name="Rounded Rectangle 12"/>
          <p:cNvSpPr/>
          <p:nvPr/>
        </p:nvSpPr>
        <p:spPr>
          <a:xfrm>
            <a:off x="1600200" y="3520439"/>
            <a:ext cx="1737360" cy="548640"/>
          </a:xfrm>
          <a:prstGeom prst="roundRect">
            <a:avLst>
              <a:gd name="adj" fmla="val 18000"/>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00200" y="3520439"/>
            <a:ext cx="1737360" cy="548640"/>
          </a:xfrm>
          <a:prstGeom prst="rect">
            <a:avLst/>
          </a:prstGeom>
          <a:noFill/>
        </p:spPr>
        <p:txBody>
          <a:bodyPr wrap="square" lIns="25400" tIns="12700" rIns="25400" bIns="12700" anchor="ctr">
            <a:spAutoFit/>
          </a:bodyPr>
          <a:lstStyle/>
          <a:p>
            <a:pPr algn="ctr"/>
            <a:r>
              <a:rPr sz="1300" b="1" i="0" spc="200">
                <a:solidFill>
                  <a:srgbClr val="FFFFFF"/>
                </a:solidFill>
                <a:latin typeface="Arial"/>
              </a:rPr>
              <a:t>VICTIM</a:t>
            </a:r>
          </a:p>
        </p:txBody>
      </p:sp>
      <p:sp>
        <p:nvSpPr>
          <p:cNvPr id="15" name="Rounded Rectangle 14"/>
          <p:cNvSpPr/>
          <p:nvPr/>
        </p:nvSpPr>
        <p:spPr>
          <a:xfrm>
            <a:off x="594360" y="2514600"/>
            <a:ext cx="1828800" cy="548640"/>
          </a:xfrm>
          <a:prstGeom prst="roundRect">
            <a:avLst>
              <a:gd name="adj" fmla="val 18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2514600"/>
            <a:ext cx="1828800" cy="548640"/>
          </a:xfrm>
          <a:prstGeom prst="rect">
            <a:avLst/>
          </a:prstGeom>
          <a:noFill/>
        </p:spPr>
        <p:txBody>
          <a:bodyPr wrap="square" lIns="25400" tIns="12700" rIns="25400" bIns="12700" anchor="ctr">
            <a:spAutoFit/>
          </a:bodyPr>
          <a:lstStyle/>
          <a:p>
            <a:pPr algn="ctr"/>
            <a:r>
              <a:rPr sz="1100" b="1" i="0" spc="200">
                <a:solidFill>
                  <a:srgbClr val="FFFFFF"/>
                </a:solidFill>
                <a:latin typeface="Arial"/>
              </a:rPr>
              <a:t>INFRASTRUCTURE</a:t>
            </a:r>
          </a:p>
        </p:txBody>
      </p:sp>
      <p:sp>
        <p:nvSpPr>
          <p:cNvPr id="17" name="TextBox 16"/>
          <p:cNvSpPr txBox="1"/>
          <p:nvPr/>
        </p:nvSpPr>
        <p:spPr>
          <a:xfrm>
            <a:off x="4937760" y="1005840"/>
            <a:ext cx="3840480" cy="411480"/>
          </a:xfrm>
          <a:prstGeom prst="rect">
            <a:avLst/>
          </a:prstGeom>
          <a:noFill/>
        </p:spPr>
        <p:txBody>
          <a:bodyPr wrap="square" lIns="25400" tIns="12700" rIns="25400" bIns="12700" anchor="t">
            <a:spAutoFit/>
          </a:bodyPr>
          <a:lstStyle/>
          <a:p>
            <a:pPr algn="l"/>
            <a:r>
              <a:rPr sz="1600" b="1" i="0">
                <a:solidFill>
                  <a:srgbClr val="1F2937"/>
                </a:solidFill>
                <a:latin typeface="Arial"/>
              </a:rPr>
              <a:t>Cada evento de intrusión = 4 vértices.</a:t>
            </a:r>
          </a:p>
        </p:txBody>
      </p:sp>
      <p:sp>
        <p:nvSpPr>
          <p:cNvPr id="18" name="TextBox 17"/>
          <p:cNvSpPr txBox="1"/>
          <p:nvPr/>
        </p:nvSpPr>
        <p:spPr>
          <a:xfrm>
            <a:off x="4937760" y="1517010"/>
            <a:ext cx="3840480" cy="394980"/>
          </a:xfrm>
          <a:prstGeom prst="rect">
            <a:avLst/>
          </a:prstGeom>
          <a:noFill/>
        </p:spPr>
        <p:txBody>
          <a:bodyPr wrap="square" lIns="25400" tIns="12700" rIns="25400" bIns="12700" anchor="ctr">
            <a:spAutoFit/>
          </a:bodyPr>
          <a:lstStyle/>
          <a:p>
            <a:pPr algn="l"/>
            <a:r>
              <a:rPr sz="1200" b="1" i="0" dirty="0">
                <a:solidFill>
                  <a:srgbClr val="1F2937"/>
                </a:solidFill>
                <a:latin typeface="Arial"/>
              </a:rPr>
              <a:t>Adversary</a:t>
            </a:r>
          </a:p>
          <a:p>
            <a:pPr algn="l"/>
            <a:r>
              <a:rPr sz="1200" b="0" i="0" dirty="0">
                <a:solidFill>
                  <a:srgbClr val="1F2937"/>
                </a:solidFill>
                <a:latin typeface="Arial"/>
              </a:rPr>
              <a:t>  —  </a:t>
            </a:r>
            <a:r>
              <a:rPr sz="1200" b="0" i="0" dirty="0" err="1">
                <a:solidFill>
                  <a:srgbClr val="1F2937"/>
                </a:solidFill>
                <a:latin typeface="Arial"/>
              </a:rPr>
              <a:t>quién</a:t>
            </a:r>
            <a:r>
              <a:rPr sz="1200" b="0" i="0" dirty="0">
                <a:solidFill>
                  <a:srgbClr val="1F2937"/>
                </a:solidFill>
                <a:latin typeface="Arial"/>
              </a:rPr>
              <a:t> (intent</a:t>
            </a:r>
            <a:r>
              <a:rPr lang="es-419" sz="1200" b="0" i="0" dirty="0">
                <a:solidFill>
                  <a:srgbClr val="1F2937"/>
                </a:solidFill>
                <a:latin typeface="Arial"/>
              </a:rPr>
              <a:t>cion</a:t>
            </a:r>
            <a:r>
              <a:rPr sz="1200" b="0" i="0" dirty="0">
                <a:solidFill>
                  <a:srgbClr val="1F2937"/>
                </a:solidFill>
                <a:latin typeface="Arial"/>
              </a:rPr>
              <a:t>, </a:t>
            </a:r>
            <a:r>
              <a:rPr sz="1200" b="0" i="0" dirty="0" err="1">
                <a:solidFill>
                  <a:srgbClr val="1F2937"/>
                </a:solidFill>
                <a:latin typeface="Arial"/>
              </a:rPr>
              <a:t>atribu</a:t>
            </a:r>
            <a:r>
              <a:rPr lang="es-419" sz="1200" b="0" i="0" dirty="0">
                <a:solidFill>
                  <a:srgbClr val="1F2937"/>
                </a:solidFill>
                <a:latin typeface="Arial"/>
              </a:rPr>
              <a:t>cion</a:t>
            </a:r>
            <a:r>
              <a:rPr sz="1200" b="0" i="0" dirty="0">
                <a:solidFill>
                  <a:srgbClr val="1F2937"/>
                </a:solidFill>
                <a:latin typeface="Arial"/>
              </a:rPr>
              <a:t>).</a:t>
            </a:r>
          </a:p>
        </p:txBody>
      </p:sp>
      <p:sp>
        <p:nvSpPr>
          <p:cNvPr id="19" name="TextBox 18"/>
          <p:cNvSpPr txBox="1"/>
          <p:nvPr/>
        </p:nvSpPr>
        <p:spPr>
          <a:xfrm>
            <a:off x="4937760" y="1920240"/>
            <a:ext cx="3840480" cy="320040"/>
          </a:xfrm>
          <a:prstGeom prst="rect">
            <a:avLst/>
          </a:prstGeom>
          <a:noFill/>
        </p:spPr>
        <p:txBody>
          <a:bodyPr wrap="square" lIns="25400" tIns="12700" rIns="25400" bIns="12700" anchor="ctr">
            <a:spAutoFit/>
          </a:bodyPr>
          <a:lstStyle/>
          <a:p>
            <a:pPr algn="l"/>
            <a:r>
              <a:rPr sz="1200" b="1" i="0">
                <a:solidFill>
                  <a:srgbClr val="1F2937"/>
                </a:solidFill>
                <a:latin typeface="Arial"/>
              </a:rPr>
              <a:t>Capability</a:t>
            </a:r>
          </a:p>
          <a:p>
            <a:pPr algn="l"/>
            <a:r>
              <a:rPr sz="1200" b="0" i="0">
                <a:solidFill>
                  <a:srgbClr val="1F2937"/>
                </a:solidFill>
                <a:latin typeface="Arial"/>
              </a:rPr>
              <a:t>  —  malware, exploits, técnicas.</a:t>
            </a:r>
          </a:p>
        </p:txBody>
      </p:sp>
      <p:sp>
        <p:nvSpPr>
          <p:cNvPr id="20" name="TextBox 19"/>
          <p:cNvSpPr txBox="1"/>
          <p:nvPr/>
        </p:nvSpPr>
        <p:spPr>
          <a:xfrm>
            <a:off x="4937760" y="2286000"/>
            <a:ext cx="3840480" cy="320040"/>
          </a:xfrm>
          <a:prstGeom prst="rect">
            <a:avLst/>
          </a:prstGeom>
          <a:noFill/>
        </p:spPr>
        <p:txBody>
          <a:bodyPr wrap="square" lIns="25400" tIns="12700" rIns="25400" bIns="12700" anchor="ctr">
            <a:spAutoFit/>
          </a:bodyPr>
          <a:lstStyle/>
          <a:p>
            <a:pPr algn="l"/>
            <a:r>
              <a:rPr sz="1200" b="1" i="0">
                <a:solidFill>
                  <a:srgbClr val="1F2937"/>
                </a:solidFill>
                <a:latin typeface="Arial"/>
              </a:rPr>
              <a:t>Infrastructure</a:t>
            </a:r>
          </a:p>
          <a:p>
            <a:pPr algn="l"/>
            <a:r>
              <a:rPr sz="1200" b="0" i="0">
                <a:solidFill>
                  <a:srgbClr val="1F2937"/>
                </a:solidFill>
                <a:latin typeface="Arial"/>
              </a:rPr>
              <a:t>  —  C2, dominios, certificados.</a:t>
            </a:r>
          </a:p>
        </p:txBody>
      </p:sp>
      <p:sp>
        <p:nvSpPr>
          <p:cNvPr id="21" name="TextBox 20"/>
          <p:cNvSpPr txBox="1"/>
          <p:nvPr/>
        </p:nvSpPr>
        <p:spPr>
          <a:xfrm>
            <a:off x="4937760" y="2651760"/>
            <a:ext cx="3840480" cy="320040"/>
          </a:xfrm>
          <a:prstGeom prst="rect">
            <a:avLst/>
          </a:prstGeom>
          <a:noFill/>
        </p:spPr>
        <p:txBody>
          <a:bodyPr wrap="square" lIns="25400" tIns="12700" rIns="25400" bIns="12700" anchor="ctr">
            <a:spAutoFit/>
          </a:bodyPr>
          <a:lstStyle/>
          <a:p>
            <a:pPr algn="l"/>
            <a:r>
              <a:rPr sz="1200" b="1" i="0">
                <a:solidFill>
                  <a:srgbClr val="1F2937"/>
                </a:solidFill>
                <a:latin typeface="Arial"/>
              </a:rPr>
              <a:t>Victim</a:t>
            </a:r>
          </a:p>
          <a:p>
            <a:pPr algn="l"/>
            <a:r>
              <a:rPr sz="1200" b="0" i="0">
                <a:solidFill>
                  <a:srgbClr val="1F2937"/>
                </a:solidFill>
                <a:latin typeface="Arial"/>
              </a:rPr>
              <a:t>  —  quién recibe el ataque.</a:t>
            </a:r>
          </a:p>
        </p:txBody>
      </p:sp>
      <p:sp>
        <p:nvSpPr>
          <p:cNvPr id="25" name="TextBox 24"/>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22 / 38</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89903"/>
            <a:ext cx="8412480" cy="333425"/>
          </a:xfrm>
          <a:prstGeom prst="rect">
            <a:avLst/>
          </a:prstGeom>
          <a:noFill/>
        </p:spPr>
        <p:txBody>
          <a:bodyPr wrap="square" lIns="25400" tIns="12700" rIns="25400" bIns="12700" anchor="ctr">
            <a:spAutoFit/>
          </a:bodyPr>
          <a:lstStyle/>
          <a:p>
            <a:pPr algn="l"/>
            <a:r>
              <a:rPr sz="2000" b="1" i="0" dirty="0">
                <a:solidFill>
                  <a:srgbClr val="FFFFFF"/>
                </a:solidFill>
                <a:latin typeface="Arial"/>
              </a:rPr>
              <a:t>MITRE ATT&amp;CK · la l</a:t>
            </a:r>
            <a:r>
              <a:rPr lang="es-419" sz="2000" b="1" i="0" dirty="0">
                <a:solidFill>
                  <a:srgbClr val="FFFFFF"/>
                </a:solidFill>
                <a:latin typeface="Arial"/>
              </a:rPr>
              <a:t>e</a:t>
            </a:r>
            <a:r>
              <a:rPr sz="2000" b="1" i="0" dirty="0" err="1">
                <a:solidFill>
                  <a:srgbClr val="FFFFFF"/>
                </a:solidFill>
                <a:latin typeface="Arial"/>
              </a:rPr>
              <a:t>ngua</a:t>
            </a:r>
            <a:r>
              <a:rPr sz="2000" b="1" i="0" dirty="0">
                <a:solidFill>
                  <a:srgbClr val="FFFFFF"/>
                </a:solidFill>
                <a:latin typeface="Arial"/>
              </a:rPr>
              <a:t> franca de la </a:t>
            </a:r>
            <a:r>
              <a:rPr sz="2000" b="1" i="0" dirty="0" err="1">
                <a:solidFill>
                  <a:srgbClr val="FFFFFF"/>
                </a:solidFill>
                <a:latin typeface="Arial"/>
              </a:rPr>
              <a:t>industria</a:t>
            </a:r>
            <a:endParaRPr sz="2000" b="1" i="0" dirty="0">
              <a:solidFill>
                <a:srgbClr val="FFFFFF"/>
              </a:solidFill>
              <a:latin typeface="Arial"/>
            </a:endParaRPr>
          </a:p>
        </p:txBody>
      </p:sp>
      <p:sp>
        <p:nvSpPr>
          <p:cNvPr id="5" name="TextBox 4"/>
          <p:cNvSpPr txBox="1"/>
          <p:nvPr/>
        </p:nvSpPr>
        <p:spPr>
          <a:xfrm>
            <a:off x="365760" y="960120"/>
            <a:ext cx="8412480" cy="210314"/>
          </a:xfrm>
          <a:prstGeom prst="rect">
            <a:avLst/>
          </a:prstGeom>
          <a:noFill/>
        </p:spPr>
        <p:txBody>
          <a:bodyPr wrap="square" lIns="25400" tIns="12700" rIns="25400" bIns="12700" anchor="t">
            <a:spAutoFit/>
          </a:bodyPr>
          <a:lstStyle/>
          <a:p>
            <a:pPr algn="l"/>
            <a:r>
              <a:rPr sz="1100">
                <a:solidFill>
                  <a:srgbClr val="1F2937"/>
                </a:solidFill>
                <a:latin typeface="Arial"/>
              </a:rPr>
              <a:t>15 Tácticas · 222 Técnicas · 475 Sub-técnicas  ·  </a:t>
            </a:r>
            <a:r>
              <a:rPr sz="1100" b="1">
                <a:solidFill>
                  <a:srgbClr val="E41A52"/>
                </a:solidFill>
                <a:latin typeface="Arial"/>
              </a:rPr>
              <a:t>v19 (oct 2025)</a:t>
            </a:r>
            <a:endParaRPr sz="1200" b="0" i="1" dirty="0">
              <a:solidFill>
                <a:srgbClr val="525B66"/>
              </a:solidFill>
              <a:latin typeface="Arial"/>
            </a:endParaRPr>
          </a:p>
        </p:txBody>
      </p:sp>
      <p:sp>
        <p:nvSpPr>
          <p:cNvPr id="34" name="Rectangle 33"/>
          <p:cNvSpPr/>
          <p:nvPr/>
        </p:nvSpPr>
        <p:spPr>
          <a:xfrm>
            <a:off x="365760" y="2743200"/>
            <a:ext cx="2697480" cy="14173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65760" y="2743200"/>
            <a:ext cx="2697480" cy="64008"/>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2852928"/>
            <a:ext cx="2423160" cy="365760"/>
          </a:xfrm>
          <a:prstGeom prst="rect">
            <a:avLst/>
          </a:prstGeom>
          <a:noFill/>
        </p:spPr>
        <p:txBody>
          <a:bodyPr wrap="square" lIns="25400" tIns="12700" rIns="25400" bIns="12700" anchor="t">
            <a:spAutoFit/>
          </a:bodyPr>
          <a:lstStyle/>
          <a:p>
            <a:pPr algn="l"/>
            <a:r>
              <a:rPr sz="1300" b="1" i="0">
                <a:solidFill>
                  <a:srgbClr val="1F2937"/>
                </a:solidFill>
                <a:latin typeface="Arial"/>
              </a:rPr>
              <a:t>Detection Engineering</a:t>
            </a:r>
          </a:p>
        </p:txBody>
      </p:sp>
      <p:sp>
        <p:nvSpPr>
          <p:cNvPr id="37" name="TextBox 36"/>
          <p:cNvSpPr txBox="1"/>
          <p:nvPr/>
        </p:nvSpPr>
        <p:spPr>
          <a:xfrm>
            <a:off x="502920" y="3246120"/>
            <a:ext cx="2423160" cy="868680"/>
          </a:xfrm>
          <a:prstGeom prst="rect">
            <a:avLst/>
          </a:prstGeom>
          <a:noFill/>
        </p:spPr>
        <p:txBody>
          <a:bodyPr wrap="square" lIns="25400" tIns="12700" rIns="25400" bIns="12700" anchor="t">
            <a:spAutoFit/>
          </a:bodyPr>
          <a:lstStyle/>
          <a:p>
            <a:pPr algn="l"/>
            <a:r>
              <a:rPr sz="1100" b="0" i="0">
                <a:solidFill>
                  <a:srgbClr val="525B66"/>
                </a:solidFill>
                <a:latin typeface="Arial"/>
              </a:rPr>
              <a:t>Mapear reglas Sigma/SIEM a técnicas para medir cobertura real.</a:t>
            </a:r>
          </a:p>
        </p:txBody>
      </p:sp>
      <p:sp>
        <p:nvSpPr>
          <p:cNvPr id="38" name="Rectangle 37"/>
          <p:cNvSpPr/>
          <p:nvPr/>
        </p:nvSpPr>
        <p:spPr>
          <a:xfrm>
            <a:off x="3200400" y="2743200"/>
            <a:ext cx="2697480" cy="14173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200400" y="2743200"/>
            <a:ext cx="2697480" cy="64008"/>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337560" y="2852928"/>
            <a:ext cx="2423160" cy="365760"/>
          </a:xfrm>
          <a:prstGeom prst="rect">
            <a:avLst/>
          </a:prstGeom>
          <a:noFill/>
        </p:spPr>
        <p:txBody>
          <a:bodyPr wrap="square" lIns="25400" tIns="12700" rIns="25400" bIns="12700" anchor="t">
            <a:spAutoFit/>
          </a:bodyPr>
          <a:lstStyle/>
          <a:p>
            <a:pPr algn="l"/>
            <a:r>
              <a:rPr sz="1300" b="1" i="0" dirty="0">
                <a:solidFill>
                  <a:srgbClr val="1F2937"/>
                </a:solidFill>
                <a:latin typeface="Arial"/>
              </a:rPr>
              <a:t>Threat Hunting</a:t>
            </a:r>
          </a:p>
        </p:txBody>
      </p:sp>
      <p:sp>
        <p:nvSpPr>
          <p:cNvPr id="41" name="TextBox 40"/>
          <p:cNvSpPr txBox="1"/>
          <p:nvPr/>
        </p:nvSpPr>
        <p:spPr>
          <a:xfrm>
            <a:off x="3337560" y="3246120"/>
            <a:ext cx="2423160" cy="868680"/>
          </a:xfrm>
          <a:prstGeom prst="rect">
            <a:avLst/>
          </a:prstGeom>
          <a:noFill/>
        </p:spPr>
        <p:txBody>
          <a:bodyPr wrap="square" lIns="25400" tIns="12700" rIns="25400" bIns="12700" anchor="t">
            <a:spAutoFit/>
          </a:bodyPr>
          <a:lstStyle/>
          <a:p>
            <a:pPr algn="l"/>
            <a:r>
              <a:rPr sz="1100" b="0" i="0">
                <a:solidFill>
                  <a:srgbClr val="525B66"/>
                </a:solidFill>
                <a:latin typeface="Arial"/>
              </a:rPr>
              <a:t>Generar hipótesis sobre técnicas no detectadas.</a:t>
            </a:r>
          </a:p>
        </p:txBody>
      </p:sp>
      <p:sp>
        <p:nvSpPr>
          <p:cNvPr id="42" name="Rectangle 41"/>
          <p:cNvSpPr/>
          <p:nvPr/>
        </p:nvSpPr>
        <p:spPr>
          <a:xfrm>
            <a:off x="6035040" y="2743200"/>
            <a:ext cx="2697480" cy="14173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035040" y="2743200"/>
            <a:ext cx="2697480" cy="64008"/>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172200" y="2852928"/>
            <a:ext cx="2423160" cy="365760"/>
          </a:xfrm>
          <a:prstGeom prst="rect">
            <a:avLst/>
          </a:prstGeom>
          <a:noFill/>
        </p:spPr>
        <p:txBody>
          <a:bodyPr wrap="square" lIns="25400" tIns="12700" rIns="25400" bIns="12700" anchor="t">
            <a:spAutoFit/>
          </a:bodyPr>
          <a:lstStyle/>
          <a:p>
            <a:pPr algn="l"/>
            <a:r>
              <a:rPr sz="1300" b="1" i="0">
                <a:solidFill>
                  <a:srgbClr val="1F2937"/>
                </a:solidFill>
                <a:latin typeface="Arial"/>
              </a:rPr>
              <a:t>Purple Teaming</a:t>
            </a:r>
          </a:p>
        </p:txBody>
      </p:sp>
      <p:sp>
        <p:nvSpPr>
          <p:cNvPr id="45" name="TextBox 44"/>
          <p:cNvSpPr txBox="1"/>
          <p:nvPr/>
        </p:nvSpPr>
        <p:spPr>
          <a:xfrm>
            <a:off x="6172200" y="3246120"/>
            <a:ext cx="2423160" cy="868680"/>
          </a:xfrm>
          <a:prstGeom prst="rect">
            <a:avLst/>
          </a:prstGeom>
          <a:noFill/>
        </p:spPr>
        <p:txBody>
          <a:bodyPr wrap="square" lIns="25400" tIns="12700" rIns="25400" bIns="12700" anchor="t">
            <a:spAutoFit/>
          </a:bodyPr>
          <a:lstStyle/>
          <a:p>
            <a:pPr algn="l"/>
            <a:r>
              <a:rPr sz="1100" b="0" i="0">
                <a:solidFill>
                  <a:srgbClr val="525B66"/>
                </a:solidFill>
                <a:latin typeface="Arial"/>
              </a:rPr>
              <a:t>Emular adversarios reales mapeados a técnicas concretas.</a:t>
            </a:r>
          </a:p>
        </p:txBody>
      </p:sp>
      <p:sp>
        <p:nvSpPr>
          <p:cNvPr id="46" name="TextBox 45"/>
          <p:cNvSpPr txBox="1"/>
          <p:nvPr/>
        </p:nvSpPr>
        <p:spPr>
          <a:xfrm>
            <a:off x="365760" y="4251960"/>
            <a:ext cx="8412480" cy="365760"/>
          </a:xfrm>
          <a:prstGeom prst="rect">
            <a:avLst/>
          </a:prstGeom>
          <a:noFill/>
        </p:spPr>
        <p:txBody>
          <a:bodyPr wrap="square" lIns="25400" tIns="12700" rIns="25400" bIns="12700" anchor="t">
            <a:spAutoFit/>
          </a:bodyPr>
          <a:lstStyle/>
          <a:p>
            <a:pPr algn="ctr"/>
            <a:r>
              <a:rPr sz="1200" b="1" i="1">
                <a:solidFill>
                  <a:srgbClr val="E41A52"/>
                </a:solidFill>
                <a:latin typeface="Arial"/>
              </a:rPr>
              <a:t>Advertencia: mapear todo a ATT&amp;CK no garantiza cobertura defensiva real.</a:t>
            </a:r>
          </a:p>
        </p:txBody>
      </p:sp>
      <p:sp>
        <p:nvSpPr>
          <p:cNvPr id="48" name="TextBox 47"/>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23 / 38</a:t>
            </a:r>
          </a:p>
        </p:txBody>
      </p:sp>
      <p:sp>
        <p:nvSpPr>
          <p:cNvPr id="49" name="Rectangle 48"/>
          <p:cNvSpPr/>
          <p:nvPr/>
        </p:nvSpPr>
        <p:spPr>
          <a:xfrm>
            <a:off x="365760" y="1463040"/>
            <a:ext cx="1005840" cy="43891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65760" y="1463040"/>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Recon</a:t>
            </a:r>
          </a:p>
        </p:txBody>
      </p:sp>
      <p:sp>
        <p:nvSpPr>
          <p:cNvPr id="51" name="Rectangle 50"/>
          <p:cNvSpPr/>
          <p:nvPr/>
        </p:nvSpPr>
        <p:spPr>
          <a:xfrm>
            <a:off x="1412748" y="1463040"/>
            <a:ext cx="1005840" cy="43891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412748" y="1463040"/>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Resource Dev</a:t>
            </a:r>
          </a:p>
        </p:txBody>
      </p:sp>
      <p:sp>
        <p:nvSpPr>
          <p:cNvPr id="53" name="Rectangle 52"/>
          <p:cNvSpPr/>
          <p:nvPr/>
        </p:nvSpPr>
        <p:spPr>
          <a:xfrm>
            <a:off x="2459736" y="1463040"/>
            <a:ext cx="1005840" cy="43891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459736" y="1463040"/>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Initial Access</a:t>
            </a:r>
          </a:p>
        </p:txBody>
      </p:sp>
      <p:sp>
        <p:nvSpPr>
          <p:cNvPr id="55" name="Rectangle 54"/>
          <p:cNvSpPr/>
          <p:nvPr/>
        </p:nvSpPr>
        <p:spPr>
          <a:xfrm>
            <a:off x="3506724" y="1463040"/>
            <a:ext cx="1005840" cy="43891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506724" y="1463040"/>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Execution</a:t>
            </a:r>
          </a:p>
        </p:txBody>
      </p:sp>
      <p:sp>
        <p:nvSpPr>
          <p:cNvPr id="57" name="Rectangle 56"/>
          <p:cNvSpPr/>
          <p:nvPr/>
        </p:nvSpPr>
        <p:spPr>
          <a:xfrm>
            <a:off x="4553712" y="1463040"/>
            <a:ext cx="1005840" cy="43891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553712" y="1463040"/>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Persistence</a:t>
            </a:r>
          </a:p>
        </p:txBody>
      </p:sp>
      <p:sp>
        <p:nvSpPr>
          <p:cNvPr id="59" name="Rectangle 58"/>
          <p:cNvSpPr/>
          <p:nvPr/>
        </p:nvSpPr>
        <p:spPr>
          <a:xfrm>
            <a:off x="5600700" y="1463040"/>
            <a:ext cx="1005840" cy="43891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600700" y="1463040"/>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Priv Esc</a:t>
            </a:r>
          </a:p>
        </p:txBody>
      </p:sp>
      <p:sp>
        <p:nvSpPr>
          <p:cNvPr id="61" name="Rectangle 60"/>
          <p:cNvSpPr/>
          <p:nvPr/>
        </p:nvSpPr>
        <p:spPr>
          <a:xfrm>
            <a:off x="6647688" y="1463040"/>
            <a:ext cx="1005840" cy="43891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647688" y="1463040"/>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Stealth</a:t>
            </a:r>
          </a:p>
        </p:txBody>
      </p:sp>
      <p:sp>
        <p:nvSpPr>
          <p:cNvPr id="63" name="Rectangle 62"/>
          <p:cNvSpPr/>
          <p:nvPr/>
        </p:nvSpPr>
        <p:spPr>
          <a:xfrm>
            <a:off x="7694676" y="1463040"/>
            <a:ext cx="1005840" cy="43891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694676" y="1463040"/>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Def Impairment</a:t>
            </a:r>
          </a:p>
        </p:txBody>
      </p:sp>
      <p:sp>
        <p:nvSpPr>
          <p:cNvPr id="68" name="Rectangle 67"/>
          <p:cNvSpPr/>
          <p:nvPr/>
        </p:nvSpPr>
        <p:spPr>
          <a:xfrm>
            <a:off x="889253" y="1938528"/>
            <a:ext cx="1005840" cy="438912"/>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89253" y="1938528"/>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Cred Access</a:t>
            </a:r>
          </a:p>
        </p:txBody>
      </p:sp>
      <p:sp>
        <p:nvSpPr>
          <p:cNvPr id="70" name="Rectangle 69"/>
          <p:cNvSpPr/>
          <p:nvPr/>
        </p:nvSpPr>
        <p:spPr>
          <a:xfrm>
            <a:off x="1936241" y="1938528"/>
            <a:ext cx="1005840" cy="438912"/>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936241" y="1938528"/>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Discovery</a:t>
            </a:r>
          </a:p>
        </p:txBody>
      </p:sp>
      <p:sp>
        <p:nvSpPr>
          <p:cNvPr id="72" name="Rectangle 71"/>
          <p:cNvSpPr/>
          <p:nvPr/>
        </p:nvSpPr>
        <p:spPr>
          <a:xfrm>
            <a:off x="2983229" y="1938528"/>
            <a:ext cx="1005840" cy="438912"/>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983229" y="1938528"/>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Lateral Move</a:t>
            </a:r>
          </a:p>
        </p:txBody>
      </p:sp>
      <p:sp>
        <p:nvSpPr>
          <p:cNvPr id="74" name="Rectangle 73"/>
          <p:cNvSpPr/>
          <p:nvPr/>
        </p:nvSpPr>
        <p:spPr>
          <a:xfrm>
            <a:off x="4030218" y="1938528"/>
            <a:ext cx="1005840" cy="438912"/>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030218" y="1938528"/>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Collection</a:t>
            </a:r>
          </a:p>
        </p:txBody>
      </p:sp>
      <p:sp>
        <p:nvSpPr>
          <p:cNvPr id="76" name="Rectangle 75"/>
          <p:cNvSpPr/>
          <p:nvPr/>
        </p:nvSpPr>
        <p:spPr>
          <a:xfrm>
            <a:off x="5077206" y="1938528"/>
            <a:ext cx="1005840" cy="438912"/>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077206" y="1938528"/>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C2</a:t>
            </a:r>
          </a:p>
        </p:txBody>
      </p:sp>
      <p:sp>
        <p:nvSpPr>
          <p:cNvPr id="78" name="Rectangle 77"/>
          <p:cNvSpPr/>
          <p:nvPr/>
        </p:nvSpPr>
        <p:spPr>
          <a:xfrm>
            <a:off x="6124194" y="1938528"/>
            <a:ext cx="1005840" cy="438912"/>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124194" y="1938528"/>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Exfiltration</a:t>
            </a:r>
          </a:p>
        </p:txBody>
      </p:sp>
      <p:sp>
        <p:nvSpPr>
          <p:cNvPr id="80" name="Rectangle 79"/>
          <p:cNvSpPr/>
          <p:nvPr/>
        </p:nvSpPr>
        <p:spPr>
          <a:xfrm>
            <a:off x="7171182" y="1938528"/>
            <a:ext cx="1005840" cy="438912"/>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171182" y="1938528"/>
            <a:ext cx="1005840" cy="438912"/>
          </a:xfrm>
          <a:prstGeom prst="rect">
            <a:avLst/>
          </a:prstGeom>
          <a:noFill/>
        </p:spPr>
        <p:txBody>
          <a:bodyPr wrap="square" lIns="36576" tIns="18288" rIns="36576" bIns="18288" anchor="ctr">
            <a:spAutoFit/>
          </a:bodyPr>
          <a:lstStyle/>
          <a:p>
            <a:pPr algn="ctr"/>
            <a:r>
              <a:rPr sz="950" b="1" i="0">
                <a:solidFill>
                  <a:srgbClr val="FFFFFF"/>
                </a:solidFill>
                <a:latin typeface="Arial"/>
              </a:rPr>
              <a:t>Impact</a:t>
            </a:r>
          </a:p>
        </p:txBody>
      </p:sp>
      <p:sp>
        <p:nvSpPr>
          <p:cNvPr id="82" name="TextBox 81"/>
          <p:cNvSpPr txBox="1"/>
          <p:nvPr/>
        </p:nvSpPr>
        <p:spPr>
          <a:xfrm>
            <a:off x="365760" y="2423160"/>
            <a:ext cx="8412480" cy="201168"/>
          </a:xfrm>
          <a:prstGeom prst="rect">
            <a:avLst/>
          </a:prstGeom>
          <a:noFill/>
        </p:spPr>
        <p:txBody>
          <a:bodyPr wrap="square" lIns="36576" tIns="18288" rIns="36576" bIns="18288" anchor="t">
            <a:spAutoFit/>
          </a:bodyPr>
          <a:lstStyle/>
          <a:p>
            <a:pPr algn="ctr"/>
            <a:r>
              <a:rPr sz="800" b="0" i="1">
                <a:solidFill>
                  <a:srgbClr val="525B66"/>
                </a:solidFill>
                <a:latin typeface="Arial"/>
              </a:rPr>
              <a:t>v19 (oct 2025) partió Defense Evasion en Stealth (esconderse) + Defense Impairment (romper la defensa).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41A52"/>
        </a:solidFill>
        <a:effectLst/>
      </p:bgPr>
    </p:bg>
    <p:spTree>
      <p:nvGrpSpPr>
        <p:cNvPr id="1" name=""/>
        <p:cNvGrpSpPr/>
        <p:nvPr/>
      </p:nvGrpSpPr>
      <p:grpSpPr>
        <a:xfrm>
          <a:off x="0" y="0"/>
          <a:ext cx="0" cy="0"/>
          <a:chOff x="0" y="0"/>
          <a:chExt cx="0" cy="0"/>
        </a:xfrm>
      </p:grpSpPr>
      <p:pic>
        <p:nvPicPr>
          <p:cNvPr id="3" name="Picture 2" descr="brand_palm_left.png"/>
          <p:cNvPicPr>
            <a:picLocks noChangeAspect="1"/>
          </p:cNvPicPr>
          <p:nvPr/>
        </p:nvPicPr>
        <p:blipFill>
          <a:blip r:embed="rId2">
            <a:alphaModFix amt="25000"/>
          </a:blip>
          <a:stretch>
            <a:fillRect/>
          </a:stretch>
        </p:blipFill>
        <p:spPr>
          <a:xfrm>
            <a:off x="-548640" y="365760"/>
            <a:ext cx="2413248" cy="4572000"/>
          </a:xfrm>
          <a:prstGeom prst="rect">
            <a:avLst/>
          </a:prstGeom>
        </p:spPr>
      </p:pic>
      <p:pic>
        <p:nvPicPr>
          <p:cNvPr id="4" name="Picture 3" descr="brand_palm_right.png"/>
          <p:cNvPicPr>
            <a:picLocks noChangeAspect="1"/>
          </p:cNvPicPr>
          <p:nvPr/>
        </p:nvPicPr>
        <p:blipFill>
          <a:blip r:embed="rId3">
            <a:alphaModFix amt="25000"/>
          </a:blip>
          <a:stretch>
            <a:fillRect/>
          </a:stretch>
        </p:blipFill>
        <p:spPr>
          <a:xfrm>
            <a:off x="6583680" y="365760"/>
            <a:ext cx="2323951" cy="4572000"/>
          </a:xfrm>
          <a:prstGeom prst="rect">
            <a:avLst/>
          </a:prstGeom>
        </p:spPr>
      </p:pic>
      <p:grpSp>
        <p:nvGrpSpPr>
          <p:cNvPr id="11" name="object 4">
            <a:extLst>
              <a:ext uri="{FF2B5EF4-FFF2-40B4-BE49-F238E27FC236}">
                <a16:creationId xmlns:a16="http://schemas.microsoft.com/office/drawing/2014/main" id="{11DBDD7D-4C89-34F7-E764-0953F6D5C8E4}"/>
              </a:ext>
            </a:extLst>
          </p:cNvPr>
          <p:cNvGrpSpPr>
            <a:grpSpLocks/>
          </p:cNvGrpSpPr>
          <p:nvPr/>
        </p:nvGrpSpPr>
        <p:grpSpPr bwMode="auto">
          <a:xfrm>
            <a:off x="2308623" y="1303735"/>
            <a:ext cx="4426744" cy="3224213"/>
            <a:chOff x="3078226" y="1738598"/>
            <a:chExt cx="5902325" cy="4298950"/>
          </a:xfrm>
        </p:grpSpPr>
        <p:sp>
          <p:nvSpPr>
            <p:cNvPr id="12" name="object 5">
              <a:extLst>
                <a:ext uri="{FF2B5EF4-FFF2-40B4-BE49-F238E27FC236}">
                  <a16:creationId xmlns:a16="http://schemas.microsoft.com/office/drawing/2014/main" id="{173F1BEF-2178-A95D-358D-4D4379194979}"/>
                </a:ext>
              </a:extLst>
            </p:cNvPr>
            <p:cNvSpPr>
              <a:spLocks/>
            </p:cNvSpPr>
            <p:nvPr/>
          </p:nvSpPr>
          <p:spPr bwMode="auto">
            <a:xfrm>
              <a:off x="4030490" y="1751298"/>
              <a:ext cx="3948429" cy="1067435"/>
            </a:xfrm>
            <a:custGeom>
              <a:avLst/>
              <a:gdLst>
                <a:gd name="T0" fmla="*/ 2310010 w 3948429"/>
                <a:gd name="T1" fmla="*/ 4671 h 1067435"/>
                <a:gd name="T2" fmla="*/ 2161276 w 3948429"/>
                <a:gd name="T3" fmla="*/ 32021 h 1067435"/>
                <a:gd name="T4" fmla="*/ 2053190 w 3948429"/>
                <a:gd name="T5" fmla="*/ 81311 h 1067435"/>
                <a:gd name="T6" fmla="*/ 1888349 w 3948429"/>
                <a:gd name="T7" fmla="*/ 41955 h 1067435"/>
                <a:gd name="T8" fmla="*/ 1727738 w 3948429"/>
                <a:gd name="T9" fmla="*/ 29799 h 1067435"/>
                <a:gd name="T10" fmla="*/ 1569145 w 3948429"/>
                <a:gd name="T11" fmla="*/ 37607 h 1067435"/>
                <a:gd name="T12" fmla="*/ 1425896 w 3948429"/>
                <a:gd name="T13" fmla="*/ 63872 h 1067435"/>
                <a:gd name="T14" fmla="*/ 1281792 w 3948429"/>
                <a:gd name="T15" fmla="*/ 124999 h 1067435"/>
                <a:gd name="T16" fmla="*/ 1140582 w 3948429"/>
                <a:gd name="T17" fmla="*/ 102715 h 1067435"/>
                <a:gd name="T18" fmla="*/ 989648 w 3948429"/>
                <a:gd name="T19" fmla="*/ 93959 h 1067435"/>
                <a:gd name="T20" fmla="*/ 816406 w 3948429"/>
                <a:gd name="T21" fmla="*/ 100996 h 1067435"/>
                <a:gd name="T22" fmla="*/ 626907 w 3948429"/>
                <a:gd name="T23" fmla="*/ 132233 h 1067435"/>
                <a:gd name="T24" fmla="*/ 479501 w 3948429"/>
                <a:gd name="T25" fmla="*/ 183435 h 1067435"/>
                <a:gd name="T26" fmla="*/ 366943 w 3948429"/>
                <a:gd name="T27" fmla="*/ 273804 h 1067435"/>
                <a:gd name="T28" fmla="*/ 355962 w 3948429"/>
                <a:gd name="T29" fmla="*/ 354742 h 1067435"/>
                <a:gd name="T30" fmla="*/ 182067 w 3948429"/>
                <a:gd name="T31" fmla="*/ 377348 h 1067435"/>
                <a:gd name="T32" fmla="*/ 54464 w 3948429"/>
                <a:gd name="T33" fmla="*/ 426624 h 1067435"/>
                <a:gd name="T34" fmla="*/ 5790 w 3948429"/>
                <a:gd name="T35" fmla="*/ 525636 h 1067435"/>
                <a:gd name="T36" fmla="*/ 138007 w 3948429"/>
                <a:gd name="T37" fmla="*/ 612054 h 1067435"/>
                <a:gd name="T38" fmla="*/ 108788 w 3948429"/>
                <a:gd name="T39" fmla="*/ 681656 h 1067435"/>
                <a:gd name="T40" fmla="*/ 126378 w 3948429"/>
                <a:gd name="T41" fmla="*/ 789378 h 1067435"/>
                <a:gd name="T42" fmla="*/ 290850 w 3948429"/>
                <a:gd name="T43" fmla="*/ 854526 h 1067435"/>
                <a:gd name="T44" fmla="*/ 468529 w 3948429"/>
                <a:gd name="T45" fmla="*/ 873288 h 1067435"/>
                <a:gd name="T46" fmla="*/ 607420 w 3948429"/>
                <a:gd name="T47" fmla="*/ 911554 h 1067435"/>
                <a:gd name="T48" fmla="*/ 729413 w 3948429"/>
                <a:gd name="T49" fmla="*/ 953457 h 1067435"/>
                <a:gd name="T50" fmla="*/ 871586 w 3948429"/>
                <a:gd name="T51" fmla="*/ 983064 h 1067435"/>
                <a:gd name="T52" fmla="*/ 1027221 w 3948429"/>
                <a:gd name="T53" fmla="*/ 999753 h 1067435"/>
                <a:gd name="T54" fmla="*/ 1189600 w 3948429"/>
                <a:gd name="T55" fmla="*/ 1002905 h 1067435"/>
                <a:gd name="T56" fmla="*/ 1352008 w 3948429"/>
                <a:gd name="T57" fmla="*/ 991901 h 1067435"/>
                <a:gd name="T58" fmla="*/ 1507725 w 3948429"/>
                <a:gd name="T59" fmla="*/ 966120 h 1067435"/>
                <a:gd name="T60" fmla="*/ 1629369 w 3948429"/>
                <a:gd name="T61" fmla="*/ 1015655 h 1067435"/>
                <a:gd name="T62" fmla="*/ 1784164 w 3948429"/>
                <a:gd name="T63" fmla="*/ 1049875 h 1067435"/>
                <a:gd name="T64" fmla="*/ 1963981 w 3948429"/>
                <a:gd name="T65" fmla="*/ 1066309 h 1067435"/>
                <a:gd name="T66" fmla="*/ 2144188 w 3948429"/>
                <a:gd name="T67" fmla="*/ 1062609 h 1067435"/>
                <a:gd name="T68" fmla="*/ 2310873 w 3948429"/>
                <a:gd name="T69" fmla="*/ 1040320 h 1067435"/>
                <a:gd name="T70" fmla="*/ 2453608 w 3948429"/>
                <a:gd name="T71" fmla="*/ 1001502 h 1067435"/>
                <a:gd name="T72" fmla="*/ 2588644 w 3948429"/>
                <a:gd name="T73" fmla="*/ 927592 h 1067435"/>
                <a:gd name="T74" fmla="*/ 2714547 w 3948429"/>
                <a:gd name="T75" fmla="*/ 924104 h 1067435"/>
                <a:gd name="T76" fmla="*/ 2885421 w 3948429"/>
                <a:gd name="T77" fmla="*/ 935132 h 1067435"/>
                <a:gd name="T78" fmla="*/ 3076527 w 3948429"/>
                <a:gd name="T79" fmla="*/ 922571 h 1067435"/>
                <a:gd name="T80" fmla="*/ 3237134 w 3948429"/>
                <a:gd name="T81" fmla="*/ 887073 h 1067435"/>
                <a:gd name="T82" fmla="*/ 3353783 w 3948429"/>
                <a:gd name="T83" fmla="*/ 833498 h 1067435"/>
                <a:gd name="T84" fmla="*/ 3469799 w 3948429"/>
                <a:gd name="T85" fmla="*/ 738787 h 1067435"/>
                <a:gd name="T86" fmla="*/ 3617801 w 3948429"/>
                <a:gd name="T87" fmla="*/ 718536 h 1067435"/>
                <a:gd name="T88" fmla="*/ 3765448 w 3948429"/>
                <a:gd name="T89" fmla="*/ 678715 h 1067435"/>
                <a:gd name="T90" fmla="*/ 3893295 w 3948429"/>
                <a:gd name="T91" fmla="*/ 611185 h 1067435"/>
                <a:gd name="T92" fmla="*/ 3940218 w 3948429"/>
                <a:gd name="T93" fmla="*/ 479465 h 1067435"/>
                <a:gd name="T94" fmla="*/ 3863976 w 3948429"/>
                <a:gd name="T95" fmla="*/ 402087 h 1067435"/>
                <a:gd name="T96" fmla="*/ 3856675 w 3948429"/>
                <a:gd name="T97" fmla="*/ 328610 h 1067435"/>
                <a:gd name="T98" fmla="*/ 3811559 w 3948429"/>
                <a:gd name="T99" fmla="*/ 229449 h 1067435"/>
                <a:gd name="T100" fmla="*/ 3687199 w 3948429"/>
                <a:gd name="T101" fmla="*/ 170248 h 1067435"/>
                <a:gd name="T102" fmla="*/ 3501117 w 3948429"/>
                <a:gd name="T103" fmla="*/ 134270 h 1067435"/>
                <a:gd name="T104" fmla="*/ 3405319 w 3948429"/>
                <a:gd name="T105" fmla="*/ 58850 h 1067435"/>
                <a:gd name="T106" fmla="*/ 3259348 w 3948429"/>
                <a:gd name="T107" fmla="*/ 16757 h 1067435"/>
                <a:gd name="T108" fmla="*/ 3106808 w 3948429"/>
                <a:gd name="T109" fmla="*/ 992 h 1067435"/>
                <a:gd name="T110" fmla="*/ 2950919 w 3948429"/>
                <a:gd name="T111" fmla="*/ 5719 h 1067435"/>
                <a:gd name="T112" fmla="*/ 2807469 w 3948429"/>
                <a:gd name="T113" fmla="*/ 30453 h 1067435"/>
                <a:gd name="T114" fmla="*/ 2696905 w 3948429"/>
                <a:gd name="T115" fmla="*/ 45044 h 1067435"/>
                <a:gd name="T116" fmla="*/ 2532974 w 3948429"/>
                <a:gd name="T117" fmla="*/ 7140 h 106743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948429" h="1067435">
                  <a:moveTo>
                    <a:pt x="2420726" y="0"/>
                  </a:moveTo>
                  <a:lnTo>
                    <a:pt x="2364763" y="910"/>
                  </a:lnTo>
                  <a:lnTo>
                    <a:pt x="2310010" y="4671"/>
                  </a:lnTo>
                  <a:lnTo>
                    <a:pt x="2257293" y="11178"/>
                  </a:lnTo>
                  <a:lnTo>
                    <a:pt x="2207440" y="20329"/>
                  </a:lnTo>
                  <a:lnTo>
                    <a:pt x="2161276" y="32021"/>
                  </a:lnTo>
                  <a:lnTo>
                    <a:pt x="2119628" y="46151"/>
                  </a:lnTo>
                  <a:lnTo>
                    <a:pt x="2083324" y="62615"/>
                  </a:lnTo>
                  <a:lnTo>
                    <a:pt x="2053190" y="81311"/>
                  </a:lnTo>
                  <a:lnTo>
                    <a:pt x="2027204" y="72528"/>
                  </a:lnTo>
                  <a:lnTo>
                    <a:pt x="1970519" y="57201"/>
                  </a:lnTo>
                  <a:lnTo>
                    <a:pt x="1888349" y="41955"/>
                  </a:lnTo>
                  <a:lnTo>
                    <a:pt x="1835410" y="35592"/>
                  </a:lnTo>
                  <a:lnTo>
                    <a:pt x="1781708" y="31558"/>
                  </a:lnTo>
                  <a:lnTo>
                    <a:pt x="1727738" y="29799"/>
                  </a:lnTo>
                  <a:lnTo>
                    <a:pt x="1673991" y="30258"/>
                  </a:lnTo>
                  <a:lnTo>
                    <a:pt x="1620962" y="32879"/>
                  </a:lnTo>
                  <a:lnTo>
                    <a:pt x="1569145" y="37607"/>
                  </a:lnTo>
                  <a:lnTo>
                    <a:pt x="1519032" y="44386"/>
                  </a:lnTo>
                  <a:lnTo>
                    <a:pt x="1471118" y="53159"/>
                  </a:lnTo>
                  <a:lnTo>
                    <a:pt x="1425896" y="63872"/>
                  </a:lnTo>
                  <a:lnTo>
                    <a:pt x="1383858" y="76468"/>
                  </a:lnTo>
                  <a:lnTo>
                    <a:pt x="1345499" y="90892"/>
                  </a:lnTo>
                  <a:lnTo>
                    <a:pt x="1281792" y="124999"/>
                  </a:lnTo>
                  <a:lnTo>
                    <a:pt x="1236234" y="116102"/>
                  </a:lnTo>
                  <a:lnTo>
                    <a:pt x="1189078" y="108667"/>
                  </a:lnTo>
                  <a:lnTo>
                    <a:pt x="1140582" y="102715"/>
                  </a:lnTo>
                  <a:lnTo>
                    <a:pt x="1091006" y="98265"/>
                  </a:lnTo>
                  <a:lnTo>
                    <a:pt x="1040608" y="95340"/>
                  </a:lnTo>
                  <a:lnTo>
                    <a:pt x="989648" y="93959"/>
                  </a:lnTo>
                  <a:lnTo>
                    <a:pt x="938384" y="94144"/>
                  </a:lnTo>
                  <a:lnTo>
                    <a:pt x="887076" y="95916"/>
                  </a:lnTo>
                  <a:lnTo>
                    <a:pt x="816406" y="100996"/>
                  </a:lnTo>
                  <a:lnTo>
                    <a:pt x="749224" y="108871"/>
                  </a:lnTo>
                  <a:lnTo>
                    <a:pt x="685925" y="119347"/>
                  </a:lnTo>
                  <a:lnTo>
                    <a:pt x="626907" y="132233"/>
                  </a:lnTo>
                  <a:lnTo>
                    <a:pt x="572566" y="147338"/>
                  </a:lnTo>
                  <a:lnTo>
                    <a:pt x="523298" y="164469"/>
                  </a:lnTo>
                  <a:lnTo>
                    <a:pt x="479501" y="183435"/>
                  </a:lnTo>
                  <a:lnTo>
                    <a:pt x="441570" y="204043"/>
                  </a:lnTo>
                  <a:lnTo>
                    <a:pt x="409902" y="226102"/>
                  </a:lnTo>
                  <a:lnTo>
                    <a:pt x="366943" y="273804"/>
                  </a:lnTo>
                  <a:lnTo>
                    <a:pt x="353794" y="325006"/>
                  </a:lnTo>
                  <a:lnTo>
                    <a:pt x="359391" y="351440"/>
                  </a:lnTo>
                  <a:lnTo>
                    <a:pt x="355962" y="354742"/>
                  </a:lnTo>
                  <a:lnTo>
                    <a:pt x="294453" y="358938"/>
                  </a:lnTo>
                  <a:lnTo>
                    <a:pt x="236168" y="366548"/>
                  </a:lnTo>
                  <a:lnTo>
                    <a:pt x="182067" y="377348"/>
                  </a:lnTo>
                  <a:lnTo>
                    <a:pt x="133110" y="391111"/>
                  </a:lnTo>
                  <a:lnTo>
                    <a:pt x="90255" y="407611"/>
                  </a:lnTo>
                  <a:lnTo>
                    <a:pt x="54464" y="426624"/>
                  </a:lnTo>
                  <a:lnTo>
                    <a:pt x="23936" y="450560"/>
                  </a:lnTo>
                  <a:lnTo>
                    <a:pt x="0" y="500637"/>
                  </a:lnTo>
                  <a:lnTo>
                    <a:pt x="5790" y="525636"/>
                  </a:lnTo>
                  <a:lnTo>
                    <a:pt x="50889" y="572702"/>
                  </a:lnTo>
                  <a:lnTo>
                    <a:pt x="89396" y="593628"/>
                  </a:lnTo>
                  <a:lnTo>
                    <a:pt x="138007" y="612054"/>
                  </a:lnTo>
                  <a:lnTo>
                    <a:pt x="196323" y="627411"/>
                  </a:lnTo>
                  <a:lnTo>
                    <a:pt x="144233" y="652956"/>
                  </a:lnTo>
                  <a:lnTo>
                    <a:pt x="108788" y="681656"/>
                  </a:lnTo>
                  <a:lnTo>
                    <a:pt x="90917" y="712475"/>
                  </a:lnTo>
                  <a:lnTo>
                    <a:pt x="91548" y="744378"/>
                  </a:lnTo>
                  <a:lnTo>
                    <a:pt x="126378" y="789378"/>
                  </a:lnTo>
                  <a:lnTo>
                    <a:pt x="195237" y="826802"/>
                  </a:lnTo>
                  <a:lnTo>
                    <a:pt x="240154" y="842009"/>
                  </a:lnTo>
                  <a:lnTo>
                    <a:pt x="290850" y="854526"/>
                  </a:lnTo>
                  <a:lnTo>
                    <a:pt x="346418" y="864089"/>
                  </a:lnTo>
                  <a:lnTo>
                    <a:pt x="405947" y="870431"/>
                  </a:lnTo>
                  <a:lnTo>
                    <a:pt x="468529" y="873288"/>
                  </a:lnTo>
                  <a:lnTo>
                    <a:pt x="533254" y="872394"/>
                  </a:lnTo>
                  <a:lnTo>
                    <a:pt x="540620" y="877093"/>
                  </a:lnTo>
                  <a:lnTo>
                    <a:pt x="607420" y="911554"/>
                  </a:lnTo>
                  <a:lnTo>
                    <a:pt x="645428" y="926850"/>
                  </a:lnTo>
                  <a:lnTo>
                    <a:pt x="686175" y="940825"/>
                  </a:lnTo>
                  <a:lnTo>
                    <a:pt x="729413" y="953457"/>
                  </a:lnTo>
                  <a:lnTo>
                    <a:pt x="774894" y="964723"/>
                  </a:lnTo>
                  <a:lnTo>
                    <a:pt x="822367" y="974600"/>
                  </a:lnTo>
                  <a:lnTo>
                    <a:pt x="871586" y="983064"/>
                  </a:lnTo>
                  <a:lnTo>
                    <a:pt x="922300" y="990092"/>
                  </a:lnTo>
                  <a:lnTo>
                    <a:pt x="974261" y="995663"/>
                  </a:lnTo>
                  <a:lnTo>
                    <a:pt x="1027221" y="999753"/>
                  </a:lnTo>
                  <a:lnTo>
                    <a:pt x="1080930" y="1002338"/>
                  </a:lnTo>
                  <a:lnTo>
                    <a:pt x="1135139" y="1003397"/>
                  </a:lnTo>
                  <a:lnTo>
                    <a:pt x="1189600" y="1002905"/>
                  </a:lnTo>
                  <a:lnTo>
                    <a:pt x="1244065" y="1000840"/>
                  </a:lnTo>
                  <a:lnTo>
                    <a:pt x="1298283" y="997180"/>
                  </a:lnTo>
                  <a:lnTo>
                    <a:pt x="1352008" y="991901"/>
                  </a:lnTo>
                  <a:lnTo>
                    <a:pt x="1404988" y="984979"/>
                  </a:lnTo>
                  <a:lnTo>
                    <a:pt x="1456977" y="976393"/>
                  </a:lnTo>
                  <a:lnTo>
                    <a:pt x="1507725" y="966120"/>
                  </a:lnTo>
                  <a:lnTo>
                    <a:pt x="1544001" y="984174"/>
                  </a:lnTo>
                  <a:lnTo>
                    <a:pt x="1584667" y="1000718"/>
                  </a:lnTo>
                  <a:lnTo>
                    <a:pt x="1629369" y="1015655"/>
                  </a:lnTo>
                  <a:lnTo>
                    <a:pt x="1677755" y="1028891"/>
                  </a:lnTo>
                  <a:lnTo>
                    <a:pt x="1729471" y="1040330"/>
                  </a:lnTo>
                  <a:lnTo>
                    <a:pt x="1784164" y="1049875"/>
                  </a:lnTo>
                  <a:lnTo>
                    <a:pt x="1841481" y="1057433"/>
                  </a:lnTo>
                  <a:lnTo>
                    <a:pt x="1902710" y="1063056"/>
                  </a:lnTo>
                  <a:lnTo>
                    <a:pt x="1963981" y="1066309"/>
                  </a:lnTo>
                  <a:lnTo>
                    <a:pt x="2024909" y="1067268"/>
                  </a:lnTo>
                  <a:lnTo>
                    <a:pt x="2085106" y="1066009"/>
                  </a:lnTo>
                  <a:lnTo>
                    <a:pt x="2144188" y="1062609"/>
                  </a:lnTo>
                  <a:lnTo>
                    <a:pt x="2201767" y="1057143"/>
                  </a:lnTo>
                  <a:lnTo>
                    <a:pt x="2257457" y="1049687"/>
                  </a:lnTo>
                  <a:lnTo>
                    <a:pt x="2310873" y="1040320"/>
                  </a:lnTo>
                  <a:lnTo>
                    <a:pt x="2361627" y="1029115"/>
                  </a:lnTo>
                  <a:lnTo>
                    <a:pt x="2409334" y="1016150"/>
                  </a:lnTo>
                  <a:lnTo>
                    <a:pt x="2453608" y="1001502"/>
                  </a:lnTo>
                  <a:lnTo>
                    <a:pt x="2494062" y="985245"/>
                  </a:lnTo>
                  <a:lnTo>
                    <a:pt x="2530310" y="967457"/>
                  </a:lnTo>
                  <a:lnTo>
                    <a:pt x="2588644" y="927592"/>
                  </a:lnTo>
                  <a:lnTo>
                    <a:pt x="2609958" y="905668"/>
                  </a:lnTo>
                  <a:lnTo>
                    <a:pt x="2660990" y="915962"/>
                  </a:lnTo>
                  <a:lnTo>
                    <a:pt x="2714547" y="924104"/>
                  </a:lnTo>
                  <a:lnTo>
                    <a:pt x="2770133" y="930046"/>
                  </a:lnTo>
                  <a:lnTo>
                    <a:pt x="2827256" y="933738"/>
                  </a:lnTo>
                  <a:lnTo>
                    <a:pt x="2885421" y="935132"/>
                  </a:lnTo>
                  <a:lnTo>
                    <a:pt x="2951681" y="933793"/>
                  </a:lnTo>
                  <a:lnTo>
                    <a:pt x="3015550" y="929546"/>
                  </a:lnTo>
                  <a:lnTo>
                    <a:pt x="3076527" y="922571"/>
                  </a:lnTo>
                  <a:lnTo>
                    <a:pt x="3134116" y="913047"/>
                  </a:lnTo>
                  <a:lnTo>
                    <a:pt x="3187818" y="901154"/>
                  </a:lnTo>
                  <a:lnTo>
                    <a:pt x="3237134" y="887073"/>
                  </a:lnTo>
                  <a:lnTo>
                    <a:pt x="3281565" y="870983"/>
                  </a:lnTo>
                  <a:lnTo>
                    <a:pt x="3320615" y="853065"/>
                  </a:lnTo>
                  <a:lnTo>
                    <a:pt x="3353783" y="833498"/>
                  </a:lnTo>
                  <a:lnTo>
                    <a:pt x="3400483" y="790139"/>
                  </a:lnTo>
                  <a:lnTo>
                    <a:pt x="3417678" y="742346"/>
                  </a:lnTo>
                  <a:lnTo>
                    <a:pt x="3469799" y="738787"/>
                  </a:lnTo>
                  <a:lnTo>
                    <a:pt x="3520703" y="733602"/>
                  </a:lnTo>
                  <a:lnTo>
                    <a:pt x="3570125" y="726836"/>
                  </a:lnTo>
                  <a:lnTo>
                    <a:pt x="3617801" y="718536"/>
                  </a:lnTo>
                  <a:lnTo>
                    <a:pt x="3663467" y="708747"/>
                  </a:lnTo>
                  <a:lnTo>
                    <a:pt x="3706857" y="697515"/>
                  </a:lnTo>
                  <a:lnTo>
                    <a:pt x="3765448" y="678715"/>
                  </a:lnTo>
                  <a:lnTo>
                    <a:pt x="3816122" y="657861"/>
                  </a:lnTo>
                  <a:lnTo>
                    <a:pt x="3858774" y="635251"/>
                  </a:lnTo>
                  <a:lnTo>
                    <a:pt x="3893295" y="611185"/>
                  </a:lnTo>
                  <a:lnTo>
                    <a:pt x="3937522" y="559877"/>
                  </a:lnTo>
                  <a:lnTo>
                    <a:pt x="3947947" y="506331"/>
                  </a:lnTo>
                  <a:lnTo>
                    <a:pt x="3940218" y="479465"/>
                  </a:lnTo>
                  <a:lnTo>
                    <a:pt x="3923717" y="452937"/>
                  </a:lnTo>
                  <a:lnTo>
                    <a:pt x="3898339" y="427044"/>
                  </a:lnTo>
                  <a:lnTo>
                    <a:pt x="3863976" y="402087"/>
                  </a:lnTo>
                  <a:lnTo>
                    <a:pt x="3820522" y="378364"/>
                  </a:lnTo>
                  <a:lnTo>
                    <a:pt x="3826979" y="372530"/>
                  </a:lnTo>
                  <a:lnTo>
                    <a:pt x="3856675" y="328610"/>
                  </a:lnTo>
                  <a:lnTo>
                    <a:pt x="3859915" y="302675"/>
                  </a:lnTo>
                  <a:lnTo>
                    <a:pt x="3853123" y="277275"/>
                  </a:lnTo>
                  <a:lnTo>
                    <a:pt x="3811559" y="229449"/>
                  </a:lnTo>
                  <a:lnTo>
                    <a:pt x="3777845" y="207703"/>
                  </a:lnTo>
                  <a:lnTo>
                    <a:pt x="3736216" y="187856"/>
                  </a:lnTo>
                  <a:lnTo>
                    <a:pt x="3687199" y="170248"/>
                  </a:lnTo>
                  <a:lnTo>
                    <a:pt x="3631324" y="155221"/>
                  </a:lnTo>
                  <a:lnTo>
                    <a:pt x="3569120" y="143115"/>
                  </a:lnTo>
                  <a:lnTo>
                    <a:pt x="3501117" y="134270"/>
                  </a:lnTo>
                  <a:lnTo>
                    <a:pt x="3481043" y="107098"/>
                  </a:lnTo>
                  <a:lnTo>
                    <a:pt x="3448824" y="81771"/>
                  </a:lnTo>
                  <a:lnTo>
                    <a:pt x="3405319" y="58850"/>
                  </a:lnTo>
                  <a:lnTo>
                    <a:pt x="3351384" y="38893"/>
                  </a:lnTo>
                  <a:lnTo>
                    <a:pt x="3306722" y="26650"/>
                  </a:lnTo>
                  <a:lnTo>
                    <a:pt x="3259348" y="16757"/>
                  </a:lnTo>
                  <a:lnTo>
                    <a:pt x="3209848" y="9195"/>
                  </a:lnTo>
                  <a:lnTo>
                    <a:pt x="3158807" y="3946"/>
                  </a:lnTo>
                  <a:lnTo>
                    <a:pt x="3106808" y="992"/>
                  </a:lnTo>
                  <a:lnTo>
                    <a:pt x="3054438" y="315"/>
                  </a:lnTo>
                  <a:lnTo>
                    <a:pt x="3002280" y="1897"/>
                  </a:lnTo>
                  <a:lnTo>
                    <a:pt x="2950919" y="5719"/>
                  </a:lnTo>
                  <a:lnTo>
                    <a:pt x="2900941" y="11765"/>
                  </a:lnTo>
                  <a:lnTo>
                    <a:pt x="2852929" y="20016"/>
                  </a:lnTo>
                  <a:lnTo>
                    <a:pt x="2807469" y="30453"/>
                  </a:lnTo>
                  <a:lnTo>
                    <a:pt x="2765146" y="43059"/>
                  </a:lnTo>
                  <a:lnTo>
                    <a:pt x="2726544" y="57816"/>
                  </a:lnTo>
                  <a:lnTo>
                    <a:pt x="2696905" y="45044"/>
                  </a:lnTo>
                  <a:lnTo>
                    <a:pt x="2627103" y="23740"/>
                  </a:lnTo>
                  <a:lnTo>
                    <a:pt x="2587606" y="15398"/>
                  </a:lnTo>
                  <a:lnTo>
                    <a:pt x="2532974" y="7140"/>
                  </a:lnTo>
                  <a:lnTo>
                    <a:pt x="2477072" y="2042"/>
                  </a:lnTo>
                  <a:lnTo>
                    <a:pt x="2420726" y="0"/>
                  </a:lnTo>
                  <a:close/>
                </a:path>
              </a:pathLst>
            </a:custGeom>
            <a:solidFill>
              <a:srgbClr val="A264D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13" name="object 6">
              <a:extLst>
                <a:ext uri="{FF2B5EF4-FFF2-40B4-BE49-F238E27FC236}">
                  <a16:creationId xmlns:a16="http://schemas.microsoft.com/office/drawing/2014/main" id="{DBF68BB1-62DF-DE74-1838-6245A398016E}"/>
                </a:ext>
              </a:extLst>
            </p:cNvPr>
            <p:cNvSpPr>
              <a:spLocks/>
            </p:cNvSpPr>
            <p:nvPr/>
          </p:nvSpPr>
          <p:spPr bwMode="auto">
            <a:xfrm>
              <a:off x="4030490" y="1751298"/>
              <a:ext cx="3948429" cy="1067435"/>
            </a:xfrm>
            <a:custGeom>
              <a:avLst/>
              <a:gdLst>
                <a:gd name="T0" fmla="*/ 366943 w 3948429"/>
                <a:gd name="T1" fmla="*/ 273804 h 1067435"/>
                <a:gd name="T2" fmla="*/ 523298 w 3948429"/>
                <a:gd name="T3" fmla="*/ 164469 h 1067435"/>
                <a:gd name="T4" fmla="*/ 749224 w 3948429"/>
                <a:gd name="T5" fmla="*/ 108871 h 1067435"/>
                <a:gd name="T6" fmla="*/ 989648 w 3948429"/>
                <a:gd name="T7" fmla="*/ 93959 h 1067435"/>
                <a:gd name="T8" fmla="*/ 1189078 w 3948429"/>
                <a:gd name="T9" fmla="*/ 108667 h 1067435"/>
                <a:gd name="T10" fmla="*/ 1383858 w 3948429"/>
                <a:gd name="T11" fmla="*/ 76468 h 1067435"/>
                <a:gd name="T12" fmla="*/ 1569145 w 3948429"/>
                <a:gd name="T13" fmla="*/ 37607 h 1067435"/>
                <a:gd name="T14" fmla="*/ 1781708 w 3948429"/>
                <a:gd name="T15" fmla="*/ 31558 h 1067435"/>
                <a:gd name="T16" fmla="*/ 1999612 w 3948429"/>
                <a:gd name="T17" fmla="*/ 64483 h 1067435"/>
                <a:gd name="T18" fmla="*/ 2161276 w 3948429"/>
                <a:gd name="T19" fmla="*/ 32021 h 1067435"/>
                <a:gd name="T20" fmla="*/ 2364763 w 3948429"/>
                <a:gd name="T21" fmla="*/ 910 h 1067435"/>
                <a:gd name="T22" fmla="*/ 2587606 w 3948429"/>
                <a:gd name="T23" fmla="*/ 15398 h 1067435"/>
                <a:gd name="T24" fmla="*/ 2765146 w 3948429"/>
                <a:gd name="T25" fmla="*/ 43059 h 1067435"/>
                <a:gd name="T26" fmla="*/ 2950919 w 3948429"/>
                <a:gd name="T27" fmla="*/ 5719 h 1067435"/>
                <a:gd name="T28" fmla="*/ 3158807 w 3948429"/>
                <a:gd name="T29" fmla="*/ 3946 h 1067435"/>
                <a:gd name="T30" fmla="*/ 3351384 w 3948429"/>
                <a:gd name="T31" fmla="*/ 38893 h 1067435"/>
                <a:gd name="T32" fmla="*/ 3501117 w 3948429"/>
                <a:gd name="T33" fmla="*/ 134270 h 1067435"/>
                <a:gd name="T34" fmla="*/ 3736216 w 3948429"/>
                <a:gd name="T35" fmla="*/ 187856 h 1067435"/>
                <a:gd name="T36" fmla="*/ 3859915 w 3948429"/>
                <a:gd name="T37" fmla="*/ 302675 h 1067435"/>
                <a:gd name="T38" fmla="*/ 3863976 w 3948429"/>
                <a:gd name="T39" fmla="*/ 402087 h 1067435"/>
                <a:gd name="T40" fmla="*/ 3947947 w 3948429"/>
                <a:gd name="T41" fmla="*/ 506331 h 1067435"/>
                <a:gd name="T42" fmla="*/ 3816122 w 3948429"/>
                <a:gd name="T43" fmla="*/ 657861 h 1067435"/>
                <a:gd name="T44" fmla="*/ 3617801 w 3948429"/>
                <a:gd name="T45" fmla="*/ 718536 h 1067435"/>
                <a:gd name="T46" fmla="*/ 3417678 w 3948429"/>
                <a:gd name="T47" fmla="*/ 742346 h 1067435"/>
                <a:gd name="T48" fmla="*/ 3281565 w 3948429"/>
                <a:gd name="T49" fmla="*/ 870983 h 1067435"/>
                <a:gd name="T50" fmla="*/ 3076527 w 3948429"/>
                <a:gd name="T51" fmla="*/ 922571 h 1067435"/>
                <a:gd name="T52" fmla="*/ 2827256 w 3948429"/>
                <a:gd name="T53" fmla="*/ 933738 h 1067435"/>
                <a:gd name="T54" fmla="*/ 2609958 w 3948429"/>
                <a:gd name="T55" fmla="*/ 905668 h 1067435"/>
                <a:gd name="T56" fmla="*/ 2453608 w 3948429"/>
                <a:gd name="T57" fmla="*/ 1001502 h 1067435"/>
                <a:gd name="T58" fmla="*/ 2257457 w 3948429"/>
                <a:gd name="T59" fmla="*/ 1049687 h 1067435"/>
                <a:gd name="T60" fmla="*/ 2024909 w 3948429"/>
                <a:gd name="T61" fmla="*/ 1067268 h 1067435"/>
                <a:gd name="T62" fmla="*/ 1784164 w 3948429"/>
                <a:gd name="T63" fmla="*/ 1049875 h 1067435"/>
                <a:gd name="T64" fmla="*/ 1584667 w 3948429"/>
                <a:gd name="T65" fmla="*/ 1000718 h 1067435"/>
                <a:gd name="T66" fmla="*/ 1404988 w 3948429"/>
                <a:gd name="T67" fmla="*/ 984979 h 1067435"/>
                <a:gd name="T68" fmla="*/ 1189600 w 3948429"/>
                <a:gd name="T69" fmla="*/ 1002905 h 1067435"/>
                <a:gd name="T70" fmla="*/ 974261 w 3948429"/>
                <a:gd name="T71" fmla="*/ 995663 h 1067435"/>
                <a:gd name="T72" fmla="*/ 774894 w 3948429"/>
                <a:gd name="T73" fmla="*/ 964723 h 1067435"/>
                <a:gd name="T74" fmla="*/ 607420 w 3948429"/>
                <a:gd name="T75" fmla="*/ 911554 h 1067435"/>
                <a:gd name="T76" fmla="*/ 533254 w 3948429"/>
                <a:gd name="T77" fmla="*/ 872394 h 1067435"/>
                <a:gd name="T78" fmla="*/ 290850 w 3948429"/>
                <a:gd name="T79" fmla="*/ 854526 h 1067435"/>
                <a:gd name="T80" fmla="*/ 104255 w 3948429"/>
                <a:gd name="T81" fmla="*/ 767693 h 1067435"/>
                <a:gd name="T82" fmla="*/ 196323 w 3948429"/>
                <a:gd name="T83" fmla="*/ 627411 h 1067435"/>
                <a:gd name="T84" fmla="*/ 5790 w 3948429"/>
                <a:gd name="T85" fmla="*/ 525636 h 1067435"/>
                <a:gd name="T86" fmla="*/ 90255 w 3948429"/>
                <a:gd name="T87" fmla="*/ 407611 h 1067435"/>
                <a:gd name="T88" fmla="*/ 294453 w 3948429"/>
                <a:gd name="T89" fmla="*/ 358938 h 1067435"/>
                <a:gd name="T90" fmla="*/ 383418 w 3948429"/>
                <a:gd name="T91" fmla="*/ 643248 h 1067435"/>
                <a:gd name="T92" fmla="*/ 200514 w 3948429"/>
                <a:gd name="T93" fmla="*/ 623347 h 1067435"/>
                <a:gd name="T94" fmla="*/ 560448 w 3948429"/>
                <a:gd name="T95" fmla="*/ 866369 h 1067435"/>
                <a:gd name="T96" fmla="*/ 1473895 w 3948429"/>
                <a:gd name="T97" fmla="*/ 940958 h 1067435"/>
                <a:gd name="T98" fmla="*/ 2631181 w 3948429"/>
                <a:gd name="T99" fmla="*/ 866693 h 1067435"/>
                <a:gd name="T100" fmla="*/ 3118720 w 3948429"/>
                <a:gd name="T101" fmla="*/ 563403 h 1067435"/>
                <a:gd name="T102" fmla="*/ 3336318 w 3948429"/>
                <a:gd name="T103" fmla="*/ 635713 h 1067435"/>
                <a:gd name="T104" fmla="*/ 3818744 w 3948429"/>
                <a:gd name="T105" fmla="*/ 375697 h 1067435"/>
                <a:gd name="T106" fmla="*/ 3686537 w 3948429"/>
                <a:gd name="T107" fmla="*/ 441737 h 1067435"/>
                <a:gd name="T108" fmla="*/ 3508393 w 3948429"/>
                <a:gd name="T109" fmla="*/ 153893 h 1067435"/>
                <a:gd name="T110" fmla="*/ 2687523 w 3948429"/>
                <a:gd name="T111" fmla="*/ 73357 h 1067435"/>
                <a:gd name="T112" fmla="*/ 2030411 w 3948429"/>
                <a:gd name="T113" fmla="*/ 104256 h 1067435"/>
                <a:gd name="T114" fmla="*/ 1281284 w 3948429"/>
                <a:gd name="T115" fmla="*/ 124745 h 1067435"/>
                <a:gd name="T116" fmla="*/ 1399902 w 3948429"/>
                <a:gd name="T117" fmla="*/ 158019 h 1067435"/>
                <a:gd name="T118" fmla="*/ 363125 w 3948429"/>
                <a:gd name="T119" fmla="*/ 360274 h 106743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948429" h="1067435">
                  <a:moveTo>
                    <a:pt x="359391" y="351440"/>
                  </a:moveTo>
                  <a:lnTo>
                    <a:pt x="353794" y="325006"/>
                  </a:lnTo>
                  <a:lnTo>
                    <a:pt x="356444" y="299063"/>
                  </a:lnTo>
                  <a:lnTo>
                    <a:pt x="366943" y="273804"/>
                  </a:lnTo>
                  <a:lnTo>
                    <a:pt x="409902" y="226102"/>
                  </a:lnTo>
                  <a:lnTo>
                    <a:pt x="441570" y="204043"/>
                  </a:lnTo>
                  <a:lnTo>
                    <a:pt x="479501" y="183435"/>
                  </a:lnTo>
                  <a:lnTo>
                    <a:pt x="523298" y="164469"/>
                  </a:lnTo>
                  <a:lnTo>
                    <a:pt x="572566" y="147338"/>
                  </a:lnTo>
                  <a:lnTo>
                    <a:pt x="626907" y="132233"/>
                  </a:lnTo>
                  <a:lnTo>
                    <a:pt x="685925" y="119347"/>
                  </a:lnTo>
                  <a:lnTo>
                    <a:pt x="749224" y="108871"/>
                  </a:lnTo>
                  <a:lnTo>
                    <a:pt x="816406" y="100996"/>
                  </a:lnTo>
                  <a:lnTo>
                    <a:pt x="887076" y="95916"/>
                  </a:lnTo>
                  <a:lnTo>
                    <a:pt x="938384" y="94144"/>
                  </a:lnTo>
                  <a:lnTo>
                    <a:pt x="989648" y="93959"/>
                  </a:lnTo>
                  <a:lnTo>
                    <a:pt x="1040608" y="95340"/>
                  </a:lnTo>
                  <a:lnTo>
                    <a:pt x="1091006" y="98265"/>
                  </a:lnTo>
                  <a:lnTo>
                    <a:pt x="1140582" y="102715"/>
                  </a:lnTo>
                  <a:lnTo>
                    <a:pt x="1189078" y="108667"/>
                  </a:lnTo>
                  <a:lnTo>
                    <a:pt x="1236234" y="116102"/>
                  </a:lnTo>
                  <a:lnTo>
                    <a:pt x="1281792" y="124999"/>
                  </a:lnTo>
                  <a:lnTo>
                    <a:pt x="1311313" y="107087"/>
                  </a:lnTo>
                  <a:lnTo>
                    <a:pt x="1383858" y="76468"/>
                  </a:lnTo>
                  <a:lnTo>
                    <a:pt x="1425896" y="63872"/>
                  </a:lnTo>
                  <a:lnTo>
                    <a:pt x="1471118" y="53159"/>
                  </a:lnTo>
                  <a:lnTo>
                    <a:pt x="1519032" y="44386"/>
                  </a:lnTo>
                  <a:lnTo>
                    <a:pt x="1569145" y="37607"/>
                  </a:lnTo>
                  <a:lnTo>
                    <a:pt x="1620962" y="32879"/>
                  </a:lnTo>
                  <a:lnTo>
                    <a:pt x="1673991" y="30258"/>
                  </a:lnTo>
                  <a:lnTo>
                    <a:pt x="1727738" y="29799"/>
                  </a:lnTo>
                  <a:lnTo>
                    <a:pt x="1781708" y="31558"/>
                  </a:lnTo>
                  <a:lnTo>
                    <a:pt x="1835410" y="35592"/>
                  </a:lnTo>
                  <a:lnTo>
                    <a:pt x="1888349" y="41955"/>
                  </a:lnTo>
                  <a:lnTo>
                    <a:pt x="1940033" y="50704"/>
                  </a:lnTo>
                  <a:lnTo>
                    <a:pt x="1999612" y="64483"/>
                  </a:lnTo>
                  <a:lnTo>
                    <a:pt x="2053190" y="81311"/>
                  </a:lnTo>
                  <a:lnTo>
                    <a:pt x="2083324" y="62615"/>
                  </a:lnTo>
                  <a:lnTo>
                    <a:pt x="2119628" y="46151"/>
                  </a:lnTo>
                  <a:lnTo>
                    <a:pt x="2161276" y="32021"/>
                  </a:lnTo>
                  <a:lnTo>
                    <a:pt x="2207440" y="20329"/>
                  </a:lnTo>
                  <a:lnTo>
                    <a:pt x="2257293" y="11178"/>
                  </a:lnTo>
                  <a:lnTo>
                    <a:pt x="2310010" y="4671"/>
                  </a:lnTo>
                  <a:lnTo>
                    <a:pt x="2364763" y="910"/>
                  </a:lnTo>
                  <a:lnTo>
                    <a:pt x="2420726" y="0"/>
                  </a:lnTo>
                  <a:lnTo>
                    <a:pt x="2477072" y="2042"/>
                  </a:lnTo>
                  <a:lnTo>
                    <a:pt x="2532974" y="7140"/>
                  </a:lnTo>
                  <a:lnTo>
                    <a:pt x="2587606" y="15398"/>
                  </a:lnTo>
                  <a:lnTo>
                    <a:pt x="2627103" y="23740"/>
                  </a:lnTo>
                  <a:lnTo>
                    <a:pt x="2696905" y="45044"/>
                  </a:lnTo>
                  <a:lnTo>
                    <a:pt x="2726544" y="57816"/>
                  </a:lnTo>
                  <a:lnTo>
                    <a:pt x="2765146" y="43059"/>
                  </a:lnTo>
                  <a:lnTo>
                    <a:pt x="2807469" y="30453"/>
                  </a:lnTo>
                  <a:lnTo>
                    <a:pt x="2852929" y="20016"/>
                  </a:lnTo>
                  <a:lnTo>
                    <a:pt x="2900941" y="11765"/>
                  </a:lnTo>
                  <a:lnTo>
                    <a:pt x="2950919" y="5719"/>
                  </a:lnTo>
                  <a:lnTo>
                    <a:pt x="3002280" y="1897"/>
                  </a:lnTo>
                  <a:lnTo>
                    <a:pt x="3054438" y="315"/>
                  </a:lnTo>
                  <a:lnTo>
                    <a:pt x="3106808" y="992"/>
                  </a:lnTo>
                  <a:lnTo>
                    <a:pt x="3158807" y="3946"/>
                  </a:lnTo>
                  <a:lnTo>
                    <a:pt x="3209848" y="9195"/>
                  </a:lnTo>
                  <a:lnTo>
                    <a:pt x="3259348" y="16757"/>
                  </a:lnTo>
                  <a:lnTo>
                    <a:pt x="3306722" y="26650"/>
                  </a:lnTo>
                  <a:lnTo>
                    <a:pt x="3351384" y="38893"/>
                  </a:lnTo>
                  <a:lnTo>
                    <a:pt x="3405319" y="58850"/>
                  </a:lnTo>
                  <a:lnTo>
                    <a:pt x="3448824" y="81771"/>
                  </a:lnTo>
                  <a:lnTo>
                    <a:pt x="3481043" y="107098"/>
                  </a:lnTo>
                  <a:lnTo>
                    <a:pt x="3501117" y="134270"/>
                  </a:lnTo>
                  <a:lnTo>
                    <a:pt x="3569120" y="143115"/>
                  </a:lnTo>
                  <a:lnTo>
                    <a:pt x="3631324" y="155221"/>
                  </a:lnTo>
                  <a:lnTo>
                    <a:pt x="3687199" y="170248"/>
                  </a:lnTo>
                  <a:lnTo>
                    <a:pt x="3736216" y="187856"/>
                  </a:lnTo>
                  <a:lnTo>
                    <a:pt x="3777845" y="207703"/>
                  </a:lnTo>
                  <a:lnTo>
                    <a:pt x="3811559" y="229449"/>
                  </a:lnTo>
                  <a:lnTo>
                    <a:pt x="3853123" y="277275"/>
                  </a:lnTo>
                  <a:lnTo>
                    <a:pt x="3859915" y="302675"/>
                  </a:lnTo>
                  <a:lnTo>
                    <a:pt x="3856675" y="328610"/>
                  </a:lnTo>
                  <a:lnTo>
                    <a:pt x="3832841" y="366648"/>
                  </a:lnTo>
                  <a:lnTo>
                    <a:pt x="3820522" y="378364"/>
                  </a:lnTo>
                  <a:lnTo>
                    <a:pt x="3863976" y="402087"/>
                  </a:lnTo>
                  <a:lnTo>
                    <a:pt x="3898339" y="427044"/>
                  </a:lnTo>
                  <a:lnTo>
                    <a:pt x="3923717" y="452937"/>
                  </a:lnTo>
                  <a:lnTo>
                    <a:pt x="3940218" y="479465"/>
                  </a:lnTo>
                  <a:lnTo>
                    <a:pt x="3947947" y="506331"/>
                  </a:lnTo>
                  <a:lnTo>
                    <a:pt x="3947013" y="533234"/>
                  </a:lnTo>
                  <a:lnTo>
                    <a:pt x="3919581" y="585960"/>
                  </a:lnTo>
                  <a:lnTo>
                    <a:pt x="3858774" y="635251"/>
                  </a:lnTo>
                  <a:lnTo>
                    <a:pt x="3816122" y="657861"/>
                  </a:lnTo>
                  <a:lnTo>
                    <a:pt x="3765448" y="678715"/>
                  </a:lnTo>
                  <a:lnTo>
                    <a:pt x="3706857" y="697515"/>
                  </a:lnTo>
                  <a:lnTo>
                    <a:pt x="3663467" y="708747"/>
                  </a:lnTo>
                  <a:lnTo>
                    <a:pt x="3617801" y="718536"/>
                  </a:lnTo>
                  <a:lnTo>
                    <a:pt x="3570125" y="726836"/>
                  </a:lnTo>
                  <a:lnTo>
                    <a:pt x="3520703" y="733602"/>
                  </a:lnTo>
                  <a:lnTo>
                    <a:pt x="3469799" y="738787"/>
                  </a:lnTo>
                  <a:lnTo>
                    <a:pt x="3417678" y="742346"/>
                  </a:lnTo>
                  <a:lnTo>
                    <a:pt x="3413017" y="766707"/>
                  </a:lnTo>
                  <a:lnTo>
                    <a:pt x="3380572" y="812463"/>
                  </a:lnTo>
                  <a:lnTo>
                    <a:pt x="3320615" y="853065"/>
                  </a:lnTo>
                  <a:lnTo>
                    <a:pt x="3281565" y="870983"/>
                  </a:lnTo>
                  <a:lnTo>
                    <a:pt x="3237134" y="887073"/>
                  </a:lnTo>
                  <a:lnTo>
                    <a:pt x="3187818" y="901154"/>
                  </a:lnTo>
                  <a:lnTo>
                    <a:pt x="3134116" y="913047"/>
                  </a:lnTo>
                  <a:lnTo>
                    <a:pt x="3076527" y="922571"/>
                  </a:lnTo>
                  <a:lnTo>
                    <a:pt x="3015550" y="929546"/>
                  </a:lnTo>
                  <a:lnTo>
                    <a:pt x="2951681" y="933793"/>
                  </a:lnTo>
                  <a:lnTo>
                    <a:pt x="2885421" y="935132"/>
                  </a:lnTo>
                  <a:lnTo>
                    <a:pt x="2827256" y="933738"/>
                  </a:lnTo>
                  <a:lnTo>
                    <a:pt x="2770133" y="930046"/>
                  </a:lnTo>
                  <a:lnTo>
                    <a:pt x="2714547" y="924104"/>
                  </a:lnTo>
                  <a:lnTo>
                    <a:pt x="2660990" y="915962"/>
                  </a:lnTo>
                  <a:lnTo>
                    <a:pt x="2609958" y="905668"/>
                  </a:lnTo>
                  <a:lnTo>
                    <a:pt x="2588644" y="927592"/>
                  </a:lnTo>
                  <a:lnTo>
                    <a:pt x="2530310" y="967457"/>
                  </a:lnTo>
                  <a:lnTo>
                    <a:pt x="2494062" y="985245"/>
                  </a:lnTo>
                  <a:lnTo>
                    <a:pt x="2453608" y="1001502"/>
                  </a:lnTo>
                  <a:lnTo>
                    <a:pt x="2409334" y="1016150"/>
                  </a:lnTo>
                  <a:lnTo>
                    <a:pt x="2361627" y="1029115"/>
                  </a:lnTo>
                  <a:lnTo>
                    <a:pt x="2310873" y="1040320"/>
                  </a:lnTo>
                  <a:lnTo>
                    <a:pt x="2257457" y="1049687"/>
                  </a:lnTo>
                  <a:lnTo>
                    <a:pt x="2201767" y="1057143"/>
                  </a:lnTo>
                  <a:lnTo>
                    <a:pt x="2144188" y="1062609"/>
                  </a:lnTo>
                  <a:lnTo>
                    <a:pt x="2085106" y="1066009"/>
                  </a:lnTo>
                  <a:lnTo>
                    <a:pt x="2024909" y="1067268"/>
                  </a:lnTo>
                  <a:lnTo>
                    <a:pt x="1963981" y="1066309"/>
                  </a:lnTo>
                  <a:lnTo>
                    <a:pt x="1902710" y="1063056"/>
                  </a:lnTo>
                  <a:lnTo>
                    <a:pt x="1841481" y="1057433"/>
                  </a:lnTo>
                  <a:lnTo>
                    <a:pt x="1784164" y="1049875"/>
                  </a:lnTo>
                  <a:lnTo>
                    <a:pt x="1729471" y="1040330"/>
                  </a:lnTo>
                  <a:lnTo>
                    <a:pt x="1677755" y="1028891"/>
                  </a:lnTo>
                  <a:lnTo>
                    <a:pt x="1629369" y="1015655"/>
                  </a:lnTo>
                  <a:lnTo>
                    <a:pt x="1584667" y="1000718"/>
                  </a:lnTo>
                  <a:lnTo>
                    <a:pt x="1544001" y="984174"/>
                  </a:lnTo>
                  <a:lnTo>
                    <a:pt x="1507725" y="966120"/>
                  </a:lnTo>
                  <a:lnTo>
                    <a:pt x="1456977" y="976393"/>
                  </a:lnTo>
                  <a:lnTo>
                    <a:pt x="1404988" y="984979"/>
                  </a:lnTo>
                  <a:lnTo>
                    <a:pt x="1352008" y="991901"/>
                  </a:lnTo>
                  <a:lnTo>
                    <a:pt x="1298283" y="997180"/>
                  </a:lnTo>
                  <a:lnTo>
                    <a:pt x="1244065" y="1000840"/>
                  </a:lnTo>
                  <a:lnTo>
                    <a:pt x="1189600" y="1002905"/>
                  </a:lnTo>
                  <a:lnTo>
                    <a:pt x="1135139" y="1003397"/>
                  </a:lnTo>
                  <a:lnTo>
                    <a:pt x="1080930" y="1002338"/>
                  </a:lnTo>
                  <a:lnTo>
                    <a:pt x="1027221" y="999753"/>
                  </a:lnTo>
                  <a:lnTo>
                    <a:pt x="974261" y="995663"/>
                  </a:lnTo>
                  <a:lnTo>
                    <a:pt x="922300" y="990092"/>
                  </a:lnTo>
                  <a:lnTo>
                    <a:pt x="871586" y="983064"/>
                  </a:lnTo>
                  <a:lnTo>
                    <a:pt x="822367" y="974600"/>
                  </a:lnTo>
                  <a:lnTo>
                    <a:pt x="774894" y="964723"/>
                  </a:lnTo>
                  <a:lnTo>
                    <a:pt x="729413" y="953457"/>
                  </a:lnTo>
                  <a:lnTo>
                    <a:pt x="686175" y="940825"/>
                  </a:lnTo>
                  <a:lnTo>
                    <a:pt x="645428" y="926850"/>
                  </a:lnTo>
                  <a:lnTo>
                    <a:pt x="607420" y="911554"/>
                  </a:lnTo>
                  <a:lnTo>
                    <a:pt x="572401" y="894961"/>
                  </a:lnTo>
                  <a:lnTo>
                    <a:pt x="538207" y="875569"/>
                  </a:lnTo>
                  <a:lnTo>
                    <a:pt x="535667" y="874045"/>
                  </a:lnTo>
                  <a:lnTo>
                    <a:pt x="533254" y="872394"/>
                  </a:lnTo>
                  <a:lnTo>
                    <a:pt x="468529" y="873288"/>
                  </a:lnTo>
                  <a:lnTo>
                    <a:pt x="405947" y="870431"/>
                  </a:lnTo>
                  <a:lnTo>
                    <a:pt x="346418" y="864089"/>
                  </a:lnTo>
                  <a:lnTo>
                    <a:pt x="290850" y="854526"/>
                  </a:lnTo>
                  <a:lnTo>
                    <a:pt x="240154" y="842009"/>
                  </a:lnTo>
                  <a:lnTo>
                    <a:pt x="195237" y="826802"/>
                  </a:lnTo>
                  <a:lnTo>
                    <a:pt x="157008" y="809170"/>
                  </a:lnTo>
                  <a:lnTo>
                    <a:pt x="104255" y="767693"/>
                  </a:lnTo>
                  <a:lnTo>
                    <a:pt x="90917" y="712475"/>
                  </a:lnTo>
                  <a:lnTo>
                    <a:pt x="108788" y="681656"/>
                  </a:lnTo>
                  <a:lnTo>
                    <a:pt x="144233" y="652956"/>
                  </a:lnTo>
                  <a:lnTo>
                    <a:pt x="196323" y="627411"/>
                  </a:lnTo>
                  <a:lnTo>
                    <a:pt x="138007" y="612054"/>
                  </a:lnTo>
                  <a:lnTo>
                    <a:pt x="89396" y="593628"/>
                  </a:lnTo>
                  <a:lnTo>
                    <a:pt x="50889" y="572702"/>
                  </a:lnTo>
                  <a:lnTo>
                    <a:pt x="5790" y="525636"/>
                  </a:lnTo>
                  <a:lnTo>
                    <a:pt x="0" y="500637"/>
                  </a:lnTo>
                  <a:lnTo>
                    <a:pt x="5914" y="475421"/>
                  </a:lnTo>
                  <a:lnTo>
                    <a:pt x="54464" y="426624"/>
                  </a:lnTo>
                  <a:lnTo>
                    <a:pt x="90255" y="407611"/>
                  </a:lnTo>
                  <a:lnTo>
                    <a:pt x="133110" y="391111"/>
                  </a:lnTo>
                  <a:lnTo>
                    <a:pt x="182067" y="377348"/>
                  </a:lnTo>
                  <a:lnTo>
                    <a:pt x="236168" y="366548"/>
                  </a:lnTo>
                  <a:lnTo>
                    <a:pt x="294453" y="358938"/>
                  </a:lnTo>
                  <a:lnTo>
                    <a:pt x="355962" y="354742"/>
                  </a:lnTo>
                  <a:lnTo>
                    <a:pt x="359391" y="351440"/>
                  </a:lnTo>
                  <a:close/>
                </a:path>
                <a:path w="3948429" h="1067435">
                  <a:moveTo>
                    <a:pt x="431781" y="642905"/>
                  </a:moveTo>
                  <a:lnTo>
                    <a:pt x="383418" y="643248"/>
                  </a:lnTo>
                  <a:lnTo>
                    <a:pt x="335598" y="641415"/>
                  </a:lnTo>
                  <a:lnTo>
                    <a:pt x="288833" y="637455"/>
                  </a:lnTo>
                  <a:lnTo>
                    <a:pt x="243634" y="631416"/>
                  </a:lnTo>
                  <a:lnTo>
                    <a:pt x="200514" y="623347"/>
                  </a:lnTo>
                </a:path>
                <a:path w="3948429" h="1067435">
                  <a:moveTo>
                    <a:pt x="635743" y="858297"/>
                  </a:moveTo>
                  <a:lnTo>
                    <a:pt x="611105" y="861607"/>
                  </a:lnTo>
                  <a:lnTo>
                    <a:pt x="585990" y="864298"/>
                  </a:lnTo>
                  <a:lnTo>
                    <a:pt x="560448" y="866369"/>
                  </a:lnTo>
                  <a:lnTo>
                    <a:pt x="534524" y="867822"/>
                  </a:lnTo>
                </a:path>
                <a:path w="3948429" h="1067435">
                  <a:moveTo>
                    <a:pt x="1507471" y="961802"/>
                  </a:moveTo>
                  <a:lnTo>
                    <a:pt x="1489927" y="951541"/>
                  </a:lnTo>
                  <a:lnTo>
                    <a:pt x="1473895" y="940958"/>
                  </a:lnTo>
                  <a:lnTo>
                    <a:pt x="1459411" y="930066"/>
                  </a:lnTo>
                  <a:lnTo>
                    <a:pt x="1446511" y="918876"/>
                  </a:lnTo>
                </a:path>
                <a:path w="3948429" h="1067435">
                  <a:moveTo>
                    <a:pt x="2634723" y="854741"/>
                  </a:moveTo>
                  <a:lnTo>
                    <a:pt x="2631181" y="866693"/>
                  </a:lnTo>
                  <a:lnTo>
                    <a:pt x="2625912" y="878537"/>
                  </a:lnTo>
                  <a:lnTo>
                    <a:pt x="2618953" y="890263"/>
                  </a:lnTo>
                  <a:lnTo>
                    <a:pt x="2610339" y="901858"/>
                  </a:lnTo>
                </a:path>
                <a:path w="3948429" h="1067435">
                  <a:moveTo>
                    <a:pt x="3118720" y="563403"/>
                  </a:moveTo>
                  <a:lnTo>
                    <a:pt x="3184047" y="577311"/>
                  </a:lnTo>
                  <a:lnTo>
                    <a:pt x="3242479" y="594230"/>
                  </a:lnTo>
                  <a:lnTo>
                    <a:pt x="3293431" y="613813"/>
                  </a:lnTo>
                  <a:lnTo>
                    <a:pt x="3336318" y="635713"/>
                  </a:lnTo>
                  <a:lnTo>
                    <a:pt x="3370555" y="659584"/>
                  </a:lnTo>
                  <a:lnTo>
                    <a:pt x="3410741" y="711850"/>
                  </a:lnTo>
                  <a:lnTo>
                    <a:pt x="3415519" y="739552"/>
                  </a:lnTo>
                </a:path>
                <a:path w="3948429" h="1067435">
                  <a:moveTo>
                    <a:pt x="3818744" y="375697"/>
                  </a:moveTo>
                  <a:lnTo>
                    <a:pt x="3793657" y="394267"/>
                  </a:lnTo>
                  <a:lnTo>
                    <a:pt x="3763022" y="411574"/>
                  </a:lnTo>
                  <a:lnTo>
                    <a:pt x="3727197" y="427453"/>
                  </a:lnTo>
                  <a:lnTo>
                    <a:pt x="3686537" y="441737"/>
                  </a:lnTo>
                </a:path>
                <a:path w="3948429" h="1067435">
                  <a:moveTo>
                    <a:pt x="3501625" y="130587"/>
                  </a:moveTo>
                  <a:lnTo>
                    <a:pt x="3504913" y="138324"/>
                  </a:lnTo>
                  <a:lnTo>
                    <a:pt x="3507165" y="146097"/>
                  </a:lnTo>
                  <a:lnTo>
                    <a:pt x="3508393" y="153893"/>
                  </a:lnTo>
                  <a:lnTo>
                    <a:pt x="3508610" y="161702"/>
                  </a:lnTo>
                </a:path>
                <a:path w="3948429" h="1067435">
                  <a:moveTo>
                    <a:pt x="2657583" y="94138"/>
                  </a:moveTo>
                  <a:lnTo>
                    <a:pt x="2671553" y="83551"/>
                  </a:lnTo>
                  <a:lnTo>
                    <a:pt x="2687523" y="73357"/>
                  </a:lnTo>
                  <a:lnTo>
                    <a:pt x="2705446" y="63616"/>
                  </a:lnTo>
                  <a:lnTo>
                    <a:pt x="2725274" y="54387"/>
                  </a:lnTo>
                </a:path>
                <a:path w="3948429" h="1067435">
                  <a:moveTo>
                    <a:pt x="2024361" y="113061"/>
                  </a:moveTo>
                  <a:lnTo>
                    <a:pt x="2030411" y="104256"/>
                  </a:lnTo>
                  <a:lnTo>
                    <a:pt x="2037902" y="95582"/>
                  </a:lnTo>
                  <a:lnTo>
                    <a:pt x="2046846" y="87075"/>
                  </a:lnTo>
                  <a:lnTo>
                    <a:pt x="2057254" y="78771"/>
                  </a:lnTo>
                </a:path>
                <a:path w="3948429" h="1067435">
                  <a:moveTo>
                    <a:pt x="1281284" y="124745"/>
                  </a:moveTo>
                  <a:lnTo>
                    <a:pt x="1312962" y="132051"/>
                  </a:lnTo>
                  <a:lnTo>
                    <a:pt x="1343355" y="140048"/>
                  </a:lnTo>
                  <a:lnTo>
                    <a:pt x="1372366" y="148712"/>
                  </a:lnTo>
                  <a:lnTo>
                    <a:pt x="1399902" y="158019"/>
                  </a:lnTo>
                </a:path>
                <a:path w="3948429" h="1067435">
                  <a:moveTo>
                    <a:pt x="380092" y="386492"/>
                  </a:moveTo>
                  <a:lnTo>
                    <a:pt x="373500" y="377800"/>
                  </a:lnTo>
                  <a:lnTo>
                    <a:pt x="367836" y="369061"/>
                  </a:lnTo>
                  <a:lnTo>
                    <a:pt x="363125" y="360274"/>
                  </a:lnTo>
                  <a:lnTo>
                    <a:pt x="359391" y="351440"/>
                  </a:lnTo>
                </a:path>
              </a:pathLst>
            </a:custGeom>
            <a:noFill/>
            <a:ln w="25400">
              <a:solidFill>
                <a:srgbClr val="A264D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050"/>
            </a:p>
          </p:txBody>
        </p:sp>
        <p:sp>
          <p:nvSpPr>
            <p:cNvPr id="14" name="object 7">
              <a:extLst>
                <a:ext uri="{FF2B5EF4-FFF2-40B4-BE49-F238E27FC236}">
                  <a16:creationId xmlns:a16="http://schemas.microsoft.com/office/drawing/2014/main" id="{54C507F0-1334-463F-9D80-CDF9F05E52E9}"/>
                </a:ext>
              </a:extLst>
            </p:cNvPr>
            <p:cNvSpPr>
              <a:spLocks/>
            </p:cNvSpPr>
            <p:nvPr/>
          </p:nvSpPr>
          <p:spPr bwMode="auto">
            <a:xfrm>
              <a:off x="3981450" y="3943349"/>
              <a:ext cx="3990975" cy="1876425"/>
            </a:xfrm>
            <a:custGeom>
              <a:avLst/>
              <a:gdLst>
                <a:gd name="T0" fmla="*/ 3990975 w 3990975"/>
                <a:gd name="T1" fmla="*/ 1876425 h 1876425"/>
                <a:gd name="T2" fmla="*/ 2667000 w 3990975"/>
                <a:gd name="T3" fmla="*/ 0 h 1876425"/>
                <a:gd name="T4" fmla="*/ 1995487 w 3990975"/>
                <a:gd name="T5" fmla="*/ 951712 h 1876425"/>
                <a:gd name="T6" fmla="*/ 1323975 w 3990975"/>
                <a:gd name="T7" fmla="*/ 0 h 1876425"/>
                <a:gd name="T8" fmla="*/ 0 w 3990975"/>
                <a:gd name="T9" fmla="*/ 1876425 h 1876425"/>
                <a:gd name="T10" fmla="*/ 1343025 w 3990975"/>
                <a:gd name="T11" fmla="*/ 1876425 h 1876425"/>
                <a:gd name="T12" fmla="*/ 2647950 w 3990975"/>
                <a:gd name="T13" fmla="*/ 1876425 h 1876425"/>
                <a:gd name="T14" fmla="*/ 3990975 w 3990975"/>
                <a:gd name="T15" fmla="*/ 1876425 h 18764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90975" h="1876425">
                  <a:moveTo>
                    <a:pt x="3990975" y="1876425"/>
                  </a:moveTo>
                  <a:lnTo>
                    <a:pt x="2667000" y="0"/>
                  </a:lnTo>
                  <a:lnTo>
                    <a:pt x="1995487" y="951712"/>
                  </a:lnTo>
                  <a:lnTo>
                    <a:pt x="1323975" y="0"/>
                  </a:lnTo>
                  <a:lnTo>
                    <a:pt x="0" y="1876425"/>
                  </a:lnTo>
                  <a:lnTo>
                    <a:pt x="1343025" y="1876425"/>
                  </a:lnTo>
                  <a:lnTo>
                    <a:pt x="2647950" y="1876425"/>
                  </a:lnTo>
                  <a:lnTo>
                    <a:pt x="3990975" y="1876425"/>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15" name="object 8">
              <a:extLst>
                <a:ext uri="{FF2B5EF4-FFF2-40B4-BE49-F238E27FC236}">
                  <a16:creationId xmlns:a16="http://schemas.microsoft.com/office/drawing/2014/main" id="{963ABAA3-7D60-C297-5E91-1ABBCD5B131A}"/>
                </a:ext>
              </a:extLst>
            </p:cNvPr>
            <p:cNvSpPr>
              <a:spLocks/>
            </p:cNvSpPr>
            <p:nvPr/>
          </p:nvSpPr>
          <p:spPr bwMode="auto">
            <a:xfrm>
              <a:off x="3090926" y="3910076"/>
              <a:ext cx="2990850" cy="2114550"/>
            </a:xfrm>
            <a:custGeom>
              <a:avLst/>
              <a:gdLst>
                <a:gd name="T0" fmla="*/ 1495425 w 2990850"/>
                <a:gd name="T1" fmla="*/ 0 h 2114550"/>
                <a:gd name="T2" fmla="*/ 0 w 2990850"/>
                <a:gd name="T3" fmla="*/ 2114486 h 2114550"/>
                <a:gd name="T4" fmla="*/ 2990850 w 2990850"/>
                <a:gd name="T5" fmla="*/ 2114486 h 2114550"/>
                <a:gd name="T6" fmla="*/ 1495425 w 2990850"/>
                <a:gd name="T7" fmla="*/ 0 h 21145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90850" h="2114550">
                  <a:moveTo>
                    <a:pt x="1495425" y="0"/>
                  </a:moveTo>
                  <a:lnTo>
                    <a:pt x="0" y="2114486"/>
                  </a:lnTo>
                  <a:lnTo>
                    <a:pt x="2990850" y="2114486"/>
                  </a:lnTo>
                  <a:lnTo>
                    <a:pt x="1495425"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16" name="object 9">
              <a:extLst>
                <a:ext uri="{FF2B5EF4-FFF2-40B4-BE49-F238E27FC236}">
                  <a16:creationId xmlns:a16="http://schemas.microsoft.com/office/drawing/2014/main" id="{B5253C98-968D-BC66-2428-1632E09B231D}"/>
                </a:ext>
              </a:extLst>
            </p:cNvPr>
            <p:cNvSpPr>
              <a:spLocks/>
            </p:cNvSpPr>
            <p:nvPr/>
          </p:nvSpPr>
          <p:spPr bwMode="auto">
            <a:xfrm>
              <a:off x="3090926" y="3910076"/>
              <a:ext cx="2990850" cy="2114550"/>
            </a:xfrm>
            <a:custGeom>
              <a:avLst/>
              <a:gdLst>
                <a:gd name="T0" fmla="*/ 0 w 2990850"/>
                <a:gd name="T1" fmla="*/ 2114486 h 2114550"/>
                <a:gd name="T2" fmla="*/ 1495425 w 2990850"/>
                <a:gd name="T3" fmla="*/ 0 h 2114550"/>
                <a:gd name="T4" fmla="*/ 2990850 w 2990850"/>
                <a:gd name="T5" fmla="*/ 2114486 h 2114550"/>
                <a:gd name="T6" fmla="*/ 0 w 2990850"/>
                <a:gd name="T7" fmla="*/ 2114486 h 21145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90850" h="2114550">
                  <a:moveTo>
                    <a:pt x="0" y="2114486"/>
                  </a:moveTo>
                  <a:lnTo>
                    <a:pt x="1495425" y="0"/>
                  </a:lnTo>
                  <a:lnTo>
                    <a:pt x="2990850" y="2114486"/>
                  </a:lnTo>
                  <a:lnTo>
                    <a:pt x="0" y="2114486"/>
                  </a:lnTo>
                  <a:close/>
                </a:path>
              </a:pathLst>
            </a:custGeom>
            <a:noFill/>
            <a:ln w="25399">
              <a:solidFill>
                <a:srgbClr val="F1F1F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050"/>
            </a:p>
          </p:txBody>
        </p:sp>
        <p:sp>
          <p:nvSpPr>
            <p:cNvPr id="17" name="object 10">
              <a:extLst>
                <a:ext uri="{FF2B5EF4-FFF2-40B4-BE49-F238E27FC236}">
                  <a16:creationId xmlns:a16="http://schemas.microsoft.com/office/drawing/2014/main" id="{C7B57C92-EA98-5EA7-86E6-39256A159706}"/>
                </a:ext>
              </a:extLst>
            </p:cNvPr>
            <p:cNvSpPr>
              <a:spLocks/>
            </p:cNvSpPr>
            <p:nvPr/>
          </p:nvSpPr>
          <p:spPr bwMode="auto">
            <a:xfrm>
              <a:off x="5977001" y="3910076"/>
              <a:ext cx="2990850" cy="2114550"/>
            </a:xfrm>
            <a:custGeom>
              <a:avLst/>
              <a:gdLst>
                <a:gd name="T0" fmla="*/ 1495425 w 2990850"/>
                <a:gd name="T1" fmla="*/ 0 h 2114550"/>
                <a:gd name="T2" fmla="*/ 0 w 2990850"/>
                <a:gd name="T3" fmla="*/ 2114486 h 2114550"/>
                <a:gd name="T4" fmla="*/ 2990850 w 2990850"/>
                <a:gd name="T5" fmla="*/ 2114486 h 2114550"/>
                <a:gd name="T6" fmla="*/ 1495425 w 2990850"/>
                <a:gd name="T7" fmla="*/ 0 h 21145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90850" h="2114550">
                  <a:moveTo>
                    <a:pt x="1495425" y="0"/>
                  </a:moveTo>
                  <a:lnTo>
                    <a:pt x="0" y="2114486"/>
                  </a:lnTo>
                  <a:lnTo>
                    <a:pt x="2990850" y="2114486"/>
                  </a:lnTo>
                  <a:lnTo>
                    <a:pt x="1495425"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18" name="object 11">
              <a:extLst>
                <a:ext uri="{FF2B5EF4-FFF2-40B4-BE49-F238E27FC236}">
                  <a16:creationId xmlns:a16="http://schemas.microsoft.com/office/drawing/2014/main" id="{A1DFCFF5-B406-7395-5D0F-1B0C8B23AFAD}"/>
                </a:ext>
              </a:extLst>
            </p:cNvPr>
            <p:cNvSpPr>
              <a:spLocks/>
            </p:cNvSpPr>
            <p:nvPr/>
          </p:nvSpPr>
          <p:spPr bwMode="auto">
            <a:xfrm>
              <a:off x="5977001" y="3910076"/>
              <a:ext cx="2990850" cy="2114550"/>
            </a:xfrm>
            <a:custGeom>
              <a:avLst/>
              <a:gdLst>
                <a:gd name="T0" fmla="*/ 0 w 2990850"/>
                <a:gd name="T1" fmla="*/ 2114486 h 2114550"/>
                <a:gd name="T2" fmla="*/ 1495425 w 2990850"/>
                <a:gd name="T3" fmla="*/ 0 h 2114550"/>
                <a:gd name="T4" fmla="*/ 2990850 w 2990850"/>
                <a:gd name="T5" fmla="*/ 2114486 h 2114550"/>
                <a:gd name="T6" fmla="*/ 0 w 2990850"/>
                <a:gd name="T7" fmla="*/ 2114486 h 21145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90850" h="2114550">
                  <a:moveTo>
                    <a:pt x="0" y="2114486"/>
                  </a:moveTo>
                  <a:lnTo>
                    <a:pt x="1495425" y="0"/>
                  </a:lnTo>
                  <a:lnTo>
                    <a:pt x="2990850" y="2114486"/>
                  </a:lnTo>
                  <a:lnTo>
                    <a:pt x="0" y="2114486"/>
                  </a:lnTo>
                  <a:close/>
                </a:path>
              </a:pathLst>
            </a:custGeom>
            <a:noFill/>
            <a:ln w="25399">
              <a:solidFill>
                <a:srgbClr val="F1F1F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050"/>
            </a:p>
          </p:txBody>
        </p:sp>
        <p:sp>
          <p:nvSpPr>
            <p:cNvPr id="19" name="object 12">
              <a:extLst>
                <a:ext uri="{FF2B5EF4-FFF2-40B4-BE49-F238E27FC236}">
                  <a16:creationId xmlns:a16="http://schemas.microsoft.com/office/drawing/2014/main" id="{45AA5F8E-AFF2-00D7-E8CE-747C84FF3402}"/>
                </a:ext>
              </a:extLst>
            </p:cNvPr>
            <p:cNvSpPr>
              <a:spLocks/>
            </p:cNvSpPr>
            <p:nvPr/>
          </p:nvSpPr>
          <p:spPr bwMode="auto">
            <a:xfrm>
              <a:off x="5767451" y="3910076"/>
              <a:ext cx="523875" cy="371475"/>
            </a:xfrm>
            <a:custGeom>
              <a:avLst/>
              <a:gdLst>
                <a:gd name="T0" fmla="*/ 262763 w 523875"/>
                <a:gd name="T1" fmla="*/ 0 h 371475"/>
                <a:gd name="T2" fmla="*/ 260985 w 523875"/>
                <a:gd name="T3" fmla="*/ 0 h 371475"/>
                <a:gd name="T4" fmla="*/ 0 w 523875"/>
                <a:gd name="T5" fmla="*/ 371475 h 371475"/>
                <a:gd name="T6" fmla="*/ 523875 w 523875"/>
                <a:gd name="T7" fmla="*/ 371475 h 371475"/>
                <a:gd name="T8" fmla="*/ 262763 w 523875"/>
                <a:gd name="T9" fmla="*/ 0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3875" h="371475">
                  <a:moveTo>
                    <a:pt x="262763" y="0"/>
                  </a:moveTo>
                  <a:lnTo>
                    <a:pt x="260985" y="0"/>
                  </a:lnTo>
                  <a:lnTo>
                    <a:pt x="0" y="371475"/>
                  </a:lnTo>
                  <a:lnTo>
                    <a:pt x="523875" y="371475"/>
                  </a:lnTo>
                  <a:lnTo>
                    <a:pt x="262763"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20" name="object 13">
              <a:extLst>
                <a:ext uri="{FF2B5EF4-FFF2-40B4-BE49-F238E27FC236}">
                  <a16:creationId xmlns:a16="http://schemas.microsoft.com/office/drawing/2014/main" id="{7927798D-AD81-4CBF-70FA-345DE34F1CC4}"/>
                </a:ext>
              </a:extLst>
            </p:cNvPr>
            <p:cNvSpPr>
              <a:spLocks/>
            </p:cNvSpPr>
            <p:nvPr/>
          </p:nvSpPr>
          <p:spPr bwMode="auto">
            <a:xfrm>
              <a:off x="5767451" y="3910076"/>
              <a:ext cx="523875" cy="371475"/>
            </a:xfrm>
            <a:custGeom>
              <a:avLst/>
              <a:gdLst>
                <a:gd name="T0" fmla="*/ 0 w 523875"/>
                <a:gd name="T1" fmla="*/ 371475 h 371475"/>
                <a:gd name="T2" fmla="*/ 260985 w 523875"/>
                <a:gd name="T3" fmla="*/ 0 h 371475"/>
                <a:gd name="T4" fmla="*/ 262763 w 523875"/>
                <a:gd name="T5" fmla="*/ 0 h 371475"/>
                <a:gd name="T6" fmla="*/ 523875 w 523875"/>
                <a:gd name="T7" fmla="*/ 371475 h 371475"/>
                <a:gd name="T8" fmla="*/ 0 w 523875"/>
                <a:gd name="T9" fmla="*/ 371475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3875" h="371475">
                  <a:moveTo>
                    <a:pt x="0" y="371475"/>
                  </a:moveTo>
                  <a:lnTo>
                    <a:pt x="260985" y="0"/>
                  </a:lnTo>
                  <a:lnTo>
                    <a:pt x="262763" y="0"/>
                  </a:lnTo>
                  <a:lnTo>
                    <a:pt x="523875" y="371475"/>
                  </a:lnTo>
                  <a:lnTo>
                    <a:pt x="0" y="371475"/>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050"/>
            </a:p>
          </p:txBody>
        </p:sp>
      </p:grpSp>
      <p:sp>
        <p:nvSpPr>
          <p:cNvPr id="21" name="object 16">
            <a:extLst>
              <a:ext uri="{FF2B5EF4-FFF2-40B4-BE49-F238E27FC236}">
                <a16:creationId xmlns:a16="http://schemas.microsoft.com/office/drawing/2014/main" id="{DBCC07B7-8FF5-6768-DC92-20F6AFFCF171}"/>
              </a:ext>
            </a:extLst>
          </p:cNvPr>
          <p:cNvSpPr txBox="1"/>
          <p:nvPr/>
        </p:nvSpPr>
        <p:spPr>
          <a:xfrm>
            <a:off x="4398169" y="3002756"/>
            <a:ext cx="250031" cy="121732"/>
          </a:xfrm>
          <a:prstGeom prst="rect">
            <a:avLst/>
          </a:prstGeom>
        </p:spPr>
        <p:txBody>
          <a:bodyPr lIns="0" tIns="11906" rIns="0" bIns="0">
            <a:spAutoFit/>
          </a:bodyPr>
          <a:lstStyle/>
          <a:p>
            <a:pPr marL="9525">
              <a:spcBef>
                <a:spcPts val="94"/>
              </a:spcBef>
              <a:defRPr/>
            </a:pPr>
            <a:r>
              <a:rPr sz="713" b="1" spc="-15" dirty="0">
                <a:solidFill>
                  <a:sysClr val="windowText" lastClr="000000"/>
                </a:solidFill>
              </a:rPr>
              <a:t>TTPs</a:t>
            </a:r>
            <a:endParaRPr sz="713">
              <a:solidFill>
                <a:sysClr val="windowText" lastClr="000000"/>
              </a:solidFill>
            </a:endParaRPr>
          </a:p>
        </p:txBody>
      </p:sp>
      <p:grpSp>
        <p:nvGrpSpPr>
          <p:cNvPr id="22" name="object 17">
            <a:extLst>
              <a:ext uri="{FF2B5EF4-FFF2-40B4-BE49-F238E27FC236}">
                <a16:creationId xmlns:a16="http://schemas.microsoft.com/office/drawing/2014/main" id="{FEA9F217-B709-2A30-B7E7-F9061993FD09}"/>
              </a:ext>
            </a:extLst>
          </p:cNvPr>
          <p:cNvGrpSpPr>
            <a:grpSpLocks/>
          </p:cNvGrpSpPr>
          <p:nvPr/>
        </p:nvGrpSpPr>
        <p:grpSpPr bwMode="auto">
          <a:xfrm>
            <a:off x="4123135" y="3201592"/>
            <a:ext cx="797719" cy="297656"/>
            <a:chOff x="5497576" y="4268851"/>
            <a:chExt cx="1063625" cy="396875"/>
          </a:xfrm>
        </p:grpSpPr>
        <p:sp>
          <p:nvSpPr>
            <p:cNvPr id="23" name="object 18">
              <a:extLst>
                <a:ext uri="{FF2B5EF4-FFF2-40B4-BE49-F238E27FC236}">
                  <a16:creationId xmlns:a16="http://schemas.microsoft.com/office/drawing/2014/main" id="{B1809A20-F458-71EE-0852-EC4F1C9B2281}"/>
                </a:ext>
              </a:extLst>
            </p:cNvPr>
            <p:cNvSpPr>
              <a:spLocks/>
            </p:cNvSpPr>
            <p:nvPr/>
          </p:nvSpPr>
          <p:spPr bwMode="auto">
            <a:xfrm>
              <a:off x="5510276" y="4281551"/>
              <a:ext cx="1038225" cy="371475"/>
            </a:xfrm>
            <a:custGeom>
              <a:avLst/>
              <a:gdLst>
                <a:gd name="T0" fmla="*/ 777113 w 1038225"/>
                <a:gd name="T1" fmla="*/ 0 h 371475"/>
                <a:gd name="T2" fmla="*/ 260985 w 1038225"/>
                <a:gd name="T3" fmla="*/ 0 h 371475"/>
                <a:gd name="T4" fmla="*/ 0 w 1038225"/>
                <a:gd name="T5" fmla="*/ 371475 h 371475"/>
                <a:gd name="T6" fmla="*/ 1038225 w 1038225"/>
                <a:gd name="T7" fmla="*/ 371475 h 371475"/>
                <a:gd name="T8" fmla="*/ 777113 w 1038225"/>
                <a:gd name="T9" fmla="*/ 0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225" h="371475">
                  <a:moveTo>
                    <a:pt x="777113" y="0"/>
                  </a:moveTo>
                  <a:lnTo>
                    <a:pt x="260985" y="0"/>
                  </a:lnTo>
                  <a:lnTo>
                    <a:pt x="0" y="371475"/>
                  </a:lnTo>
                  <a:lnTo>
                    <a:pt x="1038225" y="371475"/>
                  </a:lnTo>
                  <a:lnTo>
                    <a:pt x="777113" y="0"/>
                  </a:lnTo>
                  <a:close/>
                </a:path>
              </a:pathLst>
            </a:cu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24" name="object 19">
              <a:extLst>
                <a:ext uri="{FF2B5EF4-FFF2-40B4-BE49-F238E27FC236}">
                  <a16:creationId xmlns:a16="http://schemas.microsoft.com/office/drawing/2014/main" id="{1204CD58-B30D-416F-3AC4-036221D722EA}"/>
                </a:ext>
              </a:extLst>
            </p:cNvPr>
            <p:cNvSpPr>
              <a:spLocks/>
            </p:cNvSpPr>
            <p:nvPr/>
          </p:nvSpPr>
          <p:spPr bwMode="auto">
            <a:xfrm>
              <a:off x="5510276" y="4281551"/>
              <a:ext cx="1038225" cy="371475"/>
            </a:xfrm>
            <a:custGeom>
              <a:avLst/>
              <a:gdLst>
                <a:gd name="T0" fmla="*/ 0 w 1038225"/>
                <a:gd name="T1" fmla="*/ 371475 h 371475"/>
                <a:gd name="T2" fmla="*/ 260985 w 1038225"/>
                <a:gd name="T3" fmla="*/ 0 h 371475"/>
                <a:gd name="T4" fmla="*/ 777113 w 1038225"/>
                <a:gd name="T5" fmla="*/ 0 h 371475"/>
                <a:gd name="T6" fmla="*/ 1038225 w 1038225"/>
                <a:gd name="T7" fmla="*/ 371475 h 371475"/>
                <a:gd name="T8" fmla="*/ 0 w 1038225"/>
                <a:gd name="T9" fmla="*/ 371475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225" h="371475">
                  <a:moveTo>
                    <a:pt x="0" y="371475"/>
                  </a:moveTo>
                  <a:lnTo>
                    <a:pt x="260985" y="0"/>
                  </a:lnTo>
                  <a:lnTo>
                    <a:pt x="777113" y="0"/>
                  </a:lnTo>
                  <a:lnTo>
                    <a:pt x="1038225" y="371475"/>
                  </a:lnTo>
                  <a:lnTo>
                    <a:pt x="0" y="371475"/>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050"/>
            </a:p>
          </p:txBody>
        </p:sp>
      </p:grpSp>
      <p:sp>
        <p:nvSpPr>
          <p:cNvPr id="25" name="object 20">
            <a:extLst>
              <a:ext uri="{FF2B5EF4-FFF2-40B4-BE49-F238E27FC236}">
                <a16:creationId xmlns:a16="http://schemas.microsoft.com/office/drawing/2014/main" id="{8CE81313-EB50-75D5-5638-157C1B104946}"/>
              </a:ext>
            </a:extLst>
          </p:cNvPr>
          <p:cNvSpPr txBox="1"/>
          <p:nvPr/>
        </p:nvSpPr>
        <p:spPr>
          <a:xfrm>
            <a:off x="4389835" y="3280172"/>
            <a:ext cx="270272" cy="121732"/>
          </a:xfrm>
          <a:prstGeom prst="rect">
            <a:avLst/>
          </a:prstGeom>
        </p:spPr>
        <p:txBody>
          <a:bodyPr lIns="0" tIns="11906" rIns="0" bIns="0">
            <a:spAutoFit/>
          </a:bodyPr>
          <a:lstStyle/>
          <a:p>
            <a:pPr marL="9525">
              <a:spcBef>
                <a:spcPts val="94"/>
              </a:spcBef>
              <a:defRPr/>
            </a:pPr>
            <a:r>
              <a:rPr sz="713" b="1" spc="-8" dirty="0">
                <a:solidFill>
                  <a:sysClr val="windowText" lastClr="000000"/>
                </a:solidFill>
              </a:rPr>
              <a:t>Tools</a:t>
            </a:r>
            <a:endParaRPr sz="713">
              <a:solidFill>
                <a:sysClr val="windowText" lastClr="000000"/>
              </a:solidFill>
            </a:endParaRPr>
          </a:p>
        </p:txBody>
      </p:sp>
      <p:grpSp>
        <p:nvGrpSpPr>
          <p:cNvPr id="26" name="object 21">
            <a:extLst>
              <a:ext uri="{FF2B5EF4-FFF2-40B4-BE49-F238E27FC236}">
                <a16:creationId xmlns:a16="http://schemas.microsoft.com/office/drawing/2014/main" id="{0084020B-AA37-3268-F4F8-A4C8824D7EF3}"/>
              </a:ext>
            </a:extLst>
          </p:cNvPr>
          <p:cNvGrpSpPr>
            <a:grpSpLocks/>
          </p:cNvGrpSpPr>
          <p:nvPr/>
        </p:nvGrpSpPr>
        <p:grpSpPr bwMode="auto">
          <a:xfrm>
            <a:off x="3537348" y="3480198"/>
            <a:ext cx="1969294" cy="854869"/>
            <a:chOff x="4716526" y="4640326"/>
            <a:chExt cx="2625725" cy="1139825"/>
          </a:xfrm>
        </p:grpSpPr>
        <p:sp>
          <p:nvSpPr>
            <p:cNvPr id="27" name="object 22">
              <a:extLst>
                <a:ext uri="{FF2B5EF4-FFF2-40B4-BE49-F238E27FC236}">
                  <a16:creationId xmlns:a16="http://schemas.microsoft.com/office/drawing/2014/main" id="{DFA7192D-1BCF-898C-F4F8-C52DC1DBABAB}"/>
                </a:ext>
              </a:extLst>
            </p:cNvPr>
            <p:cNvSpPr>
              <a:spLocks/>
            </p:cNvSpPr>
            <p:nvPr/>
          </p:nvSpPr>
          <p:spPr bwMode="auto">
            <a:xfrm>
              <a:off x="5253101" y="4653026"/>
              <a:ext cx="1552575" cy="371475"/>
            </a:xfrm>
            <a:custGeom>
              <a:avLst/>
              <a:gdLst>
                <a:gd name="T0" fmla="*/ 1291463 w 1552575"/>
                <a:gd name="T1" fmla="*/ 0 h 371475"/>
                <a:gd name="T2" fmla="*/ 260985 w 1552575"/>
                <a:gd name="T3" fmla="*/ 0 h 371475"/>
                <a:gd name="T4" fmla="*/ 0 w 1552575"/>
                <a:gd name="T5" fmla="*/ 371475 h 371475"/>
                <a:gd name="T6" fmla="*/ 1552575 w 1552575"/>
                <a:gd name="T7" fmla="*/ 371475 h 371475"/>
                <a:gd name="T8" fmla="*/ 1291463 w 1552575"/>
                <a:gd name="T9" fmla="*/ 0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2575" h="371475">
                  <a:moveTo>
                    <a:pt x="1291463" y="0"/>
                  </a:moveTo>
                  <a:lnTo>
                    <a:pt x="260985" y="0"/>
                  </a:lnTo>
                  <a:lnTo>
                    <a:pt x="0" y="371475"/>
                  </a:lnTo>
                  <a:lnTo>
                    <a:pt x="1552575" y="371475"/>
                  </a:lnTo>
                  <a:lnTo>
                    <a:pt x="1291463"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28" name="object 23">
              <a:extLst>
                <a:ext uri="{FF2B5EF4-FFF2-40B4-BE49-F238E27FC236}">
                  <a16:creationId xmlns:a16="http://schemas.microsoft.com/office/drawing/2014/main" id="{35CDD413-FF36-B885-212B-4C5D33DCB6E8}"/>
                </a:ext>
              </a:extLst>
            </p:cNvPr>
            <p:cNvSpPr>
              <a:spLocks/>
            </p:cNvSpPr>
            <p:nvPr/>
          </p:nvSpPr>
          <p:spPr bwMode="auto">
            <a:xfrm>
              <a:off x="5253101" y="4653026"/>
              <a:ext cx="1552575" cy="371475"/>
            </a:xfrm>
            <a:custGeom>
              <a:avLst/>
              <a:gdLst>
                <a:gd name="T0" fmla="*/ 0 w 1552575"/>
                <a:gd name="T1" fmla="*/ 371475 h 371475"/>
                <a:gd name="T2" fmla="*/ 260985 w 1552575"/>
                <a:gd name="T3" fmla="*/ 0 h 371475"/>
                <a:gd name="T4" fmla="*/ 1291463 w 1552575"/>
                <a:gd name="T5" fmla="*/ 0 h 371475"/>
                <a:gd name="T6" fmla="*/ 1552575 w 1552575"/>
                <a:gd name="T7" fmla="*/ 371475 h 371475"/>
                <a:gd name="T8" fmla="*/ 0 w 1552575"/>
                <a:gd name="T9" fmla="*/ 371475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2575" h="371475">
                  <a:moveTo>
                    <a:pt x="0" y="371475"/>
                  </a:moveTo>
                  <a:lnTo>
                    <a:pt x="260985" y="0"/>
                  </a:lnTo>
                  <a:lnTo>
                    <a:pt x="1291463" y="0"/>
                  </a:lnTo>
                  <a:lnTo>
                    <a:pt x="1552575" y="371475"/>
                  </a:lnTo>
                  <a:lnTo>
                    <a:pt x="0" y="371475"/>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050"/>
            </a:p>
          </p:txBody>
        </p:sp>
        <p:sp>
          <p:nvSpPr>
            <p:cNvPr id="29" name="object 24">
              <a:extLst>
                <a:ext uri="{FF2B5EF4-FFF2-40B4-BE49-F238E27FC236}">
                  <a16:creationId xmlns:a16="http://schemas.microsoft.com/office/drawing/2014/main" id="{C642EC69-881D-C891-4490-F350234FBF6D}"/>
                </a:ext>
              </a:extLst>
            </p:cNvPr>
            <p:cNvSpPr>
              <a:spLocks/>
            </p:cNvSpPr>
            <p:nvPr/>
          </p:nvSpPr>
          <p:spPr bwMode="auto">
            <a:xfrm>
              <a:off x="4986401" y="5024501"/>
              <a:ext cx="2085975" cy="371475"/>
            </a:xfrm>
            <a:custGeom>
              <a:avLst/>
              <a:gdLst>
                <a:gd name="T0" fmla="*/ 1824863 w 2085975"/>
                <a:gd name="T1" fmla="*/ 0 h 371475"/>
                <a:gd name="T2" fmla="*/ 260985 w 2085975"/>
                <a:gd name="T3" fmla="*/ 0 h 371475"/>
                <a:gd name="T4" fmla="*/ 0 w 2085975"/>
                <a:gd name="T5" fmla="*/ 371475 h 371475"/>
                <a:gd name="T6" fmla="*/ 2085975 w 2085975"/>
                <a:gd name="T7" fmla="*/ 371475 h 371475"/>
                <a:gd name="T8" fmla="*/ 1824863 w 2085975"/>
                <a:gd name="T9" fmla="*/ 0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85975" h="371475">
                  <a:moveTo>
                    <a:pt x="1824863" y="0"/>
                  </a:moveTo>
                  <a:lnTo>
                    <a:pt x="260985" y="0"/>
                  </a:lnTo>
                  <a:lnTo>
                    <a:pt x="0" y="371475"/>
                  </a:lnTo>
                  <a:lnTo>
                    <a:pt x="2085975" y="371475"/>
                  </a:lnTo>
                  <a:lnTo>
                    <a:pt x="1824863" y="0"/>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30" name="object 25">
              <a:extLst>
                <a:ext uri="{FF2B5EF4-FFF2-40B4-BE49-F238E27FC236}">
                  <a16:creationId xmlns:a16="http://schemas.microsoft.com/office/drawing/2014/main" id="{71B49196-5A04-D269-D787-DDD13C3CCB0F}"/>
                </a:ext>
              </a:extLst>
            </p:cNvPr>
            <p:cNvSpPr>
              <a:spLocks/>
            </p:cNvSpPr>
            <p:nvPr/>
          </p:nvSpPr>
          <p:spPr bwMode="auto">
            <a:xfrm>
              <a:off x="4986401" y="5024501"/>
              <a:ext cx="2085975" cy="371475"/>
            </a:xfrm>
            <a:custGeom>
              <a:avLst/>
              <a:gdLst>
                <a:gd name="T0" fmla="*/ 0 w 2085975"/>
                <a:gd name="T1" fmla="*/ 371475 h 371475"/>
                <a:gd name="T2" fmla="*/ 260985 w 2085975"/>
                <a:gd name="T3" fmla="*/ 0 h 371475"/>
                <a:gd name="T4" fmla="*/ 1824863 w 2085975"/>
                <a:gd name="T5" fmla="*/ 0 h 371475"/>
                <a:gd name="T6" fmla="*/ 2085975 w 2085975"/>
                <a:gd name="T7" fmla="*/ 371475 h 371475"/>
                <a:gd name="T8" fmla="*/ 0 w 2085975"/>
                <a:gd name="T9" fmla="*/ 371475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85975" h="371475">
                  <a:moveTo>
                    <a:pt x="0" y="371475"/>
                  </a:moveTo>
                  <a:lnTo>
                    <a:pt x="260985" y="0"/>
                  </a:lnTo>
                  <a:lnTo>
                    <a:pt x="1824863" y="0"/>
                  </a:lnTo>
                  <a:lnTo>
                    <a:pt x="2085975" y="371475"/>
                  </a:lnTo>
                  <a:lnTo>
                    <a:pt x="0" y="371475"/>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050"/>
            </a:p>
          </p:txBody>
        </p:sp>
        <p:sp>
          <p:nvSpPr>
            <p:cNvPr id="31" name="object 26">
              <a:extLst>
                <a:ext uri="{FF2B5EF4-FFF2-40B4-BE49-F238E27FC236}">
                  <a16:creationId xmlns:a16="http://schemas.microsoft.com/office/drawing/2014/main" id="{43DC8883-F00C-3821-638A-20960C60370E}"/>
                </a:ext>
              </a:extLst>
            </p:cNvPr>
            <p:cNvSpPr>
              <a:spLocks/>
            </p:cNvSpPr>
            <p:nvPr/>
          </p:nvSpPr>
          <p:spPr bwMode="auto">
            <a:xfrm>
              <a:off x="4729226" y="5395976"/>
              <a:ext cx="2600325" cy="371475"/>
            </a:xfrm>
            <a:custGeom>
              <a:avLst/>
              <a:gdLst>
                <a:gd name="T0" fmla="*/ 2339213 w 2600325"/>
                <a:gd name="T1" fmla="*/ 0 h 371475"/>
                <a:gd name="T2" fmla="*/ 260985 w 2600325"/>
                <a:gd name="T3" fmla="*/ 0 h 371475"/>
                <a:gd name="T4" fmla="*/ 0 w 2600325"/>
                <a:gd name="T5" fmla="*/ 371411 h 371475"/>
                <a:gd name="T6" fmla="*/ 2600325 w 2600325"/>
                <a:gd name="T7" fmla="*/ 371411 h 371475"/>
                <a:gd name="T8" fmla="*/ 2339213 w 2600325"/>
                <a:gd name="T9" fmla="*/ 0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0325" h="371475">
                  <a:moveTo>
                    <a:pt x="2339213" y="0"/>
                  </a:moveTo>
                  <a:lnTo>
                    <a:pt x="260985" y="0"/>
                  </a:lnTo>
                  <a:lnTo>
                    <a:pt x="0" y="371411"/>
                  </a:lnTo>
                  <a:lnTo>
                    <a:pt x="2600325" y="371411"/>
                  </a:lnTo>
                  <a:lnTo>
                    <a:pt x="2339213" y="0"/>
                  </a:lnTo>
                  <a:close/>
                </a:path>
              </a:pathLst>
            </a:custGeom>
            <a:solidFill>
              <a:srgbClr val="00AF5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32" name="object 27">
              <a:extLst>
                <a:ext uri="{FF2B5EF4-FFF2-40B4-BE49-F238E27FC236}">
                  <a16:creationId xmlns:a16="http://schemas.microsoft.com/office/drawing/2014/main" id="{C2E5386A-F772-5A4A-DD41-EB98056BC3E3}"/>
                </a:ext>
              </a:extLst>
            </p:cNvPr>
            <p:cNvSpPr>
              <a:spLocks/>
            </p:cNvSpPr>
            <p:nvPr/>
          </p:nvSpPr>
          <p:spPr bwMode="auto">
            <a:xfrm>
              <a:off x="4729226" y="5395976"/>
              <a:ext cx="2600325" cy="371475"/>
            </a:xfrm>
            <a:custGeom>
              <a:avLst/>
              <a:gdLst>
                <a:gd name="T0" fmla="*/ 0 w 2600325"/>
                <a:gd name="T1" fmla="*/ 371411 h 371475"/>
                <a:gd name="T2" fmla="*/ 260985 w 2600325"/>
                <a:gd name="T3" fmla="*/ 0 h 371475"/>
                <a:gd name="T4" fmla="*/ 2339213 w 2600325"/>
                <a:gd name="T5" fmla="*/ 0 h 371475"/>
                <a:gd name="T6" fmla="*/ 2600325 w 2600325"/>
                <a:gd name="T7" fmla="*/ 371411 h 371475"/>
                <a:gd name="T8" fmla="*/ 0 w 2600325"/>
                <a:gd name="T9" fmla="*/ 371411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00325" h="371475">
                  <a:moveTo>
                    <a:pt x="0" y="371411"/>
                  </a:moveTo>
                  <a:lnTo>
                    <a:pt x="260985" y="0"/>
                  </a:lnTo>
                  <a:lnTo>
                    <a:pt x="2339213" y="0"/>
                  </a:lnTo>
                  <a:lnTo>
                    <a:pt x="2600325" y="371411"/>
                  </a:lnTo>
                  <a:lnTo>
                    <a:pt x="0" y="371411"/>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050"/>
            </a:p>
          </p:txBody>
        </p:sp>
      </p:grpSp>
      <p:sp>
        <p:nvSpPr>
          <p:cNvPr id="33" name="object 28">
            <a:extLst>
              <a:ext uri="{FF2B5EF4-FFF2-40B4-BE49-F238E27FC236}">
                <a16:creationId xmlns:a16="http://schemas.microsoft.com/office/drawing/2014/main" id="{37DECFC2-8014-41DF-4165-5854EA985BDE}"/>
              </a:ext>
            </a:extLst>
          </p:cNvPr>
          <p:cNvSpPr txBox="1"/>
          <p:nvPr/>
        </p:nvSpPr>
        <p:spPr>
          <a:xfrm>
            <a:off x="4164806" y="3508773"/>
            <a:ext cx="714375" cy="732989"/>
          </a:xfrm>
          <a:prstGeom prst="rect">
            <a:avLst/>
          </a:prstGeom>
        </p:spPr>
        <p:txBody>
          <a:bodyPr lIns="0" tIns="11906" rIns="0" bIns="0">
            <a:spAutoFit/>
          </a:bodyPr>
          <a:lstStyle/>
          <a:p>
            <a:pPr algn="ctr">
              <a:lnSpc>
                <a:spcPts val="821"/>
              </a:lnSpc>
              <a:spcBef>
                <a:spcPts val="94"/>
              </a:spcBef>
              <a:defRPr/>
            </a:pPr>
            <a:r>
              <a:rPr sz="713" b="1" spc="-8" dirty="0">
                <a:solidFill>
                  <a:sysClr val="windowText" lastClr="000000"/>
                </a:solidFill>
              </a:rPr>
              <a:t>Network/Host</a:t>
            </a:r>
            <a:endParaRPr sz="713">
              <a:solidFill>
                <a:sysClr val="windowText" lastClr="000000"/>
              </a:solidFill>
            </a:endParaRPr>
          </a:p>
          <a:p>
            <a:pPr marL="3334" algn="ctr">
              <a:lnSpc>
                <a:spcPts val="821"/>
              </a:lnSpc>
              <a:defRPr/>
            </a:pPr>
            <a:r>
              <a:rPr sz="713" b="1" spc="-8" dirty="0">
                <a:solidFill>
                  <a:sysClr val="windowText" lastClr="000000"/>
                </a:solidFill>
              </a:rPr>
              <a:t>Artifacts</a:t>
            </a:r>
            <a:endParaRPr sz="713">
              <a:solidFill>
                <a:sysClr val="windowText" lastClr="000000"/>
              </a:solidFill>
            </a:endParaRPr>
          </a:p>
          <a:p>
            <a:pPr>
              <a:spcBef>
                <a:spcPts val="113"/>
              </a:spcBef>
              <a:defRPr/>
            </a:pPr>
            <a:endParaRPr sz="713">
              <a:solidFill>
                <a:sysClr val="windowText" lastClr="000000"/>
              </a:solidFill>
            </a:endParaRPr>
          </a:p>
          <a:p>
            <a:pPr algn="ctr">
              <a:defRPr/>
            </a:pPr>
            <a:r>
              <a:rPr sz="713" b="1" dirty="0">
                <a:solidFill>
                  <a:sysClr val="windowText" lastClr="000000"/>
                </a:solidFill>
              </a:rPr>
              <a:t>Domain</a:t>
            </a:r>
            <a:r>
              <a:rPr sz="713" b="1" spc="150" dirty="0">
                <a:solidFill>
                  <a:sysClr val="windowText" lastClr="000000"/>
                </a:solidFill>
              </a:rPr>
              <a:t> </a:t>
            </a:r>
            <a:r>
              <a:rPr sz="713" b="1" spc="-8" dirty="0">
                <a:solidFill>
                  <a:sysClr val="windowText" lastClr="000000"/>
                </a:solidFill>
              </a:rPr>
              <a:t>Names</a:t>
            </a:r>
            <a:endParaRPr sz="713">
              <a:solidFill>
                <a:sysClr val="windowText" lastClr="000000"/>
              </a:solidFill>
            </a:endParaRPr>
          </a:p>
          <a:p>
            <a:pPr>
              <a:spcBef>
                <a:spcPts val="518"/>
              </a:spcBef>
              <a:defRPr/>
            </a:pPr>
            <a:endParaRPr sz="713">
              <a:solidFill>
                <a:sysClr val="windowText" lastClr="000000"/>
              </a:solidFill>
            </a:endParaRPr>
          </a:p>
          <a:p>
            <a:pPr marL="1905" algn="ctr">
              <a:defRPr/>
            </a:pPr>
            <a:r>
              <a:rPr sz="713" b="1" dirty="0">
                <a:solidFill>
                  <a:sysClr val="windowText" lastClr="000000"/>
                </a:solidFill>
              </a:rPr>
              <a:t>IP</a:t>
            </a:r>
            <a:r>
              <a:rPr sz="713" b="1" spc="19" dirty="0">
                <a:solidFill>
                  <a:sysClr val="windowText" lastClr="000000"/>
                </a:solidFill>
              </a:rPr>
              <a:t> </a:t>
            </a:r>
            <a:r>
              <a:rPr sz="713" b="1" spc="-8" dirty="0">
                <a:solidFill>
                  <a:sysClr val="windowText" lastClr="000000"/>
                </a:solidFill>
              </a:rPr>
              <a:t>Addresses</a:t>
            </a:r>
            <a:endParaRPr sz="713">
              <a:solidFill>
                <a:sysClr val="windowText" lastClr="000000"/>
              </a:solidFill>
            </a:endParaRPr>
          </a:p>
        </p:txBody>
      </p:sp>
      <p:grpSp>
        <p:nvGrpSpPr>
          <p:cNvPr id="34" name="object 29">
            <a:extLst>
              <a:ext uri="{FF2B5EF4-FFF2-40B4-BE49-F238E27FC236}">
                <a16:creationId xmlns:a16="http://schemas.microsoft.com/office/drawing/2014/main" id="{AA87D386-0737-060E-CBD3-681973F1A52E}"/>
              </a:ext>
            </a:extLst>
          </p:cNvPr>
          <p:cNvGrpSpPr>
            <a:grpSpLocks/>
          </p:cNvGrpSpPr>
          <p:nvPr/>
        </p:nvGrpSpPr>
        <p:grpSpPr bwMode="auto">
          <a:xfrm>
            <a:off x="3344467" y="4316017"/>
            <a:ext cx="2355056" cy="297656"/>
            <a:chOff x="4459351" y="5754687"/>
            <a:chExt cx="3140075" cy="396875"/>
          </a:xfrm>
        </p:grpSpPr>
        <p:sp>
          <p:nvSpPr>
            <p:cNvPr id="35" name="object 30">
              <a:extLst>
                <a:ext uri="{FF2B5EF4-FFF2-40B4-BE49-F238E27FC236}">
                  <a16:creationId xmlns:a16="http://schemas.microsoft.com/office/drawing/2014/main" id="{32C0C6CF-6848-95AB-902C-F9B31134E9F8}"/>
                </a:ext>
              </a:extLst>
            </p:cNvPr>
            <p:cNvSpPr>
              <a:spLocks/>
            </p:cNvSpPr>
            <p:nvPr/>
          </p:nvSpPr>
          <p:spPr bwMode="auto">
            <a:xfrm>
              <a:off x="4472051" y="5767387"/>
              <a:ext cx="3114675" cy="371475"/>
            </a:xfrm>
            <a:custGeom>
              <a:avLst/>
              <a:gdLst>
                <a:gd name="T0" fmla="*/ 2853563 w 3114675"/>
                <a:gd name="T1" fmla="*/ 0 h 371475"/>
                <a:gd name="T2" fmla="*/ 260985 w 3114675"/>
                <a:gd name="T3" fmla="*/ 0 h 371475"/>
                <a:gd name="T4" fmla="*/ 0 w 3114675"/>
                <a:gd name="T5" fmla="*/ 371475 h 371475"/>
                <a:gd name="T6" fmla="*/ 3114675 w 3114675"/>
                <a:gd name="T7" fmla="*/ 371475 h 371475"/>
                <a:gd name="T8" fmla="*/ 2853563 w 3114675"/>
                <a:gd name="T9" fmla="*/ 0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14675" h="371475">
                  <a:moveTo>
                    <a:pt x="2853563" y="0"/>
                  </a:moveTo>
                  <a:lnTo>
                    <a:pt x="260985" y="0"/>
                  </a:lnTo>
                  <a:lnTo>
                    <a:pt x="0" y="371475"/>
                  </a:lnTo>
                  <a:lnTo>
                    <a:pt x="3114675" y="371475"/>
                  </a:lnTo>
                  <a:lnTo>
                    <a:pt x="2853563" y="0"/>
                  </a:lnTo>
                  <a:close/>
                </a:path>
              </a:pathLst>
            </a:custGeom>
            <a:solidFill>
              <a:srgbClr val="00AFE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36" name="object 31">
              <a:extLst>
                <a:ext uri="{FF2B5EF4-FFF2-40B4-BE49-F238E27FC236}">
                  <a16:creationId xmlns:a16="http://schemas.microsoft.com/office/drawing/2014/main" id="{85BE942C-5B35-AF27-AE7E-B18F5864258B}"/>
                </a:ext>
              </a:extLst>
            </p:cNvPr>
            <p:cNvSpPr>
              <a:spLocks/>
            </p:cNvSpPr>
            <p:nvPr/>
          </p:nvSpPr>
          <p:spPr bwMode="auto">
            <a:xfrm>
              <a:off x="4472051" y="5767387"/>
              <a:ext cx="3114675" cy="371475"/>
            </a:xfrm>
            <a:custGeom>
              <a:avLst/>
              <a:gdLst>
                <a:gd name="T0" fmla="*/ 0 w 3114675"/>
                <a:gd name="T1" fmla="*/ 371475 h 371475"/>
                <a:gd name="T2" fmla="*/ 260985 w 3114675"/>
                <a:gd name="T3" fmla="*/ 0 h 371475"/>
                <a:gd name="T4" fmla="*/ 2853563 w 3114675"/>
                <a:gd name="T5" fmla="*/ 0 h 371475"/>
                <a:gd name="T6" fmla="*/ 3114675 w 3114675"/>
                <a:gd name="T7" fmla="*/ 371475 h 371475"/>
                <a:gd name="T8" fmla="*/ 0 w 3114675"/>
                <a:gd name="T9" fmla="*/ 371475 h 3714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14675" h="371475">
                  <a:moveTo>
                    <a:pt x="0" y="371475"/>
                  </a:moveTo>
                  <a:lnTo>
                    <a:pt x="260985" y="0"/>
                  </a:lnTo>
                  <a:lnTo>
                    <a:pt x="2853563" y="0"/>
                  </a:lnTo>
                  <a:lnTo>
                    <a:pt x="3114675" y="371475"/>
                  </a:lnTo>
                  <a:lnTo>
                    <a:pt x="0" y="371475"/>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050"/>
            </a:p>
          </p:txBody>
        </p:sp>
      </p:grpSp>
      <p:sp>
        <p:nvSpPr>
          <p:cNvPr id="37" name="object 32">
            <a:extLst>
              <a:ext uri="{FF2B5EF4-FFF2-40B4-BE49-F238E27FC236}">
                <a16:creationId xmlns:a16="http://schemas.microsoft.com/office/drawing/2014/main" id="{AEA9E871-F228-1CF9-772D-C0802E219F5B}"/>
              </a:ext>
            </a:extLst>
          </p:cNvPr>
          <p:cNvSpPr txBox="1"/>
          <p:nvPr/>
        </p:nvSpPr>
        <p:spPr>
          <a:xfrm>
            <a:off x="4225529" y="4392216"/>
            <a:ext cx="591740" cy="121732"/>
          </a:xfrm>
          <a:prstGeom prst="rect">
            <a:avLst/>
          </a:prstGeom>
        </p:spPr>
        <p:txBody>
          <a:bodyPr lIns="0" tIns="11906" rIns="0" bIns="0">
            <a:spAutoFit/>
          </a:bodyPr>
          <a:lstStyle/>
          <a:p>
            <a:pPr marL="9525">
              <a:spcBef>
                <a:spcPts val="94"/>
              </a:spcBef>
              <a:defRPr/>
            </a:pPr>
            <a:r>
              <a:rPr sz="713" b="1" dirty="0">
                <a:solidFill>
                  <a:sysClr val="windowText" lastClr="000000"/>
                </a:solidFill>
              </a:rPr>
              <a:t>Hash</a:t>
            </a:r>
            <a:r>
              <a:rPr sz="713" b="1" spc="75" dirty="0">
                <a:solidFill>
                  <a:sysClr val="windowText" lastClr="000000"/>
                </a:solidFill>
              </a:rPr>
              <a:t> </a:t>
            </a:r>
            <a:r>
              <a:rPr sz="713" b="1" spc="-8" dirty="0">
                <a:solidFill>
                  <a:sysClr val="windowText" lastClr="000000"/>
                </a:solidFill>
              </a:rPr>
              <a:t>Values</a:t>
            </a:r>
            <a:endParaRPr sz="713">
              <a:solidFill>
                <a:sysClr val="windowText" lastClr="000000"/>
              </a:solidFill>
            </a:endParaRPr>
          </a:p>
        </p:txBody>
      </p:sp>
      <p:grpSp>
        <p:nvGrpSpPr>
          <p:cNvPr id="38" name="object 33">
            <a:extLst>
              <a:ext uri="{FF2B5EF4-FFF2-40B4-BE49-F238E27FC236}">
                <a16:creationId xmlns:a16="http://schemas.microsoft.com/office/drawing/2014/main" id="{481A2A99-BAD6-FF35-BA5A-9E82EC83FE6F}"/>
              </a:ext>
            </a:extLst>
          </p:cNvPr>
          <p:cNvGrpSpPr>
            <a:grpSpLocks/>
          </p:cNvGrpSpPr>
          <p:nvPr/>
        </p:nvGrpSpPr>
        <p:grpSpPr bwMode="auto">
          <a:xfrm>
            <a:off x="4151710" y="1387079"/>
            <a:ext cx="740569" cy="533400"/>
            <a:chOff x="5535676" y="1849501"/>
            <a:chExt cx="987425" cy="711200"/>
          </a:xfrm>
        </p:grpSpPr>
        <p:sp>
          <p:nvSpPr>
            <p:cNvPr id="39" name="object 34">
              <a:extLst>
                <a:ext uri="{FF2B5EF4-FFF2-40B4-BE49-F238E27FC236}">
                  <a16:creationId xmlns:a16="http://schemas.microsoft.com/office/drawing/2014/main" id="{6450048D-547A-ED29-65A0-D2343D578B23}"/>
                </a:ext>
              </a:extLst>
            </p:cNvPr>
            <p:cNvSpPr>
              <a:spLocks/>
            </p:cNvSpPr>
            <p:nvPr/>
          </p:nvSpPr>
          <p:spPr bwMode="auto">
            <a:xfrm>
              <a:off x="5548376" y="1862201"/>
              <a:ext cx="962025" cy="685800"/>
            </a:xfrm>
            <a:custGeom>
              <a:avLst/>
              <a:gdLst>
                <a:gd name="T0" fmla="*/ 480949 w 962025"/>
                <a:gd name="T1" fmla="*/ 0 h 685800"/>
                <a:gd name="T2" fmla="*/ 0 w 962025"/>
                <a:gd name="T3" fmla="*/ 685800 h 685800"/>
                <a:gd name="T4" fmla="*/ 962025 w 962025"/>
                <a:gd name="T5" fmla="*/ 685800 h 685800"/>
                <a:gd name="T6" fmla="*/ 480949 w 962025"/>
                <a:gd name="T7" fmla="*/ 0 h 6858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025" h="685800">
                  <a:moveTo>
                    <a:pt x="480949" y="0"/>
                  </a:moveTo>
                  <a:lnTo>
                    <a:pt x="0" y="685800"/>
                  </a:lnTo>
                  <a:lnTo>
                    <a:pt x="962025" y="685800"/>
                  </a:lnTo>
                  <a:lnTo>
                    <a:pt x="480949" y="0"/>
                  </a:lnTo>
                  <a:close/>
                </a:path>
              </a:pathLst>
            </a:custGeom>
            <a:solidFill>
              <a:srgbClr val="6F2F9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40" name="object 35">
              <a:extLst>
                <a:ext uri="{FF2B5EF4-FFF2-40B4-BE49-F238E27FC236}">
                  <a16:creationId xmlns:a16="http://schemas.microsoft.com/office/drawing/2014/main" id="{DCB8D232-4FE4-4AED-E7E6-14C36CFBFAA3}"/>
                </a:ext>
              </a:extLst>
            </p:cNvPr>
            <p:cNvSpPr>
              <a:spLocks/>
            </p:cNvSpPr>
            <p:nvPr/>
          </p:nvSpPr>
          <p:spPr bwMode="auto">
            <a:xfrm>
              <a:off x="5548376" y="1862201"/>
              <a:ext cx="962025" cy="685800"/>
            </a:xfrm>
            <a:custGeom>
              <a:avLst/>
              <a:gdLst>
                <a:gd name="T0" fmla="*/ 0 w 962025"/>
                <a:gd name="T1" fmla="*/ 685800 h 685800"/>
                <a:gd name="T2" fmla="*/ 480949 w 962025"/>
                <a:gd name="T3" fmla="*/ 0 h 685800"/>
                <a:gd name="T4" fmla="*/ 962025 w 962025"/>
                <a:gd name="T5" fmla="*/ 685800 h 685800"/>
                <a:gd name="T6" fmla="*/ 0 w 962025"/>
                <a:gd name="T7" fmla="*/ 685800 h 6858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025" h="685800">
                  <a:moveTo>
                    <a:pt x="0" y="685800"/>
                  </a:moveTo>
                  <a:lnTo>
                    <a:pt x="480949" y="0"/>
                  </a:lnTo>
                  <a:lnTo>
                    <a:pt x="962025" y="685800"/>
                  </a:lnTo>
                  <a:lnTo>
                    <a:pt x="0" y="685800"/>
                  </a:lnTo>
                  <a:close/>
                </a:path>
              </a:pathLst>
            </a:custGeom>
            <a:noFill/>
            <a:ln w="25400">
              <a:solidFill>
                <a:srgbClr val="BEBEB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050"/>
            </a:p>
          </p:txBody>
        </p:sp>
      </p:grpSp>
      <p:sp>
        <p:nvSpPr>
          <p:cNvPr id="41" name="object 36">
            <a:extLst>
              <a:ext uri="{FF2B5EF4-FFF2-40B4-BE49-F238E27FC236}">
                <a16:creationId xmlns:a16="http://schemas.microsoft.com/office/drawing/2014/main" id="{7867ACC0-6515-D97E-7DF4-C0AAD91353A5}"/>
              </a:ext>
            </a:extLst>
          </p:cNvPr>
          <p:cNvSpPr txBox="1">
            <a:spLocks noChangeArrowheads="1"/>
          </p:cNvSpPr>
          <p:nvPr/>
        </p:nvSpPr>
        <p:spPr bwMode="auto">
          <a:xfrm>
            <a:off x="4183857" y="1549004"/>
            <a:ext cx="665560" cy="318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195" rIns="0" bIns="0">
            <a:spAutoFit/>
          </a:bodyPr>
          <a:lstStyle>
            <a:lvl1pPr marL="117475" indent="-1047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ts val="1069"/>
              </a:lnSpc>
              <a:spcBef>
                <a:spcPts val="281"/>
              </a:spcBef>
            </a:pPr>
            <a:r>
              <a:rPr lang="en-AR" altLang="en-AR" sz="1050" b="1">
                <a:solidFill>
                  <a:srgbClr val="FFFFFF"/>
                </a:solidFill>
                <a:cs typeface="Arial" panose="020B0604020202020204" pitchFamily="34" charset="0"/>
              </a:rPr>
              <a:t>Attributed Groups</a:t>
            </a:r>
            <a:endParaRPr lang="en-AR" altLang="en-AR" sz="1050">
              <a:solidFill>
                <a:srgbClr val="000000"/>
              </a:solidFill>
              <a:cs typeface="Arial" panose="020B0604020202020204" pitchFamily="34" charset="0"/>
            </a:endParaRPr>
          </a:p>
        </p:txBody>
      </p:sp>
      <p:grpSp>
        <p:nvGrpSpPr>
          <p:cNvPr id="42" name="object 37">
            <a:extLst>
              <a:ext uri="{FF2B5EF4-FFF2-40B4-BE49-F238E27FC236}">
                <a16:creationId xmlns:a16="http://schemas.microsoft.com/office/drawing/2014/main" id="{5EA5E488-EB41-A31E-AB38-210BF9D20BE0}"/>
              </a:ext>
            </a:extLst>
          </p:cNvPr>
          <p:cNvGrpSpPr>
            <a:grpSpLocks/>
          </p:cNvGrpSpPr>
          <p:nvPr/>
        </p:nvGrpSpPr>
        <p:grpSpPr bwMode="auto">
          <a:xfrm>
            <a:off x="3794523" y="1901429"/>
            <a:ext cx="1454944" cy="526256"/>
            <a:chOff x="5059426" y="2535301"/>
            <a:chExt cx="1939925" cy="701675"/>
          </a:xfrm>
        </p:grpSpPr>
        <p:sp>
          <p:nvSpPr>
            <p:cNvPr id="43" name="object 38">
              <a:extLst>
                <a:ext uri="{FF2B5EF4-FFF2-40B4-BE49-F238E27FC236}">
                  <a16:creationId xmlns:a16="http://schemas.microsoft.com/office/drawing/2014/main" id="{17911621-4390-3457-7305-7C63518FBB29}"/>
                </a:ext>
              </a:extLst>
            </p:cNvPr>
            <p:cNvSpPr>
              <a:spLocks/>
            </p:cNvSpPr>
            <p:nvPr/>
          </p:nvSpPr>
          <p:spPr bwMode="auto">
            <a:xfrm>
              <a:off x="5072126" y="2548001"/>
              <a:ext cx="1914525" cy="676275"/>
            </a:xfrm>
            <a:custGeom>
              <a:avLst/>
              <a:gdLst>
                <a:gd name="T0" fmla="*/ 1439164 w 1914525"/>
                <a:gd name="T1" fmla="*/ 0 h 676275"/>
                <a:gd name="T2" fmla="*/ 475234 w 1914525"/>
                <a:gd name="T3" fmla="*/ 0 h 676275"/>
                <a:gd name="T4" fmla="*/ 0 w 1914525"/>
                <a:gd name="T5" fmla="*/ 676275 h 676275"/>
                <a:gd name="T6" fmla="*/ 1914525 w 1914525"/>
                <a:gd name="T7" fmla="*/ 676275 h 676275"/>
                <a:gd name="T8" fmla="*/ 1439164 w 1914525"/>
                <a:gd name="T9" fmla="*/ 0 h 6762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14525" h="676275">
                  <a:moveTo>
                    <a:pt x="1439164" y="0"/>
                  </a:moveTo>
                  <a:lnTo>
                    <a:pt x="475234" y="0"/>
                  </a:lnTo>
                  <a:lnTo>
                    <a:pt x="0" y="676275"/>
                  </a:lnTo>
                  <a:lnTo>
                    <a:pt x="1914525" y="676275"/>
                  </a:lnTo>
                  <a:lnTo>
                    <a:pt x="1439164" y="0"/>
                  </a:lnTo>
                  <a:close/>
                </a:path>
              </a:pathLst>
            </a:custGeom>
            <a:solidFill>
              <a:srgbClr val="6F2F9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44" name="object 39">
              <a:extLst>
                <a:ext uri="{FF2B5EF4-FFF2-40B4-BE49-F238E27FC236}">
                  <a16:creationId xmlns:a16="http://schemas.microsoft.com/office/drawing/2014/main" id="{A8701637-125B-9707-001C-F63E7D89555A}"/>
                </a:ext>
              </a:extLst>
            </p:cNvPr>
            <p:cNvSpPr>
              <a:spLocks/>
            </p:cNvSpPr>
            <p:nvPr/>
          </p:nvSpPr>
          <p:spPr bwMode="auto">
            <a:xfrm>
              <a:off x="5072126" y="2548001"/>
              <a:ext cx="1914525" cy="676275"/>
            </a:xfrm>
            <a:custGeom>
              <a:avLst/>
              <a:gdLst>
                <a:gd name="T0" fmla="*/ 0 w 1914525"/>
                <a:gd name="T1" fmla="*/ 676275 h 676275"/>
                <a:gd name="T2" fmla="*/ 475234 w 1914525"/>
                <a:gd name="T3" fmla="*/ 0 h 676275"/>
                <a:gd name="T4" fmla="*/ 1439164 w 1914525"/>
                <a:gd name="T5" fmla="*/ 0 h 676275"/>
                <a:gd name="T6" fmla="*/ 1914525 w 1914525"/>
                <a:gd name="T7" fmla="*/ 676275 h 676275"/>
                <a:gd name="T8" fmla="*/ 0 w 1914525"/>
                <a:gd name="T9" fmla="*/ 676275 h 6762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14525" h="676275">
                  <a:moveTo>
                    <a:pt x="0" y="676275"/>
                  </a:moveTo>
                  <a:lnTo>
                    <a:pt x="475234" y="0"/>
                  </a:lnTo>
                  <a:lnTo>
                    <a:pt x="1439164" y="0"/>
                  </a:lnTo>
                  <a:lnTo>
                    <a:pt x="1914525" y="676275"/>
                  </a:lnTo>
                  <a:lnTo>
                    <a:pt x="0" y="676275"/>
                  </a:lnTo>
                  <a:close/>
                </a:path>
              </a:pathLst>
            </a:custGeom>
            <a:noFill/>
            <a:ln w="25400">
              <a:solidFill>
                <a:srgbClr val="BEBEB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050"/>
            </a:p>
          </p:txBody>
        </p:sp>
      </p:grpSp>
      <p:sp>
        <p:nvSpPr>
          <p:cNvPr id="45" name="object 40">
            <a:extLst>
              <a:ext uri="{FF2B5EF4-FFF2-40B4-BE49-F238E27FC236}">
                <a16:creationId xmlns:a16="http://schemas.microsoft.com/office/drawing/2014/main" id="{E8E7AF9B-21DF-13BB-46B7-CAD8B965DA56}"/>
              </a:ext>
            </a:extLst>
          </p:cNvPr>
          <p:cNvSpPr txBox="1">
            <a:spLocks noChangeArrowheads="1"/>
          </p:cNvSpPr>
          <p:nvPr/>
        </p:nvSpPr>
        <p:spPr bwMode="auto">
          <a:xfrm>
            <a:off x="4266010" y="1985963"/>
            <a:ext cx="515540" cy="31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0956" rIns="0" bIns="0">
            <a:spAutoFit/>
          </a:bodyPr>
          <a:lstStyle>
            <a:lvl1pPr marL="127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ts val="1125"/>
              </a:lnSpc>
              <a:spcBef>
                <a:spcPts val="244"/>
              </a:spcBef>
            </a:pPr>
            <a:r>
              <a:rPr lang="en-AR" altLang="en-AR" sz="1050" b="1">
                <a:solidFill>
                  <a:srgbClr val="FFFFFF"/>
                </a:solidFill>
                <a:cs typeface="Arial" panose="020B0604020202020204" pitchFamily="34" charset="0"/>
              </a:rPr>
              <a:t>Activity Groups</a:t>
            </a:r>
            <a:endParaRPr lang="en-AR" altLang="en-AR" sz="1050">
              <a:solidFill>
                <a:srgbClr val="000000"/>
              </a:solidFill>
              <a:cs typeface="Arial" panose="020B0604020202020204" pitchFamily="34" charset="0"/>
            </a:endParaRPr>
          </a:p>
        </p:txBody>
      </p:sp>
      <p:grpSp>
        <p:nvGrpSpPr>
          <p:cNvPr id="46" name="object 41">
            <a:extLst>
              <a:ext uri="{FF2B5EF4-FFF2-40B4-BE49-F238E27FC236}">
                <a16:creationId xmlns:a16="http://schemas.microsoft.com/office/drawing/2014/main" id="{4AB51D20-A1A6-77E5-A02F-885FA1A8A8D2}"/>
              </a:ext>
            </a:extLst>
          </p:cNvPr>
          <p:cNvGrpSpPr>
            <a:grpSpLocks/>
          </p:cNvGrpSpPr>
          <p:nvPr/>
        </p:nvGrpSpPr>
        <p:grpSpPr bwMode="auto">
          <a:xfrm>
            <a:off x="3437335" y="2408635"/>
            <a:ext cx="2176463" cy="533400"/>
            <a:chOff x="4583176" y="3211576"/>
            <a:chExt cx="2901950" cy="711200"/>
          </a:xfrm>
        </p:grpSpPr>
        <p:sp>
          <p:nvSpPr>
            <p:cNvPr id="47" name="object 42">
              <a:extLst>
                <a:ext uri="{FF2B5EF4-FFF2-40B4-BE49-F238E27FC236}">
                  <a16:creationId xmlns:a16="http://schemas.microsoft.com/office/drawing/2014/main" id="{1693C596-67B3-B1E1-9362-D33BEBB8953F}"/>
                </a:ext>
              </a:extLst>
            </p:cNvPr>
            <p:cNvSpPr>
              <a:spLocks/>
            </p:cNvSpPr>
            <p:nvPr/>
          </p:nvSpPr>
          <p:spPr bwMode="auto">
            <a:xfrm>
              <a:off x="4595876" y="3224276"/>
              <a:ext cx="2876550" cy="685800"/>
            </a:xfrm>
            <a:custGeom>
              <a:avLst/>
              <a:gdLst>
                <a:gd name="T0" fmla="*/ 2394584 w 2876550"/>
                <a:gd name="T1" fmla="*/ 0 h 685800"/>
                <a:gd name="T2" fmla="*/ 481838 w 2876550"/>
                <a:gd name="T3" fmla="*/ 0 h 685800"/>
                <a:gd name="T4" fmla="*/ 0 w 2876550"/>
                <a:gd name="T5" fmla="*/ 685800 h 685800"/>
                <a:gd name="T6" fmla="*/ 2876550 w 2876550"/>
                <a:gd name="T7" fmla="*/ 685800 h 685800"/>
                <a:gd name="T8" fmla="*/ 2394584 w 2876550"/>
                <a:gd name="T9" fmla="*/ 0 h 685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76550" h="685800">
                  <a:moveTo>
                    <a:pt x="2394584" y="0"/>
                  </a:moveTo>
                  <a:lnTo>
                    <a:pt x="481838" y="0"/>
                  </a:lnTo>
                  <a:lnTo>
                    <a:pt x="0" y="685800"/>
                  </a:lnTo>
                  <a:lnTo>
                    <a:pt x="2876550" y="685800"/>
                  </a:lnTo>
                  <a:lnTo>
                    <a:pt x="2394584" y="0"/>
                  </a:lnTo>
                  <a:close/>
                </a:path>
              </a:pathLst>
            </a:custGeom>
            <a:solidFill>
              <a:srgbClr val="6F2F9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48" name="object 43">
              <a:extLst>
                <a:ext uri="{FF2B5EF4-FFF2-40B4-BE49-F238E27FC236}">
                  <a16:creationId xmlns:a16="http://schemas.microsoft.com/office/drawing/2014/main" id="{74D6761A-EFBE-08A9-692B-509091FB698B}"/>
                </a:ext>
              </a:extLst>
            </p:cNvPr>
            <p:cNvSpPr>
              <a:spLocks/>
            </p:cNvSpPr>
            <p:nvPr/>
          </p:nvSpPr>
          <p:spPr bwMode="auto">
            <a:xfrm>
              <a:off x="4595876" y="3224276"/>
              <a:ext cx="2876550" cy="685800"/>
            </a:xfrm>
            <a:custGeom>
              <a:avLst/>
              <a:gdLst>
                <a:gd name="T0" fmla="*/ 0 w 2876550"/>
                <a:gd name="T1" fmla="*/ 685800 h 685800"/>
                <a:gd name="T2" fmla="*/ 481838 w 2876550"/>
                <a:gd name="T3" fmla="*/ 0 h 685800"/>
                <a:gd name="T4" fmla="*/ 2394584 w 2876550"/>
                <a:gd name="T5" fmla="*/ 0 h 685800"/>
                <a:gd name="T6" fmla="*/ 2876550 w 2876550"/>
                <a:gd name="T7" fmla="*/ 685800 h 685800"/>
                <a:gd name="T8" fmla="*/ 0 w 2876550"/>
                <a:gd name="T9" fmla="*/ 685800 h 685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76550" h="685800">
                  <a:moveTo>
                    <a:pt x="0" y="685800"/>
                  </a:moveTo>
                  <a:lnTo>
                    <a:pt x="481838" y="0"/>
                  </a:lnTo>
                  <a:lnTo>
                    <a:pt x="2394584" y="0"/>
                  </a:lnTo>
                  <a:lnTo>
                    <a:pt x="2876550" y="685800"/>
                  </a:lnTo>
                  <a:lnTo>
                    <a:pt x="0" y="685800"/>
                  </a:lnTo>
                  <a:close/>
                </a:path>
              </a:pathLst>
            </a:custGeom>
            <a:noFill/>
            <a:ln w="25400">
              <a:solidFill>
                <a:srgbClr val="BEBEBE"/>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050"/>
            </a:p>
          </p:txBody>
        </p:sp>
      </p:grpSp>
      <p:sp>
        <p:nvSpPr>
          <p:cNvPr id="49" name="object 44">
            <a:extLst>
              <a:ext uri="{FF2B5EF4-FFF2-40B4-BE49-F238E27FC236}">
                <a16:creationId xmlns:a16="http://schemas.microsoft.com/office/drawing/2014/main" id="{B051150D-EDCD-74CD-8CF9-711E6DE965EA}"/>
              </a:ext>
            </a:extLst>
          </p:cNvPr>
          <p:cNvSpPr txBox="1"/>
          <p:nvPr/>
        </p:nvSpPr>
        <p:spPr>
          <a:xfrm>
            <a:off x="4138613" y="2568179"/>
            <a:ext cx="759619" cy="173605"/>
          </a:xfrm>
          <a:prstGeom prst="rect">
            <a:avLst/>
          </a:prstGeom>
        </p:spPr>
        <p:txBody>
          <a:bodyPr lIns="0" tIns="11906" rIns="0" bIns="0">
            <a:spAutoFit/>
          </a:bodyPr>
          <a:lstStyle/>
          <a:p>
            <a:pPr marL="9525">
              <a:spcBef>
                <a:spcPts val="94"/>
              </a:spcBef>
              <a:defRPr/>
            </a:pPr>
            <a:r>
              <a:rPr sz="1050" b="1" spc="-8" dirty="0">
                <a:solidFill>
                  <a:srgbClr val="FFFFFF"/>
                </a:solidFill>
              </a:rPr>
              <a:t>Campaigns</a:t>
            </a:r>
            <a:endParaRPr sz="1050">
              <a:solidFill>
                <a:sysClr val="windowText" lastClr="000000"/>
              </a:solidFill>
            </a:endParaRPr>
          </a:p>
        </p:txBody>
      </p:sp>
      <p:grpSp>
        <p:nvGrpSpPr>
          <p:cNvPr id="50" name="object 46">
            <a:extLst>
              <a:ext uri="{FF2B5EF4-FFF2-40B4-BE49-F238E27FC236}">
                <a16:creationId xmlns:a16="http://schemas.microsoft.com/office/drawing/2014/main" id="{2FA2536F-B61D-4361-571D-0559EABFD587}"/>
              </a:ext>
            </a:extLst>
          </p:cNvPr>
          <p:cNvGrpSpPr>
            <a:grpSpLocks/>
          </p:cNvGrpSpPr>
          <p:nvPr/>
        </p:nvGrpSpPr>
        <p:grpSpPr bwMode="auto">
          <a:xfrm>
            <a:off x="801291" y="2944416"/>
            <a:ext cx="1047750" cy="990600"/>
            <a:chOff x="1068387" y="3925951"/>
            <a:chExt cx="1397635" cy="1320800"/>
          </a:xfrm>
        </p:grpSpPr>
        <p:sp>
          <p:nvSpPr>
            <p:cNvPr id="51" name="object 47">
              <a:extLst>
                <a:ext uri="{FF2B5EF4-FFF2-40B4-BE49-F238E27FC236}">
                  <a16:creationId xmlns:a16="http://schemas.microsoft.com/office/drawing/2014/main" id="{75E9F2EE-AA1E-FFFC-1177-811AC3CCC752}"/>
                </a:ext>
              </a:extLst>
            </p:cNvPr>
            <p:cNvSpPr>
              <a:spLocks/>
            </p:cNvSpPr>
            <p:nvPr/>
          </p:nvSpPr>
          <p:spPr bwMode="auto">
            <a:xfrm>
              <a:off x="1081087" y="3938651"/>
              <a:ext cx="1372235" cy="1295400"/>
            </a:xfrm>
            <a:custGeom>
              <a:avLst/>
              <a:gdLst>
                <a:gd name="T0" fmla="*/ 636876 w 1372235"/>
                <a:gd name="T1" fmla="*/ 1626 h 1295400"/>
                <a:gd name="T2" fmla="*/ 541808 w 1372235"/>
                <a:gd name="T3" fmla="*/ 14305 h 1295400"/>
                <a:gd name="T4" fmla="*/ 451391 w 1372235"/>
                <a:gd name="T5" fmla="*/ 38824 h 1295400"/>
                <a:gd name="T6" fmla="*/ 366552 w 1372235"/>
                <a:gd name="T7" fmla="*/ 74307 h 1295400"/>
                <a:gd name="T8" fmla="*/ 288219 w 1372235"/>
                <a:gd name="T9" fmla="*/ 119877 h 1295400"/>
                <a:gd name="T10" fmla="*/ 217320 w 1372235"/>
                <a:gd name="T11" fmla="*/ 174658 h 1295400"/>
                <a:gd name="T12" fmla="*/ 154783 w 1372235"/>
                <a:gd name="T13" fmla="*/ 237774 h 1295400"/>
                <a:gd name="T14" fmla="*/ 101535 w 1372235"/>
                <a:gd name="T15" fmla="*/ 308347 h 1295400"/>
                <a:gd name="T16" fmla="*/ 58505 w 1372235"/>
                <a:gd name="T17" fmla="*/ 385503 h 1295400"/>
                <a:gd name="T18" fmla="*/ 26621 w 1372235"/>
                <a:gd name="T19" fmla="*/ 468365 h 1295400"/>
                <a:gd name="T20" fmla="*/ 6809 w 1372235"/>
                <a:gd name="T21" fmla="*/ 556056 h 1295400"/>
                <a:gd name="T22" fmla="*/ 0 w 1372235"/>
                <a:gd name="T23" fmla="*/ 647700 h 1295400"/>
                <a:gd name="T24" fmla="*/ 6809 w 1372235"/>
                <a:gd name="T25" fmla="*/ 739316 h 1295400"/>
                <a:gd name="T26" fmla="*/ 26621 w 1372235"/>
                <a:gd name="T27" fmla="*/ 826989 h 1295400"/>
                <a:gd name="T28" fmla="*/ 58505 w 1372235"/>
                <a:gd name="T29" fmla="*/ 909842 h 1295400"/>
                <a:gd name="T30" fmla="*/ 101535 w 1372235"/>
                <a:gd name="T31" fmla="*/ 986995 h 1295400"/>
                <a:gd name="T32" fmla="*/ 154783 w 1372235"/>
                <a:gd name="T33" fmla="*/ 1057572 h 1295400"/>
                <a:gd name="T34" fmla="*/ 217320 w 1372235"/>
                <a:gd name="T35" fmla="*/ 1120695 h 1295400"/>
                <a:gd name="T36" fmla="*/ 288219 w 1372235"/>
                <a:gd name="T37" fmla="*/ 1175486 h 1295400"/>
                <a:gd name="T38" fmla="*/ 366552 w 1372235"/>
                <a:gd name="T39" fmla="*/ 1221067 h 1295400"/>
                <a:gd name="T40" fmla="*/ 451391 w 1372235"/>
                <a:gd name="T41" fmla="*/ 1256560 h 1295400"/>
                <a:gd name="T42" fmla="*/ 541808 w 1372235"/>
                <a:gd name="T43" fmla="*/ 1281088 h 1295400"/>
                <a:gd name="T44" fmla="*/ 636876 w 1372235"/>
                <a:gd name="T45" fmla="*/ 1293773 h 1295400"/>
                <a:gd name="T46" fmla="*/ 734835 w 1372235"/>
                <a:gd name="T47" fmla="*/ 1293773 h 1295400"/>
                <a:gd name="T48" fmla="*/ 829877 w 1372235"/>
                <a:gd name="T49" fmla="*/ 1281088 h 1295400"/>
                <a:gd name="T50" fmla="*/ 920276 w 1372235"/>
                <a:gd name="T51" fmla="*/ 1256560 h 1295400"/>
                <a:gd name="T52" fmla="*/ 1005103 w 1372235"/>
                <a:gd name="T53" fmla="*/ 1221067 h 1295400"/>
                <a:gd name="T54" fmla="*/ 1083430 w 1372235"/>
                <a:gd name="T55" fmla="*/ 1175486 h 1295400"/>
                <a:gd name="T56" fmla="*/ 1154326 w 1372235"/>
                <a:gd name="T57" fmla="*/ 1120695 h 1295400"/>
                <a:gd name="T58" fmla="*/ 1216864 w 1372235"/>
                <a:gd name="T59" fmla="*/ 1057572 h 1295400"/>
                <a:gd name="T60" fmla="*/ 1270115 w 1372235"/>
                <a:gd name="T61" fmla="*/ 986995 h 1295400"/>
                <a:gd name="T62" fmla="*/ 1313149 w 1372235"/>
                <a:gd name="T63" fmla="*/ 909842 h 1295400"/>
                <a:gd name="T64" fmla="*/ 1345037 w 1372235"/>
                <a:gd name="T65" fmla="*/ 826989 h 1295400"/>
                <a:gd name="T66" fmla="*/ 1364852 w 1372235"/>
                <a:gd name="T67" fmla="*/ 739316 h 1295400"/>
                <a:gd name="T68" fmla="*/ 1371663 w 1372235"/>
                <a:gd name="T69" fmla="*/ 647700 h 1295400"/>
                <a:gd name="T70" fmla="*/ 1364852 w 1372235"/>
                <a:gd name="T71" fmla="*/ 556056 h 1295400"/>
                <a:gd name="T72" fmla="*/ 1345037 w 1372235"/>
                <a:gd name="T73" fmla="*/ 468365 h 1295400"/>
                <a:gd name="T74" fmla="*/ 1313149 w 1372235"/>
                <a:gd name="T75" fmla="*/ 385503 h 1295400"/>
                <a:gd name="T76" fmla="*/ 1270115 w 1372235"/>
                <a:gd name="T77" fmla="*/ 308347 h 1295400"/>
                <a:gd name="T78" fmla="*/ 1216864 w 1372235"/>
                <a:gd name="T79" fmla="*/ 237774 h 1295400"/>
                <a:gd name="T80" fmla="*/ 1154326 w 1372235"/>
                <a:gd name="T81" fmla="*/ 174658 h 1295400"/>
                <a:gd name="T82" fmla="*/ 1083430 w 1372235"/>
                <a:gd name="T83" fmla="*/ 119877 h 1295400"/>
                <a:gd name="T84" fmla="*/ 1005103 w 1372235"/>
                <a:gd name="T85" fmla="*/ 74307 h 1295400"/>
                <a:gd name="T86" fmla="*/ 920276 w 1372235"/>
                <a:gd name="T87" fmla="*/ 38824 h 1295400"/>
                <a:gd name="T88" fmla="*/ 829877 w 1372235"/>
                <a:gd name="T89" fmla="*/ 14305 h 1295400"/>
                <a:gd name="T90" fmla="*/ 734835 w 1372235"/>
                <a:gd name="T91" fmla="*/ 1626 h 129540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372235" h="1295400">
                  <a:moveTo>
                    <a:pt x="685863" y="0"/>
                  </a:moveTo>
                  <a:lnTo>
                    <a:pt x="636876" y="1626"/>
                  </a:lnTo>
                  <a:lnTo>
                    <a:pt x="588819" y="6431"/>
                  </a:lnTo>
                  <a:lnTo>
                    <a:pt x="541808" y="14305"/>
                  </a:lnTo>
                  <a:lnTo>
                    <a:pt x="495961" y="25140"/>
                  </a:lnTo>
                  <a:lnTo>
                    <a:pt x="451391" y="38824"/>
                  </a:lnTo>
                  <a:lnTo>
                    <a:pt x="408217" y="55250"/>
                  </a:lnTo>
                  <a:lnTo>
                    <a:pt x="366552" y="74307"/>
                  </a:lnTo>
                  <a:lnTo>
                    <a:pt x="326515" y="95886"/>
                  </a:lnTo>
                  <a:lnTo>
                    <a:pt x="288219" y="119877"/>
                  </a:lnTo>
                  <a:lnTo>
                    <a:pt x="251783" y="146171"/>
                  </a:lnTo>
                  <a:lnTo>
                    <a:pt x="217320" y="174658"/>
                  </a:lnTo>
                  <a:lnTo>
                    <a:pt x="184948" y="205229"/>
                  </a:lnTo>
                  <a:lnTo>
                    <a:pt x="154783" y="237774"/>
                  </a:lnTo>
                  <a:lnTo>
                    <a:pt x="126940" y="272183"/>
                  </a:lnTo>
                  <a:lnTo>
                    <a:pt x="101535" y="308347"/>
                  </a:lnTo>
                  <a:lnTo>
                    <a:pt x="78685" y="346157"/>
                  </a:lnTo>
                  <a:lnTo>
                    <a:pt x="58505" y="385503"/>
                  </a:lnTo>
                  <a:lnTo>
                    <a:pt x="41112" y="426275"/>
                  </a:lnTo>
                  <a:lnTo>
                    <a:pt x="26621" y="468365"/>
                  </a:lnTo>
                  <a:lnTo>
                    <a:pt x="15148" y="511661"/>
                  </a:lnTo>
                  <a:lnTo>
                    <a:pt x="6809" y="556056"/>
                  </a:lnTo>
                  <a:lnTo>
                    <a:pt x="1721" y="601438"/>
                  </a:lnTo>
                  <a:lnTo>
                    <a:pt x="0" y="647700"/>
                  </a:lnTo>
                  <a:lnTo>
                    <a:pt x="1721" y="693946"/>
                  </a:lnTo>
                  <a:lnTo>
                    <a:pt x="6809" y="739316"/>
                  </a:lnTo>
                  <a:lnTo>
                    <a:pt x="15148" y="783700"/>
                  </a:lnTo>
                  <a:lnTo>
                    <a:pt x="26621" y="826989"/>
                  </a:lnTo>
                  <a:lnTo>
                    <a:pt x="41112" y="869073"/>
                  </a:lnTo>
                  <a:lnTo>
                    <a:pt x="58505" y="909842"/>
                  </a:lnTo>
                  <a:lnTo>
                    <a:pt x="78685" y="949186"/>
                  </a:lnTo>
                  <a:lnTo>
                    <a:pt x="101535" y="986995"/>
                  </a:lnTo>
                  <a:lnTo>
                    <a:pt x="126940" y="1023161"/>
                  </a:lnTo>
                  <a:lnTo>
                    <a:pt x="154783" y="1057572"/>
                  </a:lnTo>
                  <a:lnTo>
                    <a:pt x="184948" y="1090121"/>
                  </a:lnTo>
                  <a:lnTo>
                    <a:pt x="217320" y="1120695"/>
                  </a:lnTo>
                  <a:lnTo>
                    <a:pt x="251783" y="1149187"/>
                  </a:lnTo>
                  <a:lnTo>
                    <a:pt x="288219" y="1175486"/>
                  </a:lnTo>
                  <a:lnTo>
                    <a:pt x="326515" y="1199483"/>
                  </a:lnTo>
                  <a:lnTo>
                    <a:pt x="366552" y="1221067"/>
                  </a:lnTo>
                  <a:lnTo>
                    <a:pt x="408217" y="1240130"/>
                  </a:lnTo>
                  <a:lnTo>
                    <a:pt x="451391" y="1256560"/>
                  </a:lnTo>
                  <a:lnTo>
                    <a:pt x="495961" y="1270250"/>
                  </a:lnTo>
                  <a:lnTo>
                    <a:pt x="541808" y="1281088"/>
                  </a:lnTo>
                  <a:lnTo>
                    <a:pt x="588819" y="1288966"/>
                  </a:lnTo>
                  <a:lnTo>
                    <a:pt x="636876" y="1293773"/>
                  </a:lnTo>
                  <a:lnTo>
                    <a:pt x="685863" y="1295400"/>
                  </a:lnTo>
                  <a:lnTo>
                    <a:pt x="734835" y="1293773"/>
                  </a:lnTo>
                  <a:lnTo>
                    <a:pt x="782878" y="1288966"/>
                  </a:lnTo>
                  <a:lnTo>
                    <a:pt x="829877" y="1281088"/>
                  </a:lnTo>
                  <a:lnTo>
                    <a:pt x="875715" y="1270250"/>
                  </a:lnTo>
                  <a:lnTo>
                    <a:pt x="920276" y="1256560"/>
                  </a:lnTo>
                  <a:lnTo>
                    <a:pt x="963444" y="1240130"/>
                  </a:lnTo>
                  <a:lnTo>
                    <a:pt x="1005103" y="1221067"/>
                  </a:lnTo>
                  <a:lnTo>
                    <a:pt x="1045137" y="1199483"/>
                  </a:lnTo>
                  <a:lnTo>
                    <a:pt x="1083430" y="1175486"/>
                  </a:lnTo>
                  <a:lnTo>
                    <a:pt x="1119865" y="1149187"/>
                  </a:lnTo>
                  <a:lnTo>
                    <a:pt x="1154326" y="1120695"/>
                  </a:lnTo>
                  <a:lnTo>
                    <a:pt x="1186698" y="1090121"/>
                  </a:lnTo>
                  <a:lnTo>
                    <a:pt x="1216864" y="1057572"/>
                  </a:lnTo>
                  <a:lnTo>
                    <a:pt x="1244709" y="1023161"/>
                  </a:lnTo>
                  <a:lnTo>
                    <a:pt x="1270115" y="986995"/>
                  </a:lnTo>
                  <a:lnTo>
                    <a:pt x="1292967" y="949186"/>
                  </a:lnTo>
                  <a:lnTo>
                    <a:pt x="1313149" y="909842"/>
                  </a:lnTo>
                  <a:lnTo>
                    <a:pt x="1330544" y="869073"/>
                  </a:lnTo>
                  <a:lnTo>
                    <a:pt x="1345037" y="826989"/>
                  </a:lnTo>
                  <a:lnTo>
                    <a:pt x="1356512" y="783700"/>
                  </a:lnTo>
                  <a:lnTo>
                    <a:pt x="1364852" y="739316"/>
                  </a:lnTo>
                  <a:lnTo>
                    <a:pt x="1369941" y="693946"/>
                  </a:lnTo>
                  <a:lnTo>
                    <a:pt x="1371663" y="647700"/>
                  </a:lnTo>
                  <a:lnTo>
                    <a:pt x="1369941" y="601438"/>
                  </a:lnTo>
                  <a:lnTo>
                    <a:pt x="1364852" y="556056"/>
                  </a:lnTo>
                  <a:lnTo>
                    <a:pt x="1356512" y="511661"/>
                  </a:lnTo>
                  <a:lnTo>
                    <a:pt x="1345037" y="468365"/>
                  </a:lnTo>
                  <a:lnTo>
                    <a:pt x="1330544" y="426275"/>
                  </a:lnTo>
                  <a:lnTo>
                    <a:pt x="1313149" y="385503"/>
                  </a:lnTo>
                  <a:lnTo>
                    <a:pt x="1292967" y="346157"/>
                  </a:lnTo>
                  <a:lnTo>
                    <a:pt x="1270115" y="308347"/>
                  </a:lnTo>
                  <a:lnTo>
                    <a:pt x="1244709" y="272183"/>
                  </a:lnTo>
                  <a:lnTo>
                    <a:pt x="1216864" y="237774"/>
                  </a:lnTo>
                  <a:lnTo>
                    <a:pt x="1186698" y="205229"/>
                  </a:lnTo>
                  <a:lnTo>
                    <a:pt x="1154326" y="174658"/>
                  </a:lnTo>
                  <a:lnTo>
                    <a:pt x="1119865" y="146171"/>
                  </a:lnTo>
                  <a:lnTo>
                    <a:pt x="1083430" y="119877"/>
                  </a:lnTo>
                  <a:lnTo>
                    <a:pt x="1045137" y="95886"/>
                  </a:lnTo>
                  <a:lnTo>
                    <a:pt x="1005103" y="74307"/>
                  </a:lnTo>
                  <a:lnTo>
                    <a:pt x="963444" y="55250"/>
                  </a:lnTo>
                  <a:lnTo>
                    <a:pt x="920276" y="38824"/>
                  </a:lnTo>
                  <a:lnTo>
                    <a:pt x="875715" y="25140"/>
                  </a:lnTo>
                  <a:lnTo>
                    <a:pt x="829877" y="14305"/>
                  </a:lnTo>
                  <a:lnTo>
                    <a:pt x="782878" y="6431"/>
                  </a:lnTo>
                  <a:lnTo>
                    <a:pt x="734835" y="1626"/>
                  </a:lnTo>
                  <a:lnTo>
                    <a:pt x="6858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52" name="object 48">
              <a:extLst>
                <a:ext uri="{FF2B5EF4-FFF2-40B4-BE49-F238E27FC236}">
                  <a16:creationId xmlns:a16="http://schemas.microsoft.com/office/drawing/2014/main" id="{C11A202F-6962-3D9C-B0D8-94D7E569F647}"/>
                </a:ext>
              </a:extLst>
            </p:cNvPr>
            <p:cNvSpPr>
              <a:spLocks/>
            </p:cNvSpPr>
            <p:nvPr/>
          </p:nvSpPr>
          <p:spPr bwMode="auto">
            <a:xfrm>
              <a:off x="1081087" y="3938651"/>
              <a:ext cx="1372235" cy="1295400"/>
            </a:xfrm>
            <a:custGeom>
              <a:avLst/>
              <a:gdLst>
                <a:gd name="T0" fmla="*/ 1721 w 1372235"/>
                <a:gd name="T1" fmla="*/ 601438 h 1295400"/>
                <a:gd name="T2" fmla="*/ 15148 w 1372235"/>
                <a:gd name="T3" fmla="*/ 511661 h 1295400"/>
                <a:gd name="T4" fmla="*/ 41112 w 1372235"/>
                <a:gd name="T5" fmla="*/ 426275 h 1295400"/>
                <a:gd name="T6" fmla="*/ 78685 w 1372235"/>
                <a:gd name="T7" fmla="*/ 346157 h 1295400"/>
                <a:gd name="T8" fmla="*/ 126940 w 1372235"/>
                <a:gd name="T9" fmla="*/ 272183 h 1295400"/>
                <a:gd name="T10" fmla="*/ 184948 w 1372235"/>
                <a:gd name="T11" fmla="*/ 205229 h 1295400"/>
                <a:gd name="T12" fmla="*/ 251783 w 1372235"/>
                <a:gd name="T13" fmla="*/ 146171 h 1295400"/>
                <a:gd name="T14" fmla="*/ 326515 w 1372235"/>
                <a:gd name="T15" fmla="*/ 95886 h 1295400"/>
                <a:gd name="T16" fmla="*/ 408217 w 1372235"/>
                <a:gd name="T17" fmla="*/ 55250 h 1295400"/>
                <a:gd name="T18" fmla="*/ 495961 w 1372235"/>
                <a:gd name="T19" fmla="*/ 25140 h 1295400"/>
                <a:gd name="T20" fmla="*/ 588819 w 1372235"/>
                <a:gd name="T21" fmla="*/ 6431 h 1295400"/>
                <a:gd name="T22" fmla="*/ 685863 w 1372235"/>
                <a:gd name="T23" fmla="*/ 0 h 1295400"/>
                <a:gd name="T24" fmla="*/ 782878 w 1372235"/>
                <a:gd name="T25" fmla="*/ 6431 h 1295400"/>
                <a:gd name="T26" fmla="*/ 875715 w 1372235"/>
                <a:gd name="T27" fmla="*/ 25140 h 1295400"/>
                <a:gd name="T28" fmla="*/ 963444 w 1372235"/>
                <a:gd name="T29" fmla="*/ 55250 h 1295400"/>
                <a:gd name="T30" fmla="*/ 1045137 w 1372235"/>
                <a:gd name="T31" fmla="*/ 95886 h 1295400"/>
                <a:gd name="T32" fmla="*/ 1119865 w 1372235"/>
                <a:gd name="T33" fmla="*/ 146171 h 1295400"/>
                <a:gd name="T34" fmla="*/ 1186698 w 1372235"/>
                <a:gd name="T35" fmla="*/ 205229 h 1295400"/>
                <a:gd name="T36" fmla="*/ 1244709 w 1372235"/>
                <a:gd name="T37" fmla="*/ 272183 h 1295400"/>
                <a:gd name="T38" fmla="*/ 1292967 w 1372235"/>
                <a:gd name="T39" fmla="*/ 346157 h 1295400"/>
                <a:gd name="T40" fmla="*/ 1330544 w 1372235"/>
                <a:gd name="T41" fmla="*/ 426275 h 1295400"/>
                <a:gd name="T42" fmla="*/ 1356512 w 1372235"/>
                <a:gd name="T43" fmla="*/ 511661 h 1295400"/>
                <a:gd name="T44" fmla="*/ 1369941 w 1372235"/>
                <a:gd name="T45" fmla="*/ 601438 h 1295400"/>
                <a:gd name="T46" fmla="*/ 1369941 w 1372235"/>
                <a:gd name="T47" fmla="*/ 693946 h 1295400"/>
                <a:gd name="T48" fmla="*/ 1356512 w 1372235"/>
                <a:gd name="T49" fmla="*/ 783700 h 1295400"/>
                <a:gd name="T50" fmla="*/ 1330544 w 1372235"/>
                <a:gd name="T51" fmla="*/ 869073 h 1295400"/>
                <a:gd name="T52" fmla="*/ 1292967 w 1372235"/>
                <a:gd name="T53" fmla="*/ 949186 h 1295400"/>
                <a:gd name="T54" fmla="*/ 1244709 w 1372235"/>
                <a:gd name="T55" fmla="*/ 1023161 h 1295400"/>
                <a:gd name="T56" fmla="*/ 1186698 w 1372235"/>
                <a:gd name="T57" fmla="*/ 1090121 h 1295400"/>
                <a:gd name="T58" fmla="*/ 1119865 w 1372235"/>
                <a:gd name="T59" fmla="*/ 1149187 h 1295400"/>
                <a:gd name="T60" fmla="*/ 1045137 w 1372235"/>
                <a:gd name="T61" fmla="*/ 1199483 h 1295400"/>
                <a:gd name="T62" fmla="*/ 963444 w 1372235"/>
                <a:gd name="T63" fmla="*/ 1240130 h 1295400"/>
                <a:gd name="T64" fmla="*/ 875715 w 1372235"/>
                <a:gd name="T65" fmla="*/ 1270250 h 1295400"/>
                <a:gd name="T66" fmla="*/ 782878 w 1372235"/>
                <a:gd name="T67" fmla="*/ 1288966 h 1295400"/>
                <a:gd name="T68" fmla="*/ 685863 w 1372235"/>
                <a:gd name="T69" fmla="*/ 1295400 h 1295400"/>
                <a:gd name="T70" fmla="*/ 588819 w 1372235"/>
                <a:gd name="T71" fmla="*/ 1288966 h 1295400"/>
                <a:gd name="T72" fmla="*/ 495961 w 1372235"/>
                <a:gd name="T73" fmla="*/ 1270250 h 1295400"/>
                <a:gd name="T74" fmla="*/ 408217 w 1372235"/>
                <a:gd name="T75" fmla="*/ 1240130 h 1295400"/>
                <a:gd name="T76" fmla="*/ 326515 w 1372235"/>
                <a:gd name="T77" fmla="*/ 1199483 h 1295400"/>
                <a:gd name="T78" fmla="*/ 251783 w 1372235"/>
                <a:gd name="T79" fmla="*/ 1149187 h 1295400"/>
                <a:gd name="T80" fmla="*/ 184948 w 1372235"/>
                <a:gd name="T81" fmla="*/ 1090121 h 1295400"/>
                <a:gd name="T82" fmla="*/ 126940 w 1372235"/>
                <a:gd name="T83" fmla="*/ 1023161 h 1295400"/>
                <a:gd name="T84" fmla="*/ 78685 w 1372235"/>
                <a:gd name="T85" fmla="*/ 949186 h 1295400"/>
                <a:gd name="T86" fmla="*/ 41112 w 1372235"/>
                <a:gd name="T87" fmla="*/ 869073 h 1295400"/>
                <a:gd name="T88" fmla="*/ 15148 w 1372235"/>
                <a:gd name="T89" fmla="*/ 783700 h 1295400"/>
                <a:gd name="T90" fmla="*/ 1721 w 1372235"/>
                <a:gd name="T91" fmla="*/ 693946 h 129540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372235" h="1295400">
                  <a:moveTo>
                    <a:pt x="0" y="647700"/>
                  </a:moveTo>
                  <a:lnTo>
                    <a:pt x="1721" y="601438"/>
                  </a:lnTo>
                  <a:lnTo>
                    <a:pt x="6809" y="556056"/>
                  </a:lnTo>
                  <a:lnTo>
                    <a:pt x="15148" y="511661"/>
                  </a:lnTo>
                  <a:lnTo>
                    <a:pt x="26621" y="468365"/>
                  </a:lnTo>
                  <a:lnTo>
                    <a:pt x="41112" y="426275"/>
                  </a:lnTo>
                  <a:lnTo>
                    <a:pt x="58505" y="385503"/>
                  </a:lnTo>
                  <a:lnTo>
                    <a:pt x="78685" y="346157"/>
                  </a:lnTo>
                  <a:lnTo>
                    <a:pt x="101535" y="308347"/>
                  </a:lnTo>
                  <a:lnTo>
                    <a:pt x="126940" y="272183"/>
                  </a:lnTo>
                  <a:lnTo>
                    <a:pt x="154783" y="237774"/>
                  </a:lnTo>
                  <a:lnTo>
                    <a:pt x="184948" y="205229"/>
                  </a:lnTo>
                  <a:lnTo>
                    <a:pt x="217320" y="174658"/>
                  </a:lnTo>
                  <a:lnTo>
                    <a:pt x="251783" y="146171"/>
                  </a:lnTo>
                  <a:lnTo>
                    <a:pt x="288219" y="119877"/>
                  </a:lnTo>
                  <a:lnTo>
                    <a:pt x="326515" y="95886"/>
                  </a:lnTo>
                  <a:lnTo>
                    <a:pt x="366552" y="74307"/>
                  </a:lnTo>
                  <a:lnTo>
                    <a:pt x="408217" y="55250"/>
                  </a:lnTo>
                  <a:lnTo>
                    <a:pt x="451391" y="38824"/>
                  </a:lnTo>
                  <a:lnTo>
                    <a:pt x="495961" y="25140"/>
                  </a:lnTo>
                  <a:lnTo>
                    <a:pt x="541808" y="14305"/>
                  </a:lnTo>
                  <a:lnTo>
                    <a:pt x="588819" y="6431"/>
                  </a:lnTo>
                  <a:lnTo>
                    <a:pt x="636876" y="1626"/>
                  </a:lnTo>
                  <a:lnTo>
                    <a:pt x="685863" y="0"/>
                  </a:lnTo>
                  <a:lnTo>
                    <a:pt x="734835" y="1626"/>
                  </a:lnTo>
                  <a:lnTo>
                    <a:pt x="782878" y="6431"/>
                  </a:lnTo>
                  <a:lnTo>
                    <a:pt x="829877" y="14305"/>
                  </a:lnTo>
                  <a:lnTo>
                    <a:pt x="875715" y="25140"/>
                  </a:lnTo>
                  <a:lnTo>
                    <a:pt x="920276" y="38824"/>
                  </a:lnTo>
                  <a:lnTo>
                    <a:pt x="963444" y="55250"/>
                  </a:lnTo>
                  <a:lnTo>
                    <a:pt x="1005103" y="74307"/>
                  </a:lnTo>
                  <a:lnTo>
                    <a:pt x="1045137" y="95886"/>
                  </a:lnTo>
                  <a:lnTo>
                    <a:pt x="1083430" y="119877"/>
                  </a:lnTo>
                  <a:lnTo>
                    <a:pt x="1119865" y="146171"/>
                  </a:lnTo>
                  <a:lnTo>
                    <a:pt x="1154326" y="174658"/>
                  </a:lnTo>
                  <a:lnTo>
                    <a:pt x="1186698" y="205229"/>
                  </a:lnTo>
                  <a:lnTo>
                    <a:pt x="1216864" y="237774"/>
                  </a:lnTo>
                  <a:lnTo>
                    <a:pt x="1244709" y="272183"/>
                  </a:lnTo>
                  <a:lnTo>
                    <a:pt x="1270115" y="308347"/>
                  </a:lnTo>
                  <a:lnTo>
                    <a:pt x="1292967" y="346157"/>
                  </a:lnTo>
                  <a:lnTo>
                    <a:pt x="1313149" y="385503"/>
                  </a:lnTo>
                  <a:lnTo>
                    <a:pt x="1330544" y="426275"/>
                  </a:lnTo>
                  <a:lnTo>
                    <a:pt x="1345037" y="468365"/>
                  </a:lnTo>
                  <a:lnTo>
                    <a:pt x="1356512" y="511661"/>
                  </a:lnTo>
                  <a:lnTo>
                    <a:pt x="1364852" y="556056"/>
                  </a:lnTo>
                  <a:lnTo>
                    <a:pt x="1369941" y="601438"/>
                  </a:lnTo>
                  <a:lnTo>
                    <a:pt x="1371663" y="647700"/>
                  </a:lnTo>
                  <a:lnTo>
                    <a:pt x="1369941" y="693946"/>
                  </a:lnTo>
                  <a:lnTo>
                    <a:pt x="1364852" y="739316"/>
                  </a:lnTo>
                  <a:lnTo>
                    <a:pt x="1356512" y="783700"/>
                  </a:lnTo>
                  <a:lnTo>
                    <a:pt x="1345037" y="826989"/>
                  </a:lnTo>
                  <a:lnTo>
                    <a:pt x="1330544" y="869073"/>
                  </a:lnTo>
                  <a:lnTo>
                    <a:pt x="1313149" y="909842"/>
                  </a:lnTo>
                  <a:lnTo>
                    <a:pt x="1292967" y="949186"/>
                  </a:lnTo>
                  <a:lnTo>
                    <a:pt x="1270115" y="986995"/>
                  </a:lnTo>
                  <a:lnTo>
                    <a:pt x="1244709" y="1023161"/>
                  </a:lnTo>
                  <a:lnTo>
                    <a:pt x="1216864" y="1057572"/>
                  </a:lnTo>
                  <a:lnTo>
                    <a:pt x="1186698" y="1090121"/>
                  </a:lnTo>
                  <a:lnTo>
                    <a:pt x="1154326" y="1120695"/>
                  </a:lnTo>
                  <a:lnTo>
                    <a:pt x="1119865" y="1149187"/>
                  </a:lnTo>
                  <a:lnTo>
                    <a:pt x="1083430" y="1175486"/>
                  </a:lnTo>
                  <a:lnTo>
                    <a:pt x="1045137" y="1199483"/>
                  </a:lnTo>
                  <a:lnTo>
                    <a:pt x="1005103" y="1221067"/>
                  </a:lnTo>
                  <a:lnTo>
                    <a:pt x="963444" y="1240130"/>
                  </a:lnTo>
                  <a:lnTo>
                    <a:pt x="920276" y="1256560"/>
                  </a:lnTo>
                  <a:lnTo>
                    <a:pt x="875715" y="1270250"/>
                  </a:lnTo>
                  <a:lnTo>
                    <a:pt x="829877" y="1281088"/>
                  </a:lnTo>
                  <a:lnTo>
                    <a:pt x="782878" y="1288966"/>
                  </a:lnTo>
                  <a:lnTo>
                    <a:pt x="734835" y="1293773"/>
                  </a:lnTo>
                  <a:lnTo>
                    <a:pt x="685863" y="1295400"/>
                  </a:lnTo>
                  <a:lnTo>
                    <a:pt x="636876" y="1293773"/>
                  </a:lnTo>
                  <a:lnTo>
                    <a:pt x="588819" y="1288966"/>
                  </a:lnTo>
                  <a:lnTo>
                    <a:pt x="541808" y="1281088"/>
                  </a:lnTo>
                  <a:lnTo>
                    <a:pt x="495961" y="1270250"/>
                  </a:lnTo>
                  <a:lnTo>
                    <a:pt x="451391" y="1256560"/>
                  </a:lnTo>
                  <a:lnTo>
                    <a:pt x="408217" y="1240130"/>
                  </a:lnTo>
                  <a:lnTo>
                    <a:pt x="366552" y="1221067"/>
                  </a:lnTo>
                  <a:lnTo>
                    <a:pt x="326515" y="1199483"/>
                  </a:lnTo>
                  <a:lnTo>
                    <a:pt x="288219" y="1175486"/>
                  </a:lnTo>
                  <a:lnTo>
                    <a:pt x="251783" y="1149187"/>
                  </a:lnTo>
                  <a:lnTo>
                    <a:pt x="217320" y="1120695"/>
                  </a:lnTo>
                  <a:lnTo>
                    <a:pt x="184948" y="1090121"/>
                  </a:lnTo>
                  <a:lnTo>
                    <a:pt x="154783" y="1057572"/>
                  </a:lnTo>
                  <a:lnTo>
                    <a:pt x="126940" y="1023161"/>
                  </a:lnTo>
                  <a:lnTo>
                    <a:pt x="101535" y="986995"/>
                  </a:lnTo>
                  <a:lnTo>
                    <a:pt x="78685" y="949186"/>
                  </a:lnTo>
                  <a:lnTo>
                    <a:pt x="58505" y="909842"/>
                  </a:lnTo>
                  <a:lnTo>
                    <a:pt x="41112" y="869073"/>
                  </a:lnTo>
                  <a:lnTo>
                    <a:pt x="26621" y="826989"/>
                  </a:lnTo>
                  <a:lnTo>
                    <a:pt x="15148" y="783700"/>
                  </a:lnTo>
                  <a:lnTo>
                    <a:pt x="6809" y="739316"/>
                  </a:lnTo>
                  <a:lnTo>
                    <a:pt x="1721" y="693946"/>
                  </a:lnTo>
                  <a:lnTo>
                    <a:pt x="0" y="647700"/>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050"/>
            </a:p>
          </p:txBody>
        </p:sp>
      </p:grpSp>
      <p:sp>
        <p:nvSpPr>
          <p:cNvPr id="53" name="object 49">
            <a:extLst>
              <a:ext uri="{FF2B5EF4-FFF2-40B4-BE49-F238E27FC236}">
                <a16:creationId xmlns:a16="http://schemas.microsoft.com/office/drawing/2014/main" id="{5B8BF108-CDAA-2C29-6EA1-095BF5746823}"/>
              </a:ext>
            </a:extLst>
          </p:cNvPr>
          <p:cNvSpPr txBox="1"/>
          <p:nvPr/>
        </p:nvSpPr>
        <p:spPr>
          <a:xfrm>
            <a:off x="800100" y="3283744"/>
            <a:ext cx="1014413" cy="194284"/>
          </a:xfrm>
          <a:prstGeom prst="rect">
            <a:avLst/>
          </a:prstGeom>
        </p:spPr>
        <p:txBody>
          <a:bodyPr lIns="0" tIns="9525" rIns="0" bIns="0">
            <a:spAutoFit/>
          </a:bodyPr>
          <a:lstStyle/>
          <a:p>
            <a:pPr marL="9525">
              <a:spcBef>
                <a:spcPts val="75"/>
              </a:spcBef>
              <a:defRPr/>
            </a:pPr>
            <a:r>
              <a:rPr lang="es-419" sz="1200" spc="-8" dirty="0">
                <a:solidFill>
                  <a:srgbClr val="FFFFFF"/>
                </a:solidFill>
                <a:latin typeface="Arial MT"/>
                <a:cs typeface="Arial MT"/>
              </a:rPr>
              <a:t>Capacidades</a:t>
            </a:r>
            <a:endParaRPr sz="1200" dirty="0">
              <a:solidFill>
                <a:sysClr val="windowText" lastClr="000000"/>
              </a:solidFill>
              <a:latin typeface="Arial MT"/>
              <a:cs typeface="Arial MT"/>
            </a:endParaRPr>
          </a:p>
        </p:txBody>
      </p:sp>
      <p:grpSp>
        <p:nvGrpSpPr>
          <p:cNvPr id="54" name="object 50">
            <a:extLst>
              <a:ext uri="{FF2B5EF4-FFF2-40B4-BE49-F238E27FC236}">
                <a16:creationId xmlns:a16="http://schemas.microsoft.com/office/drawing/2014/main" id="{F0552C9A-0ABD-CFA5-92EF-133B67BEF9F3}"/>
              </a:ext>
            </a:extLst>
          </p:cNvPr>
          <p:cNvGrpSpPr>
            <a:grpSpLocks/>
          </p:cNvGrpSpPr>
          <p:nvPr/>
        </p:nvGrpSpPr>
        <p:grpSpPr bwMode="auto">
          <a:xfrm>
            <a:off x="796529" y="1718073"/>
            <a:ext cx="1028700" cy="2169319"/>
            <a:chOff x="1062037" y="2290826"/>
            <a:chExt cx="1372235" cy="2891842"/>
          </a:xfrm>
        </p:grpSpPr>
        <p:pic>
          <p:nvPicPr>
            <p:cNvPr id="55" name="object 51">
              <a:extLst>
                <a:ext uri="{FF2B5EF4-FFF2-40B4-BE49-F238E27FC236}">
                  <a16:creationId xmlns:a16="http://schemas.microsoft.com/office/drawing/2014/main" id="{70D06151-C8B7-6EBF-589D-1D890DD4FA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5483" y="4701656"/>
              <a:ext cx="595312"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object 52">
              <a:extLst>
                <a:ext uri="{FF2B5EF4-FFF2-40B4-BE49-F238E27FC236}">
                  <a16:creationId xmlns:a16="http://schemas.microsoft.com/office/drawing/2014/main" id="{1F755182-B7AF-9D12-7967-AA12305C6F6A}"/>
                </a:ext>
              </a:extLst>
            </p:cNvPr>
            <p:cNvSpPr>
              <a:spLocks/>
            </p:cNvSpPr>
            <p:nvPr/>
          </p:nvSpPr>
          <p:spPr bwMode="auto">
            <a:xfrm>
              <a:off x="1062037" y="2290826"/>
              <a:ext cx="1372235" cy="1295400"/>
            </a:xfrm>
            <a:custGeom>
              <a:avLst/>
              <a:gdLst>
                <a:gd name="T0" fmla="*/ 636876 w 1372235"/>
                <a:gd name="T1" fmla="*/ 1626 h 1295400"/>
                <a:gd name="T2" fmla="*/ 541808 w 1372235"/>
                <a:gd name="T3" fmla="*/ 14305 h 1295400"/>
                <a:gd name="T4" fmla="*/ 451391 w 1372235"/>
                <a:gd name="T5" fmla="*/ 38824 h 1295400"/>
                <a:gd name="T6" fmla="*/ 366552 w 1372235"/>
                <a:gd name="T7" fmla="*/ 74307 h 1295400"/>
                <a:gd name="T8" fmla="*/ 288219 w 1372235"/>
                <a:gd name="T9" fmla="*/ 119877 h 1295400"/>
                <a:gd name="T10" fmla="*/ 217320 w 1372235"/>
                <a:gd name="T11" fmla="*/ 174658 h 1295400"/>
                <a:gd name="T12" fmla="*/ 154783 w 1372235"/>
                <a:gd name="T13" fmla="*/ 237774 h 1295400"/>
                <a:gd name="T14" fmla="*/ 101535 w 1372235"/>
                <a:gd name="T15" fmla="*/ 308347 h 1295400"/>
                <a:gd name="T16" fmla="*/ 58505 w 1372235"/>
                <a:gd name="T17" fmla="*/ 385503 h 1295400"/>
                <a:gd name="T18" fmla="*/ 26621 w 1372235"/>
                <a:gd name="T19" fmla="*/ 468365 h 1295400"/>
                <a:gd name="T20" fmla="*/ 6809 w 1372235"/>
                <a:gd name="T21" fmla="*/ 556056 h 1295400"/>
                <a:gd name="T22" fmla="*/ 0 w 1372235"/>
                <a:gd name="T23" fmla="*/ 647700 h 1295400"/>
                <a:gd name="T24" fmla="*/ 6809 w 1372235"/>
                <a:gd name="T25" fmla="*/ 739316 h 1295400"/>
                <a:gd name="T26" fmla="*/ 26621 w 1372235"/>
                <a:gd name="T27" fmla="*/ 826989 h 1295400"/>
                <a:gd name="T28" fmla="*/ 58505 w 1372235"/>
                <a:gd name="T29" fmla="*/ 909842 h 1295400"/>
                <a:gd name="T30" fmla="*/ 101535 w 1372235"/>
                <a:gd name="T31" fmla="*/ 986995 h 1295400"/>
                <a:gd name="T32" fmla="*/ 154783 w 1372235"/>
                <a:gd name="T33" fmla="*/ 1057572 h 1295400"/>
                <a:gd name="T34" fmla="*/ 217320 w 1372235"/>
                <a:gd name="T35" fmla="*/ 1120695 h 1295400"/>
                <a:gd name="T36" fmla="*/ 288219 w 1372235"/>
                <a:gd name="T37" fmla="*/ 1175486 h 1295400"/>
                <a:gd name="T38" fmla="*/ 366552 w 1372235"/>
                <a:gd name="T39" fmla="*/ 1221067 h 1295400"/>
                <a:gd name="T40" fmla="*/ 451391 w 1372235"/>
                <a:gd name="T41" fmla="*/ 1256560 h 1295400"/>
                <a:gd name="T42" fmla="*/ 541808 w 1372235"/>
                <a:gd name="T43" fmla="*/ 1281088 h 1295400"/>
                <a:gd name="T44" fmla="*/ 636876 w 1372235"/>
                <a:gd name="T45" fmla="*/ 1293773 h 1295400"/>
                <a:gd name="T46" fmla="*/ 734835 w 1372235"/>
                <a:gd name="T47" fmla="*/ 1293773 h 1295400"/>
                <a:gd name="T48" fmla="*/ 829877 w 1372235"/>
                <a:gd name="T49" fmla="*/ 1281088 h 1295400"/>
                <a:gd name="T50" fmla="*/ 920276 w 1372235"/>
                <a:gd name="T51" fmla="*/ 1256560 h 1295400"/>
                <a:gd name="T52" fmla="*/ 1005103 w 1372235"/>
                <a:gd name="T53" fmla="*/ 1221067 h 1295400"/>
                <a:gd name="T54" fmla="*/ 1083430 w 1372235"/>
                <a:gd name="T55" fmla="*/ 1175486 h 1295400"/>
                <a:gd name="T56" fmla="*/ 1154326 w 1372235"/>
                <a:gd name="T57" fmla="*/ 1120695 h 1295400"/>
                <a:gd name="T58" fmla="*/ 1216864 w 1372235"/>
                <a:gd name="T59" fmla="*/ 1057572 h 1295400"/>
                <a:gd name="T60" fmla="*/ 1270115 w 1372235"/>
                <a:gd name="T61" fmla="*/ 986995 h 1295400"/>
                <a:gd name="T62" fmla="*/ 1313149 w 1372235"/>
                <a:gd name="T63" fmla="*/ 909842 h 1295400"/>
                <a:gd name="T64" fmla="*/ 1345037 w 1372235"/>
                <a:gd name="T65" fmla="*/ 826989 h 1295400"/>
                <a:gd name="T66" fmla="*/ 1364852 w 1372235"/>
                <a:gd name="T67" fmla="*/ 739316 h 1295400"/>
                <a:gd name="T68" fmla="*/ 1371663 w 1372235"/>
                <a:gd name="T69" fmla="*/ 647700 h 1295400"/>
                <a:gd name="T70" fmla="*/ 1364852 w 1372235"/>
                <a:gd name="T71" fmla="*/ 556056 h 1295400"/>
                <a:gd name="T72" fmla="*/ 1345037 w 1372235"/>
                <a:gd name="T73" fmla="*/ 468365 h 1295400"/>
                <a:gd name="T74" fmla="*/ 1313149 w 1372235"/>
                <a:gd name="T75" fmla="*/ 385503 h 1295400"/>
                <a:gd name="T76" fmla="*/ 1270115 w 1372235"/>
                <a:gd name="T77" fmla="*/ 308347 h 1295400"/>
                <a:gd name="T78" fmla="*/ 1216864 w 1372235"/>
                <a:gd name="T79" fmla="*/ 237774 h 1295400"/>
                <a:gd name="T80" fmla="*/ 1154326 w 1372235"/>
                <a:gd name="T81" fmla="*/ 174658 h 1295400"/>
                <a:gd name="T82" fmla="*/ 1083430 w 1372235"/>
                <a:gd name="T83" fmla="*/ 119877 h 1295400"/>
                <a:gd name="T84" fmla="*/ 1005103 w 1372235"/>
                <a:gd name="T85" fmla="*/ 74307 h 1295400"/>
                <a:gd name="T86" fmla="*/ 920276 w 1372235"/>
                <a:gd name="T87" fmla="*/ 38824 h 1295400"/>
                <a:gd name="T88" fmla="*/ 829877 w 1372235"/>
                <a:gd name="T89" fmla="*/ 14305 h 1295400"/>
                <a:gd name="T90" fmla="*/ 734835 w 1372235"/>
                <a:gd name="T91" fmla="*/ 1626 h 129540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372235" h="1295400">
                  <a:moveTo>
                    <a:pt x="685863" y="0"/>
                  </a:moveTo>
                  <a:lnTo>
                    <a:pt x="636876" y="1626"/>
                  </a:lnTo>
                  <a:lnTo>
                    <a:pt x="588819" y="6431"/>
                  </a:lnTo>
                  <a:lnTo>
                    <a:pt x="541808" y="14305"/>
                  </a:lnTo>
                  <a:lnTo>
                    <a:pt x="495961" y="25140"/>
                  </a:lnTo>
                  <a:lnTo>
                    <a:pt x="451391" y="38824"/>
                  </a:lnTo>
                  <a:lnTo>
                    <a:pt x="408217" y="55250"/>
                  </a:lnTo>
                  <a:lnTo>
                    <a:pt x="366552" y="74307"/>
                  </a:lnTo>
                  <a:lnTo>
                    <a:pt x="326515" y="95886"/>
                  </a:lnTo>
                  <a:lnTo>
                    <a:pt x="288219" y="119877"/>
                  </a:lnTo>
                  <a:lnTo>
                    <a:pt x="251783" y="146171"/>
                  </a:lnTo>
                  <a:lnTo>
                    <a:pt x="217320" y="174658"/>
                  </a:lnTo>
                  <a:lnTo>
                    <a:pt x="184948" y="205229"/>
                  </a:lnTo>
                  <a:lnTo>
                    <a:pt x="154783" y="237774"/>
                  </a:lnTo>
                  <a:lnTo>
                    <a:pt x="126940" y="272183"/>
                  </a:lnTo>
                  <a:lnTo>
                    <a:pt x="101535" y="308347"/>
                  </a:lnTo>
                  <a:lnTo>
                    <a:pt x="78685" y="346157"/>
                  </a:lnTo>
                  <a:lnTo>
                    <a:pt x="58505" y="385503"/>
                  </a:lnTo>
                  <a:lnTo>
                    <a:pt x="41112" y="426275"/>
                  </a:lnTo>
                  <a:lnTo>
                    <a:pt x="26621" y="468365"/>
                  </a:lnTo>
                  <a:lnTo>
                    <a:pt x="15148" y="511661"/>
                  </a:lnTo>
                  <a:lnTo>
                    <a:pt x="6809" y="556056"/>
                  </a:lnTo>
                  <a:lnTo>
                    <a:pt x="1721" y="601438"/>
                  </a:lnTo>
                  <a:lnTo>
                    <a:pt x="0" y="647700"/>
                  </a:lnTo>
                  <a:lnTo>
                    <a:pt x="1721" y="693946"/>
                  </a:lnTo>
                  <a:lnTo>
                    <a:pt x="6809" y="739316"/>
                  </a:lnTo>
                  <a:lnTo>
                    <a:pt x="15148" y="783700"/>
                  </a:lnTo>
                  <a:lnTo>
                    <a:pt x="26621" y="826989"/>
                  </a:lnTo>
                  <a:lnTo>
                    <a:pt x="41112" y="869073"/>
                  </a:lnTo>
                  <a:lnTo>
                    <a:pt x="58505" y="909842"/>
                  </a:lnTo>
                  <a:lnTo>
                    <a:pt x="78685" y="949186"/>
                  </a:lnTo>
                  <a:lnTo>
                    <a:pt x="101535" y="986995"/>
                  </a:lnTo>
                  <a:lnTo>
                    <a:pt x="126940" y="1023161"/>
                  </a:lnTo>
                  <a:lnTo>
                    <a:pt x="154783" y="1057572"/>
                  </a:lnTo>
                  <a:lnTo>
                    <a:pt x="184948" y="1090121"/>
                  </a:lnTo>
                  <a:lnTo>
                    <a:pt x="217320" y="1120695"/>
                  </a:lnTo>
                  <a:lnTo>
                    <a:pt x="251783" y="1149187"/>
                  </a:lnTo>
                  <a:lnTo>
                    <a:pt x="288219" y="1175486"/>
                  </a:lnTo>
                  <a:lnTo>
                    <a:pt x="326515" y="1199483"/>
                  </a:lnTo>
                  <a:lnTo>
                    <a:pt x="366552" y="1221067"/>
                  </a:lnTo>
                  <a:lnTo>
                    <a:pt x="408217" y="1240130"/>
                  </a:lnTo>
                  <a:lnTo>
                    <a:pt x="451391" y="1256560"/>
                  </a:lnTo>
                  <a:lnTo>
                    <a:pt x="495961" y="1270250"/>
                  </a:lnTo>
                  <a:lnTo>
                    <a:pt x="541808" y="1281088"/>
                  </a:lnTo>
                  <a:lnTo>
                    <a:pt x="588819" y="1288966"/>
                  </a:lnTo>
                  <a:lnTo>
                    <a:pt x="636876" y="1293773"/>
                  </a:lnTo>
                  <a:lnTo>
                    <a:pt x="685863" y="1295400"/>
                  </a:lnTo>
                  <a:lnTo>
                    <a:pt x="734835" y="1293773"/>
                  </a:lnTo>
                  <a:lnTo>
                    <a:pt x="782878" y="1288966"/>
                  </a:lnTo>
                  <a:lnTo>
                    <a:pt x="829877" y="1281088"/>
                  </a:lnTo>
                  <a:lnTo>
                    <a:pt x="875715" y="1270250"/>
                  </a:lnTo>
                  <a:lnTo>
                    <a:pt x="920276" y="1256560"/>
                  </a:lnTo>
                  <a:lnTo>
                    <a:pt x="963444" y="1240130"/>
                  </a:lnTo>
                  <a:lnTo>
                    <a:pt x="1005103" y="1221067"/>
                  </a:lnTo>
                  <a:lnTo>
                    <a:pt x="1045137" y="1199483"/>
                  </a:lnTo>
                  <a:lnTo>
                    <a:pt x="1083430" y="1175486"/>
                  </a:lnTo>
                  <a:lnTo>
                    <a:pt x="1119865" y="1149187"/>
                  </a:lnTo>
                  <a:lnTo>
                    <a:pt x="1154326" y="1120695"/>
                  </a:lnTo>
                  <a:lnTo>
                    <a:pt x="1186698" y="1090121"/>
                  </a:lnTo>
                  <a:lnTo>
                    <a:pt x="1216864" y="1057572"/>
                  </a:lnTo>
                  <a:lnTo>
                    <a:pt x="1244709" y="1023161"/>
                  </a:lnTo>
                  <a:lnTo>
                    <a:pt x="1270115" y="986995"/>
                  </a:lnTo>
                  <a:lnTo>
                    <a:pt x="1292967" y="949186"/>
                  </a:lnTo>
                  <a:lnTo>
                    <a:pt x="1313149" y="909842"/>
                  </a:lnTo>
                  <a:lnTo>
                    <a:pt x="1330544" y="869073"/>
                  </a:lnTo>
                  <a:lnTo>
                    <a:pt x="1345037" y="826989"/>
                  </a:lnTo>
                  <a:lnTo>
                    <a:pt x="1356512" y="783700"/>
                  </a:lnTo>
                  <a:lnTo>
                    <a:pt x="1364852" y="739316"/>
                  </a:lnTo>
                  <a:lnTo>
                    <a:pt x="1369941" y="693946"/>
                  </a:lnTo>
                  <a:lnTo>
                    <a:pt x="1371663" y="647700"/>
                  </a:lnTo>
                  <a:lnTo>
                    <a:pt x="1369941" y="601438"/>
                  </a:lnTo>
                  <a:lnTo>
                    <a:pt x="1364852" y="556056"/>
                  </a:lnTo>
                  <a:lnTo>
                    <a:pt x="1356512" y="511661"/>
                  </a:lnTo>
                  <a:lnTo>
                    <a:pt x="1345037" y="468365"/>
                  </a:lnTo>
                  <a:lnTo>
                    <a:pt x="1330544" y="426275"/>
                  </a:lnTo>
                  <a:lnTo>
                    <a:pt x="1313149" y="385503"/>
                  </a:lnTo>
                  <a:lnTo>
                    <a:pt x="1292967" y="346157"/>
                  </a:lnTo>
                  <a:lnTo>
                    <a:pt x="1270115" y="308347"/>
                  </a:lnTo>
                  <a:lnTo>
                    <a:pt x="1244709" y="272183"/>
                  </a:lnTo>
                  <a:lnTo>
                    <a:pt x="1216864" y="237774"/>
                  </a:lnTo>
                  <a:lnTo>
                    <a:pt x="1186698" y="205229"/>
                  </a:lnTo>
                  <a:lnTo>
                    <a:pt x="1154326" y="174658"/>
                  </a:lnTo>
                  <a:lnTo>
                    <a:pt x="1119865" y="146171"/>
                  </a:lnTo>
                  <a:lnTo>
                    <a:pt x="1083430" y="119877"/>
                  </a:lnTo>
                  <a:lnTo>
                    <a:pt x="1045137" y="95886"/>
                  </a:lnTo>
                  <a:lnTo>
                    <a:pt x="1005103" y="74307"/>
                  </a:lnTo>
                  <a:lnTo>
                    <a:pt x="963444" y="55250"/>
                  </a:lnTo>
                  <a:lnTo>
                    <a:pt x="920276" y="38824"/>
                  </a:lnTo>
                  <a:lnTo>
                    <a:pt x="875715" y="25140"/>
                  </a:lnTo>
                  <a:lnTo>
                    <a:pt x="829877" y="14305"/>
                  </a:lnTo>
                  <a:lnTo>
                    <a:pt x="782878" y="6431"/>
                  </a:lnTo>
                  <a:lnTo>
                    <a:pt x="734835" y="1626"/>
                  </a:lnTo>
                  <a:lnTo>
                    <a:pt x="6858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57" name="object 53">
              <a:extLst>
                <a:ext uri="{FF2B5EF4-FFF2-40B4-BE49-F238E27FC236}">
                  <a16:creationId xmlns:a16="http://schemas.microsoft.com/office/drawing/2014/main" id="{AD07ED93-9D23-6545-2D63-1348422D3372}"/>
                </a:ext>
              </a:extLst>
            </p:cNvPr>
            <p:cNvSpPr>
              <a:spLocks/>
            </p:cNvSpPr>
            <p:nvPr/>
          </p:nvSpPr>
          <p:spPr bwMode="auto">
            <a:xfrm>
              <a:off x="1062037" y="2290826"/>
              <a:ext cx="1372235" cy="1295400"/>
            </a:xfrm>
            <a:custGeom>
              <a:avLst/>
              <a:gdLst>
                <a:gd name="T0" fmla="*/ 1721 w 1372235"/>
                <a:gd name="T1" fmla="*/ 601438 h 1295400"/>
                <a:gd name="T2" fmla="*/ 15148 w 1372235"/>
                <a:gd name="T3" fmla="*/ 511661 h 1295400"/>
                <a:gd name="T4" fmla="*/ 41112 w 1372235"/>
                <a:gd name="T5" fmla="*/ 426275 h 1295400"/>
                <a:gd name="T6" fmla="*/ 78685 w 1372235"/>
                <a:gd name="T7" fmla="*/ 346157 h 1295400"/>
                <a:gd name="T8" fmla="*/ 126940 w 1372235"/>
                <a:gd name="T9" fmla="*/ 272183 h 1295400"/>
                <a:gd name="T10" fmla="*/ 184948 w 1372235"/>
                <a:gd name="T11" fmla="*/ 205229 h 1295400"/>
                <a:gd name="T12" fmla="*/ 251783 w 1372235"/>
                <a:gd name="T13" fmla="*/ 146171 h 1295400"/>
                <a:gd name="T14" fmla="*/ 326515 w 1372235"/>
                <a:gd name="T15" fmla="*/ 95886 h 1295400"/>
                <a:gd name="T16" fmla="*/ 408217 w 1372235"/>
                <a:gd name="T17" fmla="*/ 55250 h 1295400"/>
                <a:gd name="T18" fmla="*/ 495961 w 1372235"/>
                <a:gd name="T19" fmla="*/ 25140 h 1295400"/>
                <a:gd name="T20" fmla="*/ 588819 w 1372235"/>
                <a:gd name="T21" fmla="*/ 6431 h 1295400"/>
                <a:gd name="T22" fmla="*/ 685863 w 1372235"/>
                <a:gd name="T23" fmla="*/ 0 h 1295400"/>
                <a:gd name="T24" fmla="*/ 782878 w 1372235"/>
                <a:gd name="T25" fmla="*/ 6431 h 1295400"/>
                <a:gd name="T26" fmla="*/ 875715 w 1372235"/>
                <a:gd name="T27" fmla="*/ 25140 h 1295400"/>
                <a:gd name="T28" fmla="*/ 963444 w 1372235"/>
                <a:gd name="T29" fmla="*/ 55250 h 1295400"/>
                <a:gd name="T30" fmla="*/ 1045137 w 1372235"/>
                <a:gd name="T31" fmla="*/ 95886 h 1295400"/>
                <a:gd name="T32" fmla="*/ 1119865 w 1372235"/>
                <a:gd name="T33" fmla="*/ 146171 h 1295400"/>
                <a:gd name="T34" fmla="*/ 1186698 w 1372235"/>
                <a:gd name="T35" fmla="*/ 205229 h 1295400"/>
                <a:gd name="T36" fmla="*/ 1244709 w 1372235"/>
                <a:gd name="T37" fmla="*/ 272183 h 1295400"/>
                <a:gd name="T38" fmla="*/ 1292967 w 1372235"/>
                <a:gd name="T39" fmla="*/ 346157 h 1295400"/>
                <a:gd name="T40" fmla="*/ 1330544 w 1372235"/>
                <a:gd name="T41" fmla="*/ 426275 h 1295400"/>
                <a:gd name="T42" fmla="*/ 1356512 w 1372235"/>
                <a:gd name="T43" fmla="*/ 511661 h 1295400"/>
                <a:gd name="T44" fmla="*/ 1369941 w 1372235"/>
                <a:gd name="T45" fmla="*/ 601438 h 1295400"/>
                <a:gd name="T46" fmla="*/ 1369941 w 1372235"/>
                <a:gd name="T47" fmla="*/ 693946 h 1295400"/>
                <a:gd name="T48" fmla="*/ 1356512 w 1372235"/>
                <a:gd name="T49" fmla="*/ 783700 h 1295400"/>
                <a:gd name="T50" fmla="*/ 1330544 w 1372235"/>
                <a:gd name="T51" fmla="*/ 869073 h 1295400"/>
                <a:gd name="T52" fmla="*/ 1292967 w 1372235"/>
                <a:gd name="T53" fmla="*/ 949186 h 1295400"/>
                <a:gd name="T54" fmla="*/ 1244709 w 1372235"/>
                <a:gd name="T55" fmla="*/ 1023161 h 1295400"/>
                <a:gd name="T56" fmla="*/ 1186698 w 1372235"/>
                <a:gd name="T57" fmla="*/ 1090121 h 1295400"/>
                <a:gd name="T58" fmla="*/ 1119865 w 1372235"/>
                <a:gd name="T59" fmla="*/ 1149187 h 1295400"/>
                <a:gd name="T60" fmla="*/ 1045137 w 1372235"/>
                <a:gd name="T61" fmla="*/ 1199483 h 1295400"/>
                <a:gd name="T62" fmla="*/ 963444 w 1372235"/>
                <a:gd name="T63" fmla="*/ 1240130 h 1295400"/>
                <a:gd name="T64" fmla="*/ 875715 w 1372235"/>
                <a:gd name="T65" fmla="*/ 1270250 h 1295400"/>
                <a:gd name="T66" fmla="*/ 782878 w 1372235"/>
                <a:gd name="T67" fmla="*/ 1288966 h 1295400"/>
                <a:gd name="T68" fmla="*/ 685863 w 1372235"/>
                <a:gd name="T69" fmla="*/ 1295400 h 1295400"/>
                <a:gd name="T70" fmla="*/ 588819 w 1372235"/>
                <a:gd name="T71" fmla="*/ 1288966 h 1295400"/>
                <a:gd name="T72" fmla="*/ 495961 w 1372235"/>
                <a:gd name="T73" fmla="*/ 1270250 h 1295400"/>
                <a:gd name="T74" fmla="*/ 408217 w 1372235"/>
                <a:gd name="T75" fmla="*/ 1240130 h 1295400"/>
                <a:gd name="T76" fmla="*/ 326515 w 1372235"/>
                <a:gd name="T77" fmla="*/ 1199483 h 1295400"/>
                <a:gd name="T78" fmla="*/ 251783 w 1372235"/>
                <a:gd name="T79" fmla="*/ 1149187 h 1295400"/>
                <a:gd name="T80" fmla="*/ 184948 w 1372235"/>
                <a:gd name="T81" fmla="*/ 1090121 h 1295400"/>
                <a:gd name="T82" fmla="*/ 126940 w 1372235"/>
                <a:gd name="T83" fmla="*/ 1023161 h 1295400"/>
                <a:gd name="T84" fmla="*/ 78685 w 1372235"/>
                <a:gd name="T85" fmla="*/ 949186 h 1295400"/>
                <a:gd name="T86" fmla="*/ 41112 w 1372235"/>
                <a:gd name="T87" fmla="*/ 869073 h 1295400"/>
                <a:gd name="T88" fmla="*/ 15148 w 1372235"/>
                <a:gd name="T89" fmla="*/ 783700 h 1295400"/>
                <a:gd name="T90" fmla="*/ 1721 w 1372235"/>
                <a:gd name="T91" fmla="*/ 693946 h 129540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372235" h="1295400">
                  <a:moveTo>
                    <a:pt x="0" y="647700"/>
                  </a:moveTo>
                  <a:lnTo>
                    <a:pt x="1721" y="601438"/>
                  </a:lnTo>
                  <a:lnTo>
                    <a:pt x="6809" y="556056"/>
                  </a:lnTo>
                  <a:lnTo>
                    <a:pt x="15148" y="511661"/>
                  </a:lnTo>
                  <a:lnTo>
                    <a:pt x="26621" y="468365"/>
                  </a:lnTo>
                  <a:lnTo>
                    <a:pt x="41112" y="426275"/>
                  </a:lnTo>
                  <a:lnTo>
                    <a:pt x="58505" y="385503"/>
                  </a:lnTo>
                  <a:lnTo>
                    <a:pt x="78685" y="346157"/>
                  </a:lnTo>
                  <a:lnTo>
                    <a:pt x="101535" y="308347"/>
                  </a:lnTo>
                  <a:lnTo>
                    <a:pt x="126940" y="272183"/>
                  </a:lnTo>
                  <a:lnTo>
                    <a:pt x="154783" y="237774"/>
                  </a:lnTo>
                  <a:lnTo>
                    <a:pt x="184948" y="205229"/>
                  </a:lnTo>
                  <a:lnTo>
                    <a:pt x="217320" y="174658"/>
                  </a:lnTo>
                  <a:lnTo>
                    <a:pt x="251783" y="146171"/>
                  </a:lnTo>
                  <a:lnTo>
                    <a:pt x="288219" y="119877"/>
                  </a:lnTo>
                  <a:lnTo>
                    <a:pt x="326515" y="95886"/>
                  </a:lnTo>
                  <a:lnTo>
                    <a:pt x="366552" y="74307"/>
                  </a:lnTo>
                  <a:lnTo>
                    <a:pt x="408217" y="55250"/>
                  </a:lnTo>
                  <a:lnTo>
                    <a:pt x="451391" y="38824"/>
                  </a:lnTo>
                  <a:lnTo>
                    <a:pt x="495961" y="25140"/>
                  </a:lnTo>
                  <a:lnTo>
                    <a:pt x="541808" y="14305"/>
                  </a:lnTo>
                  <a:lnTo>
                    <a:pt x="588819" y="6431"/>
                  </a:lnTo>
                  <a:lnTo>
                    <a:pt x="636876" y="1626"/>
                  </a:lnTo>
                  <a:lnTo>
                    <a:pt x="685863" y="0"/>
                  </a:lnTo>
                  <a:lnTo>
                    <a:pt x="734835" y="1626"/>
                  </a:lnTo>
                  <a:lnTo>
                    <a:pt x="782878" y="6431"/>
                  </a:lnTo>
                  <a:lnTo>
                    <a:pt x="829877" y="14305"/>
                  </a:lnTo>
                  <a:lnTo>
                    <a:pt x="875715" y="25140"/>
                  </a:lnTo>
                  <a:lnTo>
                    <a:pt x="920276" y="38824"/>
                  </a:lnTo>
                  <a:lnTo>
                    <a:pt x="963444" y="55250"/>
                  </a:lnTo>
                  <a:lnTo>
                    <a:pt x="1005103" y="74307"/>
                  </a:lnTo>
                  <a:lnTo>
                    <a:pt x="1045137" y="95886"/>
                  </a:lnTo>
                  <a:lnTo>
                    <a:pt x="1083430" y="119877"/>
                  </a:lnTo>
                  <a:lnTo>
                    <a:pt x="1119865" y="146171"/>
                  </a:lnTo>
                  <a:lnTo>
                    <a:pt x="1154326" y="174658"/>
                  </a:lnTo>
                  <a:lnTo>
                    <a:pt x="1186698" y="205229"/>
                  </a:lnTo>
                  <a:lnTo>
                    <a:pt x="1216864" y="237774"/>
                  </a:lnTo>
                  <a:lnTo>
                    <a:pt x="1244709" y="272183"/>
                  </a:lnTo>
                  <a:lnTo>
                    <a:pt x="1270115" y="308347"/>
                  </a:lnTo>
                  <a:lnTo>
                    <a:pt x="1292967" y="346157"/>
                  </a:lnTo>
                  <a:lnTo>
                    <a:pt x="1313149" y="385503"/>
                  </a:lnTo>
                  <a:lnTo>
                    <a:pt x="1330544" y="426275"/>
                  </a:lnTo>
                  <a:lnTo>
                    <a:pt x="1345037" y="468365"/>
                  </a:lnTo>
                  <a:lnTo>
                    <a:pt x="1356512" y="511661"/>
                  </a:lnTo>
                  <a:lnTo>
                    <a:pt x="1364852" y="556056"/>
                  </a:lnTo>
                  <a:lnTo>
                    <a:pt x="1369941" y="601438"/>
                  </a:lnTo>
                  <a:lnTo>
                    <a:pt x="1371663" y="647700"/>
                  </a:lnTo>
                  <a:lnTo>
                    <a:pt x="1369941" y="693946"/>
                  </a:lnTo>
                  <a:lnTo>
                    <a:pt x="1364852" y="739316"/>
                  </a:lnTo>
                  <a:lnTo>
                    <a:pt x="1356512" y="783700"/>
                  </a:lnTo>
                  <a:lnTo>
                    <a:pt x="1345037" y="826989"/>
                  </a:lnTo>
                  <a:lnTo>
                    <a:pt x="1330544" y="869073"/>
                  </a:lnTo>
                  <a:lnTo>
                    <a:pt x="1313149" y="909842"/>
                  </a:lnTo>
                  <a:lnTo>
                    <a:pt x="1292967" y="949186"/>
                  </a:lnTo>
                  <a:lnTo>
                    <a:pt x="1270115" y="986995"/>
                  </a:lnTo>
                  <a:lnTo>
                    <a:pt x="1244709" y="1023161"/>
                  </a:lnTo>
                  <a:lnTo>
                    <a:pt x="1216864" y="1057572"/>
                  </a:lnTo>
                  <a:lnTo>
                    <a:pt x="1186698" y="1090121"/>
                  </a:lnTo>
                  <a:lnTo>
                    <a:pt x="1154326" y="1120695"/>
                  </a:lnTo>
                  <a:lnTo>
                    <a:pt x="1119865" y="1149187"/>
                  </a:lnTo>
                  <a:lnTo>
                    <a:pt x="1083430" y="1175486"/>
                  </a:lnTo>
                  <a:lnTo>
                    <a:pt x="1045137" y="1199483"/>
                  </a:lnTo>
                  <a:lnTo>
                    <a:pt x="1005103" y="1221067"/>
                  </a:lnTo>
                  <a:lnTo>
                    <a:pt x="963444" y="1240130"/>
                  </a:lnTo>
                  <a:lnTo>
                    <a:pt x="920276" y="1256560"/>
                  </a:lnTo>
                  <a:lnTo>
                    <a:pt x="875715" y="1270250"/>
                  </a:lnTo>
                  <a:lnTo>
                    <a:pt x="829877" y="1281088"/>
                  </a:lnTo>
                  <a:lnTo>
                    <a:pt x="782878" y="1288966"/>
                  </a:lnTo>
                  <a:lnTo>
                    <a:pt x="734835" y="1293773"/>
                  </a:lnTo>
                  <a:lnTo>
                    <a:pt x="685863" y="1295400"/>
                  </a:lnTo>
                  <a:lnTo>
                    <a:pt x="636876" y="1293773"/>
                  </a:lnTo>
                  <a:lnTo>
                    <a:pt x="588819" y="1288966"/>
                  </a:lnTo>
                  <a:lnTo>
                    <a:pt x="541808" y="1281088"/>
                  </a:lnTo>
                  <a:lnTo>
                    <a:pt x="495961" y="1270250"/>
                  </a:lnTo>
                  <a:lnTo>
                    <a:pt x="451391" y="1256560"/>
                  </a:lnTo>
                  <a:lnTo>
                    <a:pt x="408217" y="1240130"/>
                  </a:lnTo>
                  <a:lnTo>
                    <a:pt x="366552" y="1221067"/>
                  </a:lnTo>
                  <a:lnTo>
                    <a:pt x="326515" y="1199483"/>
                  </a:lnTo>
                  <a:lnTo>
                    <a:pt x="288219" y="1175486"/>
                  </a:lnTo>
                  <a:lnTo>
                    <a:pt x="251783" y="1149187"/>
                  </a:lnTo>
                  <a:lnTo>
                    <a:pt x="217320" y="1120695"/>
                  </a:lnTo>
                  <a:lnTo>
                    <a:pt x="184948" y="1090121"/>
                  </a:lnTo>
                  <a:lnTo>
                    <a:pt x="154783" y="1057572"/>
                  </a:lnTo>
                  <a:lnTo>
                    <a:pt x="126940" y="1023161"/>
                  </a:lnTo>
                  <a:lnTo>
                    <a:pt x="101535" y="986995"/>
                  </a:lnTo>
                  <a:lnTo>
                    <a:pt x="78685" y="949186"/>
                  </a:lnTo>
                  <a:lnTo>
                    <a:pt x="58505" y="909842"/>
                  </a:lnTo>
                  <a:lnTo>
                    <a:pt x="41112" y="869073"/>
                  </a:lnTo>
                  <a:lnTo>
                    <a:pt x="26621" y="826989"/>
                  </a:lnTo>
                  <a:lnTo>
                    <a:pt x="15148" y="783700"/>
                  </a:lnTo>
                  <a:lnTo>
                    <a:pt x="6809" y="739316"/>
                  </a:lnTo>
                  <a:lnTo>
                    <a:pt x="1721" y="693946"/>
                  </a:lnTo>
                  <a:lnTo>
                    <a:pt x="0" y="647700"/>
                  </a:lnTo>
                  <a:close/>
                </a:path>
              </a:pathLst>
            </a:custGeom>
            <a:noFill/>
            <a:ln w="25400">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AR" sz="1050"/>
            </a:p>
          </p:txBody>
        </p:sp>
      </p:grpSp>
      <p:sp>
        <p:nvSpPr>
          <p:cNvPr id="58" name="object 54">
            <a:extLst>
              <a:ext uri="{FF2B5EF4-FFF2-40B4-BE49-F238E27FC236}">
                <a16:creationId xmlns:a16="http://schemas.microsoft.com/office/drawing/2014/main" id="{AF80842B-6BEE-3767-513F-688C017DA6A6}"/>
              </a:ext>
            </a:extLst>
          </p:cNvPr>
          <p:cNvSpPr txBox="1"/>
          <p:nvPr/>
        </p:nvSpPr>
        <p:spPr>
          <a:xfrm>
            <a:off x="971550" y="1982392"/>
            <a:ext cx="701279" cy="171201"/>
          </a:xfrm>
          <a:prstGeom prst="rect">
            <a:avLst/>
          </a:prstGeom>
        </p:spPr>
        <p:txBody>
          <a:bodyPr lIns="0" tIns="9525" rIns="0" bIns="0">
            <a:spAutoFit/>
          </a:bodyPr>
          <a:lstStyle/>
          <a:p>
            <a:pPr marL="9525">
              <a:spcBef>
                <a:spcPts val="75"/>
              </a:spcBef>
              <a:defRPr/>
            </a:pPr>
            <a:r>
              <a:rPr lang="es-419" sz="1050" spc="-8" dirty="0">
                <a:solidFill>
                  <a:srgbClr val="FFFFFF"/>
                </a:solidFill>
                <a:latin typeface="Arial MT"/>
                <a:cs typeface="Arial MT"/>
              </a:rPr>
              <a:t>Intención</a:t>
            </a:r>
            <a:endParaRPr sz="1050" dirty="0">
              <a:solidFill>
                <a:sysClr val="windowText" lastClr="000000"/>
              </a:solidFill>
              <a:latin typeface="Arial MT"/>
              <a:cs typeface="Arial MT"/>
            </a:endParaRPr>
          </a:p>
        </p:txBody>
      </p:sp>
      <p:sp>
        <p:nvSpPr>
          <p:cNvPr id="59" name="object 63">
            <a:extLst>
              <a:ext uri="{FF2B5EF4-FFF2-40B4-BE49-F238E27FC236}">
                <a16:creationId xmlns:a16="http://schemas.microsoft.com/office/drawing/2014/main" id="{C50CE3BC-7B39-11FB-A8E2-25D08BC3B458}"/>
              </a:ext>
            </a:extLst>
          </p:cNvPr>
          <p:cNvSpPr txBox="1"/>
          <p:nvPr/>
        </p:nvSpPr>
        <p:spPr>
          <a:xfrm>
            <a:off x="5042297" y="1524001"/>
            <a:ext cx="870347" cy="171201"/>
          </a:xfrm>
          <a:prstGeom prst="rect">
            <a:avLst/>
          </a:prstGeom>
        </p:spPr>
        <p:txBody>
          <a:bodyPr lIns="0" tIns="9525" rIns="0" bIns="0">
            <a:spAutoFit/>
          </a:bodyPr>
          <a:lstStyle/>
          <a:p>
            <a:pPr marL="9525">
              <a:spcBef>
                <a:spcPts val="75"/>
              </a:spcBef>
              <a:defRPr/>
            </a:pPr>
            <a:r>
              <a:rPr sz="1050" spc="-8" dirty="0" err="1">
                <a:solidFill>
                  <a:srgbClr val="FFFFFF"/>
                </a:solidFill>
                <a:latin typeface="Arial MT"/>
                <a:cs typeface="Arial MT"/>
              </a:rPr>
              <a:t>Geopolítica</a:t>
            </a:r>
            <a:endParaRPr sz="1050" dirty="0">
              <a:solidFill>
                <a:sysClr val="windowText" lastClr="000000"/>
              </a:solidFill>
              <a:latin typeface="Arial MT"/>
              <a:cs typeface="Arial MT"/>
            </a:endParaRPr>
          </a:p>
        </p:txBody>
      </p:sp>
      <p:pic>
        <p:nvPicPr>
          <p:cNvPr id="60" name="object 56">
            <a:extLst>
              <a:ext uri="{FF2B5EF4-FFF2-40B4-BE49-F238E27FC236}">
                <a16:creationId xmlns:a16="http://schemas.microsoft.com/office/drawing/2014/main" id="{52AAFB5F-E590-7DCA-6044-B307CDEE9C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0416" y="2178537"/>
            <a:ext cx="489841" cy="360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 name="object 55">
            <a:extLst>
              <a:ext uri="{FF2B5EF4-FFF2-40B4-BE49-F238E27FC236}">
                <a16:creationId xmlns:a16="http://schemas.microsoft.com/office/drawing/2014/main" id="{95FC52DB-0018-D3B0-D8B1-6EBFF486DE45}"/>
              </a:ext>
            </a:extLst>
          </p:cNvPr>
          <p:cNvGrpSpPr>
            <a:grpSpLocks/>
          </p:cNvGrpSpPr>
          <p:nvPr/>
        </p:nvGrpSpPr>
        <p:grpSpPr bwMode="auto">
          <a:xfrm>
            <a:off x="1185320" y="1410891"/>
            <a:ext cx="5508374" cy="3184922"/>
            <a:chOff x="2230501" y="1880615"/>
            <a:chExt cx="6694424" cy="4247135"/>
          </a:xfrm>
        </p:grpSpPr>
        <p:sp>
          <p:nvSpPr>
            <p:cNvPr id="62" name="object 57">
              <a:extLst>
                <a:ext uri="{FF2B5EF4-FFF2-40B4-BE49-F238E27FC236}">
                  <a16:creationId xmlns:a16="http://schemas.microsoft.com/office/drawing/2014/main" id="{844C71F4-1541-0518-5FB4-731841EB17DA}"/>
                </a:ext>
              </a:extLst>
            </p:cNvPr>
            <p:cNvSpPr>
              <a:spLocks/>
            </p:cNvSpPr>
            <p:nvPr/>
          </p:nvSpPr>
          <p:spPr bwMode="auto">
            <a:xfrm>
              <a:off x="8753475" y="1914525"/>
              <a:ext cx="171450" cy="4213225"/>
            </a:xfrm>
            <a:custGeom>
              <a:avLst/>
              <a:gdLst>
                <a:gd name="T0" fmla="*/ 57150 w 171450"/>
                <a:gd name="T1" fmla="*/ 4041559 h 4213225"/>
                <a:gd name="T2" fmla="*/ 0 w 171450"/>
                <a:gd name="T3" fmla="*/ 4041559 h 4213225"/>
                <a:gd name="T4" fmla="*/ 85725 w 171450"/>
                <a:gd name="T5" fmla="*/ 4213009 h 4213225"/>
                <a:gd name="T6" fmla="*/ 157156 w 171450"/>
                <a:gd name="T7" fmla="*/ 4070146 h 4213225"/>
                <a:gd name="T8" fmla="*/ 57150 w 171450"/>
                <a:gd name="T9" fmla="*/ 4070146 h 4213225"/>
                <a:gd name="T10" fmla="*/ 57150 w 171450"/>
                <a:gd name="T11" fmla="*/ 4041559 h 4213225"/>
                <a:gd name="T12" fmla="*/ 114300 w 171450"/>
                <a:gd name="T13" fmla="*/ 142875 h 4213225"/>
                <a:gd name="T14" fmla="*/ 57150 w 171450"/>
                <a:gd name="T15" fmla="*/ 142875 h 4213225"/>
                <a:gd name="T16" fmla="*/ 57150 w 171450"/>
                <a:gd name="T17" fmla="*/ 4070146 h 4213225"/>
                <a:gd name="T18" fmla="*/ 114300 w 171450"/>
                <a:gd name="T19" fmla="*/ 4070146 h 4213225"/>
                <a:gd name="T20" fmla="*/ 114300 w 171450"/>
                <a:gd name="T21" fmla="*/ 142875 h 4213225"/>
                <a:gd name="T22" fmla="*/ 171450 w 171450"/>
                <a:gd name="T23" fmla="*/ 4041559 h 4213225"/>
                <a:gd name="T24" fmla="*/ 114300 w 171450"/>
                <a:gd name="T25" fmla="*/ 4041559 h 4213225"/>
                <a:gd name="T26" fmla="*/ 114300 w 171450"/>
                <a:gd name="T27" fmla="*/ 4070146 h 4213225"/>
                <a:gd name="T28" fmla="*/ 157156 w 171450"/>
                <a:gd name="T29" fmla="*/ 4070146 h 4213225"/>
                <a:gd name="T30" fmla="*/ 171450 w 171450"/>
                <a:gd name="T31" fmla="*/ 4041559 h 4213225"/>
                <a:gd name="T32" fmla="*/ 85725 w 171450"/>
                <a:gd name="T33" fmla="*/ 0 h 4213225"/>
                <a:gd name="T34" fmla="*/ 0 w 171450"/>
                <a:gd name="T35" fmla="*/ 171450 h 4213225"/>
                <a:gd name="T36" fmla="*/ 57150 w 171450"/>
                <a:gd name="T37" fmla="*/ 171450 h 4213225"/>
                <a:gd name="T38" fmla="*/ 57150 w 171450"/>
                <a:gd name="T39" fmla="*/ 142875 h 4213225"/>
                <a:gd name="T40" fmla="*/ 157162 w 171450"/>
                <a:gd name="T41" fmla="*/ 142875 h 4213225"/>
                <a:gd name="T42" fmla="*/ 85725 w 171450"/>
                <a:gd name="T43" fmla="*/ 0 h 4213225"/>
                <a:gd name="T44" fmla="*/ 157162 w 171450"/>
                <a:gd name="T45" fmla="*/ 142875 h 4213225"/>
                <a:gd name="T46" fmla="*/ 114300 w 171450"/>
                <a:gd name="T47" fmla="*/ 142875 h 4213225"/>
                <a:gd name="T48" fmla="*/ 114300 w 171450"/>
                <a:gd name="T49" fmla="*/ 171450 h 4213225"/>
                <a:gd name="T50" fmla="*/ 171450 w 171450"/>
                <a:gd name="T51" fmla="*/ 171450 h 4213225"/>
                <a:gd name="T52" fmla="*/ 157162 w 171450"/>
                <a:gd name="T53" fmla="*/ 142875 h 421322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71450" h="4213225">
                  <a:moveTo>
                    <a:pt x="57150" y="4041559"/>
                  </a:moveTo>
                  <a:lnTo>
                    <a:pt x="0" y="4041559"/>
                  </a:lnTo>
                  <a:lnTo>
                    <a:pt x="85725" y="4213009"/>
                  </a:lnTo>
                  <a:lnTo>
                    <a:pt x="157156" y="4070146"/>
                  </a:lnTo>
                  <a:lnTo>
                    <a:pt x="57150" y="4070146"/>
                  </a:lnTo>
                  <a:lnTo>
                    <a:pt x="57150" y="4041559"/>
                  </a:lnTo>
                  <a:close/>
                </a:path>
                <a:path w="171450" h="4213225">
                  <a:moveTo>
                    <a:pt x="114300" y="142875"/>
                  </a:moveTo>
                  <a:lnTo>
                    <a:pt x="57150" y="142875"/>
                  </a:lnTo>
                  <a:lnTo>
                    <a:pt x="57150" y="4070146"/>
                  </a:lnTo>
                  <a:lnTo>
                    <a:pt x="114300" y="4070146"/>
                  </a:lnTo>
                  <a:lnTo>
                    <a:pt x="114300" y="142875"/>
                  </a:lnTo>
                  <a:close/>
                </a:path>
                <a:path w="171450" h="4213225">
                  <a:moveTo>
                    <a:pt x="171450" y="4041559"/>
                  </a:moveTo>
                  <a:lnTo>
                    <a:pt x="114300" y="4041559"/>
                  </a:lnTo>
                  <a:lnTo>
                    <a:pt x="114300" y="4070146"/>
                  </a:lnTo>
                  <a:lnTo>
                    <a:pt x="157156" y="4070146"/>
                  </a:lnTo>
                  <a:lnTo>
                    <a:pt x="171450" y="4041559"/>
                  </a:lnTo>
                  <a:close/>
                </a:path>
                <a:path w="171450" h="4213225">
                  <a:moveTo>
                    <a:pt x="85725" y="0"/>
                  </a:moveTo>
                  <a:lnTo>
                    <a:pt x="0" y="171450"/>
                  </a:lnTo>
                  <a:lnTo>
                    <a:pt x="57150" y="171450"/>
                  </a:lnTo>
                  <a:lnTo>
                    <a:pt x="57150" y="142875"/>
                  </a:lnTo>
                  <a:lnTo>
                    <a:pt x="157162" y="142875"/>
                  </a:lnTo>
                  <a:lnTo>
                    <a:pt x="85725" y="0"/>
                  </a:lnTo>
                  <a:close/>
                </a:path>
                <a:path w="171450" h="4213225">
                  <a:moveTo>
                    <a:pt x="157162" y="142875"/>
                  </a:moveTo>
                  <a:lnTo>
                    <a:pt x="114300" y="142875"/>
                  </a:lnTo>
                  <a:lnTo>
                    <a:pt x="114300" y="171450"/>
                  </a:lnTo>
                  <a:lnTo>
                    <a:pt x="171450" y="171450"/>
                  </a:lnTo>
                  <a:lnTo>
                    <a:pt x="157162" y="142875"/>
                  </a:lnTo>
                  <a:close/>
                </a:path>
              </a:pathLst>
            </a:custGeom>
            <a:solidFill>
              <a:srgbClr val="00AFE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sp>
          <p:nvSpPr>
            <p:cNvPr id="63" name="object 58">
              <a:extLst>
                <a:ext uri="{FF2B5EF4-FFF2-40B4-BE49-F238E27FC236}">
                  <a16:creationId xmlns:a16="http://schemas.microsoft.com/office/drawing/2014/main" id="{96B6B964-2576-1592-0F8B-9948529B2C3B}"/>
                </a:ext>
              </a:extLst>
            </p:cNvPr>
            <p:cNvSpPr>
              <a:spLocks/>
            </p:cNvSpPr>
            <p:nvPr/>
          </p:nvSpPr>
          <p:spPr bwMode="auto">
            <a:xfrm>
              <a:off x="2230501" y="1880615"/>
              <a:ext cx="2687955" cy="3698875"/>
            </a:xfrm>
            <a:custGeom>
              <a:avLst/>
              <a:gdLst>
                <a:gd name="T0" fmla="*/ 59944 w 2687954"/>
                <a:gd name="T1" fmla="*/ 502920 h 3698875"/>
                <a:gd name="T2" fmla="*/ 60198 w 2687954"/>
                <a:gd name="T3" fmla="*/ 3182874 h 3698875"/>
                <a:gd name="T4" fmla="*/ 96901 w 2687954"/>
                <a:gd name="T5" fmla="*/ 3253232 h 3698875"/>
                <a:gd name="T6" fmla="*/ 171323 w 2687954"/>
                <a:gd name="T7" fmla="*/ 3293618 h 3698875"/>
                <a:gd name="T8" fmla="*/ 186309 w 2687954"/>
                <a:gd name="T9" fmla="*/ 409194 h 3698875"/>
                <a:gd name="T10" fmla="*/ 166243 w 2687954"/>
                <a:gd name="T11" fmla="*/ 3347847 h 3698875"/>
                <a:gd name="T12" fmla="*/ 240665 w 2687954"/>
                <a:gd name="T13" fmla="*/ 357759 h 3698875"/>
                <a:gd name="T14" fmla="*/ 273685 w 2687954"/>
                <a:gd name="T15" fmla="*/ 3399917 h 3698875"/>
                <a:gd name="T16" fmla="*/ 310769 w 2687954"/>
                <a:gd name="T17" fmla="*/ 3429635 h 3698875"/>
                <a:gd name="T18" fmla="*/ 339598 w 2687954"/>
                <a:gd name="T19" fmla="*/ 235966 h 3698875"/>
                <a:gd name="T20" fmla="*/ 344043 w 2687954"/>
                <a:gd name="T21" fmla="*/ 3498596 h 3698875"/>
                <a:gd name="T22" fmla="*/ 391922 w 2687954"/>
                <a:gd name="T23" fmla="*/ 249047 h 3698875"/>
                <a:gd name="T24" fmla="*/ 445897 w 2687954"/>
                <a:gd name="T25" fmla="*/ 3555365 h 3698875"/>
                <a:gd name="T26" fmla="*/ 488442 w 2687954"/>
                <a:gd name="T27" fmla="*/ 196596 h 3698875"/>
                <a:gd name="T28" fmla="*/ 516509 w 2687954"/>
                <a:gd name="T29" fmla="*/ 3586480 h 3698875"/>
                <a:gd name="T30" fmla="*/ 558038 w 2687954"/>
                <a:gd name="T31" fmla="*/ 165735 h 3698875"/>
                <a:gd name="T32" fmla="*/ 588899 w 2687954"/>
                <a:gd name="T33" fmla="*/ 3613150 h 3698875"/>
                <a:gd name="T34" fmla="*/ 672846 w 2687954"/>
                <a:gd name="T35" fmla="*/ 3598926 h 3698875"/>
                <a:gd name="T36" fmla="*/ 701929 w 2687954"/>
                <a:gd name="T37" fmla="*/ 115443 h 3698875"/>
                <a:gd name="T38" fmla="*/ 700278 w 2687954"/>
                <a:gd name="T39" fmla="*/ 3645916 h 3698875"/>
                <a:gd name="T40" fmla="*/ 774573 w 2687954"/>
                <a:gd name="T41" fmla="*/ 95885 h 3698875"/>
                <a:gd name="T42" fmla="*/ 840105 w 2687954"/>
                <a:gd name="T43" fmla="*/ 42164 h 3698875"/>
                <a:gd name="T44" fmla="*/ 889000 w 2687954"/>
                <a:gd name="T45" fmla="*/ 3681222 h 3698875"/>
                <a:gd name="T46" fmla="*/ 969264 w 2687954"/>
                <a:gd name="T47" fmla="*/ 3651758 h 3698875"/>
                <a:gd name="T48" fmla="*/ 954278 w 2687954"/>
                <a:gd name="T49" fmla="*/ 22352 h 3698875"/>
                <a:gd name="T50" fmla="*/ 1044575 w 2687954"/>
                <a:gd name="T51" fmla="*/ 3657219 h 3698875"/>
                <a:gd name="T52" fmla="*/ 1040752 w 2687954"/>
                <a:gd name="T53" fmla="*/ 49911 h 3698875"/>
                <a:gd name="T54" fmla="*/ 1146937 w 2687954"/>
                <a:gd name="T55" fmla="*/ 41656 h 3698875"/>
                <a:gd name="T56" fmla="*/ 1146937 w 2687954"/>
                <a:gd name="T57" fmla="*/ 41656 h 3698875"/>
                <a:gd name="T58" fmla="*/ 1195832 w 2687954"/>
                <a:gd name="T59" fmla="*/ 3698240 h 3698875"/>
                <a:gd name="T60" fmla="*/ 1185037 w 2687954"/>
                <a:gd name="T61" fmla="*/ 40005 h 3698875"/>
                <a:gd name="T62" fmla="*/ 1234567 w 2687954"/>
                <a:gd name="T63" fmla="*/ 3697478 h 3698875"/>
                <a:gd name="T64" fmla="*/ 1349376 w 2687954"/>
                <a:gd name="T65" fmla="*/ 3691128 h 3698875"/>
                <a:gd name="T66" fmla="*/ 1336040 w 2687954"/>
                <a:gd name="T67" fmla="*/ 38354 h 3698875"/>
                <a:gd name="T68" fmla="*/ 1387349 w 2687954"/>
                <a:gd name="T69" fmla="*/ 3688207 h 3698875"/>
                <a:gd name="T70" fmla="*/ 1414146 w 2687954"/>
                <a:gd name="T71" fmla="*/ 40640 h 3698875"/>
                <a:gd name="T72" fmla="*/ 1463676 w 2687954"/>
                <a:gd name="T73" fmla="*/ 3680079 h 3698875"/>
                <a:gd name="T74" fmla="*/ 1512571 w 2687954"/>
                <a:gd name="T75" fmla="*/ 47117 h 3698875"/>
                <a:gd name="T76" fmla="*/ 1539749 w 2687954"/>
                <a:gd name="T77" fmla="*/ 3669792 h 3698875"/>
                <a:gd name="T78" fmla="*/ 1604519 w 2687954"/>
                <a:gd name="T79" fmla="*/ 17907 h 3698875"/>
                <a:gd name="T80" fmla="*/ 1653668 w 2687954"/>
                <a:gd name="T81" fmla="*/ 3650615 h 3698875"/>
                <a:gd name="T82" fmla="*/ 1720724 w 2687954"/>
                <a:gd name="T83" fmla="*/ 3598164 h 3698875"/>
                <a:gd name="T84" fmla="*/ 1713459 w 2687954"/>
                <a:gd name="T85" fmla="*/ 70358 h 3698875"/>
                <a:gd name="T86" fmla="*/ 1766063 w 2687954"/>
                <a:gd name="T87" fmla="*/ 3626866 h 3698875"/>
                <a:gd name="T88" fmla="*/ 1825118 w 2687954"/>
                <a:gd name="T89" fmla="*/ 88646 h 3698875"/>
                <a:gd name="T90" fmla="*/ 1907160 w 2687954"/>
                <a:gd name="T91" fmla="*/ 65913 h 3698875"/>
                <a:gd name="T92" fmla="*/ 1904874 w 2687954"/>
                <a:gd name="T93" fmla="*/ 3552190 h 3698875"/>
                <a:gd name="T94" fmla="*/ 1973708 w 2687954"/>
                <a:gd name="T95" fmla="*/ 119380 h 3698875"/>
                <a:gd name="T96" fmla="*/ 2004442 w 2687954"/>
                <a:gd name="T97" fmla="*/ 3562223 h 3698875"/>
                <a:gd name="T98" fmla="*/ 2047368 w 2687954"/>
                <a:gd name="T99" fmla="*/ 136779 h 3698875"/>
                <a:gd name="T100" fmla="*/ 2094612 w 2687954"/>
                <a:gd name="T101" fmla="*/ 3532378 h 3698875"/>
                <a:gd name="T102" fmla="*/ 2204467 w 2687954"/>
                <a:gd name="T103" fmla="*/ 139954 h 3698875"/>
                <a:gd name="T104" fmla="*/ 2133156 w 2687954"/>
                <a:gd name="T105" fmla="*/ 3477564 h 3698875"/>
                <a:gd name="T106" fmla="*/ 2278000 w 2687954"/>
                <a:gd name="T107" fmla="*/ 162052 h 3698875"/>
                <a:gd name="T108" fmla="*/ 2350517 w 2687954"/>
                <a:gd name="T109" fmla="*/ 185293 h 3698875"/>
                <a:gd name="T110" fmla="*/ 2374393 w 2687954"/>
                <a:gd name="T111" fmla="*/ 233680 h 3698875"/>
                <a:gd name="T112" fmla="*/ 2460753 w 2687954"/>
                <a:gd name="T113" fmla="*/ 264033 h 3698875"/>
                <a:gd name="T114" fmla="*/ 2566290 w 2687954"/>
                <a:gd name="T115" fmla="*/ 263906 h 369887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687954" h="3698875">
                  <a:moveTo>
                    <a:pt x="51816" y="587502"/>
                  </a:moveTo>
                  <a:lnTo>
                    <a:pt x="18669" y="568706"/>
                  </a:lnTo>
                  <a:lnTo>
                    <a:pt x="0" y="601980"/>
                  </a:lnTo>
                  <a:lnTo>
                    <a:pt x="33147" y="620649"/>
                  </a:lnTo>
                  <a:lnTo>
                    <a:pt x="51816" y="587502"/>
                  </a:lnTo>
                  <a:close/>
                </a:path>
                <a:path w="2687954" h="3698875">
                  <a:moveTo>
                    <a:pt x="91440" y="524256"/>
                  </a:moveTo>
                  <a:lnTo>
                    <a:pt x="59944" y="502920"/>
                  </a:lnTo>
                  <a:lnTo>
                    <a:pt x="38608" y="534543"/>
                  </a:lnTo>
                  <a:lnTo>
                    <a:pt x="70104" y="555879"/>
                  </a:lnTo>
                  <a:lnTo>
                    <a:pt x="91440" y="524256"/>
                  </a:lnTo>
                  <a:close/>
                </a:path>
                <a:path w="2687954" h="3698875">
                  <a:moveTo>
                    <a:pt x="95123" y="3167761"/>
                  </a:moveTo>
                  <a:lnTo>
                    <a:pt x="80010" y="3132709"/>
                  </a:lnTo>
                  <a:lnTo>
                    <a:pt x="45085" y="3147822"/>
                  </a:lnTo>
                  <a:lnTo>
                    <a:pt x="60198" y="3182874"/>
                  </a:lnTo>
                  <a:lnTo>
                    <a:pt x="95123" y="3167761"/>
                  </a:lnTo>
                  <a:close/>
                </a:path>
                <a:path w="2687954" h="3698875">
                  <a:moveTo>
                    <a:pt x="128778" y="3232404"/>
                  </a:moveTo>
                  <a:lnTo>
                    <a:pt x="127254" y="3230245"/>
                  </a:lnTo>
                  <a:lnTo>
                    <a:pt x="111125" y="3200400"/>
                  </a:lnTo>
                  <a:lnTo>
                    <a:pt x="77597" y="3218434"/>
                  </a:lnTo>
                  <a:lnTo>
                    <a:pt x="93726" y="3248279"/>
                  </a:lnTo>
                  <a:lnTo>
                    <a:pt x="96901" y="3253232"/>
                  </a:lnTo>
                  <a:lnTo>
                    <a:pt x="128778" y="3232404"/>
                  </a:lnTo>
                  <a:close/>
                </a:path>
                <a:path w="2687954" h="3698875">
                  <a:moveTo>
                    <a:pt x="136525" y="464693"/>
                  </a:moveTo>
                  <a:lnTo>
                    <a:pt x="106680" y="440944"/>
                  </a:lnTo>
                  <a:lnTo>
                    <a:pt x="82931" y="470789"/>
                  </a:lnTo>
                  <a:lnTo>
                    <a:pt x="112776" y="494538"/>
                  </a:lnTo>
                  <a:lnTo>
                    <a:pt x="136525" y="464693"/>
                  </a:lnTo>
                  <a:close/>
                </a:path>
                <a:path w="2687954" h="3698875">
                  <a:moveTo>
                    <a:pt x="171323" y="3293618"/>
                  </a:moveTo>
                  <a:lnTo>
                    <a:pt x="156464" y="3274695"/>
                  </a:lnTo>
                  <a:lnTo>
                    <a:pt x="149606" y="3264281"/>
                  </a:lnTo>
                  <a:lnTo>
                    <a:pt x="117729" y="3285109"/>
                  </a:lnTo>
                  <a:lnTo>
                    <a:pt x="124587" y="3295650"/>
                  </a:lnTo>
                  <a:lnTo>
                    <a:pt x="141224" y="3316986"/>
                  </a:lnTo>
                  <a:lnTo>
                    <a:pt x="171323" y="3293618"/>
                  </a:lnTo>
                  <a:close/>
                </a:path>
                <a:path w="2687954" h="3698875">
                  <a:moveTo>
                    <a:pt x="186309" y="409194"/>
                  </a:moveTo>
                  <a:lnTo>
                    <a:pt x="158496" y="383159"/>
                  </a:lnTo>
                  <a:lnTo>
                    <a:pt x="132461" y="410972"/>
                  </a:lnTo>
                  <a:lnTo>
                    <a:pt x="160401" y="437007"/>
                  </a:lnTo>
                  <a:lnTo>
                    <a:pt x="186309" y="409194"/>
                  </a:lnTo>
                  <a:close/>
                </a:path>
                <a:path w="2687954" h="3698875">
                  <a:moveTo>
                    <a:pt x="220091" y="3350018"/>
                  </a:moveTo>
                  <a:lnTo>
                    <a:pt x="194310" y="3321939"/>
                  </a:lnTo>
                  <a:lnTo>
                    <a:pt x="166243" y="3347847"/>
                  </a:lnTo>
                  <a:lnTo>
                    <a:pt x="192024" y="3375787"/>
                  </a:lnTo>
                  <a:lnTo>
                    <a:pt x="220091" y="3350018"/>
                  </a:lnTo>
                  <a:close/>
                </a:path>
                <a:path w="2687954" h="3698875">
                  <a:moveTo>
                    <a:pt x="240665" y="357759"/>
                  </a:moveTo>
                  <a:lnTo>
                    <a:pt x="214757" y="329692"/>
                  </a:lnTo>
                  <a:lnTo>
                    <a:pt x="186817" y="355600"/>
                  </a:lnTo>
                  <a:lnTo>
                    <a:pt x="212598" y="383540"/>
                  </a:lnTo>
                  <a:lnTo>
                    <a:pt x="240665" y="357759"/>
                  </a:lnTo>
                  <a:close/>
                </a:path>
                <a:path w="2687954" h="3698875">
                  <a:moveTo>
                    <a:pt x="273685" y="3399917"/>
                  </a:moveTo>
                  <a:lnTo>
                    <a:pt x="266827" y="3394456"/>
                  </a:lnTo>
                  <a:lnTo>
                    <a:pt x="246380" y="3375406"/>
                  </a:lnTo>
                  <a:lnTo>
                    <a:pt x="220472" y="3403346"/>
                  </a:lnTo>
                  <a:lnTo>
                    <a:pt x="240919" y="3422396"/>
                  </a:lnTo>
                  <a:lnTo>
                    <a:pt x="249936" y="3429635"/>
                  </a:lnTo>
                  <a:lnTo>
                    <a:pt x="273685" y="3399917"/>
                  </a:lnTo>
                  <a:close/>
                </a:path>
                <a:path w="2687954" h="3698875">
                  <a:moveTo>
                    <a:pt x="298704" y="310642"/>
                  </a:moveTo>
                  <a:lnTo>
                    <a:pt x="274955" y="280797"/>
                  </a:lnTo>
                  <a:lnTo>
                    <a:pt x="245237" y="304673"/>
                  </a:lnTo>
                  <a:lnTo>
                    <a:pt x="268986" y="334391"/>
                  </a:lnTo>
                  <a:lnTo>
                    <a:pt x="298704" y="310642"/>
                  </a:lnTo>
                  <a:close/>
                </a:path>
                <a:path w="2687954" h="3698875">
                  <a:moveTo>
                    <a:pt x="333248" y="3445256"/>
                  </a:moveTo>
                  <a:lnTo>
                    <a:pt x="310769" y="3429635"/>
                  </a:lnTo>
                  <a:lnTo>
                    <a:pt x="303403" y="3423793"/>
                  </a:lnTo>
                  <a:lnTo>
                    <a:pt x="279654" y="3453511"/>
                  </a:lnTo>
                  <a:lnTo>
                    <a:pt x="286893" y="3459353"/>
                  </a:lnTo>
                  <a:lnTo>
                    <a:pt x="311531" y="3476498"/>
                  </a:lnTo>
                  <a:lnTo>
                    <a:pt x="333248" y="3445256"/>
                  </a:lnTo>
                  <a:close/>
                </a:path>
                <a:path w="2687954" h="3698875">
                  <a:moveTo>
                    <a:pt x="359791" y="268224"/>
                  </a:moveTo>
                  <a:lnTo>
                    <a:pt x="339598" y="235966"/>
                  </a:lnTo>
                  <a:lnTo>
                    <a:pt x="338201" y="236982"/>
                  </a:lnTo>
                  <a:lnTo>
                    <a:pt x="307213" y="258191"/>
                  </a:lnTo>
                  <a:lnTo>
                    <a:pt x="328930" y="289560"/>
                  </a:lnTo>
                  <a:lnTo>
                    <a:pt x="359791" y="268224"/>
                  </a:lnTo>
                  <a:close/>
                </a:path>
                <a:path w="2687954" h="3698875">
                  <a:moveTo>
                    <a:pt x="396367" y="3485642"/>
                  </a:moveTo>
                  <a:lnTo>
                    <a:pt x="363855" y="3465957"/>
                  </a:lnTo>
                  <a:lnTo>
                    <a:pt x="344043" y="3498596"/>
                  </a:lnTo>
                  <a:lnTo>
                    <a:pt x="376682" y="3518281"/>
                  </a:lnTo>
                  <a:lnTo>
                    <a:pt x="396367" y="3485642"/>
                  </a:lnTo>
                  <a:close/>
                </a:path>
                <a:path w="2687954" h="3698875">
                  <a:moveTo>
                    <a:pt x="423672" y="230124"/>
                  </a:moveTo>
                  <a:lnTo>
                    <a:pt x="406146" y="196342"/>
                  </a:lnTo>
                  <a:lnTo>
                    <a:pt x="402717" y="198120"/>
                  </a:lnTo>
                  <a:lnTo>
                    <a:pt x="372364" y="216408"/>
                  </a:lnTo>
                  <a:lnTo>
                    <a:pt x="391922" y="249047"/>
                  </a:lnTo>
                  <a:lnTo>
                    <a:pt x="422275" y="230886"/>
                  </a:lnTo>
                  <a:lnTo>
                    <a:pt x="423672" y="230124"/>
                  </a:lnTo>
                  <a:close/>
                </a:path>
                <a:path w="2687954" h="3698875">
                  <a:moveTo>
                    <a:pt x="462407" y="3521075"/>
                  </a:moveTo>
                  <a:lnTo>
                    <a:pt x="428752" y="3503549"/>
                  </a:lnTo>
                  <a:lnTo>
                    <a:pt x="411099" y="3537331"/>
                  </a:lnTo>
                  <a:lnTo>
                    <a:pt x="444754" y="3554857"/>
                  </a:lnTo>
                  <a:lnTo>
                    <a:pt x="445897" y="3555365"/>
                  </a:lnTo>
                  <a:lnTo>
                    <a:pt x="462407" y="3521075"/>
                  </a:lnTo>
                  <a:close/>
                </a:path>
                <a:path w="2687954" h="3698875">
                  <a:moveTo>
                    <a:pt x="490347" y="195834"/>
                  </a:moveTo>
                  <a:lnTo>
                    <a:pt x="474853" y="161036"/>
                  </a:lnTo>
                  <a:lnTo>
                    <a:pt x="470916" y="162814"/>
                  </a:lnTo>
                  <a:lnTo>
                    <a:pt x="439928" y="178816"/>
                  </a:lnTo>
                  <a:lnTo>
                    <a:pt x="457454" y="212725"/>
                  </a:lnTo>
                  <a:lnTo>
                    <a:pt x="488442" y="196596"/>
                  </a:lnTo>
                  <a:lnTo>
                    <a:pt x="490347" y="195834"/>
                  </a:lnTo>
                  <a:close/>
                </a:path>
                <a:path w="2687954" h="3698875">
                  <a:moveTo>
                    <a:pt x="530352" y="3550920"/>
                  </a:moveTo>
                  <a:lnTo>
                    <a:pt x="519049" y="3546602"/>
                  </a:lnTo>
                  <a:lnTo>
                    <a:pt x="496189" y="3536315"/>
                  </a:lnTo>
                  <a:lnTo>
                    <a:pt x="480568" y="3570986"/>
                  </a:lnTo>
                  <a:lnTo>
                    <a:pt x="503428" y="3581273"/>
                  </a:lnTo>
                  <a:lnTo>
                    <a:pt x="516509" y="3586480"/>
                  </a:lnTo>
                  <a:lnTo>
                    <a:pt x="530352" y="3550920"/>
                  </a:lnTo>
                  <a:close/>
                </a:path>
                <a:path w="2687954" h="3698875">
                  <a:moveTo>
                    <a:pt x="559054" y="165354"/>
                  </a:moveTo>
                  <a:lnTo>
                    <a:pt x="545592" y="129667"/>
                  </a:lnTo>
                  <a:lnTo>
                    <a:pt x="542417" y="130937"/>
                  </a:lnTo>
                  <a:lnTo>
                    <a:pt x="509651" y="145542"/>
                  </a:lnTo>
                  <a:lnTo>
                    <a:pt x="525145" y="180340"/>
                  </a:lnTo>
                  <a:lnTo>
                    <a:pt x="558038" y="165735"/>
                  </a:lnTo>
                  <a:lnTo>
                    <a:pt x="559054" y="165354"/>
                  </a:lnTo>
                  <a:close/>
                </a:path>
                <a:path w="2687954" h="3698875">
                  <a:moveTo>
                    <a:pt x="600837" y="3576955"/>
                  </a:moveTo>
                  <a:lnTo>
                    <a:pt x="578739" y="3569716"/>
                  </a:lnTo>
                  <a:lnTo>
                    <a:pt x="565785" y="3564763"/>
                  </a:lnTo>
                  <a:lnTo>
                    <a:pt x="552069" y="3600196"/>
                  </a:lnTo>
                  <a:lnTo>
                    <a:pt x="564896" y="3605276"/>
                  </a:lnTo>
                  <a:lnTo>
                    <a:pt x="588899" y="3613150"/>
                  </a:lnTo>
                  <a:lnTo>
                    <a:pt x="600837" y="3576955"/>
                  </a:lnTo>
                  <a:close/>
                </a:path>
                <a:path w="2687954" h="3698875">
                  <a:moveTo>
                    <a:pt x="630301" y="138303"/>
                  </a:moveTo>
                  <a:lnTo>
                    <a:pt x="616839" y="102743"/>
                  </a:lnTo>
                  <a:lnTo>
                    <a:pt x="581152" y="116205"/>
                  </a:lnTo>
                  <a:lnTo>
                    <a:pt x="594614" y="151892"/>
                  </a:lnTo>
                  <a:lnTo>
                    <a:pt x="630301" y="138303"/>
                  </a:lnTo>
                  <a:close/>
                </a:path>
                <a:path w="2687954" h="3698875">
                  <a:moveTo>
                    <a:pt x="672846" y="3598926"/>
                  </a:moveTo>
                  <a:lnTo>
                    <a:pt x="641096" y="3590290"/>
                  </a:lnTo>
                  <a:lnTo>
                    <a:pt x="637032" y="3588893"/>
                  </a:lnTo>
                  <a:lnTo>
                    <a:pt x="625094" y="3625088"/>
                  </a:lnTo>
                  <a:lnTo>
                    <a:pt x="629285" y="3626485"/>
                  </a:lnTo>
                  <a:lnTo>
                    <a:pt x="662686" y="3635756"/>
                  </a:lnTo>
                  <a:lnTo>
                    <a:pt x="672846" y="3598926"/>
                  </a:lnTo>
                  <a:close/>
                </a:path>
                <a:path w="2687954" h="3698875">
                  <a:moveTo>
                    <a:pt x="701929" y="115443"/>
                  </a:moveTo>
                  <a:lnTo>
                    <a:pt x="690372" y="79121"/>
                  </a:lnTo>
                  <a:lnTo>
                    <a:pt x="654050" y="90805"/>
                  </a:lnTo>
                  <a:lnTo>
                    <a:pt x="665607" y="127000"/>
                  </a:lnTo>
                  <a:lnTo>
                    <a:pt x="701929" y="115443"/>
                  </a:lnTo>
                  <a:close/>
                </a:path>
                <a:path w="2687954" h="3698875">
                  <a:moveTo>
                    <a:pt x="745871" y="3617214"/>
                  </a:moveTo>
                  <a:lnTo>
                    <a:pt x="708787" y="3608705"/>
                  </a:lnTo>
                  <a:lnTo>
                    <a:pt x="700278" y="3645916"/>
                  </a:lnTo>
                  <a:lnTo>
                    <a:pt x="737362" y="3654425"/>
                  </a:lnTo>
                  <a:lnTo>
                    <a:pt x="745871" y="3617214"/>
                  </a:lnTo>
                  <a:close/>
                </a:path>
                <a:path w="2687954" h="3698875">
                  <a:moveTo>
                    <a:pt x="774573" y="95885"/>
                  </a:moveTo>
                  <a:lnTo>
                    <a:pt x="764794" y="59055"/>
                  </a:lnTo>
                  <a:lnTo>
                    <a:pt x="727964" y="68834"/>
                  </a:lnTo>
                  <a:lnTo>
                    <a:pt x="737743" y="105664"/>
                  </a:lnTo>
                  <a:lnTo>
                    <a:pt x="774573" y="95885"/>
                  </a:lnTo>
                  <a:close/>
                </a:path>
                <a:path w="2687954" h="3698875">
                  <a:moveTo>
                    <a:pt x="819785" y="3631946"/>
                  </a:moveTo>
                  <a:lnTo>
                    <a:pt x="782320" y="3625088"/>
                  </a:lnTo>
                  <a:lnTo>
                    <a:pt x="775462" y="3662680"/>
                  </a:lnTo>
                  <a:lnTo>
                    <a:pt x="812927" y="3669411"/>
                  </a:lnTo>
                  <a:lnTo>
                    <a:pt x="819785" y="3631946"/>
                  </a:lnTo>
                  <a:close/>
                </a:path>
                <a:path w="2687954" h="3698875">
                  <a:moveTo>
                    <a:pt x="848106" y="79502"/>
                  </a:moveTo>
                  <a:lnTo>
                    <a:pt x="840105" y="42164"/>
                  </a:lnTo>
                  <a:lnTo>
                    <a:pt x="802767" y="50165"/>
                  </a:lnTo>
                  <a:lnTo>
                    <a:pt x="810768" y="87503"/>
                  </a:lnTo>
                  <a:lnTo>
                    <a:pt x="848106" y="79502"/>
                  </a:lnTo>
                  <a:close/>
                </a:path>
                <a:path w="2687954" h="3698875">
                  <a:moveTo>
                    <a:pt x="894334" y="3643503"/>
                  </a:moveTo>
                  <a:lnTo>
                    <a:pt x="856615" y="3638169"/>
                  </a:lnTo>
                  <a:lnTo>
                    <a:pt x="851281" y="3675888"/>
                  </a:lnTo>
                  <a:lnTo>
                    <a:pt x="889000" y="3681222"/>
                  </a:lnTo>
                  <a:lnTo>
                    <a:pt x="894334" y="3643503"/>
                  </a:lnTo>
                  <a:close/>
                </a:path>
                <a:path w="2687954" h="3698875">
                  <a:moveTo>
                    <a:pt x="922147" y="66040"/>
                  </a:moveTo>
                  <a:lnTo>
                    <a:pt x="915797" y="28448"/>
                  </a:lnTo>
                  <a:lnTo>
                    <a:pt x="878205" y="34798"/>
                  </a:lnTo>
                  <a:lnTo>
                    <a:pt x="884555" y="72390"/>
                  </a:lnTo>
                  <a:lnTo>
                    <a:pt x="922147" y="66040"/>
                  </a:lnTo>
                  <a:close/>
                </a:path>
                <a:path w="2687954" h="3698875">
                  <a:moveTo>
                    <a:pt x="969264" y="3651758"/>
                  </a:moveTo>
                  <a:lnTo>
                    <a:pt x="931291" y="3648075"/>
                  </a:lnTo>
                  <a:lnTo>
                    <a:pt x="927481" y="3685921"/>
                  </a:lnTo>
                  <a:lnTo>
                    <a:pt x="965454" y="3689731"/>
                  </a:lnTo>
                  <a:lnTo>
                    <a:pt x="969264" y="3651758"/>
                  </a:lnTo>
                  <a:close/>
                </a:path>
                <a:path w="2687954" h="3698875">
                  <a:moveTo>
                    <a:pt x="996823" y="55372"/>
                  </a:moveTo>
                  <a:lnTo>
                    <a:pt x="992124" y="17653"/>
                  </a:lnTo>
                  <a:lnTo>
                    <a:pt x="954278" y="22352"/>
                  </a:lnTo>
                  <a:lnTo>
                    <a:pt x="958977" y="60071"/>
                  </a:lnTo>
                  <a:lnTo>
                    <a:pt x="996823" y="55372"/>
                  </a:lnTo>
                  <a:close/>
                </a:path>
                <a:path w="2687954" h="3698875">
                  <a:moveTo>
                    <a:pt x="1044575" y="3657219"/>
                  </a:moveTo>
                  <a:lnTo>
                    <a:pt x="1006475" y="3654933"/>
                  </a:lnTo>
                  <a:lnTo>
                    <a:pt x="1004189" y="3692906"/>
                  </a:lnTo>
                  <a:lnTo>
                    <a:pt x="1042162" y="3695319"/>
                  </a:lnTo>
                  <a:lnTo>
                    <a:pt x="1044575" y="3657219"/>
                  </a:lnTo>
                  <a:close/>
                </a:path>
                <a:path w="2687954" h="3698875">
                  <a:moveTo>
                    <a:pt x="1071740" y="47371"/>
                  </a:moveTo>
                  <a:lnTo>
                    <a:pt x="1068565" y="9398"/>
                  </a:lnTo>
                  <a:lnTo>
                    <a:pt x="1036053" y="12192"/>
                  </a:lnTo>
                  <a:lnTo>
                    <a:pt x="1029843" y="12954"/>
                  </a:lnTo>
                  <a:lnTo>
                    <a:pt x="1034440" y="49911"/>
                  </a:lnTo>
                  <a:lnTo>
                    <a:pt x="1034529" y="50673"/>
                  </a:lnTo>
                  <a:lnTo>
                    <a:pt x="1040752" y="49911"/>
                  </a:lnTo>
                  <a:lnTo>
                    <a:pt x="1071740" y="47371"/>
                  </a:lnTo>
                  <a:close/>
                </a:path>
                <a:path w="2687954" h="3698875">
                  <a:moveTo>
                    <a:pt x="1120013" y="3660013"/>
                  </a:moveTo>
                  <a:lnTo>
                    <a:pt x="1081913" y="3658997"/>
                  </a:lnTo>
                  <a:lnTo>
                    <a:pt x="1080897" y="3697097"/>
                  </a:lnTo>
                  <a:lnTo>
                    <a:pt x="1118997" y="3698113"/>
                  </a:lnTo>
                  <a:lnTo>
                    <a:pt x="1120013" y="3660013"/>
                  </a:lnTo>
                  <a:close/>
                </a:path>
                <a:path w="2687954" h="3698875">
                  <a:moveTo>
                    <a:pt x="1146937" y="41656"/>
                  </a:moveTo>
                  <a:lnTo>
                    <a:pt x="1145387" y="6223"/>
                  </a:lnTo>
                  <a:lnTo>
                    <a:pt x="1145286" y="3683"/>
                  </a:lnTo>
                  <a:lnTo>
                    <a:pt x="1127506" y="4445"/>
                  </a:lnTo>
                  <a:lnTo>
                    <a:pt x="1106551" y="6223"/>
                  </a:lnTo>
                  <a:lnTo>
                    <a:pt x="1109726" y="44196"/>
                  </a:lnTo>
                  <a:lnTo>
                    <a:pt x="1130808" y="42418"/>
                  </a:lnTo>
                  <a:lnTo>
                    <a:pt x="1146937" y="41656"/>
                  </a:lnTo>
                  <a:close/>
                </a:path>
                <a:path w="2687954" h="3698875">
                  <a:moveTo>
                    <a:pt x="1195832" y="3698240"/>
                  </a:moveTo>
                  <a:lnTo>
                    <a:pt x="1195451" y="3660521"/>
                  </a:lnTo>
                  <a:lnTo>
                    <a:pt x="1195451" y="3660140"/>
                  </a:lnTo>
                  <a:lnTo>
                    <a:pt x="1157351" y="3660521"/>
                  </a:lnTo>
                  <a:lnTo>
                    <a:pt x="1157719" y="3698240"/>
                  </a:lnTo>
                  <a:lnTo>
                    <a:pt x="1157732" y="3698621"/>
                  </a:lnTo>
                  <a:lnTo>
                    <a:pt x="1195832" y="3698240"/>
                  </a:lnTo>
                  <a:close/>
                </a:path>
                <a:path w="2687954" h="3698875">
                  <a:moveTo>
                    <a:pt x="1223010" y="38354"/>
                  </a:moveTo>
                  <a:lnTo>
                    <a:pt x="1222273" y="2032"/>
                  </a:lnTo>
                  <a:lnTo>
                    <a:pt x="1222248" y="254"/>
                  </a:lnTo>
                  <a:lnTo>
                    <a:pt x="1221359" y="254"/>
                  </a:lnTo>
                  <a:lnTo>
                    <a:pt x="1183386" y="2032"/>
                  </a:lnTo>
                  <a:lnTo>
                    <a:pt x="1184960" y="38354"/>
                  </a:lnTo>
                  <a:lnTo>
                    <a:pt x="1185037" y="40005"/>
                  </a:lnTo>
                  <a:lnTo>
                    <a:pt x="1223010" y="38354"/>
                  </a:lnTo>
                  <a:close/>
                </a:path>
                <a:path w="2687954" h="3698875">
                  <a:moveTo>
                    <a:pt x="1272667" y="3695954"/>
                  </a:moveTo>
                  <a:lnTo>
                    <a:pt x="1271079" y="3659505"/>
                  </a:lnTo>
                  <a:lnTo>
                    <a:pt x="1271016" y="3657854"/>
                  </a:lnTo>
                  <a:lnTo>
                    <a:pt x="1232916" y="3659505"/>
                  </a:lnTo>
                  <a:lnTo>
                    <a:pt x="1234490" y="3695954"/>
                  </a:lnTo>
                  <a:lnTo>
                    <a:pt x="1234567" y="3697478"/>
                  </a:lnTo>
                  <a:lnTo>
                    <a:pt x="1272667" y="3695954"/>
                  </a:lnTo>
                  <a:close/>
                </a:path>
                <a:path w="2687954" h="3698875">
                  <a:moveTo>
                    <a:pt x="1298575" y="38100"/>
                  </a:moveTo>
                  <a:lnTo>
                    <a:pt x="1298321" y="0"/>
                  </a:lnTo>
                  <a:lnTo>
                    <a:pt x="1260221" y="0"/>
                  </a:lnTo>
                  <a:lnTo>
                    <a:pt x="1260475" y="38100"/>
                  </a:lnTo>
                  <a:lnTo>
                    <a:pt x="1298575" y="38100"/>
                  </a:lnTo>
                  <a:close/>
                </a:path>
                <a:path w="2687954" h="3698875">
                  <a:moveTo>
                    <a:pt x="1349375" y="3691128"/>
                  </a:moveTo>
                  <a:lnTo>
                    <a:pt x="1346454" y="3653155"/>
                  </a:lnTo>
                  <a:lnTo>
                    <a:pt x="1308481" y="3656076"/>
                  </a:lnTo>
                  <a:lnTo>
                    <a:pt x="1311275" y="3694049"/>
                  </a:lnTo>
                  <a:lnTo>
                    <a:pt x="1349375" y="3691128"/>
                  </a:lnTo>
                  <a:close/>
                </a:path>
                <a:path w="2687954" h="3698875">
                  <a:moveTo>
                    <a:pt x="1375156" y="1397"/>
                  </a:moveTo>
                  <a:lnTo>
                    <a:pt x="1337183" y="254"/>
                  </a:lnTo>
                  <a:lnTo>
                    <a:pt x="1336040" y="38354"/>
                  </a:lnTo>
                  <a:lnTo>
                    <a:pt x="1374140" y="39497"/>
                  </a:lnTo>
                  <a:lnTo>
                    <a:pt x="1375156" y="1397"/>
                  </a:lnTo>
                  <a:close/>
                </a:path>
                <a:path w="2687954" h="3698875">
                  <a:moveTo>
                    <a:pt x="1425829" y="3684143"/>
                  </a:moveTo>
                  <a:lnTo>
                    <a:pt x="1421638" y="3646297"/>
                  </a:lnTo>
                  <a:lnTo>
                    <a:pt x="1387221" y="3649980"/>
                  </a:lnTo>
                  <a:lnTo>
                    <a:pt x="1384427" y="3650234"/>
                  </a:lnTo>
                  <a:lnTo>
                    <a:pt x="1387348" y="3688207"/>
                  </a:lnTo>
                  <a:lnTo>
                    <a:pt x="1388986" y="3688207"/>
                  </a:lnTo>
                  <a:lnTo>
                    <a:pt x="1425829" y="3684143"/>
                  </a:lnTo>
                  <a:close/>
                </a:path>
                <a:path w="2687954" h="3698875">
                  <a:moveTo>
                    <a:pt x="1451991" y="4953"/>
                  </a:moveTo>
                  <a:lnTo>
                    <a:pt x="1415288" y="2540"/>
                  </a:lnTo>
                  <a:lnTo>
                    <a:pt x="1413256" y="2540"/>
                  </a:lnTo>
                  <a:lnTo>
                    <a:pt x="1412240" y="40640"/>
                  </a:lnTo>
                  <a:lnTo>
                    <a:pt x="1414145" y="40640"/>
                  </a:lnTo>
                  <a:lnTo>
                    <a:pt x="1449578" y="42926"/>
                  </a:lnTo>
                  <a:lnTo>
                    <a:pt x="1451991" y="4953"/>
                  </a:lnTo>
                  <a:close/>
                </a:path>
                <a:path w="2687954" h="3698875">
                  <a:moveTo>
                    <a:pt x="1502029" y="3675126"/>
                  </a:moveTo>
                  <a:lnTo>
                    <a:pt x="1496695" y="3637280"/>
                  </a:lnTo>
                  <a:lnTo>
                    <a:pt x="1471041" y="3640963"/>
                  </a:lnTo>
                  <a:lnTo>
                    <a:pt x="1459611" y="3642233"/>
                  </a:lnTo>
                  <a:lnTo>
                    <a:pt x="1463675" y="3680079"/>
                  </a:lnTo>
                  <a:lnTo>
                    <a:pt x="1475105" y="3678809"/>
                  </a:lnTo>
                  <a:lnTo>
                    <a:pt x="1502029" y="3675126"/>
                  </a:lnTo>
                  <a:close/>
                </a:path>
                <a:path w="2687954" h="3698875">
                  <a:moveTo>
                    <a:pt x="1528572" y="10414"/>
                  </a:moveTo>
                  <a:lnTo>
                    <a:pt x="1515110" y="9144"/>
                  </a:lnTo>
                  <a:lnTo>
                    <a:pt x="1489964" y="7493"/>
                  </a:lnTo>
                  <a:lnTo>
                    <a:pt x="1487551" y="45466"/>
                  </a:lnTo>
                  <a:lnTo>
                    <a:pt x="1512570" y="47117"/>
                  </a:lnTo>
                  <a:lnTo>
                    <a:pt x="1524889" y="48387"/>
                  </a:lnTo>
                  <a:lnTo>
                    <a:pt x="1528572" y="10414"/>
                  </a:lnTo>
                  <a:close/>
                </a:path>
                <a:path w="2687954" h="3698875">
                  <a:moveTo>
                    <a:pt x="1577975" y="3663823"/>
                  </a:moveTo>
                  <a:lnTo>
                    <a:pt x="1571498" y="3626358"/>
                  </a:lnTo>
                  <a:lnTo>
                    <a:pt x="1556131" y="3629025"/>
                  </a:lnTo>
                  <a:lnTo>
                    <a:pt x="1534541" y="3632073"/>
                  </a:lnTo>
                  <a:lnTo>
                    <a:pt x="1539748" y="3669792"/>
                  </a:lnTo>
                  <a:lnTo>
                    <a:pt x="1561338" y="3666744"/>
                  </a:lnTo>
                  <a:lnTo>
                    <a:pt x="1577975" y="3663823"/>
                  </a:lnTo>
                  <a:close/>
                </a:path>
                <a:path w="2687954" h="3698875">
                  <a:moveTo>
                    <a:pt x="1604518" y="17907"/>
                  </a:moveTo>
                  <a:lnTo>
                    <a:pt x="1566545" y="14097"/>
                  </a:lnTo>
                  <a:lnTo>
                    <a:pt x="1562862" y="52070"/>
                  </a:lnTo>
                  <a:lnTo>
                    <a:pt x="1600708" y="55753"/>
                  </a:lnTo>
                  <a:lnTo>
                    <a:pt x="1604518" y="17907"/>
                  </a:lnTo>
                  <a:close/>
                </a:path>
                <a:path w="2687954" h="3698875">
                  <a:moveTo>
                    <a:pt x="1653667" y="3650615"/>
                  </a:moveTo>
                  <a:lnTo>
                    <a:pt x="1646047" y="3613277"/>
                  </a:lnTo>
                  <a:lnTo>
                    <a:pt x="1642110" y="3614166"/>
                  </a:lnTo>
                  <a:lnTo>
                    <a:pt x="1609090" y="3619881"/>
                  </a:lnTo>
                  <a:lnTo>
                    <a:pt x="1615567" y="3657346"/>
                  </a:lnTo>
                  <a:lnTo>
                    <a:pt x="1648587" y="3651758"/>
                  </a:lnTo>
                  <a:lnTo>
                    <a:pt x="1653667" y="3650615"/>
                  </a:lnTo>
                  <a:close/>
                </a:path>
                <a:path w="2687954" h="3698875">
                  <a:moveTo>
                    <a:pt x="1680718" y="27432"/>
                  </a:moveTo>
                  <a:lnTo>
                    <a:pt x="1642872" y="22479"/>
                  </a:lnTo>
                  <a:lnTo>
                    <a:pt x="1637919" y="60325"/>
                  </a:lnTo>
                  <a:lnTo>
                    <a:pt x="1675765" y="65278"/>
                  </a:lnTo>
                  <a:lnTo>
                    <a:pt x="1680718" y="27432"/>
                  </a:lnTo>
                  <a:close/>
                </a:path>
                <a:path w="2687954" h="3698875">
                  <a:moveTo>
                    <a:pt x="1728343" y="3635502"/>
                  </a:moveTo>
                  <a:lnTo>
                    <a:pt x="1720723" y="3598164"/>
                  </a:lnTo>
                  <a:lnTo>
                    <a:pt x="1683385" y="3605784"/>
                  </a:lnTo>
                  <a:lnTo>
                    <a:pt x="1691005" y="3643122"/>
                  </a:lnTo>
                  <a:lnTo>
                    <a:pt x="1728343" y="3635502"/>
                  </a:lnTo>
                  <a:close/>
                </a:path>
                <a:path w="2687954" h="3698875">
                  <a:moveTo>
                    <a:pt x="1756664" y="38608"/>
                  </a:moveTo>
                  <a:lnTo>
                    <a:pt x="1719580" y="32512"/>
                  </a:lnTo>
                  <a:lnTo>
                    <a:pt x="1718411" y="32512"/>
                  </a:lnTo>
                  <a:lnTo>
                    <a:pt x="1713458" y="70358"/>
                  </a:lnTo>
                  <a:lnTo>
                    <a:pt x="1714627" y="70358"/>
                  </a:lnTo>
                  <a:lnTo>
                    <a:pt x="1750441" y="76200"/>
                  </a:lnTo>
                  <a:lnTo>
                    <a:pt x="1756664" y="38608"/>
                  </a:lnTo>
                  <a:close/>
                </a:path>
                <a:path w="2687954" h="3698875">
                  <a:moveTo>
                    <a:pt x="1803146" y="3618103"/>
                  </a:moveTo>
                  <a:lnTo>
                    <a:pt x="1794383" y="3581019"/>
                  </a:lnTo>
                  <a:lnTo>
                    <a:pt x="1757299" y="3589782"/>
                  </a:lnTo>
                  <a:lnTo>
                    <a:pt x="1766062" y="3626866"/>
                  </a:lnTo>
                  <a:lnTo>
                    <a:pt x="1803146" y="3618103"/>
                  </a:lnTo>
                  <a:close/>
                </a:path>
                <a:path w="2687954" h="3698875">
                  <a:moveTo>
                    <a:pt x="1832356" y="51308"/>
                  </a:moveTo>
                  <a:lnTo>
                    <a:pt x="1824101" y="49657"/>
                  </a:lnTo>
                  <a:lnTo>
                    <a:pt x="1794256" y="44831"/>
                  </a:lnTo>
                  <a:lnTo>
                    <a:pt x="1788033" y="82423"/>
                  </a:lnTo>
                  <a:lnTo>
                    <a:pt x="1818005" y="87249"/>
                  </a:lnTo>
                  <a:lnTo>
                    <a:pt x="1825117" y="88646"/>
                  </a:lnTo>
                  <a:lnTo>
                    <a:pt x="1832356" y="51308"/>
                  </a:lnTo>
                  <a:close/>
                </a:path>
                <a:path w="2687954" h="3698875">
                  <a:moveTo>
                    <a:pt x="1877441" y="3598926"/>
                  </a:moveTo>
                  <a:lnTo>
                    <a:pt x="1867662" y="3562223"/>
                  </a:lnTo>
                  <a:lnTo>
                    <a:pt x="1830832" y="3572002"/>
                  </a:lnTo>
                  <a:lnTo>
                    <a:pt x="1840611" y="3608832"/>
                  </a:lnTo>
                  <a:lnTo>
                    <a:pt x="1877441" y="3598926"/>
                  </a:lnTo>
                  <a:close/>
                </a:path>
                <a:path w="2687954" h="3698875">
                  <a:moveTo>
                    <a:pt x="1907159" y="65913"/>
                  </a:moveTo>
                  <a:lnTo>
                    <a:pt x="1869821" y="58547"/>
                  </a:lnTo>
                  <a:lnTo>
                    <a:pt x="1862455" y="96012"/>
                  </a:lnTo>
                  <a:lnTo>
                    <a:pt x="1899920" y="103251"/>
                  </a:lnTo>
                  <a:lnTo>
                    <a:pt x="1907159" y="65913"/>
                  </a:lnTo>
                  <a:close/>
                </a:path>
                <a:path w="2687954" h="3698875">
                  <a:moveTo>
                    <a:pt x="1951355" y="3578098"/>
                  </a:moveTo>
                  <a:lnTo>
                    <a:pt x="1940433" y="3541649"/>
                  </a:lnTo>
                  <a:lnTo>
                    <a:pt x="1904873" y="3552190"/>
                  </a:lnTo>
                  <a:lnTo>
                    <a:pt x="1904365" y="3552317"/>
                  </a:lnTo>
                  <a:lnTo>
                    <a:pt x="1914271" y="3589147"/>
                  </a:lnTo>
                  <a:lnTo>
                    <a:pt x="1951355" y="3578098"/>
                  </a:lnTo>
                  <a:close/>
                </a:path>
                <a:path w="2687954" h="3698875">
                  <a:moveTo>
                    <a:pt x="1982216" y="82169"/>
                  </a:moveTo>
                  <a:lnTo>
                    <a:pt x="1945005" y="73787"/>
                  </a:lnTo>
                  <a:lnTo>
                    <a:pt x="1936623" y="110998"/>
                  </a:lnTo>
                  <a:lnTo>
                    <a:pt x="1973707" y="119380"/>
                  </a:lnTo>
                  <a:lnTo>
                    <a:pt x="1982216" y="82169"/>
                  </a:lnTo>
                  <a:close/>
                </a:path>
                <a:path w="2687954" h="3698875">
                  <a:moveTo>
                    <a:pt x="2024634" y="3555492"/>
                  </a:moveTo>
                  <a:lnTo>
                    <a:pt x="2012696" y="3519424"/>
                  </a:lnTo>
                  <a:lnTo>
                    <a:pt x="1993519" y="3525774"/>
                  </a:lnTo>
                  <a:lnTo>
                    <a:pt x="1976882" y="3530727"/>
                  </a:lnTo>
                  <a:lnTo>
                    <a:pt x="1987804" y="3567176"/>
                  </a:lnTo>
                  <a:lnTo>
                    <a:pt x="2004441" y="3562223"/>
                  </a:lnTo>
                  <a:lnTo>
                    <a:pt x="2024634" y="3555492"/>
                  </a:lnTo>
                  <a:close/>
                </a:path>
                <a:path w="2687954" h="3698875">
                  <a:moveTo>
                    <a:pt x="2056892" y="99822"/>
                  </a:moveTo>
                  <a:lnTo>
                    <a:pt x="2036953" y="94615"/>
                  </a:lnTo>
                  <a:lnTo>
                    <a:pt x="2019300" y="90678"/>
                  </a:lnTo>
                  <a:lnTo>
                    <a:pt x="2010918" y="127889"/>
                  </a:lnTo>
                  <a:lnTo>
                    <a:pt x="2028444" y="131826"/>
                  </a:lnTo>
                  <a:lnTo>
                    <a:pt x="2047367" y="136779"/>
                  </a:lnTo>
                  <a:lnTo>
                    <a:pt x="2056892" y="99822"/>
                  </a:lnTo>
                  <a:close/>
                </a:path>
                <a:path w="2687954" h="3698875">
                  <a:moveTo>
                    <a:pt x="2097532" y="3531362"/>
                  </a:moveTo>
                  <a:lnTo>
                    <a:pt x="2084451" y="3495548"/>
                  </a:lnTo>
                  <a:lnTo>
                    <a:pt x="2082673" y="3496310"/>
                  </a:lnTo>
                  <a:lnTo>
                    <a:pt x="2048891" y="3507359"/>
                  </a:lnTo>
                  <a:lnTo>
                    <a:pt x="2060829" y="3543554"/>
                  </a:lnTo>
                  <a:lnTo>
                    <a:pt x="2094611" y="3532378"/>
                  </a:lnTo>
                  <a:lnTo>
                    <a:pt x="2097532" y="3531362"/>
                  </a:lnTo>
                  <a:close/>
                </a:path>
                <a:path w="2687954" h="3698875">
                  <a:moveTo>
                    <a:pt x="2130679" y="118999"/>
                  </a:moveTo>
                  <a:lnTo>
                    <a:pt x="2093849" y="109347"/>
                  </a:lnTo>
                  <a:lnTo>
                    <a:pt x="2084197" y="146304"/>
                  </a:lnTo>
                  <a:lnTo>
                    <a:pt x="2121154" y="155829"/>
                  </a:lnTo>
                  <a:lnTo>
                    <a:pt x="2130679" y="118999"/>
                  </a:lnTo>
                  <a:close/>
                </a:path>
                <a:path w="2687954" h="3698875">
                  <a:moveTo>
                    <a:pt x="2204466" y="139954"/>
                  </a:moveTo>
                  <a:lnTo>
                    <a:pt x="2167890" y="129286"/>
                  </a:lnTo>
                  <a:lnTo>
                    <a:pt x="2157222" y="165862"/>
                  </a:lnTo>
                  <a:lnTo>
                    <a:pt x="2193925" y="176530"/>
                  </a:lnTo>
                  <a:lnTo>
                    <a:pt x="2204466" y="139954"/>
                  </a:lnTo>
                  <a:close/>
                </a:path>
                <a:path w="2687954" h="3698875">
                  <a:moveTo>
                    <a:pt x="2246757" y="3454654"/>
                  </a:moveTo>
                  <a:lnTo>
                    <a:pt x="2119630" y="3442208"/>
                  </a:lnTo>
                  <a:lnTo>
                    <a:pt x="2133155" y="3477564"/>
                  </a:lnTo>
                  <a:lnTo>
                    <a:pt x="2120138" y="3482340"/>
                  </a:lnTo>
                  <a:lnTo>
                    <a:pt x="2133346" y="3518154"/>
                  </a:lnTo>
                  <a:lnTo>
                    <a:pt x="2146795" y="3513163"/>
                  </a:lnTo>
                  <a:lnTo>
                    <a:pt x="2160524" y="3549015"/>
                  </a:lnTo>
                  <a:lnTo>
                    <a:pt x="2231898" y="3470910"/>
                  </a:lnTo>
                  <a:lnTo>
                    <a:pt x="2246757" y="3454654"/>
                  </a:lnTo>
                  <a:close/>
                </a:path>
                <a:path w="2687954" h="3698875">
                  <a:moveTo>
                    <a:pt x="2277999" y="162052"/>
                  </a:moveTo>
                  <a:lnTo>
                    <a:pt x="2253615" y="154178"/>
                  </a:lnTo>
                  <a:lnTo>
                    <a:pt x="2241042" y="150495"/>
                  </a:lnTo>
                  <a:lnTo>
                    <a:pt x="2230501" y="187198"/>
                  </a:lnTo>
                  <a:lnTo>
                    <a:pt x="2243074" y="190754"/>
                  </a:lnTo>
                  <a:lnTo>
                    <a:pt x="2266315" y="198247"/>
                  </a:lnTo>
                  <a:lnTo>
                    <a:pt x="2277999" y="162052"/>
                  </a:lnTo>
                  <a:close/>
                </a:path>
                <a:path w="2687954" h="3698875">
                  <a:moveTo>
                    <a:pt x="2350516" y="185293"/>
                  </a:moveTo>
                  <a:lnTo>
                    <a:pt x="2314194" y="173609"/>
                  </a:lnTo>
                  <a:lnTo>
                    <a:pt x="2302637" y="209931"/>
                  </a:lnTo>
                  <a:lnTo>
                    <a:pt x="2338959" y="221488"/>
                  </a:lnTo>
                  <a:lnTo>
                    <a:pt x="2350516" y="185293"/>
                  </a:lnTo>
                  <a:close/>
                </a:path>
                <a:path w="2687954" h="3698875">
                  <a:moveTo>
                    <a:pt x="2423033" y="210439"/>
                  </a:moveTo>
                  <a:lnTo>
                    <a:pt x="2387092" y="197739"/>
                  </a:lnTo>
                  <a:lnTo>
                    <a:pt x="2374392" y="233680"/>
                  </a:lnTo>
                  <a:lnTo>
                    <a:pt x="2410333" y="246380"/>
                  </a:lnTo>
                  <a:lnTo>
                    <a:pt x="2423033" y="210439"/>
                  </a:lnTo>
                  <a:close/>
                </a:path>
                <a:path w="2687954" h="3698875">
                  <a:moveTo>
                    <a:pt x="2495169" y="236601"/>
                  </a:moveTo>
                  <a:lnTo>
                    <a:pt x="2473325" y="228219"/>
                  </a:lnTo>
                  <a:lnTo>
                    <a:pt x="2458974" y="223139"/>
                  </a:lnTo>
                  <a:lnTo>
                    <a:pt x="2446274" y="258953"/>
                  </a:lnTo>
                  <a:lnTo>
                    <a:pt x="2460752" y="264033"/>
                  </a:lnTo>
                  <a:lnTo>
                    <a:pt x="2481453" y="272161"/>
                  </a:lnTo>
                  <a:lnTo>
                    <a:pt x="2495169" y="236601"/>
                  </a:lnTo>
                  <a:close/>
                </a:path>
                <a:path w="2687954" h="3698875">
                  <a:moveTo>
                    <a:pt x="2566289" y="263906"/>
                  </a:moveTo>
                  <a:lnTo>
                    <a:pt x="2530729" y="250317"/>
                  </a:lnTo>
                  <a:lnTo>
                    <a:pt x="2517013" y="285750"/>
                  </a:lnTo>
                  <a:lnTo>
                    <a:pt x="2552573" y="299466"/>
                  </a:lnTo>
                  <a:lnTo>
                    <a:pt x="2566289" y="263906"/>
                  </a:lnTo>
                  <a:close/>
                </a:path>
                <a:path w="2687954" h="3698875">
                  <a:moveTo>
                    <a:pt x="2687447" y="334518"/>
                  </a:moveTo>
                  <a:lnTo>
                    <a:pt x="2670987" y="315468"/>
                  </a:lnTo>
                  <a:lnTo>
                    <a:pt x="2638971" y="278384"/>
                  </a:lnTo>
                  <a:lnTo>
                    <a:pt x="2603881" y="237744"/>
                  </a:lnTo>
                  <a:lnTo>
                    <a:pt x="2559939" y="343281"/>
                  </a:lnTo>
                  <a:lnTo>
                    <a:pt x="2687447" y="33451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AR" sz="1050"/>
            </a:p>
          </p:txBody>
        </p:sp>
      </p:grpSp>
      <p:sp>
        <p:nvSpPr>
          <p:cNvPr id="64" name="TextBox 63">
            <a:extLst>
              <a:ext uri="{FF2B5EF4-FFF2-40B4-BE49-F238E27FC236}">
                <a16:creationId xmlns:a16="http://schemas.microsoft.com/office/drawing/2014/main" id="{2C2CA419-C357-B95D-904C-D78F5BA74619}"/>
              </a:ext>
            </a:extLst>
          </p:cNvPr>
          <p:cNvSpPr txBox="1"/>
          <p:nvPr/>
        </p:nvSpPr>
        <p:spPr>
          <a:xfrm>
            <a:off x="6775266" y="1381996"/>
            <a:ext cx="2423160" cy="225703"/>
          </a:xfrm>
          <a:prstGeom prst="rect">
            <a:avLst/>
          </a:prstGeom>
          <a:noFill/>
        </p:spPr>
        <p:txBody>
          <a:bodyPr wrap="square" lIns="25400" tIns="12700" rIns="25400" bIns="12700" anchor="t">
            <a:spAutoFit/>
          </a:bodyPr>
          <a:lstStyle/>
          <a:p>
            <a:pPr algn="l"/>
            <a:r>
              <a:rPr lang="es-419" sz="1300" b="1" i="0" dirty="0">
                <a:solidFill>
                  <a:srgbClr val="1F2937"/>
                </a:solidFill>
                <a:latin typeface="Arial"/>
              </a:rPr>
              <a:t>Subir la pirámide importa</a:t>
            </a:r>
            <a:endParaRPr sz="1300" b="1" i="0" dirty="0">
              <a:solidFill>
                <a:srgbClr val="1F2937"/>
              </a:solidFill>
              <a:latin typeface="Arial"/>
            </a:endParaRPr>
          </a:p>
        </p:txBody>
      </p:sp>
      <p:sp>
        <p:nvSpPr>
          <p:cNvPr id="65" name="TextBox 64">
            <a:extLst>
              <a:ext uri="{FF2B5EF4-FFF2-40B4-BE49-F238E27FC236}">
                <a16:creationId xmlns:a16="http://schemas.microsoft.com/office/drawing/2014/main" id="{8A604FF8-DC97-2306-8348-E1E517E6CBCF}"/>
              </a:ext>
            </a:extLst>
          </p:cNvPr>
          <p:cNvSpPr txBox="1"/>
          <p:nvPr/>
        </p:nvSpPr>
        <p:spPr>
          <a:xfrm>
            <a:off x="6724754" y="4508276"/>
            <a:ext cx="2423160" cy="225703"/>
          </a:xfrm>
          <a:prstGeom prst="rect">
            <a:avLst/>
          </a:prstGeom>
          <a:noFill/>
        </p:spPr>
        <p:txBody>
          <a:bodyPr wrap="square" lIns="25400" tIns="12700" rIns="25400" bIns="12700" anchor="t">
            <a:spAutoFit/>
          </a:bodyPr>
          <a:lstStyle/>
          <a:p>
            <a:pPr algn="l"/>
            <a:r>
              <a:rPr lang="es-419" sz="1300" b="1" i="0" dirty="0">
                <a:solidFill>
                  <a:srgbClr val="1F2937"/>
                </a:solidFill>
                <a:latin typeface="Arial"/>
              </a:rPr>
              <a:t>Datos</a:t>
            </a:r>
            <a:endParaRPr sz="1300" b="1" i="0" dirty="0">
              <a:solidFill>
                <a:srgbClr val="1F2937"/>
              </a:solidFill>
              <a:latin typeface="Arial"/>
            </a:endParaRPr>
          </a:p>
        </p:txBody>
      </p:sp>
      <p:sp>
        <p:nvSpPr>
          <p:cNvPr id="69" name="TextBox 68">
            <a:extLst>
              <a:ext uri="{FF2B5EF4-FFF2-40B4-BE49-F238E27FC236}">
                <a16:creationId xmlns:a16="http://schemas.microsoft.com/office/drawing/2014/main" id="{FEEC7029-AA07-8B19-3A4B-14A948DF234C}"/>
              </a:ext>
            </a:extLst>
          </p:cNvPr>
          <p:cNvSpPr txBox="1"/>
          <p:nvPr/>
        </p:nvSpPr>
        <p:spPr>
          <a:xfrm>
            <a:off x="971550" y="494752"/>
            <a:ext cx="8046720" cy="302647"/>
          </a:xfrm>
          <a:prstGeom prst="rect">
            <a:avLst/>
          </a:prstGeom>
          <a:noFill/>
        </p:spPr>
        <p:txBody>
          <a:bodyPr wrap="square" lIns="25400" tIns="12700" rIns="25400" bIns="12700" anchor="ctr">
            <a:spAutoFit/>
          </a:bodyPr>
          <a:lstStyle/>
          <a:p>
            <a:pPr algn="l"/>
            <a:r>
              <a:rPr lang="es-419" sz="1800" b="1" i="0" spc="200" dirty="0">
                <a:solidFill>
                  <a:srgbClr val="FFFFFF"/>
                </a:solidFill>
                <a:latin typeface="Arial"/>
              </a:rPr>
              <a:t>Hablar con los stakeholders en el idioma correcto</a:t>
            </a:r>
            <a:endParaRPr sz="1800" b="1" i="0" spc="200" dirty="0">
              <a:solidFill>
                <a:srgbClr val="FFFFFF"/>
              </a:solidFill>
              <a:latin typeface="Arial"/>
            </a:endParaRPr>
          </a:p>
        </p:txBody>
      </p:sp>
      <p:sp>
        <p:nvSpPr>
          <p:cNvPr id="70" name="TextBox 69">
            <a:extLst>
              <a:ext uri="{FF2B5EF4-FFF2-40B4-BE49-F238E27FC236}">
                <a16:creationId xmlns:a16="http://schemas.microsoft.com/office/drawing/2014/main" id="{E82B701D-D909-AA64-16D0-DC6A679E6344}"/>
              </a:ext>
            </a:extLst>
          </p:cNvPr>
          <p:cNvSpPr txBox="1"/>
          <p:nvPr/>
        </p:nvSpPr>
        <p:spPr>
          <a:xfrm>
            <a:off x="2291185" y="4788200"/>
            <a:ext cx="8046720" cy="302647"/>
          </a:xfrm>
          <a:prstGeom prst="rect">
            <a:avLst/>
          </a:prstGeom>
          <a:noFill/>
        </p:spPr>
        <p:txBody>
          <a:bodyPr wrap="square" lIns="25400" tIns="12700" rIns="25400" bIns="12700" anchor="ctr">
            <a:spAutoFit/>
          </a:bodyPr>
          <a:lstStyle/>
          <a:p>
            <a:pPr algn="l"/>
            <a:r>
              <a:rPr lang="es-419" sz="1800" b="1" i="0" spc="200" dirty="0">
                <a:solidFill>
                  <a:srgbClr val="FFFFFF"/>
                </a:solidFill>
                <a:latin typeface="Arial"/>
              </a:rPr>
              <a:t>Extendiendo la pirámide del Dolor</a:t>
            </a:r>
            <a:endParaRPr sz="1800" b="1" i="0" spc="200" dirty="0">
              <a:solidFill>
                <a:srgbClr val="FFFFFF"/>
              </a:solidFill>
              <a:latin typeface="Arial"/>
            </a:endParaRPr>
          </a:p>
        </p:txBody>
      </p:sp>
      <p:pic>
        <p:nvPicPr>
          <p:cNvPr id="5" name="Picture 4">
            <a:extLst>
              <a:ext uri="{FF2B5EF4-FFF2-40B4-BE49-F238E27FC236}">
                <a16:creationId xmlns:a16="http://schemas.microsoft.com/office/drawing/2014/main" id="{CD5DD581-4E2C-10B5-B824-59E0BE7E8EB7}"/>
              </a:ext>
            </a:extLst>
          </p:cNvPr>
          <p:cNvPicPr>
            <a:picLocks noChangeAspect="1"/>
          </p:cNvPicPr>
          <p:nvPr/>
        </p:nvPicPr>
        <p:blipFill>
          <a:blip r:embed="rId6"/>
          <a:stretch>
            <a:fillRect/>
          </a:stretch>
        </p:blipFill>
        <p:spPr>
          <a:xfrm>
            <a:off x="6719753" y="1641030"/>
            <a:ext cx="2308049" cy="271415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41A52"/>
        </a:solidFill>
        <a:effectLst/>
      </p:bgPr>
    </p:bg>
    <p:spTree>
      <p:nvGrpSpPr>
        <p:cNvPr id="1" name="">
          <a:extLst>
            <a:ext uri="{FF2B5EF4-FFF2-40B4-BE49-F238E27FC236}">
              <a16:creationId xmlns:a16="http://schemas.microsoft.com/office/drawing/2014/main" id="{5EAEA257-6B3C-8581-E752-7379E68A831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597A68-E5A5-D55C-0E6C-6C34E14F1F09}"/>
              </a:ext>
            </a:extLst>
          </p:cNvPr>
          <p:cNvSpPr/>
          <p:nvPr/>
        </p:nvSpPr>
        <p:spPr>
          <a:xfrm>
            <a:off x="0" y="4114800"/>
            <a:ext cx="9144000" cy="102870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left.png">
            <a:extLst>
              <a:ext uri="{FF2B5EF4-FFF2-40B4-BE49-F238E27FC236}">
                <a16:creationId xmlns:a16="http://schemas.microsoft.com/office/drawing/2014/main" id="{83BF6FB1-03F6-31E8-487C-238F9C55B175}"/>
              </a:ext>
            </a:extLst>
          </p:cNvPr>
          <p:cNvPicPr>
            <a:picLocks noChangeAspect="1"/>
          </p:cNvPicPr>
          <p:nvPr/>
        </p:nvPicPr>
        <p:blipFill>
          <a:blip r:embed="rId2">
            <a:alphaModFix amt="25000"/>
          </a:blip>
          <a:stretch>
            <a:fillRect/>
          </a:stretch>
        </p:blipFill>
        <p:spPr>
          <a:xfrm>
            <a:off x="-548640" y="365760"/>
            <a:ext cx="2413248" cy="4572000"/>
          </a:xfrm>
          <a:prstGeom prst="rect">
            <a:avLst/>
          </a:prstGeom>
        </p:spPr>
      </p:pic>
      <p:pic>
        <p:nvPicPr>
          <p:cNvPr id="4" name="Picture 3" descr="brand_palm_right.png">
            <a:extLst>
              <a:ext uri="{FF2B5EF4-FFF2-40B4-BE49-F238E27FC236}">
                <a16:creationId xmlns:a16="http://schemas.microsoft.com/office/drawing/2014/main" id="{43FBD673-531C-B319-9883-1069A8FBD81E}"/>
              </a:ext>
            </a:extLst>
          </p:cNvPr>
          <p:cNvPicPr>
            <a:picLocks noChangeAspect="1"/>
          </p:cNvPicPr>
          <p:nvPr/>
        </p:nvPicPr>
        <p:blipFill>
          <a:blip r:embed="rId3">
            <a:alphaModFix amt="25000"/>
          </a:blip>
          <a:stretch>
            <a:fillRect/>
          </a:stretch>
        </p:blipFill>
        <p:spPr>
          <a:xfrm>
            <a:off x="6583680" y="365760"/>
            <a:ext cx="2323951" cy="4572000"/>
          </a:xfrm>
          <a:prstGeom prst="rect">
            <a:avLst/>
          </a:prstGeom>
        </p:spPr>
      </p:pic>
      <p:sp>
        <p:nvSpPr>
          <p:cNvPr id="5" name="Rectangle 4">
            <a:extLst>
              <a:ext uri="{FF2B5EF4-FFF2-40B4-BE49-F238E27FC236}">
                <a16:creationId xmlns:a16="http://schemas.microsoft.com/office/drawing/2014/main" id="{3B1BE41D-4B15-1252-C16D-3C3202871AF0}"/>
              </a:ext>
            </a:extLst>
          </p:cNvPr>
          <p:cNvSpPr/>
          <p:nvPr/>
        </p:nvSpPr>
        <p:spPr>
          <a:xfrm>
            <a:off x="365760" y="274320"/>
            <a:ext cx="841248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2B70E020-B7A9-6D6B-3929-1A153CE8EB88}"/>
              </a:ext>
            </a:extLst>
          </p:cNvPr>
          <p:cNvSpPr/>
          <p:nvPr/>
        </p:nvSpPr>
        <p:spPr>
          <a:xfrm>
            <a:off x="420624" y="329184"/>
            <a:ext cx="8302752" cy="603504"/>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4D67A2A6-4A29-9A82-131B-671152341DB1}"/>
              </a:ext>
            </a:extLst>
          </p:cNvPr>
          <p:cNvSpPr txBox="1"/>
          <p:nvPr/>
        </p:nvSpPr>
        <p:spPr>
          <a:xfrm>
            <a:off x="548640" y="329184"/>
            <a:ext cx="8046720" cy="603504"/>
          </a:xfrm>
          <a:prstGeom prst="rect">
            <a:avLst/>
          </a:prstGeom>
          <a:noFill/>
        </p:spPr>
        <p:txBody>
          <a:bodyPr wrap="square" lIns="25400" tIns="12700" rIns="25400" bIns="12700" anchor="ctr">
            <a:spAutoFit/>
          </a:bodyPr>
          <a:lstStyle/>
          <a:p>
            <a:pPr algn="l"/>
            <a:r>
              <a:rPr sz="1800" b="1" i="0" spc="200">
                <a:solidFill>
                  <a:srgbClr val="FFFFFF"/>
                </a:solidFill>
                <a:latin typeface="Arial"/>
              </a:rPr>
              <a:t>BLOQUE  05  ·  DE REACTIVO A PREDICTIVO</a:t>
            </a:r>
          </a:p>
        </p:txBody>
      </p:sp>
      <p:sp>
        <p:nvSpPr>
          <p:cNvPr id="8" name="TextBox 7">
            <a:extLst>
              <a:ext uri="{FF2B5EF4-FFF2-40B4-BE49-F238E27FC236}">
                <a16:creationId xmlns:a16="http://schemas.microsoft.com/office/drawing/2014/main" id="{A1355509-8D85-9011-769F-8CD612A35BF9}"/>
              </a:ext>
            </a:extLst>
          </p:cNvPr>
          <p:cNvSpPr txBox="1"/>
          <p:nvPr/>
        </p:nvSpPr>
        <p:spPr>
          <a:xfrm>
            <a:off x="548640" y="1645920"/>
            <a:ext cx="8046720" cy="1920240"/>
          </a:xfrm>
          <a:prstGeom prst="rect">
            <a:avLst/>
          </a:prstGeom>
          <a:noFill/>
        </p:spPr>
        <p:txBody>
          <a:bodyPr wrap="square" lIns="25400" tIns="12700" rIns="25400" bIns="12700" anchor="ctr">
            <a:spAutoFit/>
          </a:bodyPr>
          <a:lstStyle/>
          <a:p>
            <a:pPr algn="l"/>
            <a:r>
              <a:rPr sz="2200" b="1" i="1">
                <a:solidFill>
                  <a:srgbClr val="FFFFFF"/>
                </a:solidFill>
                <a:latin typeface="Arial"/>
              </a:rPr>
              <a:t>PIRs · F3EAD · Attack Trees · threat-informed defense.</a:t>
            </a:r>
          </a:p>
        </p:txBody>
      </p:sp>
      <p:sp>
        <p:nvSpPr>
          <p:cNvPr id="10" name="TextBox 9">
            <a:extLst>
              <a:ext uri="{FF2B5EF4-FFF2-40B4-BE49-F238E27FC236}">
                <a16:creationId xmlns:a16="http://schemas.microsoft.com/office/drawing/2014/main" id="{3C061903-5554-3310-4548-00344C030923}"/>
              </a:ext>
            </a:extLst>
          </p:cNvPr>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25 / 38</a:t>
            </a:r>
          </a:p>
        </p:txBody>
      </p:sp>
    </p:spTree>
    <p:extLst>
      <p:ext uri="{BB962C8B-B14F-4D97-AF65-F5344CB8AC3E}">
        <p14:creationId xmlns:p14="http://schemas.microsoft.com/office/powerpoint/2010/main" val="282250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alphaModFix amt="12000"/>
          </a:blip>
          <a:stretch>
            <a:fillRect/>
          </a:stretch>
        </p:blipFill>
        <p:spPr>
          <a:xfrm>
            <a:off x="7772400" y="777240"/>
            <a:ext cx="2138035" cy="4206240"/>
          </a:xfrm>
          <a:prstGeom prst="rect">
            <a:avLst/>
          </a:prstGeom>
        </p:spPr>
      </p:pic>
      <p:sp>
        <p:nvSpPr>
          <p:cNvPr id="4" name="TextBox 3"/>
          <p:cNvSpPr txBox="1"/>
          <p:nvPr/>
        </p:nvSpPr>
        <p:spPr>
          <a:xfrm>
            <a:off x="365760" y="146304"/>
            <a:ext cx="8412480" cy="420624"/>
          </a:xfrm>
          <a:prstGeom prst="rect">
            <a:avLst/>
          </a:prstGeom>
          <a:noFill/>
        </p:spPr>
        <p:txBody>
          <a:bodyPr wrap="square" lIns="25400" tIns="12700" rIns="25400" bIns="12700" anchor="ctr">
            <a:spAutoFit/>
          </a:bodyPr>
          <a:lstStyle/>
          <a:p>
            <a:pPr algn="l"/>
            <a:r>
              <a:rPr sz="2000" b="1" i="0">
                <a:solidFill>
                  <a:srgbClr val="FFFFFF"/>
                </a:solidFill>
                <a:latin typeface="Arial"/>
              </a:rPr>
              <a:t>Madurez CTI · las 3 etapas del shift</a:t>
            </a:r>
          </a:p>
        </p:txBody>
      </p:sp>
      <p:sp>
        <p:nvSpPr>
          <p:cNvPr id="5" name="TextBox 4"/>
          <p:cNvSpPr txBox="1"/>
          <p:nvPr/>
        </p:nvSpPr>
        <p:spPr>
          <a:xfrm>
            <a:off x="365760" y="868680"/>
            <a:ext cx="8412480" cy="365760"/>
          </a:xfrm>
          <a:prstGeom prst="rect">
            <a:avLst/>
          </a:prstGeom>
          <a:noFill/>
        </p:spPr>
        <p:txBody>
          <a:bodyPr wrap="square" lIns="25400" tIns="12700" rIns="25400" bIns="12700" anchor="t">
            <a:spAutoFit/>
          </a:bodyPr>
          <a:lstStyle/>
          <a:p>
            <a:pPr algn="l"/>
            <a:r>
              <a:rPr sz="1300" b="0" i="1" dirty="0" err="1">
                <a:solidFill>
                  <a:srgbClr val="525B66"/>
                </a:solidFill>
                <a:latin typeface="Arial"/>
              </a:rPr>
              <a:t>Desde</a:t>
            </a:r>
            <a:r>
              <a:rPr sz="1300" b="0" i="1" dirty="0">
                <a:solidFill>
                  <a:srgbClr val="525B66"/>
                </a:solidFill>
                <a:latin typeface="Arial"/>
              </a:rPr>
              <a:t> </a:t>
            </a:r>
            <a:r>
              <a:rPr sz="1300" b="0" i="1" dirty="0" err="1">
                <a:solidFill>
                  <a:srgbClr val="525B66"/>
                </a:solidFill>
                <a:latin typeface="Arial"/>
              </a:rPr>
              <a:t>el</a:t>
            </a:r>
            <a:r>
              <a:rPr sz="1300" b="0" i="1" dirty="0">
                <a:solidFill>
                  <a:srgbClr val="525B66"/>
                </a:solidFill>
                <a:latin typeface="Arial"/>
              </a:rPr>
              <a:t> </a:t>
            </a:r>
            <a:r>
              <a:rPr sz="1300" b="0" i="1" dirty="0" err="1">
                <a:solidFill>
                  <a:srgbClr val="525B66"/>
                </a:solidFill>
                <a:latin typeface="Arial"/>
              </a:rPr>
              <a:t>subtítulo</a:t>
            </a:r>
            <a:r>
              <a:rPr sz="1300" b="0" i="1" dirty="0">
                <a:solidFill>
                  <a:srgbClr val="525B66"/>
                </a:solidFill>
                <a:latin typeface="Arial"/>
              </a:rPr>
              <a:t> de la </a:t>
            </a:r>
            <a:r>
              <a:rPr sz="1300" b="0" i="1" dirty="0" err="1">
                <a:solidFill>
                  <a:srgbClr val="525B66"/>
                </a:solidFill>
                <a:latin typeface="Arial"/>
              </a:rPr>
              <a:t>charla</a:t>
            </a:r>
            <a:r>
              <a:rPr sz="1300" b="0" i="1" dirty="0">
                <a:solidFill>
                  <a:srgbClr val="525B66"/>
                </a:solidFill>
                <a:latin typeface="Arial"/>
              </a:rPr>
              <a:t>: </a:t>
            </a:r>
            <a:r>
              <a:rPr sz="1300" b="1" i="1" dirty="0">
                <a:solidFill>
                  <a:srgbClr val="1F2937"/>
                </a:solidFill>
                <a:latin typeface="Arial"/>
              </a:rPr>
              <a:t>"From Reactive to Predictive Approach".</a:t>
            </a:r>
            <a:r>
              <a:rPr sz="1300" b="0" i="1" dirty="0">
                <a:solidFill>
                  <a:srgbClr val="525B66"/>
                </a:solidFill>
                <a:latin typeface="Arial"/>
              </a:rPr>
              <a:t>  No es marketing — es </a:t>
            </a:r>
            <a:r>
              <a:rPr sz="1300" b="0" i="1" dirty="0" err="1">
                <a:solidFill>
                  <a:srgbClr val="525B66"/>
                </a:solidFill>
                <a:latin typeface="Arial"/>
              </a:rPr>
              <a:t>una</a:t>
            </a:r>
            <a:r>
              <a:rPr sz="1300" b="0" i="1" dirty="0">
                <a:solidFill>
                  <a:srgbClr val="525B66"/>
                </a:solidFill>
                <a:latin typeface="Arial"/>
              </a:rPr>
              <a:t> </a:t>
            </a:r>
            <a:r>
              <a:rPr sz="1300" b="0" i="1" dirty="0" err="1">
                <a:solidFill>
                  <a:srgbClr val="525B66"/>
                </a:solidFill>
                <a:latin typeface="Arial"/>
              </a:rPr>
              <a:t>ruta</a:t>
            </a:r>
            <a:r>
              <a:rPr sz="1300" b="0" i="1" dirty="0">
                <a:solidFill>
                  <a:srgbClr val="525B66"/>
                </a:solidFill>
                <a:latin typeface="Arial"/>
              </a:rPr>
              <a:t> de </a:t>
            </a:r>
            <a:r>
              <a:rPr sz="1300" b="0" i="1" dirty="0" err="1">
                <a:solidFill>
                  <a:srgbClr val="525B66"/>
                </a:solidFill>
                <a:latin typeface="Arial"/>
              </a:rPr>
              <a:t>madurez</a:t>
            </a:r>
            <a:r>
              <a:rPr sz="1300" b="0" i="1" dirty="0">
                <a:solidFill>
                  <a:srgbClr val="525B66"/>
                </a:solidFill>
                <a:latin typeface="Arial"/>
              </a:rPr>
              <a:t>.</a:t>
            </a:r>
          </a:p>
        </p:txBody>
      </p:sp>
      <p:sp>
        <p:nvSpPr>
          <p:cNvPr id="6" name="Rectangle 5"/>
          <p:cNvSpPr/>
          <p:nvPr/>
        </p:nvSpPr>
        <p:spPr>
          <a:xfrm>
            <a:off x="365760" y="1371600"/>
            <a:ext cx="2697480" cy="28346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71600"/>
            <a:ext cx="2697480" cy="5029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371600"/>
            <a:ext cx="2697480" cy="502920"/>
          </a:xfrm>
          <a:prstGeom prst="rect">
            <a:avLst/>
          </a:prstGeom>
          <a:noFill/>
        </p:spPr>
        <p:txBody>
          <a:bodyPr wrap="square" lIns="25400" tIns="12700" rIns="25400" bIns="12700" anchor="ctr">
            <a:spAutoFit/>
          </a:bodyPr>
          <a:lstStyle/>
          <a:p>
            <a:pPr algn="ctr"/>
            <a:r>
              <a:rPr sz="1500" b="1" i="0">
                <a:solidFill>
                  <a:srgbClr val="FFFFFF"/>
                </a:solidFill>
                <a:latin typeface="Arial"/>
              </a:rPr>
              <a:t>REACTIVO</a:t>
            </a:r>
          </a:p>
        </p:txBody>
      </p:sp>
      <p:sp>
        <p:nvSpPr>
          <p:cNvPr id="9" name="TextBox 8"/>
          <p:cNvSpPr txBox="1"/>
          <p:nvPr/>
        </p:nvSpPr>
        <p:spPr>
          <a:xfrm>
            <a:off x="548640" y="1965960"/>
            <a:ext cx="2331720" cy="320040"/>
          </a:xfrm>
          <a:prstGeom prst="rect">
            <a:avLst/>
          </a:prstGeom>
          <a:noFill/>
        </p:spPr>
        <p:txBody>
          <a:bodyPr wrap="square" lIns="25400" tIns="12700" rIns="25400" bIns="12700" anchor="t">
            <a:spAutoFit/>
          </a:bodyPr>
          <a:lstStyle/>
          <a:p>
            <a:pPr algn="l"/>
            <a:r>
              <a:rPr sz="1200" b="1" i="1">
                <a:solidFill>
                  <a:srgbClr val="1F2937"/>
                </a:solidFill>
                <a:latin typeface="Arial"/>
              </a:rPr>
              <a:t>Apago incendios.</a:t>
            </a:r>
          </a:p>
        </p:txBody>
      </p:sp>
      <p:sp>
        <p:nvSpPr>
          <p:cNvPr id="10" name="TextBox 9"/>
          <p:cNvSpPr txBox="1"/>
          <p:nvPr/>
        </p:nvSpPr>
        <p:spPr>
          <a:xfrm>
            <a:off x="548640" y="2377440"/>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TRIGGER</a:t>
            </a:r>
          </a:p>
        </p:txBody>
      </p:sp>
      <p:sp>
        <p:nvSpPr>
          <p:cNvPr id="11" name="TextBox 10"/>
          <p:cNvSpPr txBox="1"/>
          <p:nvPr/>
        </p:nvSpPr>
        <p:spPr>
          <a:xfrm>
            <a:off x="548640" y="2542032"/>
            <a:ext cx="2331720" cy="256032"/>
          </a:xfrm>
          <a:prstGeom prst="rect">
            <a:avLst/>
          </a:prstGeom>
          <a:noFill/>
        </p:spPr>
        <p:txBody>
          <a:bodyPr wrap="square" lIns="25400" tIns="12700" rIns="25400" bIns="12700" anchor="t">
            <a:spAutoFit/>
          </a:bodyPr>
          <a:lstStyle/>
          <a:p>
            <a:pPr algn="l"/>
            <a:r>
              <a:rPr sz="1000" b="0" i="0">
                <a:solidFill>
                  <a:srgbClr val="1F2937"/>
                </a:solidFill>
                <a:latin typeface="Arial"/>
              </a:rPr>
              <a:t>La alerta llegó al SIEM.</a:t>
            </a:r>
          </a:p>
        </p:txBody>
      </p:sp>
      <p:sp>
        <p:nvSpPr>
          <p:cNvPr id="12" name="TextBox 11"/>
          <p:cNvSpPr txBox="1"/>
          <p:nvPr/>
        </p:nvSpPr>
        <p:spPr>
          <a:xfrm>
            <a:off x="548640" y="2779776"/>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PREGUNTA</a:t>
            </a:r>
          </a:p>
        </p:txBody>
      </p:sp>
      <p:sp>
        <p:nvSpPr>
          <p:cNvPr id="13" name="TextBox 12"/>
          <p:cNvSpPr txBox="1"/>
          <p:nvPr/>
        </p:nvSpPr>
        <p:spPr>
          <a:xfrm>
            <a:off x="548640" y="2944368"/>
            <a:ext cx="2331720" cy="256032"/>
          </a:xfrm>
          <a:prstGeom prst="rect">
            <a:avLst/>
          </a:prstGeom>
          <a:noFill/>
        </p:spPr>
        <p:txBody>
          <a:bodyPr wrap="square" lIns="25400" tIns="12700" rIns="25400" bIns="12700" anchor="t">
            <a:spAutoFit/>
          </a:bodyPr>
          <a:lstStyle/>
          <a:p>
            <a:pPr algn="l"/>
            <a:r>
              <a:rPr sz="1000" b="0" i="0">
                <a:solidFill>
                  <a:srgbClr val="1F2937"/>
                </a:solidFill>
                <a:latin typeface="Arial"/>
              </a:rPr>
              <a:t>¿Qué pasó? ¿Cómo lo contenemos?</a:t>
            </a:r>
          </a:p>
        </p:txBody>
      </p:sp>
      <p:sp>
        <p:nvSpPr>
          <p:cNvPr id="14" name="TextBox 13"/>
          <p:cNvSpPr txBox="1"/>
          <p:nvPr/>
        </p:nvSpPr>
        <p:spPr>
          <a:xfrm>
            <a:off x="548640" y="3182112"/>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INDICADOR</a:t>
            </a:r>
          </a:p>
        </p:txBody>
      </p:sp>
      <p:sp>
        <p:nvSpPr>
          <p:cNvPr id="15" name="TextBox 14"/>
          <p:cNvSpPr txBox="1"/>
          <p:nvPr/>
        </p:nvSpPr>
        <p:spPr>
          <a:xfrm>
            <a:off x="548640" y="3346704"/>
            <a:ext cx="2331720" cy="256032"/>
          </a:xfrm>
          <a:prstGeom prst="rect">
            <a:avLst/>
          </a:prstGeom>
          <a:noFill/>
        </p:spPr>
        <p:txBody>
          <a:bodyPr wrap="square" lIns="25400" tIns="12700" rIns="25400" bIns="12700" anchor="t">
            <a:spAutoFit/>
          </a:bodyPr>
          <a:lstStyle/>
          <a:p>
            <a:pPr algn="l"/>
            <a:r>
              <a:rPr sz="1000" b="0" i="0">
                <a:solidFill>
                  <a:srgbClr val="1F2937"/>
                </a:solidFill>
                <a:latin typeface="Arial"/>
              </a:rPr>
              <a:t>Hashes · IPs · Dominios</a:t>
            </a:r>
          </a:p>
        </p:txBody>
      </p:sp>
      <p:sp>
        <p:nvSpPr>
          <p:cNvPr id="16" name="TextBox 15"/>
          <p:cNvSpPr txBox="1"/>
          <p:nvPr/>
        </p:nvSpPr>
        <p:spPr>
          <a:xfrm>
            <a:off x="548640" y="3584448"/>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MENTALIDAD</a:t>
            </a:r>
          </a:p>
        </p:txBody>
      </p:sp>
      <p:sp>
        <p:nvSpPr>
          <p:cNvPr id="17" name="TextBox 16"/>
          <p:cNvSpPr txBox="1"/>
          <p:nvPr/>
        </p:nvSpPr>
        <p:spPr>
          <a:xfrm>
            <a:off x="548640" y="3749039"/>
            <a:ext cx="2331720" cy="256032"/>
          </a:xfrm>
          <a:prstGeom prst="rect">
            <a:avLst/>
          </a:prstGeom>
          <a:noFill/>
        </p:spPr>
        <p:txBody>
          <a:bodyPr wrap="square" lIns="25400" tIns="12700" rIns="25400" bIns="12700" anchor="t">
            <a:spAutoFit/>
          </a:bodyPr>
          <a:lstStyle/>
          <a:p>
            <a:pPr algn="l"/>
            <a:r>
              <a:rPr sz="1000" b="0" i="0">
                <a:solidFill>
                  <a:srgbClr val="1F2937"/>
                </a:solidFill>
                <a:latin typeface="Arial"/>
              </a:rPr>
              <a:t>Forense post-mortem</a:t>
            </a:r>
          </a:p>
        </p:txBody>
      </p:sp>
      <p:sp>
        <p:nvSpPr>
          <p:cNvPr id="18" name="TextBox 17"/>
          <p:cNvSpPr txBox="1"/>
          <p:nvPr/>
        </p:nvSpPr>
        <p:spPr>
          <a:xfrm>
            <a:off x="548640" y="3986784"/>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MÉTRICA</a:t>
            </a:r>
          </a:p>
        </p:txBody>
      </p:sp>
      <p:sp>
        <p:nvSpPr>
          <p:cNvPr id="19" name="TextBox 18"/>
          <p:cNvSpPr txBox="1"/>
          <p:nvPr/>
        </p:nvSpPr>
        <p:spPr>
          <a:xfrm>
            <a:off x="548640" y="4151376"/>
            <a:ext cx="2331720" cy="256032"/>
          </a:xfrm>
          <a:prstGeom prst="rect">
            <a:avLst/>
          </a:prstGeom>
          <a:noFill/>
        </p:spPr>
        <p:txBody>
          <a:bodyPr wrap="square" lIns="25400" tIns="12700" rIns="25400" bIns="12700" anchor="t">
            <a:spAutoFit/>
          </a:bodyPr>
          <a:lstStyle/>
          <a:p>
            <a:pPr algn="l"/>
            <a:r>
              <a:rPr sz="1000" b="0" i="0">
                <a:solidFill>
                  <a:srgbClr val="1F2937"/>
                </a:solidFill>
                <a:latin typeface="Arial"/>
              </a:rPr>
              <a:t>MTTR (Mean Time To Respond)</a:t>
            </a:r>
          </a:p>
        </p:txBody>
      </p:sp>
      <p:sp>
        <p:nvSpPr>
          <p:cNvPr id="20" name="Rectangle 19"/>
          <p:cNvSpPr/>
          <p:nvPr/>
        </p:nvSpPr>
        <p:spPr>
          <a:xfrm>
            <a:off x="3154680" y="1371600"/>
            <a:ext cx="2697480" cy="28346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154680" y="1371600"/>
            <a:ext cx="2697480"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54680" y="1371600"/>
            <a:ext cx="2697480" cy="502920"/>
          </a:xfrm>
          <a:prstGeom prst="rect">
            <a:avLst/>
          </a:prstGeom>
          <a:noFill/>
        </p:spPr>
        <p:txBody>
          <a:bodyPr wrap="square" lIns="25400" tIns="12700" rIns="25400" bIns="12700" anchor="ctr">
            <a:spAutoFit/>
          </a:bodyPr>
          <a:lstStyle/>
          <a:p>
            <a:pPr algn="ctr"/>
            <a:r>
              <a:rPr sz="1500" b="1" i="0">
                <a:solidFill>
                  <a:srgbClr val="FFFFFF"/>
                </a:solidFill>
                <a:latin typeface="Arial"/>
              </a:rPr>
              <a:t>PROACTIVO</a:t>
            </a:r>
          </a:p>
        </p:txBody>
      </p:sp>
      <p:sp>
        <p:nvSpPr>
          <p:cNvPr id="23" name="TextBox 22"/>
          <p:cNvSpPr txBox="1"/>
          <p:nvPr/>
        </p:nvSpPr>
        <p:spPr>
          <a:xfrm>
            <a:off x="3337560" y="1965960"/>
            <a:ext cx="2331720" cy="320040"/>
          </a:xfrm>
          <a:prstGeom prst="rect">
            <a:avLst/>
          </a:prstGeom>
          <a:noFill/>
        </p:spPr>
        <p:txBody>
          <a:bodyPr wrap="square" lIns="25400" tIns="12700" rIns="25400" bIns="12700" anchor="t">
            <a:spAutoFit/>
          </a:bodyPr>
          <a:lstStyle/>
          <a:p>
            <a:pPr algn="l"/>
            <a:r>
              <a:rPr sz="1200" b="1" i="1">
                <a:solidFill>
                  <a:srgbClr val="F59E0B"/>
                </a:solidFill>
                <a:latin typeface="Arial"/>
              </a:rPr>
              <a:t>Cazo amenazas.</a:t>
            </a:r>
          </a:p>
        </p:txBody>
      </p:sp>
      <p:sp>
        <p:nvSpPr>
          <p:cNvPr id="24" name="TextBox 23"/>
          <p:cNvSpPr txBox="1"/>
          <p:nvPr/>
        </p:nvSpPr>
        <p:spPr>
          <a:xfrm>
            <a:off x="3337560" y="2377440"/>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TRIGGER</a:t>
            </a:r>
          </a:p>
        </p:txBody>
      </p:sp>
      <p:sp>
        <p:nvSpPr>
          <p:cNvPr id="25" name="TextBox 24"/>
          <p:cNvSpPr txBox="1"/>
          <p:nvPr/>
        </p:nvSpPr>
        <p:spPr>
          <a:xfrm>
            <a:off x="3337560" y="2542032"/>
            <a:ext cx="2331720" cy="256032"/>
          </a:xfrm>
          <a:prstGeom prst="rect">
            <a:avLst/>
          </a:prstGeom>
          <a:noFill/>
        </p:spPr>
        <p:txBody>
          <a:bodyPr wrap="square" lIns="25400" tIns="12700" rIns="25400" bIns="12700" anchor="t">
            <a:spAutoFit/>
          </a:bodyPr>
          <a:lstStyle/>
          <a:p>
            <a:pPr algn="l"/>
            <a:r>
              <a:rPr sz="1000" b="0" i="0">
                <a:solidFill>
                  <a:srgbClr val="1F2937"/>
                </a:solidFill>
                <a:latin typeface="Arial"/>
              </a:rPr>
              <a:t>Hipótesis del threat hunter.</a:t>
            </a:r>
          </a:p>
        </p:txBody>
      </p:sp>
      <p:sp>
        <p:nvSpPr>
          <p:cNvPr id="26" name="TextBox 25"/>
          <p:cNvSpPr txBox="1"/>
          <p:nvPr/>
        </p:nvSpPr>
        <p:spPr>
          <a:xfrm>
            <a:off x="3337560" y="2779776"/>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PREGUNTA</a:t>
            </a:r>
          </a:p>
        </p:txBody>
      </p:sp>
      <p:sp>
        <p:nvSpPr>
          <p:cNvPr id="27" name="TextBox 26"/>
          <p:cNvSpPr txBox="1"/>
          <p:nvPr/>
        </p:nvSpPr>
        <p:spPr>
          <a:xfrm>
            <a:off x="3337560" y="2944368"/>
            <a:ext cx="2331720" cy="256032"/>
          </a:xfrm>
          <a:prstGeom prst="rect">
            <a:avLst/>
          </a:prstGeom>
          <a:noFill/>
        </p:spPr>
        <p:txBody>
          <a:bodyPr wrap="square" lIns="25400" tIns="12700" rIns="25400" bIns="12700" anchor="t">
            <a:spAutoFit/>
          </a:bodyPr>
          <a:lstStyle/>
          <a:p>
            <a:pPr algn="l"/>
            <a:r>
              <a:rPr sz="1000" b="0" i="0">
                <a:solidFill>
                  <a:srgbClr val="1F2937"/>
                </a:solidFill>
                <a:latin typeface="Arial"/>
              </a:rPr>
              <a:t>¿Qué no estamos viendo?</a:t>
            </a:r>
          </a:p>
        </p:txBody>
      </p:sp>
      <p:sp>
        <p:nvSpPr>
          <p:cNvPr id="28" name="TextBox 27"/>
          <p:cNvSpPr txBox="1"/>
          <p:nvPr/>
        </p:nvSpPr>
        <p:spPr>
          <a:xfrm>
            <a:off x="3337560" y="3182112"/>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INDICADOR</a:t>
            </a:r>
          </a:p>
        </p:txBody>
      </p:sp>
      <p:sp>
        <p:nvSpPr>
          <p:cNvPr id="29" name="TextBox 28"/>
          <p:cNvSpPr txBox="1"/>
          <p:nvPr/>
        </p:nvSpPr>
        <p:spPr>
          <a:xfrm>
            <a:off x="3337560" y="3346704"/>
            <a:ext cx="2331720" cy="256032"/>
          </a:xfrm>
          <a:prstGeom prst="rect">
            <a:avLst/>
          </a:prstGeom>
          <a:noFill/>
        </p:spPr>
        <p:txBody>
          <a:bodyPr wrap="square" lIns="25400" tIns="12700" rIns="25400" bIns="12700" anchor="t">
            <a:spAutoFit/>
          </a:bodyPr>
          <a:lstStyle/>
          <a:p>
            <a:pPr algn="l"/>
            <a:r>
              <a:rPr sz="1000" b="0" i="0">
                <a:solidFill>
                  <a:srgbClr val="1F2937"/>
                </a:solidFill>
                <a:latin typeface="Arial"/>
              </a:rPr>
              <a:t>TTPs · comportamientos</a:t>
            </a:r>
          </a:p>
        </p:txBody>
      </p:sp>
      <p:sp>
        <p:nvSpPr>
          <p:cNvPr id="30" name="TextBox 29"/>
          <p:cNvSpPr txBox="1"/>
          <p:nvPr/>
        </p:nvSpPr>
        <p:spPr>
          <a:xfrm>
            <a:off x="3337560" y="3584448"/>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MENTALIDAD</a:t>
            </a:r>
          </a:p>
        </p:txBody>
      </p:sp>
      <p:sp>
        <p:nvSpPr>
          <p:cNvPr id="31" name="TextBox 30"/>
          <p:cNvSpPr txBox="1"/>
          <p:nvPr/>
        </p:nvSpPr>
        <p:spPr>
          <a:xfrm>
            <a:off x="3337560" y="3749039"/>
            <a:ext cx="2331720" cy="256032"/>
          </a:xfrm>
          <a:prstGeom prst="rect">
            <a:avLst/>
          </a:prstGeom>
          <a:noFill/>
        </p:spPr>
        <p:txBody>
          <a:bodyPr wrap="square" lIns="25400" tIns="12700" rIns="25400" bIns="12700" anchor="t">
            <a:spAutoFit/>
          </a:bodyPr>
          <a:lstStyle/>
          <a:p>
            <a:pPr algn="l"/>
            <a:r>
              <a:rPr sz="1000" b="0" i="0">
                <a:solidFill>
                  <a:srgbClr val="1F2937"/>
                </a:solidFill>
                <a:latin typeface="Arial"/>
              </a:rPr>
              <a:t>Hipótesis-driven</a:t>
            </a:r>
          </a:p>
        </p:txBody>
      </p:sp>
      <p:sp>
        <p:nvSpPr>
          <p:cNvPr id="32" name="TextBox 31"/>
          <p:cNvSpPr txBox="1"/>
          <p:nvPr/>
        </p:nvSpPr>
        <p:spPr>
          <a:xfrm>
            <a:off x="3337560" y="3986784"/>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MÉTRICA</a:t>
            </a:r>
          </a:p>
        </p:txBody>
      </p:sp>
      <p:sp>
        <p:nvSpPr>
          <p:cNvPr id="33" name="TextBox 32"/>
          <p:cNvSpPr txBox="1"/>
          <p:nvPr/>
        </p:nvSpPr>
        <p:spPr>
          <a:xfrm>
            <a:off x="3337560" y="4151376"/>
            <a:ext cx="2331720" cy="256032"/>
          </a:xfrm>
          <a:prstGeom prst="rect">
            <a:avLst/>
          </a:prstGeom>
          <a:noFill/>
        </p:spPr>
        <p:txBody>
          <a:bodyPr wrap="square" lIns="25400" tIns="12700" rIns="25400" bIns="12700" anchor="t">
            <a:spAutoFit/>
          </a:bodyPr>
          <a:lstStyle/>
          <a:p>
            <a:pPr algn="l"/>
            <a:r>
              <a:rPr sz="1000" b="0" i="0" dirty="0" err="1">
                <a:solidFill>
                  <a:srgbClr val="1F2937"/>
                </a:solidFill>
                <a:latin typeface="Arial"/>
              </a:rPr>
              <a:t>Cobertura</a:t>
            </a:r>
            <a:r>
              <a:rPr sz="1000" b="0" i="0" dirty="0">
                <a:solidFill>
                  <a:srgbClr val="1F2937"/>
                </a:solidFill>
                <a:latin typeface="Arial"/>
              </a:rPr>
              <a:t> de </a:t>
            </a:r>
            <a:r>
              <a:rPr sz="1000" b="0" i="0" dirty="0" err="1">
                <a:solidFill>
                  <a:srgbClr val="1F2937"/>
                </a:solidFill>
                <a:latin typeface="Arial"/>
              </a:rPr>
              <a:t>detección</a:t>
            </a:r>
            <a:r>
              <a:rPr sz="1000" b="0" i="0" dirty="0">
                <a:solidFill>
                  <a:srgbClr val="1F2937"/>
                </a:solidFill>
                <a:latin typeface="Arial"/>
              </a:rPr>
              <a:t> (ATT&amp;CK)</a:t>
            </a:r>
          </a:p>
        </p:txBody>
      </p:sp>
      <p:sp>
        <p:nvSpPr>
          <p:cNvPr id="34" name="Rectangle 33"/>
          <p:cNvSpPr/>
          <p:nvPr/>
        </p:nvSpPr>
        <p:spPr>
          <a:xfrm>
            <a:off x="5943600" y="1371600"/>
            <a:ext cx="2697480" cy="28346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943600" y="1371600"/>
            <a:ext cx="2697480" cy="50292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43600" y="1371600"/>
            <a:ext cx="2697480" cy="502920"/>
          </a:xfrm>
          <a:prstGeom prst="rect">
            <a:avLst/>
          </a:prstGeom>
          <a:noFill/>
        </p:spPr>
        <p:txBody>
          <a:bodyPr wrap="square" lIns="25400" tIns="12700" rIns="25400" bIns="12700" anchor="ctr">
            <a:spAutoFit/>
          </a:bodyPr>
          <a:lstStyle/>
          <a:p>
            <a:pPr algn="ctr"/>
            <a:r>
              <a:rPr sz="1500" b="1" i="0">
                <a:solidFill>
                  <a:srgbClr val="FFFFFF"/>
                </a:solidFill>
                <a:latin typeface="Arial"/>
              </a:rPr>
              <a:t>PREDICTIVO</a:t>
            </a:r>
          </a:p>
        </p:txBody>
      </p:sp>
      <p:sp>
        <p:nvSpPr>
          <p:cNvPr id="37" name="TextBox 36"/>
          <p:cNvSpPr txBox="1"/>
          <p:nvPr/>
        </p:nvSpPr>
        <p:spPr>
          <a:xfrm>
            <a:off x="6126480" y="1965960"/>
            <a:ext cx="2331720" cy="320040"/>
          </a:xfrm>
          <a:prstGeom prst="rect">
            <a:avLst/>
          </a:prstGeom>
          <a:noFill/>
        </p:spPr>
        <p:txBody>
          <a:bodyPr wrap="square" lIns="25400" tIns="12700" rIns="25400" bIns="12700" anchor="t">
            <a:spAutoFit/>
          </a:bodyPr>
          <a:lstStyle/>
          <a:p>
            <a:pPr algn="l"/>
            <a:r>
              <a:rPr sz="1200" b="1" i="1">
                <a:solidFill>
                  <a:srgbClr val="E41A52"/>
                </a:solidFill>
                <a:latin typeface="Arial"/>
              </a:rPr>
              <a:t>Anticipo movimientos.</a:t>
            </a:r>
          </a:p>
        </p:txBody>
      </p:sp>
      <p:sp>
        <p:nvSpPr>
          <p:cNvPr id="38" name="TextBox 37"/>
          <p:cNvSpPr txBox="1"/>
          <p:nvPr/>
        </p:nvSpPr>
        <p:spPr>
          <a:xfrm>
            <a:off x="6126480" y="2377440"/>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TRIGGER</a:t>
            </a:r>
          </a:p>
        </p:txBody>
      </p:sp>
      <p:sp>
        <p:nvSpPr>
          <p:cNvPr id="39" name="TextBox 38"/>
          <p:cNvSpPr txBox="1"/>
          <p:nvPr/>
        </p:nvSpPr>
        <p:spPr>
          <a:xfrm>
            <a:off x="6126480" y="2542032"/>
            <a:ext cx="2331720" cy="256032"/>
          </a:xfrm>
          <a:prstGeom prst="rect">
            <a:avLst/>
          </a:prstGeom>
          <a:noFill/>
        </p:spPr>
        <p:txBody>
          <a:bodyPr wrap="square" lIns="25400" tIns="12700" rIns="25400" bIns="12700" anchor="t">
            <a:spAutoFit/>
          </a:bodyPr>
          <a:lstStyle/>
          <a:p>
            <a:pPr algn="l"/>
            <a:r>
              <a:rPr sz="1000" b="0" i="0">
                <a:solidFill>
                  <a:srgbClr val="1F2937"/>
                </a:solidFill>
                <a:latin typeface="Arial"/>
              </a:rPr>
              <a:t>PIRs + inteligencia estratégica.</a:t>
            </a:r>
          </a:p>
        </p:txBody>
      </p:sp>
      <p:sp>
        <p:nvSpPr>
          <p:cNvPr id="40" name="TextBox 39"/>
          <p:cNvSpPr txBox="1"/>
          <p:nvPr/>
        </p:nvSpPr>
        <p:spPr>
          <a:xfrm>
            <a:off x="6126480" y="2779776"/>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PREGUNTA</a:t>
            </a:r>
          </a:p>
        </p:txBody>
      </p:sp>
      <p:sp>
        <p:nvSpPr>
          <p:cNvPr id="41" name="TextBox 40"/>
          <p:cNvSpPr txBox="1"/>
          <p:nvPr/>
        </p:nvSpPr>
        <p:spPr>
          <a:xfrm>
            <a:off x="6126480" y="2944368"/>
            <a:ext cx="2331720" cy="256032"/>
          </a:xfrm>
          <a:prstGeom prst="rect">
            <a:avLst/>
          </a:prstGeom>
          <a:noFill/>
        </p:spPr>
        <p:txBody>
          <a:bodyPr wrap="square" lIns="25400" tIns="12700" rIns="25400" bIns="12700" anchor="t">
            <a:spAutoFit/>
          </a:bodyPr>
          <a:lstStyle/>
          <a:p>
            <a:pPr algn="l"/>
            <a:r>
              <a:rPr sz="1000" b="0" i="0" dirty="0">
                <a:solidFill>
                  <a:srgbClr val="1F2937"/>
                </a:solidFill>
                <a:latin typeface="Arial"/>
              </a:rPr>
              <a:t>¿</a:t>
            </a:r>
            <a:r>
              <a:rPr sz="1000" b="0" i="0" dirty="0" err="1">
                <a:solidFill>
                  <a:srgbClr val="1F2937"/>
                </a:solidFill>
                <a:latin typeface="Arial"/>
              </a:rPr>
              <a:t>Qué</a:t>
            </a:r>
            <a:r>
              <a:rPr sz="1000" b="0" i="0" dirty="0">
                <a:solidFill>
                  <a:srgbClr val="1F2937"/>
                </a:solidFill>
                <a:latin typeface="Arial"/>
              </a:rPr>
              <a:t> </a:t>
            </a:r>
            <a:r>
              <a:rPr sz="1000" b="0" i="0" dirty="0" err="1">
                <a:solidFill>
                  <a:srgbClr val="1F2937"/>
                </a:solidFill>
                <a:latin typeface="Arial"/>
              </a:rPr>
              <a:t>va</a:t>
            </a:r>
            <a:r>
              <a:rPr sz="1000" b="0" i="0" dirty="0">
                <a:solidFill>
                  <a:srgbClr val="1F2937"/>
                </a:solidFill>
                <a:latin typeface="Arial"/>
              </a:rPr>
              <a:t> a </a:t>
            </a:r>
            <a:r>
              <a:rPr sz="1000" b="0" i="0" dirty="0" err="1">
                <a:solidFill>
                  <a:srgbClr val="1F2937"/>
                </a:solidFill>
                <a:latin typeface="Arial"/>
              </a:rPr>
              <a:t>pasarnos</a:t>
            </a:r>
            <a:r>
              <a:rPr sz="1000" b="0" i="0" dirty="0">
                <a:solidFill>
                  <a:srgbClr val="1F2937"/>
                </a:solidFill>
                <a:latin typeface="Arial"/>
              </a:rPr>
              <a:t> </a:t>
            </a:r>
            <a:r>
              <a:rPr sz="1000" b="0" i="0" dirty="0" err="1">
                <a:solidFill>
                  <a:srgbClr val="1F2937"/>
                </a:solidFill>
                <a:latin typeface="Arial"/>
              </a:rPr>
              <a:t>en</a:t>
            </a:r>
            <a:r>
              <a:rPr sz="1000" b="0" i="0" dirty="0">
                <a:solidFill>
                  <a:srgbClr val="1F2937"/>
                </a:solidFill>
                <a:latin typeface="Arial"/>
              </a:rPr>
              <a:t> 30/60/90 días?</a:t>
            </a:r>
          </a:p>
        </p:txBody>
      </p:sp>
      <p:sp>
        <p:nvSpPr>
          <p:cNvPr id="42" name="TextBox 41"/>
          <p:cNvSpPr txBox="1"/>
          <p:nvPr/>
        </p:nvSpPr>
        <p:spPr>
          <a:xfrm>
            <a:off x="6126480" y="3182112"/>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INDICADOR</a:t>
            </a:r>
          </a:p>
        </p:txBody>
      </p:sp>
      <p:sp>
        <p:nvSpPr>
          <p:cNvPr id="43" name="TextBox 42"/>
          <p:cNvSpPr txBox="1"/>
          <p:nvPr/>
        </p:nvSpPr>
        <p:spPr>
          <a:xfrm>
            <a:off x="6126480" y="3346704"/>
            <a:ext cx="2331720" cy="256032"/>
          </a:xfrm>
          <a:prstGeom prst="rect">
            <a:avLst/>
          </a:prstGeom>
          <a:noFill/>
        </p:spPr>
        <p:txBody>
          <a:bodyPr wrap="square" lIns="25400" tIns="12700" rIns="25400" bIns="12700" anchor="t">
            <a:spAutoFit/>
          </a:bodyPr>
          <a:lstStyle/>
          <a:p>
            <a:pPr algn="l"/>
            <a:r>
              <a:rPr sz="1000" b="0" i="0">
                <a:solidFill>
                  <a:srgbClr val="1F2937"/>
                </a:solidFill>
                <a:latin typeface="Arial"/>
              </a:rPr>
              <a:t>Campañas · actores · geopolítica</a:t>
            </a:r>
          </a:p>
        </p:txBody>
      </p:sp>
      <p:sp>
        <p:nvSpPr>
          <p:cNvPr id="44" name="TextBox 43"/>
          <p:cNvSpPr txBox="1"/>
          <p:nvPr/>
        </p:nvSpPr>
        <p:spPr>
          <a:xfrm>
            <a:off x="6126480" y="3584448"/>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MENTALIDAD</a:t>
            </a:r>
          </a:p>
        </p:txBody>
      </p:sp>
      <p:sp>
        <p:nvSpPr>
          <p:cNvPr id="45" name="TextBox 44"/>
          <p:cNvSpPr txBox="1"/>
          <p:nvPr/>
        </p:nvSpPr>
        <p:spPr>
          <a:xfrm>
            <a:off x="6126480" y="3749039"/>
            <a:ext cx="2331720" cy="256032"/>
          </a:xfrm>
          <a:prstGeom prst="rect">
            <a:avLst/>
          </a:prstGeom>
          <a:noFill/>
        </p:spPr>
        <p:txBody>
          <a:bodyPr wrap="square" lIns="25400" tIns="12700" rIns="25400" bIns="12700" anchor="t">
            <a:spAutoFit/>
          </a:bodyPr>
          <a:lstStyle/>
          <a:p>
            <a:pPr algn="l"/>
            <a:r>
              <a:rPr sz="1000" b="0" i="0">
                <a:solidFill>
                  <a:srgbClr val="1F2937"/>
                </a:solidFill>
                <a:latin typeface="Arial"/>
              </a:rPr>
              <a:t>Anticipatory · F3EAD</a:t>
            </a:r>
          </a:p>
        </p:txBody>
      </p:sp>
      <p:sp>
        <p:nvSpPr>
          <p:cNvPr id="46" name="TextBox 45"/>
          <p:cNvSpPr txBox="1"/>
          <p:nvPr/>
        </p:nvSpPr>
        <p:spPr>
          <a:xfrm>
            <a:off x="6126480" y="3986784"/>
            <a:ext cx="2331720" cy="182880"/>
          </a:xfrm>
          <a:prstGeom prst="rect">
            <a:avLst/>
          </a:prstGeom>
          <a:noFill/>
        </p:spPr>
        <p:txBody>
          <a:bodyPr wrap="square" lIns="25400" tIns="12700" rIns="25400" bIns="12700" anchor="t">
            <a:spAutoFit/>
          </a:bodyPr>
          <a:lstStyle/>
          <a:p>
            <a:pPr algn="l"/>
            <a:r>
              <a:rPr sz="800" b="1" i="0">
                <a:solidFill>
                  <a:srgbClr val="525B66"/>
                </a:solidFill>
                <a:latin typeface="Arial"/>
              </a:rPr>
              <a:t>MÉTRICA</a:t>
            </a:r>
          </a:p>
        </p:txBody>
      </p:sp>
      <p:sp>
        <p:nvSpPr>
          <p:cNvPr id="47" name="TextBox 46"/>
          <p:cNvSpPr txBox="1"/>
          <p:nvPr/>
        </p:nvSpPr>
        <p:spPr>
          <a:xfrm>
            <a:off x="6126480" y="4151376"/>
            <a:ext cx="2331720" cy="256032"/>
          </a:xfrm>
          <a:prstGeom prst="rect">
            <a:avLst/>
          </a:prstGeom>
          <a:noFill/>
        </p:spPr>
        <p:txBody>
          <a:bodyPr wrap="square" lIns="25400" tIns="12700" rIns="25400" bIns="12700" anchor="t">
            <a:spAutoFit/>
          </a:bodyPr>
          <a:lstStyle/>
          <a:p>
            <a:pPr algn="l"/>
            <a:r>
              <a:rPr sz="1000" b="0" i="0">
                <a:solidFill>
                  <a:srgbClr val="1F2937"/>
                </a:solidFill>
                <a:latin typeface="Arial"/>
              </a:rPr>
              <a:t>Tiempo a la decisión defensiva</a:t>
            </a:r>
          </a:p>
        </p:txBody>
      </p:sp>
      <p:sp>
        <p:nvSpPr>
          <p:cNvPr id="48" name="Rectangle 47"/>
          <p:cNvSpPr/>
          <p:nvPr/>
        </p:nvSpPr>
        <p:spPr>
          <a:xfrm>
            <a:off x="365760" y="4434840"/>
            <a:ext cx="8412480" cy="292608"/>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65760" y="4434840"/>
            <a:ext cx="8412480" cy="292608"/>
          </a:xfrm>
          <a:prstGeom prst="rect">
            <a:avLst/>
          </a:prstGeom>
          <a:noFill/>
        </p:spPr>
        <p:txBody>
          <a:bodyPr wrap="square" lIns="25400" tIns="12700" rIns="25400" bIns="12700" anchor="ctr">
            <a:spAutoFit/>
          </a:bodyPr>
          <a:lstStyle/>
          <a:p>
            <a:pPr algn="ctr"/>
            <a:r>
              <a:rPr sz="1100" b="1" i="1">
                <a:solidFill>
                  <a:srgbClr val="FFFFFF"/>
                </a:solidFill>
                <a:latin typeface="Arial"/>
              </a:rPr>
              <a:t>Pasar de Reactivo a Predictivo no se compra — se construye etapa por etapa.</a:t>
            </a:r>
          </a:p>
        </p:txBody>
      </p:sp>
      <p:sp>
        <p:nvSpPr>
          <p:cNvPr id="51" name="TextBox 50"/>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26 / 38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0" y="4818888"/>
            <a:ext cx="868680" cy="274320"/>
          </a:xfrm>
          <a:prstGeom prst="rect">
            <a:avLst/>
          </a:prstGeom>
          <a:noFill/>
        </p:spPr>
        <p:txBody>
          <a:bodyPr wrap="square" lIns="0" tIns="0" rIns="0" bIns="0" anchor="t">
            <a:spAutoFit/>
          </a:bodyPr>
          <a:lstStyle/>
          <a:p>
            <a:pPr algn="r"/>
            <a:r>
              <a:rPr sz="800" b="0">
                <a:solidFill>
                  <a:srgbClr val="525B66"/>
                </a:solidFill>
                <a:latin typeface="Arial"/>
              </a:rPr>
              <a:t>27 / 38</a:t>
            </a:r>
          </a:p>
        </p:txBody>
      </p:sp>
      <p:sp>
        <p:nvSpPr>
          <p:cNvPr id="5" name="TextBox 4"/>
          <p:cNvSpPr txBox="1"/>
          <p:nvPr/>
        </p:nvSpPr>
        <p:spPr>
          <a:xfrm>
            <a:off x="365760" y="146304"/>
            <a:ext cx="8412480" cy="420624"/>
          </a:xfrm>
          <a:prstGeom prst="rect">
            <a:avLst/>
          </a:prstGeom>
          <a:noFill/>
        </p:spPr>
        <p:txBody>
          <a:bodyPr wrap="square" lIns="0" tIns="0" rIns="0" bIns="0" anchor="ctr">
            <a:spAutoFit/>
          </a:bodyPr>
          <a:lstStyle/>
          <a:p>
            <a:pPr algn="l"/>
            <a:r>
              <a:rPr sz="2000" b="1">
                <a:solidFill>
                  <a:srgbClr val="FFFFFF"/>
                </a:solidFill>
                <a:latin typeface="Arial"/>
              </a:rPr>
              <a:t>Por qué la TI tradicional se queda corta</a:t>
            </a:r>
          </a:p>
        </p:txBody>
      </p:sp>
      <p:sp>
        <p:nvSpPr>
          <p:cNvPr id="6" name="TextBox 5"/>
          <p:cNvSpPr txBox="1"/>
          <p:nvPr/>
        </p:nvSpPr>
        <p:spPr>
          <a:xfrm>
            <a:off x="365760" y="822960"/>
            <a:ext cx="8412480" cy="365760"/>
          </a:xfrm>
          <a:prstGeom prst="rect">
            <a:avLst/>
          </a:prstGeom>
          <a:noFill/>
        </p:spPr>
        <p:txBody>
          <a:bodyPr wrap="square" lIns="0" tIns="0" rIns="0" bIns="0" anchor="t">
            <a:spAutoFit/>
          </a:bodyPr>
          <a:lstStyle/>
          <a:p>
            <a:pPr algn="l"/>
            <a:r>
              <a:rPr sz="1200" b="0">
                <a:solidFill>
                  <a:srgbClr val="525B66"/>
                </a:solidFill>
                <a:latin typeface="Arial"/>
              </a:rPr>
              <a:t>Asume que la inteligencia llega antes del ataque. En la práctica, casi nunca pasa.</a:t>
            </a:r>
          </a:p>
        </p:txBody>
      </p:sp>
      <p:sp>
        <p:nvSpPr>
          <p:cNvPr id="7" name="Rectangle 6"/>
          <p:cNvSpPr/>
          <p:nvPr/>
        </p:nvSpPr>
        <p:spPr>
          <a:xfrm>
            <a:off x="365760" y="1371600"/>
            <a:ext cx="4160520" cy="3108960"/>
          </a:xfrm>
          <a:prstGeom prst="rect">
            <a:avLst/>
          </a:prstGeom>
          <a:solidFill>
            <a:srgbClr val="FFFFFF"/>
          </a:solidFill>
          <a:ln w="63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371600"/>
            <a:ext cx="91440" cy="310896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481328"/>
            <a:ext cx="3840480" cy="292608"/>
          </a:xfrm>
          <a:prstGeom prst="rect">
            <a:avLst/>
          </a:prstGeom>
          <a:noFill/>
        </p:spPr>
        <p:txBody>
          <a:bodyPr wrap="square" lIns="0" tIns="0" rIns="0" bIns="0" anchor="t">
            <a:spAutoFit/>
          </a:bodyPr>
          <a:lstStyle/>
          <a:p>
            <a:pPr algn="l"/>
            <a:r>
              <a:rPr sz="1300" b="1">
                <a:solidFill>
                  <a:srgbClr val="1F2937"/>
                </a:solidFill>
                <a:latin typeface="Arial"/>
              </a:rPr>
              <a:t>TI TRADICIONAL</a:t>
            </a:r>
          </a:p>
        </p:txBody>
      </p:sp>
      <p:sp>
        <p:nvSpPr>
          <p:cNvPr id="10" name="TextBox 9"/>
          <p:cNvSpPr txBox="1"/>
          <p:nvPr/>
        </p:nvSpPr>
        <p:spPr>
          <a:xfrm>
            <a:off x="594360" y="1755648"/>
            <a:ext cx="3840480" cy="256032"/>
          </a:xfrm>
          <a:prstGeom prst="rect">
            <a:avLst/>
          </a:prstGeom>
          <a:noFill/>
        </p:spPr>
        <p:txBody>
          <a:bodyPr wrap="square" lIns="0" tIns="0" rIns="0" bIns="0" anchor="t">
            <a:spAutoFit/>
          </a:bodyPr>
          <a:lstStyle/>
          <a:p>
            <a:pPr algn="l"/>
            <a:r>
              <a:rPr sz="900" b="0">
                <a:solidFill>
                  <a:srgbClr val="B2163F"/>
                </a:solidFill>
                <a:latin typeface="Arial"/>
              </a:rPr>
              <a:t>Reactiva · post-mortem · histórica</a:t>
            </a:r>
          </a:p>
        </p:txBody>
      </p:sp>
      <p:sp>
        <p:nvSpPr>
          <p:cNvPr id="11" name="TextBox 10"/>
          <p:cNvSpPr txBox="1"/>
          <p:nvPr/>
        </p:nvSpPr>
        <p:spPr>
          <a:xfrm>
            <a:off x="640080" y="2148840"/>
            <a:ext cx="3794759" cy="365760"/>
          </a:xfrm>
          <a:prstGeom prst="rect">
            <a:avLst/>
          </a:prstGeom>
          <a:noFill/>
        </p:spPr>
        <p:txBody>
          <a:bodyPr wrap="square" lIns="0" tIns="0" rIns="0" bIns="0" anchor="t">
            <a:spAutoFit/>
          </a:bodyPr>
          <a:lstStyle/>
          <a:p>
            <a:pPr algn="l"/>
            <a:r>
              <a:rPr sz="1000" b="0">
                <a:solidFill>
                  <a:srgbClr val="1F2937"/>
                </a:solidFill>
                <a:latin typeface="Arial"/>
              </a:rPr>
              <a:t>•  Asume que la inteligencia llega antes del ataque</a:t>
            </a:r>
          </a:p>
        </p:txBody>
      </p:sp>
      <p:sp>
        <p:nvSpPr>
          <p:cNvPr id="12" name="TextBox 11"/>
          <p:cNvSpPr txBox="1"/>
          <p:nvPr/>
        </p:nvSpPr>
        <p:spPr>
          <a:xfrm>
            <a:off x="640080" y="2560320"/>
            <a:ext cx="3794759" cy="365760"/>
          </a:xfrm>
          <a:prstGeom prst="rect">
            <a:avLst/>
          </a:prstGeom>
          <a:noFill/>
        </p:spPr>
        <p:txBody>
          <a:bodyPr wrap="square" lIns="0" tIns="0" rIns="0" bIns="0" anchor="t">
            <a:spAutoFit/>
          </a:bodyPr>
          <a:lstStyle/>
          <a:p>
            <a:pPr algn="l"/>
            <a:r>
              <a:rPr sz="1000" b="0">
                <a:solidFill>
                  <a:srgbClr val="1F2937"/>
                </a:solidFill>
                <a:latin typeface="Arial"/>
              </a:rPr>
              <a:t>•  CVSS dice cuán mala podría ser. EPSS dice cuán probable es que la exploten esta semana.</a:t>
            </a:r>
          </a:p>
        </p:txBody>
      </p:sp>
      <p:sp>
        <p:nvSpPr>
          <p:cNvPr id="13" name="TextBox 12"/>
          <p:cNvSpPr txBox="1"/>
          <p:nvPr/>
        </p:nvSpPr>
        <p:spPr>
          <a:xfrm>
            <a:off x="640080" y="2971800"/>
            <a:ext cx="3794759" cy="365760"/>
          </a:xfrm>
          <a:prstGeom prst="rect">
            <a:avLst/>
          </a:prstGeom>
          <a:noFill/>
        </p:spPr>
        <p:txBody>
          <a:bodyPr wrap="square" lIns="0" tIns="0" rIns="0" bIns="0" anchor="t">
            <a:spAutoFit/>
          </a:bodyPr>
          <a:lstStyle/>
          <a:p>
            <a:pPr algn="l"/>
            <a:r>
              <a:rPr sz="1000" b="0">
                <a:solidFill>
                  <a:srgbClr val="1F2937"/>
                </a:solidFill>
                <a:latin typeface="Arial"/>
              </a:rPr>
              <a:t>•  IOCs históricos: ya pasó</a:t>
            </a:r>
          </a:p>
        </p:txBody>
      </p:sp>
      <p:sp>
        <p:nvSpPr>
          <p:cNvPr id="14" name="TextBox 13"/>
          <p:cNvSpPr txBox="1"/>
          <p:nvPr/>
        </p:nvSpPr>
        <p:spPr>
          <a:xfrm>
            <a:off x="640080" y="3383280"/>
            <a:ext cx="3794759" cy="365760"/>
          </a:xfrm>
          <a:prstGeom prst="rect">
            <a:avLst/>
          </a:prstGeom>
          <a:noFill/>
        </p:spPr>
        <p:txBody>
          <a:bodyPr wrap="square" lIns="0" tIns="0" rIns="0" bIns="0" anchor="t">
            <a:spAutoFit/>
          </a:bodyPr>
          <a:lstStyle/>
          <a:p>
            <a:pPr algn="l"/>
            <a:r>
              <a:rPr sz="1000" b="0">
                <a:solidFill>
                  <a:srgbClr val="1F2937"/>
                </a:solidFill>
                <a:latin typeface="Arial"/>
              </a:rPr>
              <a:t>•  Reformula disclosures públicos de terceros</a:t>
            </a:r>
          </a:p>
        </p:txBody>
      </p:sp>
      <p:sp>
        <p:nvSpPr>
          <p:cNvPr id="15" name="TextBox 14"/>
          <p:cNvSpPr txBox="1"/>
          <p:nvPr/>
        </p:nvSpPr>
        <p:spPr>
          <a:xfrm>
            <a:off x="640080" y="3794760"/>
            <a:ext cx="3794759" cy="365760"/>
          </a:xfrm>
          <a:prstGeom prst="rect">
            <a:avLst/>
          </a:prstGeom>
          <a:noFill/>
        </p:spPr>
        <p:txBody>
          <a:bodyPr wrap="square" lIns="0" tIns="0" rIns="0" bIns="0" anchor="t">
            <a:spAutoFit/>
          </a:bodyPr>
          <a:lstStyle/>
          <a:p>
            <a:pPr algn="l"/>
            <a:r>
              <a:rPr sz="1000" b="0">
                <a:solidFill>
                  <a:srgbClr val="1F2937"/>
                </a:solidFill>
                <a:latin typeface="Arial"/>
              </a:rPr>
              <a:t>•  Equipos ahogados en alertas que no responden el ¿nos afecta hoy?</a:t>
            </a:r>
          </a:p>
        </p:txBody>
      </p:sp>
      <p:sp>
        <p:nvSpPr>
          <p:cNvPr id="16" name="Rectangle 15"/>
          <p:cNvSpPr/>
          <p:nvPr/>
        </p:nvSpPr>
        <p:spPr>
          <a:xfrm>
            <a:off x="4617720" y="1371600"/>
            <a:ext cx="4160520" cy="3108960"/>
          </a:xfrm>
          <a:prstGeom prst="rect">
            <a:avLst/>
          </a:prstGeom>
          <a:solidFill>
            <a:srgbClr val="FFFFFF"/>
          </a:solidFill>
          <a:ln w="63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617720" y="1371600"/>
            <a:ext cx="91440" cy="310896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46320" y="1481328"/>
            <a:ext cx="3840480" cy="292608"/>
          </a:xfrm>
          <a:prstGeom prst="rect">
            <a:avLst/>
          </a:prstGeom>
          <a:noFill/>
        </p:spPr>
        <p:txBody>
          <a:bodyPr wrap="square" lIns="0" tIns="0" rIns="0" bIns="0" anchor="t">
            <a:spAutoFit/>
          </a:bodyPr>
          <a:lstStyle/>
          <a:p>
            <a:pPr algn="l"/>
            <a:r>
              <a:rPr sz="1300" b="1">
                <a:solidFill>
                  <a:srgbClr val="1F2937"/>
                </a:solidFill>
                <a:latin typeface="Arial"/>
              </a:rPr>
              <a:t>MUNDO REAL</a:t>
            </a:r>
          </a:p>
        </p:txBody>
      </p:sp>
      <p:sp>
        <p:nvSpPr>
          <p:cNvPr id="19" name="TextBox 18"/>
          <p:cNvSpPr txBox="1"/>
          <p:nvPr/>
        </p:nvSpPr>
        <p:spPr>
          <a:xfrm>
            <a:off x="4846320" y="1755648"/>
            <a:ext cx="3840480" cy="256032"/>
          </a:xfrm>
          <a:prstGeom prst="rect">
            <a:avLst/>
          </a:prstGeom>
          <a:noFill/>
        </p:spPr>
        <p:txBody>
          <a:bodyPr wrap="square" lIns="0" tIns="0" rIns="0" bIns="0" anchor="t">
            <a:spAutoFit/>
          </a:bodyPr>
          <a:lstStyle/>
          <a:p>
            <a:pPr algn="l"/>
            <a:r>
              <a:rPr sz="900" b="0">
                <a:solidFill>
                  <a:srgbClr val="E41A52"/>
                </a:solidFill>
                <a:latin typeface="Arial"/>
              </a:rPr>
              <a:t>Weaponization en horas · escaneo en minutos</a:t>
            </a:r>
          </a:p>
        </p:txBody>
      </p:sp>
      <p:sp>
        <p:nvSpPr>
          <p:cNvPr id="20" name="TextBox 19"/>
          <p:cNvSpPr txBox="1"/>
          <p:nvPr/>
        </p:nvSpPr>
        <p:spPr>
          <a:xfrm>
            <a:off x="4892040" y="2148840"/>
            <a:ext cx="3794759" cy="365760"/>
          </a:xfrm>
          <a:prstGeom prst="rect">
            <a:avLst/>
          </a:prstGeom>
          <a:noFill/>
        </p:spPr>
        <p:txBody>
          <a:bodyPr wrap="square" lIns="0" tIns="0" rIns="0" bIns="0" anchor="t">
            <a:spAutoFit/>
          </a:bodyPr>
          <a:lstStyle/>
          <a:p>
            <a:pPr algn="l"/>
            <a:r>
              <a:rPr sz="1000" b="0">
                <a:solidFill>
                  <a:srgbClr val="1F2937"/>
                </a:solidFill>
                <a:latin typeface="Arial"/>
              </a:rPr>
              <a:t>•  Plazos de explotación en horas tras disclosure</a:t>
            </a:r>
          </a:p>
        </p:txBody>
      </p:sp>
      <p:sp>
        <p:nvSpPr>
          <p:cNvPr id="21" name="TextBox 20"/>
          <p:cNvSpPr txBox="1"/>
          <p:nvPr/>
        </p:nvSpPr>
        <p:spPr>
          <a:xfrm>
            <a:off x="4892040" y="2560320"/>
            <a:ext cx="3794759" cy="365760"/>
          </a:xfrm>
          <a:prstGeom prst="rect">
            <a:avLst/>
          </a:prstGeom>
          <a:noFill/>
        </p:spPr>
        <p:txBody>
          <a:bodyPr wrap="square" lIns="0" tIns="0" rIns="0" bIns="0" anchor="t">
            <a:spAutoFit/>
          </a:bodyPr>
          <a:lstStyle/>
          <a:p>
            <a:pPr algn="l"/>
            <a:r>
              <a:rPr sz="1000" b="0">
                <a:solidFill>
                  <a:srgbClr val="1F2937"/>
                </a:solidFill>
                <a:latin typeface="Arial"/>
              </a:rPr>
              <a:t>•  PoC público acelera la weaponization</a:t>
            </a:r>
          </a:p>
        </p:txBody>
      </p:sp>
      <p:sp>
        <p:nvSpPr>
          <p:cNvPr id="22" name="TextBox 21"/>
          <p:cNvSpPr txBox="1"/>
          <p:nvPr/>
        </p:nvSpPr>
        <p:spPr>
          <a:xfrm>
            <a:off x="4892040" y="2971800"/>
            <a:ext cx="3794759" cy="365760"/>
          </a:xfrm>
          <a:prstGeom prst="rect">
            <a:avLst/>
          </a:prstGeom>
          <a:noFill/>
        </p:spPr>
        <p:txBody>
          <a:bodyPr wrap="square" lIns="0" tIns="0" rIns="0" bIns="0" anchor="t">
            <a:spAutoFit/>
          </a:bodyPr>
          <a:lstStyle/>
          <a:p>
            <a:pPr algn="l"/>
            <a:r>
              <a:rPr sz="1000" b="0">
                <a:solidFill>
                  <a:srgbClr val="1F2937"/>
                </a:solidFill>
                <a:latin typeface="Arial"/>
              </a:rPr>
              <a:t>•  Internet entero escaneado en minutos</a:t>
            </a:r>
          </a:p>
        </p:txBody>
      </p:sp>
      <p:sp>
        <p:nvSpPr>
          <p:cNvPr id="23" name="TextBox 22"/>
          <p:cNvSpPr txBox="1"/>
          <p:nvPr/>
        </p:nvSpPr>
        <p:spPr>
          <a:xfrm>
            <a:off x="4892040" y="3383280"/>
            <a:ext cx="3794759" cy="365760"/>
          </a:xfrm>
          <a:prstGeom prst="rect">
            <a:avLst/>
          </a:prstGeom>
          <a:noFill/>
        </p:spPr>
        <p:txBody>
          <a:bodyPr wrap="square" lIns="0" tIns="0" rIns="0" bIns="0" anchor="t">
            <a:spAutoFit/>
          </a:bodyPr>
          <a:lstStyle/>
          <a:p>
            <a:pPr algn="l"/>
            <a:r>
              <a:rPr sz="1000" b="0">
                <a:solidFill>
                  <a:srgbClr val="1F2937"/>
                </a:solidFill>
                <a:latin typeface="Arial"/>
              </a:rPr>
              <a:t>•  Atacantes chainan vulns + creds + misconfigs</a:t>
            </a:r>
          </a:p>
        </p:txBody>
      </p:sp>
      <p:sp>
        <p:nvSpPr>
          <p:cNvPr id="24" name="TextBox 23"/>
          <p:cNvSpPr txBox="1"/>
          <p:nvPr/>
        </p:nvSpPr>
        <p:spPr>
          <a:xfrm>
            <a:off x="4892040" y="3794760"/>
            <a:ext cx="3794759" cy="365760"/>
          </a:xfrm>
          <a:prstGeom prst="rect">
            <a:avLst/>
          </a:prstGeom>
          <a:noFill/>
        </p:spPr>
        <p:txBody>
          <a:bodyPr wrap="square" lIns="0" tIns="0" rIns="0" bIns="0" anchor="t">
            <a:spAutoFit/>
          </a:bodyPr>
          <a:lstStyle/>
          <a:p>
            <a:pPr algn="l"/>
            <a:r>
              <a:rPr sz="1000" b="0">
                <a:solidFill>
                  <a:srgbClr val="1F2937"/>
                </a:solidFill>
                <a:latin typeface="Arial"/>
              </a:rPr>
              <a:t>•  Vuln 7.0 explotada activamente; 9.8 puede no usarse</a:t>
            </a:r>
          </a:p>
        </p:txBody>
      </p:sp>
      <p:sp>
        <p:nvSpPr>
          <p:cNvPr id="25" name="Rectangle 24"/>
          <p:cNvSpPr/>
          <p:nvPr/>
        </p:nvSpPr>
        <p:spPr>
          <a:xfrm>
            <a:off x="365760" y="4572000"/>
            <a:ext cx="8412480" cy="18288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4572000"/>
            <a:ext cx="8412480" cy="182880"/>
          </a:xfrm>
          <a:prstGeom prst="rect">
            <a:avLst/>
          </a:prstGeom>
          <a:noFill/>
        </p:spPr>
        <p:txBody>
          <a:bodyPr wrap="square" lIns="0" tIns="0" rIns="0" bIns="0" anchor="ctr">
            <a:spAutoFit/>
          </a:bodyPr>
          <a:lstStyle/>
          <a:p>
            <a:pPr algn="ctr"/>
            <a:r>
              <a:rPr sz="1000" b="1">
                <a:solidFill>
                  <a:srgbClr val="FFFFFF"/>
                </a:solidFill>
                <a:latin typeface="Arial"/>
              </a:rPr>
              <a:t>La severidad externa decía 7.0. La interna era 11.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18872"/>
            <a:ext cx="8412480" cy="365760"/>
          </a:xfrm>
          <a:prstGeom prst="rect">
            <a:avLst/>
          </a:prstGeom>
          <a:noFill/>
        </p:spPr>
        <p:txBody>
          <a:bodyPr wrap="square" lIns="45720" tIns="18288" rIns="45720" bIns="18288" anchor="t">
            <a:spAutoFit/>
          </a:bodyPr>
          <a:lstStyle/>
          <a:p>
            <a:pPr algn="l"/>
            <a:r>
              <a:rPr sz="2200" b="1">
                <a:solidFill>
                  <a:srgbClr val="FFFFFF"/>
                </a:solidFill>
                <a:latin typeface="Arial"/>
              </a:rPr>
              <a:t>¿Cómo medís que CTI funciona?</a:t>
            </a:r>
          </a:p>
        </p:txBody>
      </p:sp>
      <p:sp>
        <p:nvSpPr>
          <p:cNvPr id="5" name="TextBox 4"/>
          <p:cNvSpPr txBox="1"/>
          <p:nvPr/>
        </p:nvSpPr>
        <p:spPr>
          <a:xfrm>
            <a:off x="365760" y="420624"/>
            <a:ext cx="8412480" cy="274320"/>
          </a:xfrm>
          <a:prstGeom prst="rect">
            <a:avLst/>
          </a:prstGeom>
          <a:noFill/>
        </p:spPr>
        <p:txBody>
          <a:bodyPr wrap="square" lIns="45720" tIns="18288" rIns="45720" bIns="18288" anchor="t">
            <a:spAutoFit/>
          </a:bodyPr>
          <a:lstStyle/>
          <a:p>
            <a:pPr algn="l"/>
            <a:r>
              <a:rPr sz="1200" b="0">
                <a:solidFill>
                  <a:srgbClr val="FFFFFF"/>
                </a:solidFill>
                <a:latin typeface="Arial"/>
              </a:rPr>
              <a:t>Cuatro métricas que le hablan al CISO, no al SOC.</a:t>
            </a:r>
          </a:p>
        </p:txBody>
      </p:sp>
      <p:sp>
        <p:nvSpPr>
          <p:cNvPr id="6" name="Rectangle 5"/>
          <p:cNvSpPr/>
          <p:nvPr/>
        </p:nvSpPr>
        <p:spPr>
          <a:xfrm>
            <a:off x="251460" y="960120"/>
            <a:ext cx="2057400" cy="338328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1460" y="960120"/>
            <a:ext cx="2057400" cy="5029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1460" y="960120"/>
            <a:ext cx="2057400" cy="502920"/>
          </a:xfrm>
          <a:prstGeom prst="rect">
            <a:avLst/>
          </a:prstGeom>
          <a:noFill/>
        </p:spPr>
        <p:txBody>
          <a:bodyPr wrap="square" lIns="45720" tIns="18288" rIns="45720" bIns="18288" anchor="ctr">
            <a:spAutoFit/>
          </a:bodyPr>
          <a:lstStyle/>
          <a:p>
            <a:pPr algn="ctr"/>
            <a:r>
              <a:rPr sz="1400" b="1">
                <a:solidFill>
                  <a:srgbClr val="FFFFFF"/>
                </a:solidFill>
                <a:latin typeface="Arial"/>
              </a:rPr>
              <a:t>TTPS</a:t>
            </a:r>
          </a:p>
        </p:txBody>
      </p:sp>
      <p:sp>
        <p:nvSpPr>
          <p:cNvPr id="9" name="TextBox 8"/>
          <p:cNvSpPr txBox="1"/>
          <p:nvPr/>
        </p:nvSpPr>
        <p:spPr>
          <a:xfrm>
            <a:off x="342900" y="1600200"/>
            <a:ext cx="1874519" cy="914400"/>
          </a:xfrm>
          <a:prstGeom prst="rect">
            <a:avLst/>
          </a:prstGeom>
          <a:noFill/>
        </p:spPr>
        <p:txBody>
          <a:bodyPr wrap="square" lIns="45720" tIns="18288" rIns="45720" bIns="18288" anchor="t">
            <a:spAutoFit/>
          </a:bodyPr>
          <a:lstStyle/>
          <a:p>
            <a:pPr algn="ctr"/>
            <a:r>
              <a:rPr sz="1300" b="1">
                <a:solidFill>
                  <a:srgbClr val="E41A52"/>
                </a:solidFill>
                <a:latin typeface="Arial"/>
              </a:rPr>
              <a:t>Time to detect</a:t>
            </a:r>
          </a:p>
          <a:p>
            <a:pPr algn="ctr"/>
            <a:r>
              <a:rPr sz="1300" b="1">
                <a:solidFill>
                  <a:srgbClr val="E41A52"/>
                </a:solidFill>
                <a:latin typeface="Arial"/>
              </a:rPr>
              <a:t>TTP shift</a:t>
            </a:r>
          </a:p>
        </p:txBody>
      </p:sp>
      <p:sp>
        <p:nvSpPr>
          <p:cNvPr id="10" name="TextBox 9"/>
          <p:cNvSpPr txBox="1"/>
          <p:nvPr/>
        </p:nvSpPr>
        <p:spPr>
          <a:xfrm>
            <a:off x="388620" y="2651760"/>
            <a:ext cx="1783080" cy="1600200"/>
          </a:xfrm>
          <a:prstGeom prst="rect">
            <a:avLst/>
          </a:prstGeom>
          <a:noFill/>
        </p:spPr>
        <p:txBody>
          <a:bodyPr wrap="square" lIns="45720" tIns="18288" rIns="45720" bIns="18288" anchor="t">
            <a:spAutoFit/>
          </a:bodyPr>
          <a:lstStyle/>
          <a:p>
            <a:pPr algn="l"/>
            <a:r>
              <a:rPr sz="1000" b="0" dirty="0">
                <a:solidFill>
                  <a:srgbClr val="1F2937"/>
                </a:solidFill>
                <a:latin typeface="Arial"/>
              </a:rPr>
              <a:t>Días entre </a:t>
            </a:r>
            <a:r>
              <a:rPr sz="1000" b="0" dirty="0" err="1">
                <a:solidFill>
                  <a:srgbClr val="1F2937"/>
                </a:solidFill>
                <a:latin typeface="Arial"/>
              </a:rPr>
              <a:t>que</a:t>
            </a:r>
            <a:r>
              <a:rPr sz="1000" b="0" dirty="0">
                <a:solidFill>
                  <a:srgbClr val="1F2937"/>
                </a:solidFill>
                <a:latin typeface="Arial"/>
              </a:rPr>
              <a:t> </a:t>
            </a:r>
            <a:r>
              <a:rPr sz="1000" b="0" dirty="0" err="1">
                <a:solidFill>
                  <a:srgbClr val="1F2937"/>
                </a:solidFill>
                <a:latin typeface="Arial"/>
              </a:rPr>
              <a:t>el</a:t>
            </a:r>
            <a:r>
              <a:rPr sz="1000" b="0" dirty="0">
                <a:solidFill>
                  <a:srgbClr val="1F2937"/>
                </a:solidFill>
                <a:latin typeface="Arial"/>
              </a:rPr>
              <a:t> </a:t>
            </a:r>
            <a:r>
              <a:rPr sz="1000" b="0" dirty="0" err="1">
                <a:solidFill>
                  <a:srgbClr val="1F2937"/>
                </a:solidFill>
                <a:latin typeface="Arial"/>
              </a:rPr>
              <a:t>adversario</a:t>
            </a:r>
            <a:r>
              <a:rPr sz="1000" b="0" dirty="0">
                <a:solidFill>
                  <a:srgbClr val="1F2937"/>
                </a:solidFill>
                <a:latin typeface="Arial"/>
              </a:rPr>
              <a:t> cambia </a:t>
            </a:r>
            <a:r>
              <a:rPr sz="1000" b="0" dirty="0" err="1">
                <a:solidFill>
                  <a:srgbClr val="1F2937"/>
                </a:solidFill>
                <a:latin typeface="Arial"/>
              </a:rPr>
              <a:t>técnica</a:t>
            </a:r>
            <a:r>
              <a:rPr sz="1000" b="0" dirty="0">
                <a:solidFill>
                  <a:srgbClr val="1F2937"/>
                </a:solidFill>
                <a:latin typeface="Arial"/>
              </a:rPr>
              <a:t> y </a:t>
            </a:r>
            <a:r>
              <a:rPr sz="1000" b="0" dirty="0" err="1">
                <a:solidFill>
                  <a:srgbClr val="1F2937"/>
                </a:solidFill>
                <a:latin typeface="Arial"/>
              </a:rPr>
              <a:t>vos</a:t>
            </a:r>
            <a:r>
              <a:rPr sz="1000" b="0" dirty="0">
                <a:solidFill>
                  <a:srgbClr val="1F2937"/>
                </a:solidFill>
                <a:latin typeface="Arial"/>
              </a:rPr>
              <a:t> lo </a:t>
            </a:r>
            <a:r>
              <a:rPr sz="1000" b="0" dirty="0" err="1">
                <a:solidFill>
                  <a:srgbClr val="1F2937"/>
                </a:solidFill>
                <a:latin typeface="Arial"/>
              </a:rPr>
              <a:t>detectás</a:t>
            </a:r>
            <a:r>
              <a:rPr sz="1000" b="0" dirty="0">
                <a:solidFill>
                  <a:srgbClr val="1F2937"/>
                </a:solidFill>
                <a:latin typeface="Arial"/>
              </a:rPr>
              <a:t>. </a:t>
            </a:r>
            <a:r>
              <a:rPr sz="1000" b="0" dirty="0" err="1">
                <a:solidFill>
                  <a:srgbClr val="1F2937"/>
                </a:solidFill>
                <a:latin typeface="Arial"/>
              </a:rPr>
              <a:t>Idealmente</a:t>
            </a:r>
            <a:r>
              <a:rPr sz="1000" b="0" dirty="0">
                <a:solidFill>
                  <a:srgbClr val="1F2937"/>
                </a:solidFill>
                <a:latin typeface="Arial"/>
              </a:rPr>
              <a:t>, </a:t>
            </a:r>
            <a:r>
              <a:rPr sz="1000" b="0" dirty="0" err="1">
                <a:solidFill>
                  <a:srgbClr val="1F2937"/>
                </a:solidFill>
                <a:latin typeface="Arial"/>
              </a:rPr>
              <a:t>semanas</a:t>
            </a:r>
            <a:r>
              <a:rPr sz="1000" b="0" dirty="0">
                <a:solidFill>
                  <a:srgbClr val="1F2937"/>
                </a:solidFill>
                <a:latin typeface="Arial"/>
              </a:rPr>
              <a:t>, no meses.</a:t>
            </a:r>
          </a:p>
        </p:txBody>
      </p:sp>
      <p:sp>
        <p:nvSpPr>
          <p:cNvPr id="11" name="Rectangle 10"/>
          <p:cNvSpPr/>
          <p:nvPr/>
        </p:nvSpPr>
        <p:spPr>
          <a:xfrm>
            <a:off x="2446020" y="960120"/>
            <a:ext cx="2057400" cy="338328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446020" y="960120"/>
            <a:ext cx="2057400" cy="5029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46020" y="960120"/>
            <a:ext cx="2057400" cy="502920"/>
          </a:xfrm>
          <a:prstGeom prst="rect">
            <a:avLst/>
          </a:prstGeom>
          <a:noFill/>
        </p:spPr>
        <p:txBody>
          <a:bodyPr wrap="square" lIns="45720" tIns="18288" rIns="45720" bIns="18288" anchor="ctr">
            <a:spAutoFit/>
          </a:bodyPr>
          <a:lstStyle/>
          <a:p>
            <a:pPr algn="ctr"/>
            <a:r>
              <a:rPr sz="1400" b="1">
                <a:solidFill>
                  <a:srgbClr val="FFFFFF"/>
                </a:solidFill>
                <a:latin typeface="Arial"/>
              </a:rPr>
              <a:t>PIR</a:t>
            </a:r>
          </a:p>
        </p:txBody>
      </p:sp>
      <p:sp>
        <p:nvSpPr>
          <p:cNvPr id="14" name="TextBox 13"/>
          <p:cNvSpPr txBox="1"/>
          <p:nvPr/>
        </p:nvSpPr>
        <p:spPr>
          <a:xfrm>
            <a:off x="2537460" y="1600200"/>
            <a:ext cx="1874519" cy="914400"/>
          </a:xfrm>
          <a:prstGeom prst="rect">
            <a:avLst/>
          </a:prstGeom>
          <a:noFill/>
        </p:spPr>
        <p:txBody>
          <a:bodyPr wrap="square" lIns="45720" tIns="18288" rIns="45720" bIns="18288" anchor="t">
            <a:spAutoFit/>
          </a:bodyPr>
          <a:lstStyle/>
          <a:p>
            <a:pPr algn="ctr"/>
            <a:r>
              <a:rPr sz="1300" b="1">
                <a:solidFill>
                  <a:srgbClr val="E41A52"/>
                </a:solidFill>
                <a:latin typeface="Arial"/>
              </a:rPr>
              <a:t>% PIRs</a:t>
            </a:r>
          </a:p>
          <a:p>
            <a:pPr algn="ctr"/>
            <a:r>
              <a:rPr sz="1300" b="1">
                <a:solidFill>
                  <a:srgbClr val="E41A52"/>
                </a:solidFill>
                <a:latin typeface="Arial"/>
              </a:rPr>
              <a:t>respondidos en SLA</a:t>
            </a:r>
          </a:p>
        </p:txBody>
      </p:sp>
      <p:sp>
        <p:nvSpPr>
          <p:cNvPr id="15" name="TextBox 14"/>
          <p:cNvSpPr txBox="1"/>
          <p:nvPr/>
        </p:nvSpPr>
        <p:spPr>
          <a:xfrm>
            <a:off x="2583179" y="2651760"/>
            <a:ext cx="1783080" cy="1600200"/>
          </a:xfrm>
          <a:prstGeom prst="rect">
            <a:avLst/>
          </a:prstGeom>
          <a:noFill/>
        </p:spPr>
        <p:txBody>
          <a:bodyPr wrap="square" lIns="45720" tIns="18288" rIns="45720" bIns="18288" anchor="t">
            <a:spAutoFit/>
          </a:bodyPr>
          <a:lstStyle/>
          <a:p>
            <a:pPr algn="l"/>
            <a:r>
              <a:rPr sz="1000" b="0">
                <a:solidFill>
                  <a:srgbClr val="1F2937"/>
                </a:solidFill>
                <a:latin typeface="Arial"/>
              </a:rPr>
              <a:t>Preguntas del decisor cerradas a tiempo. Si está abajo del 80%, CTI no está siendo CTI.</a:t>
            </a:r>
          </a:p>
        </p:txBody>
      </p:sp>
      <p:sp>
        <p:nvSpPr>
          <p:cNvPr id="16" name="Rectangle 15"/>
          <p:cNvSpPr/>
          <p:nvPr/>
        </p:nvSpPr>
        <p:spPr>
          <a:xfrm>
            <a:off x="4640580" y="960120"/>
            <a:ext cx="2057400" cy="338328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640580" y="960120"/>
            <a:ext cx="2057400" cy="5029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40580" y="960120"/>
            <a:ext cx="2057400" cy="502920"/>
          </a:xfrm>
          <a:prstGeom prst="rect">
            <a:avLst/>
          </a:prstGeom>
          <a:noFill/>
        </p:spPr>
        <p:txBody>
          <a:bodyPr wrap="square" lIns="45720" tIns="18288" rIns="45720" bIns="18288" anchor="ctr">
            <a:spAutoFit/>
          </a:bodyPr>
          <a:lstStyle/>
          <a:p>
            <a:pPr algn="ctr"/>
            <a:r>
              <a:rPr sz="1400" b="1">
                <a:solidFill>
                  <a:srgbClr val="FFFFFF"/>
                </a:solidFill>
                <a:latin typeface="Arial"/>
              </a:rPr>
              <a:t>DEC</a:t>
            </a:r>
          </a:p>
        </p:txBody>
      </p:sp>
      <p:sp>
        <p:nvSpPr>
          <p:cNvPr id="19" name="TextBox 18"/>
          <p:cNvSpPr txBox="1"/>
          <p:nvPr/>
        </p:nvSpPr>
        <p:spPr>
          <a:xfrm>
            <a:off x="4732020" y="1600200"/>
            <a:ext cx="1874519" cy="914400"/>
          </a:xfrm>
          <a:prstGeom prst="rect">
            <a:avLst/>
          </a:prstGeom>
          <a:noFill/>
        </p:spPr>
        <p:txBody>
          <a:bodyPr wrap="square" lIns="45720" tIns="18288" rIns="45720" bIns="18288" anchor="t">
            <a:spAutoFit/>
          </a:bodyPr>
          <a:lstStyle/>
          <a:p>
            <a:pPr algn="ctr"/>
            <a:r>
              <a:rPr sz="1300" b="1">
                <a:solidFill>
                  <a:srgbClr val="E41A52"/>
                </a:solidFill>
                <a:latin typeface="Arial"/>
              </a:rPr>
              <a:t>Decisiones cambiadas</a:t>
            </a:r>
          </a:p>
          <a:p>
            <a:pPr algn="ctr"/>
            <a:r>
              <a:rPr sz="1300" b="1">
                <a:solidFill>
                  <a:srgbClr val="E41A52"/>
                </a:solidFill>
                <a:latin typeface="Arial"/>
              </a:rPr>
              <a:t>por CTI</a:t>
            </a:r>
          </a:p>
        </p:txBody>
      </p:sp>
      <p:sp>
        <p:nvSpPr>
          <p:cNvPr id="20" name="TextBox 19"/>
          <p:cNvSpPr txBox="1"/>
          <p:nvPr/>
        </p:nvSpPr>
        <p:spPr>
          <a:xfrm>
            <a:off x="4777740" y="2651760"/>
            <a:ext cx="1783080" cy="1600200"/>
          </a:xfrm>
          <a:prstGeom prst="rect">
            <a:avLst/>
          </a:prstGeom>
          <a:noFill/>
        </p:spPr>
        <p:txBody>
          <a:bodyPr wrap="square" lIns="45720" tIns="18288" rIns="45720" bIns="18288" anchor="t">
            <a:spAutoFit/>
          </a:bodyPr>
          <a:lstStyle/>
          <a:p>
            <a:pPr algn="l"/>
            <a:r>
              <a:rPr sz="1000" b="0">
                <a:solidFill>
                  <a:srgbClr val="1F2937"/>
                </a:solidFill>
                <a:latin typeface="Arial"/>
              </a:rPr>
              <a:t>Reportes que dispararon acción concreta: parchar, bloquear, contratar, escalar al board.</a:t>
            </a:r>
          </a:p>
        </p:txBody>
      </p:sp>
      <p:sp>
        <p:nvSpPr>
          <p:cNvPr id="21" name="Rectangle 20"/>
          <p:cNvSpPr/>
          <p:nvPr/>
        </p:nvSpPr>
        <p:spPr>
          <a:xfrm>
            <a:off x="6835140" y="960120"/>
            <a:ext cx="2057400" cy="338328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835140" y="960120"/>
            <a:ext cx="2057400" cy="5029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35140" y="960120"/>
            <a:ext cx="2057400" cy="502920"/>
          </a:xfrm>
          <a:prstGeom prst="rect">
            <a:avLst/>
          </a:prstGeom>
          <a:noFill/>
        </p:spPr>
        <p:txBody>
          <a:bodyPr wrap="square" lIns="45720" tIns="18288" rIns="45720" bIns="18288" anchor="ctr">
            <a:spAutoFit/>
          </a:bodyPr>
          <a:lstStyle/>
          <a:p>
            <a:pPr algn="ctr"/>
            <a:r>
              <a:rPr sz="1400" b="1">
                <a:solidFill>
                  <a:srgbClr val="FFFFFF"/>
                </a:solidFill>
                <a:latin typeface="Arial"/>
              </a:rPr>
              <a:t>COV</a:t>
            </a:r>
          </a:p>
        </p:txBody>
      </p:sp>
      <p:sp>
        <p:nvSpPr>
          <p:cNvPr id="24" name="TextBox 23"/>
          <p:cNvSpPr txBox="1"/>
          <p:nvPr/>
        </p:nvSpPr>
        <p:spPr>
          <a:xfrm>
            <a:off x="6926579" y="1600200"/>
            <a:ext cx="1874519" cy="914400"/>
          </a:xfrm>
          <a:prstGeom prst="rect">
            <a:avLst/>
          </a:prstGeom>
          <a:noFill/>
        </p:spPr>
        <p:txBody>
          <a:bodyPr wrap="square" lIns="45720" tIns="18288" rIns="45720" bIns="18288" anchor="t">
            <a:spAutoFit/>
          </a:bodyPr>
          <a:lstStyle/>
          <a:p>
            <a:pPr algn="ctr"/>
            <a:r>
              <a:rPr sz="1300" b="1">
                <a:solidFill>
                  <a:srgbClr val="E41A52"/>
                </a:solidFill>
                <a:latin typeface="Arial"/>
              </a:rPr>
              <a:t>Cobertura ATT&amp;CK</a:t>
            </a:r>
          </a:p>
          <a:p>
            <a:pPr algn="ctr"/>
            <a:r>
              <a:rPr sz="1300" b="1">
                <a:solidFill>
                  <a:srgbClr val="E41A52"/>
                </a:solidFill>
                <a:latin typeface="Arial"/>
              </a:rPr>
              <a:t>activos críticos</a:t>
            </a:r>
          </a:p>
        </p:txBody>
      </p:sp>
      <p:sp>
        <p:nvSpPr>
          <p:cNvPr id="25" name="TextBox 24"/>
          <p:cNvSpPr txBox="1"/>
          <p:nvPr/>
        </p:nvSpPr>
        <p:spPr>
          <a:xfrm>
            <a:off x="6972300" y="2651760"/>
            <a:ext cx="1783080" cy="1600200"/>
          </a:xfrm>
          <a:prstGeom prst="rect">
            <a:avLst/>
          </a:prstGeom>
          <a:noFill/>
        </p:spPr>
        <p:txBody>
          <a:bodyPr wrap="square" lIns="45720" tIns="18288" rIns="45720" bIns="18288" anchor="t">
            <a:spAutoFit/>
          </a:bodyPr>
          <a:lstStyle/>
          <a:p>
            <a:pPr algn="l"/>
            <a:r>
              <a:rPr sz="1000" b="0">
                <a:solidFill>
                  <a:srgbClr val="1F2937"/>
                </a:solidFill>
                <a:latin typeface="Arial"/>
              </a:rPr>
              <a:t>% de técnicas con detección o prevención sobre las crown jewels. No sobre toda la matriz.</a:t>
            </a:r>
          </a:p>
        </p:txBody>
      </p:sp>
      <p:sp>
        <p:nvSpPr>
          <p:cNvPr id="26" name="Rectangle 25"/>
          <p:cNvSpPr/>
          <p:nvPr/>
        </p:nvSpPr>
        <p:spPr>
          <a:xfrm>
            <a:off x="365760" y="4480560"/>
            <a:ext cx="8412480" cy="292608"/>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4523759"/>
            <a:ext cx="8412480" cy="206210"/>
          </a:xfrm>
          <a:prstGeom prst="rect">
            <a:avLst/>
          </a:prstGeom>
          <a:noFill/>
        </p:spPr>
        <p:txBody>
          <a:bodyPr wrap="square" lIns="45720" tIns="18288" rIns="45720" bIns="18288" anchor="ctr">
            <a:spAutoFit/>
          </a:bodyPr>
          <a:lstStyle/>
          <a:p>
            <a:pPr algn="ctr"/>
            <a:r>
              <a:rPr lang="en-US" sz="1100" b="1" dirty="0">
                <a:solidFill>
                  <a:srgbClr val="FFFFFF"/>
                </a:solidFill>
                <a:latin typeface="Arial"/>
              </a:rPr>
              <a:t>CTI </a:t>
            </a:r>
            <a:r>
              <a:rPr lang="en-US" sz="1100" b="1" dirty="0" err="1">
                <a:solidFill>
                  <a:srgbClr val="FFFFFF"/>
                </a:solidFill>
                <a:latin typeface="Arial"/>
              </a:rPr>
              <a:t>debe</a:t>
            </a:r>
            <a:r>
              <a:rPr lang="en-US" sz="1100" b="1" dirty="0">
                <a:solidFill>
                  <a:srgbClr val="FFFFFF"/>
                </a:solidFill>
                <a:latin typeface="Arial"/>
              </a:rPr>
              <a:t> </a:t>
            </a:r>
            <a:r>
              <a:rPr lang="en-US" sz="1100" b="1" dirty="0" err="1">
                <a:solidFill>
                  <a:srgbClr val="FFFFFF"/>
                </a:solidFill>
                <a:latin typeface="Arial"/>
              </a:rPr>
              <a:t>poder</a:t>
            </a:r>
            <a:r>
              <a:rPr lang="en-US" sz="1100" b="1" dirty="0">
                <a:solidFill>
                  <a:srgbClr val="FFFFFF"/>
                </a:solidFill>
                <a:latin typeface="Arial"/>
              </a:rPr>
              <a:t> </a:t>
            </a:r>
            <a:r>
              <a:rPr lang="en-US" sz="1100" b="1" dirty="0" err="1">
                <a:solidFill>
                  <a:srgbClr val="FFFFFF"/>
                </a:solidFill>
                <a:latin typeface="Arial"/>
              </a:rPr>
              <a:t>cambiar</a:t>
            </a:r>
            <a:r>
              <a:rPr lang="en-US" sz="1100" b="1" dirty="0">
                <a:solidFill>
                  <a:srgbClr val="FFFFFF"/>
                </a:solidFill>
                <a:latin typeface="Arial"/>
              </a:rPr>
              <a:t> </a:t>
            </a:r>
            <a:r>
              <a:rPr lang="en-US" sz="1100" b="1" dirty="0" err="1">
                <a:solidFill>
                  <a:srgbClr val="FFFFFF"/>
                </a:solidFill>
                <a:latin typeface="Arial"/>
              </a:rPr>
              <a:t>reglas</a:t>
            </a:r>
            <a:r>
              <a:rPr lang="en-US" sz="1100" b="1" dirty="0">
                <a:solidFill>
                  <a:srgbClr val="FFFFFF"/>
                </a:solidFill>
                <a:latin typeface="Arial"/>
              </a:rPr>
              <a:t> de </a:t>
            </a:r>
            <a:r>
              <a:rPr lang="en-US" sz="1100" b="1" dirty="0" err="1">
                <a:solidFill>
                  <a:srgbClr val="FFFFFF"/>
                </a:solidFill>
                <a:latin typeface="Arial"/>
              </a:rPr>
              <a:t>negocio</a:t>
            </a:r>
            <a:r>
              <a:rPr lang="en-US" sz="1100" b="1" dirty="0">
                <a:solidFill>
                  <a:srgbClr val="FFFFFF"/>
                </a:solidFill>
                <a:latin typeface="Arial"/>
              </a:rPr>
              <a:t> </a:t>
            </a:r>
            <a:r>
              <a:rPr lang="en-US" sz="1100" b="1" dirty="0" err="1">
                <a:solidFill>
                  <a:srgbClr val="FFFFFF"/>
                </a:solidFill>
                <a:latin typeface="Arial"/>
              </a:rPr>
              <a:t>en</a:t>
            </a:r>
            <a:r>
              <a:rPr lang="en-US" sz="1100" b="1" dirty="0">
                <a:solidFill>
                  <a:srgbClr val="FFFFFF"/>
                </a:solidFill>
                <a:latin typeface="Arial"/>
              </a:rPr>
              <a:t> </a:t>
            </a:r>
            <a:r>
              <a:rPr lang="en-US" sz="1100" b="1" dirty="0" err="1">
                <a:solidFill>
                  <a:srgbClr val="FFFFFF"/>
                </a:solidFill>
                <a:latin typeface="Arial"/>
              </a:rPr>
              <a:t>una</a:t>
            </a:r>
            <a:r>
              <a:rPr lang="en-US" sz="1100" b="1" dirty="0">
                <a:solidFill>
                  <a:srgbClr val="FFFFFF"/>
                </a:solidFill>
                <a:latin typeface="Arial"/>
              </a:rPr>
              <a:t> </a:t>
            </a:r>
            <a:r>
              <a:rPr lang="en-US" sz="1100" b="1" dirty="0" err="1">
                <a:solidFill>
                  <a:srgbClr val="FFFFFF"/>
                </a:solidFill>
                <a:latin typeface="Arial"/>
              </a:rPr>
              <a:t>organizacion</a:t>
            </a:r>
            <a:r>
              <a:rPr lang="en-US" sz="1100" b="1" dirty="0">
                <a:solidFill>
                  <a:srgbClr val="FFFFFF"/>
                </a:solidFill>
                <a:latin typeface="Arial"/>
              </a:rPr>
              <a:t>. Ese es </a:t>
            </a:r>
            <a:r>
              <a:rPr lang="en-US" sz="1100" b="1" dirty="0" err="1">
                <a:solidFill>
                  <a:srgbClr val="FFFFFF"/>
                </a:solidFill>
                <a:latin typeface="Arial"/>
              </a:rPr>
              <a:t>su</a:t>
            </a:r>
            <a:r>
              <a:rPr lang="en-US" sz="1100" b="1" dirty="0">
                <a:solidFill>
                  <a:srgbClr val="FFFFFF"/>
                </a:solidFill>
                <a:latin typeface="Arial"/>
              </a:rPr>
              <a:t> valor </a:t>
            </a:r>
            <a:r>
              <a:rPr lang="en-US" sz="1100" b="1" dirty="0" err="1">
                <a:solidFill>
                  <a:srgbClr val="FFFFFF"/>
                </a:solidFill>
                <a:latin typeface="Arial"/>
              </a:rPr>
              <a:t>agregado</a:t>
            </a:r>
            <a:r>
              <a:rPr lang="en-US" sz="1100" b="1" dirty="0">
                <a:solidFill>
                  <a:srgbClr val="FFFFFF"/>
                </a:solidFill>
                <a:latin typeface="Arial"/>
              </a:rPr>
              <a:t>.</a:t>
            </a:r>
            <a:endParaRPr sz="1100" b="1" dirty="0">
              <a:solidFill>
                <a:srgbClr val="FFFFFF"/>
              </a:solidFill>
              <a:latin typeface="Arial"/>
            </a:endParaRPr>
          </a:p>
        </p:txBody>
      </p:sp>
      <p:sp>
        <p:nvSpPr>
          <p:cNvPr id="29" name="TextBox 28"/>
          <p:cNvSpPr txBox="1"/>
          <p:nvPr/>
        </p:nvSpPr>
        <p:spPr>
          <a:xfrm>
            <a:off x="8046720" y="4818888"/>
            <a:ext cx="868680" cy="274320"/>
          </a:xfrm>
          <a:prstGeom prst="rect">
            <a:avLst/>
          </a:prstGeom>
          <a:noFill/>
        </p:spPr>
        <p:txBody>
          <a:bodyPr wrap="square" lIns="45720" tIns="18288" rIns="45720" bIns="18288" anchor="t">
            <a:spAutoFit/>
          </a:bodyPr>
          <a:lstStyle/>
          <a:p>
            <a:pPr algn="r"/>
            <a:r>
              <a:rPr sz="800" b="0">
                <a:solidFill>
                  <a:srgbClr val="525B66"/>
                </a:solidFill>
                <a:latin typeface="Arial"/>
              </a:rPr>
              <a:t>28 / 38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41A52"/>
        </a:solidFill>
        <a:effectLst/>
      </p:bgPr>
    </p:bg>
    <p:spTree>
      <p:nvGrpSpPr>
        <p:cNvPr id="1" name=""/>
        <p:cNvGrpSpPr/>
        <p:nvPr/>
      </p:nvGrpSpPr>
      <p:grpSpPr>
        <a:xfrm>
          <a:off x="0" y="0"/>
          <a:ext cx="0" cy="0"/>
          <a:chOff x="0" y="0"/>
          <a:chExt cx="0" cy="0"/>
        </a:xfrm>
      </p:grpSpPr>
      <p:sp>
        <p:nvSpPr>
          <p:cNvPr id="2" name="Rectangle 1"/>
          <p:cNvSpPr/>
          <p:nvPr/>
        </p:nvSpPr>
        <p:spPr>
          <a:xfrm>
            <a:off x="0" y="4114800"/>
            <a:ext cx="9144000" cy="102870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left.png"/>
          <p:cNvPicPr>
            <a:picLocks noChangeAspect="1"/>
          </p:cNvPicPr>
          <p:nvPr/>
        </p:nvPicPr>
        <p:blipFill>
          <a:blip r:embed="rId2">
            <a:alphaModFix amt="25000"/>
          </a:blip>
          <a:stretch>
            <a:fillRect/>
          </a:stretch>
        </p:blipFill>
        <p:spPr>
          <a:xfrm>
            <a:off x="-548640" y="365760"/>
            <a:ext cx="2413248" cy="4572000"/>
          </a:xfrm>
          <a:prstGeom prst="rect">
            <a:avLst/>
          </a:prstGeom>
        </p:spPr>
      </p:pic>
      <p:pic>
        <p:nvPicPr>
          <p:cNvPr id="4" name="Picture 3" descr="brand_palm_right.png"/>
          <p:cNvPicPr>
            <a:picLocks noChangeAspect="1"/>
          </p:cNvPicPr>
          <p:nvPr/>
        </p:nvPicPr>
        <p:blipFill>
          <a:blip r:embed="rId3">
            <a:alphaModFix amt="25000"/>
          </a:blip>
          <a:stretch>
            <a:fillRect/>
          </a:stretch>
        </p:blipFill>
        <p:spPr>
          <a:xfrm>
            <a:off x="6583680" y="365760"/>
            <a:ext cx="2323951" cy="4572000"/>
          </a:xfrm>
          <a:prstGeom prst="rect">
            <a:avLst/>
          </a:prstGeom>
        </p:spPr>
      </p:pic>
      <p:sp>
        <p:nvSpPr>
          <p:cNvPr id="5" name="Rectangle 4"/>
          <p:cNvSpPr/>
          <p:nvPr/>
        </p:nvSpPr>
        <p:spPr>
          <a:xfrm>
            <a:off x="365760" y="274320"/>
            <a:ext cx="841248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0624" y="329184"/>
            <a:ext cx="8302752" cy="603504"/>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479612"/>
            <a:ext cx="8046720" cy="302647"/>
          </a:xfrm>
          <a:prstGeom prst="rect">
            <a:avLst/>
          </a:prstGeom>
          <a:noFill/>
        </p:spPr>
        <p:txBody>
          <a:bodyPr wrap="square" lIns="25400" tIns="12700" rIns="25400" bIns="12700" anchor="ctr">
            <a:spAutoFit/>
          </a:bodyPr>
          <a:lstStyle/>
          <a:p>
            <a:pPr algn="l"/>
            <a:r>
              <a:rPr sz="1800" b="1" i="0" spc="200" dirty="0">
                <a:solidFill>
                  <a:srgbClr val="FFFFFF"/>
                </a:solidFill>
                <a:latin typeface="Arial"/>
              </a:rPr>
              <a:t>BLOQUE  06</a:t>
            </a:r>
            <a:r>
              <a:rPr lang="es-419" sz="1800" b="1" i="0" spc="200" dirty="0">
                <a:solidFill>
                  <a:srgbClr val="FFFFFF"/>
                </a:solidFill>
                <a:latin typeface="Arial"/>
              </a:rPr>
              <a:t>: </a:t>
            </a:r>
            <a:r>
              <a:rPr sz="1800" b="1" i="0" spc="200" dirty="0">
                <a:solidFill>
                  <a:srgbClr val="FFFFFF"/>
                </a:solidFill>
                <a:latin typeface="Arial"/>
              </a:rPr>
              <a:t>PUEDES CORRER...</a:t>
            </a:r>
          </a:p>
        </p:txBody>
      </p:sp>
      <p:sp>
        <p:nvSpPr>
          <p:cNvPr id="8" name="TextBox 7"/>
          <p:cNvSpPr txBox="1"/>
          <p:nvPr/>
        </p:nvSpPr>
        <p:spPr>
          <a:xfrm>
            <a:off x="548640" y="2254662"/>
            <a:ext cx="8046720" cy="702756"/>
          </a:xfrm>
          <a:prstGeom prst="rect">
            <a:avLst/>
          </a:prstGeom>
          <a:noFill/>
        </p:spPr>
        <p:txBody>
          <a:bodyPr wrap="square" lIns="25400" tIns="12700" rIns="25400" bIns="12700" anchor="ctr">
            <a:spAutoFit/>
          </a:bodyPr>
          <a:lstStyle/>
          <a:p>
            <a:pPr algn="l"/>
            <a:r>
              <a:rPr sz="2200" b="1" i="1" dirty="0">
                <a:solidFill>
                  <a:srgbClr val="FFFFFF"/>
                </a:solidFill>
                <a:latin typeface="Arial"/>
              </a:rPr>
              <a:t>...</a:t>
            </a:r>
            <a:r>
              <a:rPr sz="2200" b="1" i="1" dirty="0" err="1">
                <a:solidFill>
                  <a:srgbClr val="FFFFFF"/>
                </a:solidFill>
                <a:latin typeface="Arial"/>
              </a:rPr>
              <a:t>pero</a:t>
            </a:r>
            <a:r>
              <a:rPr sz="2200" b="1" i="1" dirty="0">
                <a:solidFill>
                  <a:srgbClr val="FFFFFF"/>
                </a:solidFill>
                <a:latin typeface="Arial"/>
              </a:rPr>
              <a:t> no </a:t>
            </a:r>
            <a:r>
              <a:rPr sz="2200" b="1" i="1" dirty="0" err="1">
                <a:solidFill>
                  <a:srgbClr val="FFFFFF"/>
                </a:solidFill>
                <a:latin typeface="Arial"/>
              </a:rPr>
              <a:t>puedes</a:t>
            </a:r>
            <a:r>
              <a:rPr sz="2200" b="1" i="1" dirty="0">
                <a:solidFill>
                  <a:srgbClr val="FFFFFF"/>
                </a:solidFill>
                <a:latin typeface="Arial"/>
              </a:rPr>
              <a:t> </a:t>
            </a:r>
            <a:r>
              <a:rPr sz="2200" b="1" i="1" dirty="0" err="1">
                <a:solidFill>
                  <a:srgbClr val="FFFFFF"/>
                </a:solidFill>
                <a:latin typeface="Arial"/>
              </a:rPr>
              <a:t>esconderte</a:t>
            </a:r>
            <a:r>
              <a:rPr sz="2200" b="1" i="1" dirty="0">
                <a:solidFill>
                  <a:srgbClr val="FFFFFF"/>
                </a:solidFill>
                <a:latin typeface="Arial"/>
              </a:rPr>
              <a:t>. </a:t>
            </a:r>
            <a:r>
              <a:rPr lang="es-419" sz="2200" b="1" i="1" dirty="0">
                <a:solidFill>
                  <a:srgbClr val="FFFFFF"/>
                </a:solidFill>
                <a:latin typeface="Arial"/>
              </a:rPr>
              <a:t>Hunting Infrastructure for newbies..</a:t>
            </a:r>
            <a:endParaRPr sz="2200" b="1" i="1" dirty="0">
              <a:solidFill>
                <a:srgbClr val="FFFFFF"/>
              </a:solidFill>
              <a:latin typeface="Arial"/>
            </a:endParaRPr>
          </a:p>
        </p:txBody>
      </p:sp>
      <p:sp>
        <p:nvSpPr>
          <p:cNvPr id="10" name="TextBox 9"/>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29 / 38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0" y="36015"/>
            <a:ext cx="8778240" cy="641201"/>
          </a:xfrm>
          <a:prstGeom prst="rect">
            <a:avLst/>
          </a:prstGeom>
          <a:noFill/>
        </p:spPr>
        <p:txBody>
          <a:bodyPr wrap="square" lIns="25400" tIns="12700" rIns="25400" bIns="12700" anchor="ctr">
            <a:spAutoFit/>
          </a:bodyPr>
          <a:lstStyle/>
          <a:p>
            <a:r>
              <a:rPr lang="es-419" sz="2000" b="1" i="0" dirty="0">
                <a:solidFill>
                  <a:srgbClr val="FFFFFF"/>
                </a:solidFill>
                <a:latin typeface="Arial"/>
              </a:rPr>
              <a:t> </a:t>
            </a:r>
            <a:r>
              <a:rPr lang="en-US" sz="2000" b="1" dirty="0">
                <a:solidFill>
                  <a:srgbClr val="FFFFFF"/>
                </a:solidFill>
              </a:rPr>
              <a:t>Un </a:t>
            </a:r>
            <a:r>
              <a:rPr lang="en-US" sz="2000" b="1" dirty="0" err="1">
                <a:solidFill>
                  <a:srgbClr val="FFFFFF"/>
                </a:solidFill>
              </a:rPr>
              <a:t>servicio</a:t>
            </a:r>
            <a:r>
              <a:rPr lang="en-US" sz="2000" b="1" dirty="0">
                <a:solidFill>
                  <a:srgbClr val="FFFFFF"/>
                </a:solidFill>
              </a:rPr>
              <a:t> </a:t>
            </a:r>
            <a:r>
              <a:rPr lang="en-US" sz="2000" b="1" dirty="0" err="1">
                <a:solidFill>
                  <a:srgbClr val="FFFFFF"/>
                </a:solidFill>
              </a:rPr>
              <a:t>en</a:t>
            </a:r>
            <a:r>
              <a:rPr lang="en-US" sz="2000" b="1" dirty="0">
                <a:solidFill>
                  <a:srgbClr val="FFFFFF"/>
                </a:solidFill>
              </a:rPr>
              <a:t> la Dark Web </a:t>
            </a:r>
            <a:r>
              <a:rPr lang="en-US" sz="2000" b="1" dirty="0" err="1">
                <a:solidFill>
                  <a:srgbClr val="FFFFFF"/>
                </a:solidFill>
              </a:rPr>
              <a:t>que</a:t>
            </a:r>
            <a:r>
              <a:rPr lang="en-US" sz="2000" b="1" dirty="0">
                <a:solidFill>
                  <a:srgbClr val="FFFFFF"/>
                </a:solidFill>
              </a:rPr>
              <a:t> se </a:t>
            </a:r>
            <a:r>
              <a:rPr lang="en-US" sz="2000" b="1" dirty="0" err="1">
                <a:solidFill>
                  <a:srgbClr val="FFFFFF"/>
                </a:solidFill>
              </a:rPr>
              <a:t>cree</a:t>
            </a:r>
            <a:r>
              <a:rPr lang="en-US" sz="2000" b="1" dirty="0">
                <a:solidFill>
                  <a:srgbClr val="FFFFFF"/>
                </a:solidFill>
              </a:rPr>
              <a:t> 100% </a:t>
            </a:r>
            <a:r>
              <a:rPr lang="en-US" sz="2000" b="1" dirty="0" err="1">
                <a:solidFill>
                  <a:srgbClr val="FFFFFF"/>
                </a:solidFill>
              </a:rPr>
              <a:t>anónimo</a:t>
            </a:r>
            <a:r>
              <a:rPr lang="en-US" sz="2000" b="1" dirty="0">
                <a:solidFill>
                  <a:srgbClr val="FFFFFF"/>
                </a:solidFill>
              </a:rPr>
              <a:t>, </a:t>
            </a:r>
            <a:r>
              <a:rPr lang="en-US" sz="2000" b="1" dirty="0" err="1">
                <a:solidFill>
                  <a:srgbClr val="FFFFFF"/>
                </a:solidFill>
              </a:rPr>
              <a:t>deja</a:t>
            </a:r>
            <a:r>
              <a:rPr lang="en-US" sz="2000" b="1" dirty="0">
                <a:solidFill>
                  <a:srgbClr val="FFFFFF"/>
                </a:solidFill>
              </a:rPr>
              <a:t> </a:t>
            </a:r>
            <a:r>
              <a:rPr lang="en-US" sz="2000" b="1" dirty="0" err="1">
                <a:solidFill>
                  <a:srgbClr val="FFFFFF"/>
                </a:solidFill>
              </a:rPr>
              <a:t>artefactos</a:t>
            </a:r>
            <a:r>
              <a:rPr lang="en-US" sz="2000" b="1" dirty="0">
                <a:solidFill>
                  <a:srgbClr val="FFFFFF"/>
                </a:solidFill>
              </a:rPr>
              <a:t>.</a:t>
            </a:r>
          </a:p>
          <a:p>
            <a:pPr algn="l"/>
            <a:endParaRPr sz="2000" b="1" i="0" dirty="0">
              <a:solidFill>
                <a:srgbClr val="FFFFFF"/>
              </a:solidFill>
              <a:latin typeface="Arial"/>
            </a:endParaRPr>
          </a:p>
        </p:txBody>
      </p:sp>
      <p:sp>
        <p:nvSpPr>
          <p:cNvPr id="39" name="TextBox 38"/>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30 / 38</a:t>
            </a:r>
          </a:p>
        </p:txBody>
      </p:sp>
      <p:pic>
        <p:nvPicPr>
          <p:cNvPr id="40" name="Picture 39">
            <a:extLst>
              <a:ext uri="{FF2B5EF4-FFF2-40B4-BE49-F238E27FC236}">
                <a16:creationId xmlns:a16="http://schemas.microsoft.com/office/drawing/2014/main" id="{506B0176-22EF-C079-0FA8-14FFB23544F4}"/>
              </a:ext>
            </a:extLst>
          </p:cNvPr>
          <p:cNvPicPr>
            <a:picLocks noChangeAspect="1"/>
          </p:cNvPicPr>
          <p:nvPr/>
        </p:nvPicPr>
        <p:blipFill>
          <a:blip r:embed="rId2"/>
          <a:stretch>
            <a:fillRect/>
          </a:stretch>
        </p:blipFill>
        <p:spPr>
          <a:xfrm>
            <a:off x="-1" y="713231"/>
            <a:ext cx="4695572" cy="4430269"/>
          </a:xfrm>
          <a:prstGeom prst="rect">
            <a:avLst/>
          </a:prstGeom>
        </p:spPr>
      </p:pic>
      <p:pic>
        <p:nvPicPr>
          <p:cNvPr id="42" name="Picture 41">
            <a:extLst>
              <a:ext uri="{FF2B5EF4-FFF2-40B4-BE49-F238E27FC236}">
                <a16:creationId xmlns:a16="http://schemas.microsoft.com/office/drawing/2014/main" id="{CBFE0D61-82D4-713D-150F-9DC3A98B8714}"/>
              </a:ext>
            </a:extLst>
          </p:cNvPr>
          <p:cNvPicPr>
            <a:picLocks noChangeAspect="1"/>
          </p:cNvPicPr>
          <p:nvPr/>
        </p:nvPicPr>
        <p:blipFill>
          <a:blip r:embed="rId3"/>
          <a:stretch>
            <a:fillRect/>
          </a:stretch>
        </p:blipFill>
        <p:spPr>
          <a:xfrm>
            <a:off x="4695571" y="713230"/>
            <a:ext cx="4448429" cy="44302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1000" fill="hold"/>
                                        <p:tgtEl>
                                          <p:spTgt spid="40"/>
                                        </p:tgtEl>
                                        <p:attrNameLst>
                                          <p:attrName>ppt_x</p:attrName>
                                        </p:attrNameLst>
                                      </p:cBhvr>
                                      <p:tavLst>
                                        <p:tav tm="0">
                                          <p:val>
                                            <p:strVal val="#ppt_x"/>
                                          </p:val>
                                        </p:tav>
                                        <p:tav tm="100000">
                                          <p:val>
                                            <p:strVal val="#ppt_x"/>
                                          </p:val>
                                        </p:tav>
                                      </p:tavLst>
                                    </p:anim>
                                    <p:anim calcmode="lin" valueType="num">
                                      <p:cBhvr additive="base">
                                        <p:cTn id="8" dur="10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5" presetClass="entr" presetSubtype="0" fill="hold" nodeType="clickEffect">
                                  <p:stCondLst>
                                    <p:cond delay="0"/>
                                  </p:stCondLst>
                                  <p:childTnLst>
                                    <p:set>
                                      <p:cBhvr>
                                        <p:cTn id="12" dur="1" fill="hold">
                                          <p:stCondLst>
                                            <p:cond delay="0"/>
                                          </p:stCondLst>
                                        </p:cTn>
                                        <p:tgtEl>
                                          <p:spTgt spid="42"/>
                                        </p:tgtEl>
                                        <p:attrNameLst>
                                          <p:attrName>style.visibility</p:attrName>
                                        </p:attrNameLst>
                                      </p:cBhvr>
                                      <p:to>
                                        <p:strVal val="visible"/>
                                      </p:to>
                                    </p:set>
                                    <p:anim calcmode="lin" valueType="num">
                                      <p:cBhvr>
                                        <p:cTn id="13" dur="1000" fill="hold"/>
                                        <p:tgtEl>
                                          <p:spTgt spid="42"/>
                                        </p:tgtEl>
                                        <p:attrNameLst>
                                          <p:attrName>ppt_w</p:attrName>
                                        </p:attrNameLst>
                                      </p:cBhvr>
                                      <p:tavLst>
                                        <p:tav tm="0">
                                          <p:val>
                                            <p:strVal val="#ppt_w*0.70"/>
                                          </p:val>
                                        </p:tav>
                                        <p:tav tm="100000">
                                          <p:val>
                                            <p:strVal val="#ppt_w"/>
                                          </p:val>
                                        </p:tav>
                                      </p:tavLst>
                                    </p:anim>
                                    <p:anim calcmode="lin" valueType="num">
                                      <p:cBhvr>
                                        <p:cTn id="14" dur="1000" fill="hold"/>
                                        <p:tgtEl>
                                          <p:spTgt spid="42"/>
                                        </p:tgtEl>
                                        <p:attrNameLst>
                                          <p:attrName>ppt_h</p:attrName>
                                        </p:attrNameLst>
                                      </p:cBhvr>
                                      <p:tavLst>
                                        <p:tav tm="0">
                                          <p:val>
                                            <p:strVal val="#ppt_h"/>
                                          </p:val>
                                        </p:tav>
                                        <p:tav tm="100000">
                                          <p:val>
                                            <p:strVal val="#ppt_h"/>
                                          </p:val>
                                        </p:tav>
                                      </p:tavLst>
                                    </p:anim>
                                    <p:animEffect transition="in" filter="fade">
                                      <p:cBhvr>
                                        <p:cTn id="15" dur="1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a:extLst>
            <a:ext uri="{FF2B5EF4-FFF2-40B4-BE49-F238E27FC236}">
              <a16:creationId xmlns:a16="http://schemas.microsoft.com/office/drawing/2014/main" id="{9878CD5D-6C4A-4486-4C8F-0CC781EA014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155C3E9-E6A2-3291-9F92-D2D78A8DCD86}"/>
              </a:ext>
            </a:extLst>
          </p:cNvPr>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008A06E-913A-514C-BC27-C72D8C192A4F}"/>
              </a:ext>
            </a:extLst>
          </p:cNvPr>
          <p:cNvSpPr txBox="1"/>
          <p:nvPr/>
        </p:nvSpPr>
        <p:spPr>
          <a:xfrm>
            <a:off x="0" y="36015"/>
            <a:ext cx="8778240" cy="641201"/>
          </a:xfrm>
          <a:prstGeom prst="rect">
            <a:avLst/>
          </a:prstGeom>
          <a:noFill/>
        </p:spPr>
        <p:txBody>
          <a:bodyPr wrap="square" lIns="25400" tIns="12700" rIns="25400" bIns="12700" anchor="ctr">
            <a:spAutoFit/>
          </a:bodyPr>
          <a:lstStyle/>
          <a:p>
            <a:r>
              <a:rPr lang="es-419" sz="2000" b="1" i="0" dirty="0">
                <a:solidFill>
                  <a:srgbClr val="FFFFFF"/>
                </a:solidFill>
                <a:latin typeface="Arial"/>
              </a:rPr>
              <a:t> </a:t>
            </a:r>
            <a:r>
              <a:rPr lang="en-US" sz="2000" b="1" dirty="0">
                <a:solidFill>
                  <a:srgbClr val="FFFFFF"/>
                </a:solidFill>
              </a:rPr>
              <a:t>Un </a:t>
            </a:r>
            <a:r>
              <a:rPr lang="en-US" sz="2000" b="1" dirty="0" err="1">
                <a:solidFill>
                  <a:srgbClr val="FFFFFF"/>
                </a:solidFill>
              </a:rPr>
              <a:t>servicio</a:t>
            </a:r>
            <a:r>
              <a:rPr lang="en-US" sz="2000" b="1" dirty="0">
                <a:solidFill>
                  <a:srgbClr val="FFFFFF"/>
                </a:solidFill>
              </a:rPr>
              <a:t> </a:t>
            </a:r>
            <a:r>
              <a:rPr lang="en-US" sz="2000" b="1" dirty="0" err="1">
                <a:solidFill>
                  <a:srgbClr val="FFFFFF"/>
                </a:solidFill>
              </a:rPr>
              <a:t>en</a:t>
            </a:r>
            <a:r>
              <a:rPr lang="en-US" sz="2000" b="1" dirty="0">
                <a:solidFill>
                  <a:srgbClr val="FFFFFF"/>
                </a:solidFill>
              </a:rPr>
              <a:t> la Dark Web </a:t>
            </a:r>
            <a:r>
              <a:rPr lang="en-US" sz="2000" b="1" dirty="0" err="1">
                <a:solidFill>
                  <a:srgbClr val="FFFFFF"/>
                </a:solidFill>
              </a:rPr>
              <a:t>que</a:t>
            </a:r>
            <a:r>
              <a:rPr lang="en-US" sz="2000" b="1" dirty="0">
                <a:solidFill>
                  <a:srgbClr val="FFFFFF"/>
                </a:solidFill>
              </a:rPr>
              <a:t> se </a:t>
            </a:r>
            <a:r>
              <a:rPr lang="en-US" sz="2000" b="1" dirty="0" err="1">
                <a:solidFill>
                  <a:srgbClr val="FFFFFF"/>
                </a:solidFill>
              </a:rPr>
              <a:t>cree</a:t>
            </a:r>
            <a:r>
              <a:rPr lang="en-US" sz="2000" b="1" dirty="0">
                <a:solidFill>
                  <a:srgbClr val="FFFFFF"/>
                </a:solidFill>
              </a:rPr>
              <a:t> 100% </a:t>
            </a:r>
            <a:r>
              <a:rPr lang="en-US" sz="2000" b="1" dirty="0" err="1">
                <a:solidFill>
                  <a:srgbClr val="FFFFFF"/>
                </a:solidFill>
              </a:rPr>
              <a:t>anónimo</a:t>
            </a:r>
            <a:r>
              <a:rPr lang="en-US" sz="2000" b="1" dirty="0">
                <a:solidFill>
                  <a:srgbClr val="FFFFFF"/>
                </a:solidFill>
              </a:rPr>
              <a:t>, </a:t>
            </a:r>
            <a:r>
              <a:rPr lang="en-US" sz="2000" b="1" dirty="0" err="1">
                <a:solidFill>
                  <a:srgbClr val="FFFFFF"/>
                </a:solidFill>
              </a:rPr>
              <a:t>deja</a:t>
            </a:r>
            <a:r>
              <a:rPr lang="en-US" sz="2000" b="1" dirty="0">
                <a:solidFill>
                  <a:srgbClr val="FFFFFF"/>
                </a:solidFill>
              </a:rPr>
              <a:t> </a:t>
            </a:r>
            <a:r>
              <a:rPr lang="en-US" sz="2000" b="1" dirty="0" err="1">
                <a:solidFill>
                  <a:srgbClr val="FFFFFF"/>
                </a:solidFill>
              </a:rPr>
              <a:t>artefactos</a:t>
            </a:r>
            <a:r>
              <a:rPr lang="en-US" sz="2000" b="1" dirty="0">
                <a:solidFill>
                  <a:srgbClr val="FFFFFF"/>
                </a:solidFill>
              </a:rPr>
              <a:t>.</a:t>
            </a:r>
          </a:p>
          <a:p>
            <a:pPr algn="l"/>
            <a:endParaRPr sz="2000" b="1" i="0" dirty="0">
              <a:solidFill>
                <a:srgbClr val="FFFFFF"/>
              </a:solidFill>
              <a:latin typeface="Arial"/>
            </a:endParaRPr>
          </a:p>
        </p:txBody>
      </p:sp>
      <p:sp>
        <p:nvSpPr>
          <p:cNvPr id="39" name="TextBox 38">
            <a:extLst>
              <a:ext uri="{FF2B5EF4-FFF2-40B4-BE49-F238E27FC236}">
                <a16:creationId xmlns:a16="http://schemas.microsoft.com/office/drawing/2014/main" id="{1D6B677B-B738-FFEE-39D3-63EA39B141E3}"/>
              </a:ext>
            </a:extLst>
          </p:cNvPr>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31 / 38</a:t>
            </a:r>
          </a:p>
        </p:txBody>
      </p:sp>
      <p:pic>
        <p:nvPicPr>
          <p:cNvPr id="5" name="Picture 4">
            <a:extLst>
              <a:ext uri="{FF2B5EF4-FFF2-40B4-BE49-F238E27FC236}">
                <a16:creationId xmlns:a16="http://schemas.microsoft.com/office/drawing/2014/main" id="{27F5D65F-EEF9-8A67-C950-0C787EA4AE46}"/>
              </a:ext>
            </a:extLst>
          </p:cNvPr>
          <p:cNvPicPr>
            <a:picLocks noChangeAspect="1"/>
          </p:cNvPicPr>
          <p:nvPr/>
        </p:nvPicPr>
        <p:blipFill>
          <a:blip r:embed="rId2"/>
          <a:stretch>
            <a:fillRect/>
          </a:stretch>
        </p:blipFill>
        <p:spPr>
          <a:xfrm>
            <a:off x="357448" y="713231"/>
            <a:ext cx="8429104" cy="3188202"/>
          </a:xfrm>
          <a:prstGeom prst="rect">
            <a:avLst/>
          </a:prstGeom>
        </p:spPr>
      </p:pic>
      <p:sp>
        <p:nvSpPr>
          <p:cNvPr id="6" name="TextBox 5">
            <a:extLst>
              <a:ext uri="{FF2B5EF4-FFF2-40B4-BE49-F238E27FC236}">
                <a16:creationId xmlns:a16="http://schemas.microsoft.com/office/drawing/2014/main" id="{BEA02D81-437F-E7C4-28EB-E3F0D32DC74D}"/>
              </a:ext>
            </a:extLst>
          </p:cNvPr>
          <p:cNvSpPr txBox="1"/>
          <p:nvPr/>
        </p:nvSpPr>
        <p:spPr>
          <a:xfrm>
            <a:off x="3121428" y="4180970"/>
            <a:ext cx="3653445" cy="590931"/>
          </a:xfrm>
          <a:prstGeom prst="rect">
            <a:avLst/>
          </a:prstGeom>
          <a:noFill/>
        </p:spPr>
        <p:txBody>
          <a:bodyPr wrap="square" lIns="45720" tIns="18288" rIns="45720" bIns="18288" anchor="t">
            <a:spAutoFit/>
          </a:bodyPr>
          <a:lstStyle/>
          <a:p>
            <a:r>
              <a:rPr lang="es-419" sz="1200" b="0" dirty="0">
                <a:solidFill>
                  <a:srgbClr val="1F2937"/>
                </a:solidFill>
                <a:latin typeface="Arial"/>
              </a:rPr>
              <a:t>Se carga el Archivo </a:t>
            </a:r>
            <a:r>
              <a:rPr lang="es-419" sz="1200" dirty="0">
                <a:solidFill>
                  <a:srgbClr val="1F2937"/>
                </a:solidFill>
              </a:rPr>
              <a:t>en </a:t>
            </a:r>
            <a:r>
              <a:rPr lang="es-419" sz="1200" dirty="0">
                <a:solidFill>
                  <a:srgbClr val="1F2937"/>
                </a:solidFill>
                <a:hlinkClick r:id="rId3"/>
              </a:rPr>
              <a:t>favicon-hash.kmsec.uk </a:t>
            </a:r>
            <a:r>
              <a:rPr lang="es-419" sz="1200" dirty="0">
                <a:solidFill>
                  <a:srgbClr val="1F2937"/>
                </a:solidFill>
              </a:rPr>
              <a:t>y </a:t>
            </a:r>
            <a:r>
              <a:rPr lang="en-AR" sz="1200" dirty="0"/>
              <a:t>se aplica el algoritmo </a:t>
            </a:r>
            <a:r>
              <a:rPr lang="en-AR" sz="1200" b="1" dirty="0"/>
              <a:t>MurmurHash3</a:t>
            </a:r>
            <a:r>
              <a:rPr lang="en-AR" sz="1200" dirty="0"/>
              <a:t>, se obtiene un HASH especifico tambien MD5</a:t>
            </a:r>
            <a:endParaRPr sz="1200" b="0" dirty="0">
              <a:solidFill>
                <a:srgbClr val="1F2937"/>
              </a:solidFill>
              <a:latin typeface="Arial"/>
            </a:endParaRPr>
          </a:p>
        </p:txBody>
      </p:sp>
    </p:spTree>
    <p:extLst>
      <p:ext uri="{BB962C8B-B14F-4D97-AF65-F5344CB8AC3E}">
        <p14:creationId xmlns:p14="http://schemas.microsoft.com/office/powerpoint/2010/main" val="3224825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1000" fill="hold"/>
                                        <p:tgtEl>
                                          <p:spTgt spid="6"/>
                                        </p:tgtEl>
                                        <p:attrNameLst>
                                          <p:attrName>ppt_x</p:attrName>
                                        </p:attrNameLst>
                                      </p:cBhvr>
                                      <p:tavLst>
                                        <p:tav tm="0">
                                          <p:val>
                                            <p:strVal val="#ppt_x"/>
                                          </p:val>
                                        </p:tav>
                                        <p:tav tm="100000">
                                          <p:val>
                                            <p:strVal val="#ppt_x"/>
                                          </p:val>
                                        </p:tav>
                                      </p:tavLst>
                                    </p:anim>
                                    <p:anim calcmode="lin" valueType="num">
                                      <p:cBhvr additive="base">
                                        <p:cTn id="14" dur="10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a:extLst>
            <a:ext uri="{FF2B5EF4-FFF2-40B4-BE49-F238E27FC236}">
              <a16:creationId xmlns:a16="http://schemas.microsoft.com/office/drawing/2014/main" id="{27CBAAAF-E2BD-EAE2-DCEA-8C4A35231E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DC21681-C1CA-7DB9-2B0B-C7A7E9EE29B9}"/>
              </a:ext>
            </a:extLst>
          </p:cNvPr>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613B8D6-D5E7-5814-E886-AFD65534125F}"/>
              </a:ext>
            </a:extLst>
          </p:cNvPr>
          <p:cNvSpPr txBox="1"/>
          <p:nvPr/>
        </p:nvSpPr>
        <p:spPr>
          <a:xfrm>
            <a:off x="0" y="36015"/>
            <a:ext cx="8778240" cy="641201"/>
          </a:xfrm>
          <a:prstGeom prst="rect">
            <a:avLst/>
          </a:prstGeom>
          <a:noFill/>
        </p:spPr>
        <p:txBody>
          <a:bodyPr wrap="square" lIns="25400" tIns="12700" rIns="25400" bIns="12700" anchor="ctr">
            <a:spAutoFit/>
          </a:bodyPr>
          <a:lstStyle/>
          <a:p>
            <a:r>
              <a:rPr lang="es-419" sz="2000" b="1" i="0" dirty="0">
                <a:solidFill>
                  <a:srgbClr val="FFFFFF"/>
                </a:solidFill>
                <a:latin typeface="Arial"/>
              </a:rPr>
              <a:t> </a:t>
            </a:r>
            <a:r>
              <a:rPr lang="en-US" sz="2000" b="1" dirty="0">
                <a:solidFill>
                  <a:srgbClr val="FFFFFF"/>
                </a:solidFill>
              </a:rPr>
              <a:t>Un </a:t>
            </a:r>
            <a:r>
              <a:rPr lang="en-US" sz="2000" b="1" dirty="0" err="1">
                <a:solidFill>
                  <a:srgbClr val="FFFFFF"/>
                </a:solidFill>
              </a:rPr>
              <a:t>servicio</a:t>
            </a:r>
            <a:r>
              <a:rPr lang="en-US" sz="2000" b="1" dirty="0">
                <a:solidFill>
                  <a:srgbClr val="FFFFFF"/>
                </a:solidFill>
              </a:rPr>
              <a:t> </a:t>
            </a:r>
            <a:r>
              <a:rPr lang="en-US" sz="2000" b="1" dirty="0" err="1">
                <a:solidFill>
                  <a:srgbClr val="FFFFFF"/>
                </a:solidFill>
              </a:rPr>
              <a:t>en</a:t>
            </a:r>
            <a:r>
              <a:rPr lang="en-US" sz="2000" b="1" dirty="0">
                <a:solidFill>
                  <a:srgbClr val="FFFFFF"/>
                </a:solidFill>
              </a:rPr>
              <a:t> la Dark Web </a:t>
            </a:r>
            <a:r>
              <a:rPr lang="en-US" sz="2000" b="1" dirty="0" err="1">
                <a:solidFill>
                  <a:srgbClr val="FFFFFF"/>
                </a:solidFill>
              </a:rPr>
              <a:t>que</a:t>
            </a:r>
            <a:r>
              <a:rPr lang="en-US" sz="2000" b="1" dirty="0">
                <a:solidFill>
                  <a:srgbClr val="FFFFFF"/>
                </a:solidFill>
              </a:rPr>
              <a:t> se </a:t>
            </a:r>
            <a:r>
              <a:rPr lang="en-US" sz="2000" b="1" dirty="0" err="1">
                <a:solidFill>
                  <a:srgbClr val="FFFFFF"/>
                </a:solidFill>
              </a:rPr>
              <a:t>cree</a:t>
            </a:r>
            <a:r>
              <a:rPr lang="en-US" sz="2000" b="1" dirty="0">
                <a:solidFill>
                  <a:srgbClr val="FFFFFF"/>
                </a:solidFill>
              </a:rPr>
              <a:t> 100% </a:t>
            </a:r>
            <a:r>
              <a:rPr lang="en-US" sz="2000" b="1" dirty="0" err="1">
                <a:solidFill>
                  <a:srgbClr val="FFFFFF"/>
                </a:solidFill>
              </a:rPr>
              <a:t>anónimo</a:t>
            </a:r>
            <a:r>
              <a:rPr lang="en-US" sz="2000" b="1" dirty="0">
                <a:solidFill>
                  <a:srgbClr val="FFFFFF"/>
                </a:solidFill>
              </a:rPr>
              <a:t>, </a:t>
            </a:r>
            <a:r>
              <a:rPr lang="en-US" sz="2000" b="1" dirty="0" err="1">
                <a:solidFill>
                  <a:srgbClr val="FFFFFF"/>
                </a:solidFill>
              </a:rPr>
              <a:t>deja</a:t>
            </a:r>
            <a:r>
              <a:rPr lang="en-US" sz="2000" b="1" dirty="0">
                <a:solidFill>
                  <a:srgbClr val="FFFFFF"/>
                </a:solidFill>
              </a:rPr>
              <a:t> </a:t>
            </a:r>
            <a:r>
              <a:rPr lang="en-US" sz="2000" b="1" dirty="0" err="1">
                <a:solidFill>
                  <a:srgbClr val="FFFFFF"/>
                </a:solidFill>
              </a:rPr>
              <a:t>artefactos</a:t>
            </a:r>
            <a:r>
              <a:rPr lang="en-US" sz="2000" b="1" dirty="0">
                <a:solidFill>
                  <a:srgbClr val="FFFFFF"/>
                </a:solidFill>
              </a:rPr>
              <a:t>.</a:t>
            </a:r>
          </a:p>
          <a:p>
            <a:pPr algn="l"/>
            <a:endParaRPr sz="2000" b="1" i="0" dirty="0">
              <a:solidFill>
                <a:srgbClr val="FFFFFF"/>
              </a:solidFill>
              <a:latin typeface="Arial"/>
            </a:endParaRPr>
          </a:p>
        </p:txBody>
      </p:sp>
      <p:sp>
        <p:nvSpPr>
          <p:cNvPr id="39" name="TextBox 38">
            <a:extLst>
              <a:ext uri="{FF2B5EF4-FFF2-40B4-BE49-F238E27FC236}">
                <a16:creationId xmlns:a16="http://schemas.microsoft.com/office/drawing/2014/main" id="{CA54F8E6-4493-0521-4F87-F602B6B1334E}"/>
              </a:ext>
            </a:extLst>
          </p:cNvPr>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32 / 38</a:t>
            </a:r>
          </a:p>
        </p:txBody>
      </p:sp>
      <p:pic>
        <p:nvPicPr>
          <p:cNvPr id="8" name="Picture 7">
            <a:extLst>
              <a:ext uri="{FF2B5EF4-FFF2-40B4-BE49-F238E27FC236}">
                <a16:creationId xmlns:a16="http://schemas.microsoft.com/office/drawing/2014/main" id="{E9FACDCB-EABF-2DC5-C64F-43D03B0B7E69}"/>
              </a:ext>
            </a:extLst>
          </p:cNvPr>
          <p:cNvPicPr>
            <a:picLocks noChangeAspect="1"/>
          </p:cNvPicPr>
          <p:nvPr/>
        </p:nvPicPr>
        <p:blipFill>
          <a:blip r:embed="rId2"/>
          <a:stretch>
            <a:fillRect/>
          </a:stretch>
        </p:blipFill>
        <p:spPr>
          <a:xfrm>
            <a:off x="0" y="713231"/>
            <a:ext cx="9143999" cy="3188201"/>
          </a:xfrm>
          <a:prstGeom prst="rect">
            <a:avLst/>
          </a:prstGeom>
        </p:spPr>
      </p:pic>
      <p:pic>
        <p:nvPicPr>
          <p:cNvPr id="10" name="Picture 9">
            <a:extLst>
              <a:ext uri="{FF2B5EF4-FFF2-40B4-BE49-F238E27FC236}">
                <a16:creationId xmlns:a16="http://schemas.microsoft.com/office/drawing/2014/main" id="{73B0AA8E-4F68-B150-C2B4-D3D7A32BA4B4}"/>
              </a:ext>
            </a:extLst>
          </p:cNvPr>
          <p:cNvPicPr>
            <a:picLocks noChangeAspect="1"/>
          </p:cNvPicPr>
          <p:nvPr/>
        </p:nvPicPr>
        <p:blipFill>
          <a:blip r:embed="rId3"/>
          <a:stretch>
            <a:fillRect/>
          </a:stretch>
        </p:blipFill>
        <p:spPr>
          <a:xfrm>
            <a:off x="1041763" y="713230"/>
            <a:ext cx="6694714" cy="4430270"/>
          </a:xfrm>
          <a:prstGeom prst="rect">
            <a:avLst/>
          </a:prstGeom>
        </p:spPr>
      </p:pic>
    </p:spTree>
    <p:extLst>
      <p:ext uri="{BB962C8B-B14F-4D97-AF65-F5344CB8AC3E}">
        <p14:creationId xmlns:p14="http://schemas.microsoft.com/office/powerpoint/2010/main" val="421893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xit" presetSubtype="32" fill="hold" nodeType="clickEffect">
                                  <p:stCondLst>
                                    <p:cond delay="0"/>
                                  </p:stCondLst>
                                  <p:childTnLst>
                                    <p:animEffect transition="out" filter="circle(out)">
                                      <p:cBhvr>
                                        <p:cTn id="16" dur="2000"/>
                                        <p:tgtEl>
                                          <p:spTgt spid="8"/>
                                        </p:tgtEl>
                                      </p:cBhvr>
                                    </p:animEffect>
                                    <p:set>
                                      <p:cBhvr>
                                        <p:cTn id="17" dur="1" fill="hold">
                                          <p:stCondLst>
                                            <p:cond delay="1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a:extLst>
            <a:ext uri="{FF2B5EF4-FFF2-40B4-BE49-F238E27FC236}">
              <a16:creationId xmlns:a16="http://schemas.microsoft.com/office/drawing/2014/main" id="{3EC2424B-D1DD-EB0E-35E3-F5F3924C77D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AC06DF1-20BB-7CC8-BF8D-D46274E4101D}"/>
              </a:ext>
            </a:extLst>
          </p:cNvPr>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C3C4D47-2E4D-A7A6-9F8C-B05190B21A68}"/>
              </a:ext>
            </a:extLst>
          </p:cNvPr>
          <p:cNvSpPr txBox="1"/>
          <p:nvPr/>
        </p:nvSpPr>
        <p:spPr>
          <a:xfrm>
            <a:off x="365760" y="146304"/>
            <a:ext cx="8412480" cy="420624"/>
          </a:xfrm>
          <a:prstGeom prst="rect">
            <a:avLst/>
          </a:prstGeom>
          <a:noFill/>
        </p:spPr>
        <p:txBody>
          <a:bodyPr wrap="square" lIns="25400" tIns="12700" rIns="25400" bIns="12700" anchor="ctr">
            <a:spAutoFit/>
          </a:bodyPr>
          <a:lstStyle/>
          <a:p>
            <a:pPr algn="l"/>
            <a:r>
              <a:rPr sz="2000" b="1" i="0" dirty="0" err="1">
                <a:solidFill>
                  <a:srgbClr val="FFFFFF"/>
                </a:solidFill>
                <a:latin typeface="Arial"/>
              </a:rPr>
              <a:t>Aplicando</a:t>
            </a:r>
            <a:r>
              <a:rPr sz="2000" b="1" i="0" dirty="0">
                <a:solidFill>
                  <a:srgbClr val="FFFFFF"/>
                </a:solidFill>
                <a:latin typeface="Arial"/>
              </a:rPr>
              <a:t> Diamond + ATT&amp;CK al </a:t>
            </a:r>
            <a:r>
              <a:rPr sz="2000" b="1" i="0" dirty="0" err="1">
                <a:solidFill>
                  <a:srgbClr val="FFFFFF"/>
                </a:solidFill>
                <a:latin typeface="Arial"/>
              </a:rPr>
              <a:t>caso</a:t>
            </a:r>
            <a:endParaRPr sz="2000" b="1" i="0" dirty="0">
              <a:solidFill>
                <a:srgbClr val="FFFFFF"/>
              </a:solidFill>
              <a:latin typeface="Arial"/>
            </a:endParaRPr>
          </a:p>
        </p:txBody>
      </p:sp>
      <p:sp>
        <p:nvSpPr>
          <p:cNvPr id="39" name="TextBox 38">
            <a:extLst>
              <a:ext uri="{FF2B5EF4-FFF2-40B4-BE49-F238E27FC236}">
                <a16:creationId xmlns:a16="http://schemas.microsoft.com/office/drawing/2014/main" id="{DAAACED0-E089-69DD-4F55-8C2C753083ED}"/>
              </a:ext>
            </a:extLst>
          </p:cNvPr>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33 / 38</a:t>
            </a:r>
          </a:p>
        </p:txBody>
      </p:sp>
      <p:pic>
        <p:nvPicPr>
          <p:cNvPr id="38" name="Picture 37">
            <a:extLst>
              <a:ext uri="{FF2B5EF4-FFF2-40B4-BE49-F238E27FC236}">
                <a16:creationId xmlns:a16="http://schemas.microsoft.com/office/drawing/2014/main" id="{84F1D1FF-5031-AD8B-6781-15422A1FFDC5}"/>
              </a:ext>
            </a:extLst>
          </p:cNvPr>
          <p:cNvPicPr>
            <a:picLocks noChangeAspect="1"/>
          </p:cNvPicPr>
          <p:nvPr/>
        </p:nvPicPr>
        <p:blipFill>
          <a:blip r:embed="rId2"/>
          <a:stretch>
            <a:fillRect/>
          </a:stretch>
        </p:blipFill>
        <p:spPr>
          <a:xfrm>
            <a:off x="0" y="767501"/>
            <a:ext cx="9081735" cy="4325707"/>
          </a:xfrm>
          <a:prstGeom prst="rect">
            <a:avLst/>
          </a:prstGeom>
        </p:spPr>
      </p:pic>
    </p:spTree>
    <p:extLst>
      <p:ext uri="{BB962C8B-B14F-4D97-AF65-F5344CB8AC3E}">
        <p14:creationId xmlns:p14="http://schemas.microsoft.com/office/powerpoint/2010/main" val="25225971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0" y="4818888"/>
            <a:ext cx="868680" cy="274320"/>
          </a:xfrm>
          <a:prstGeom prst="rect">
            <a:avLst/>
          </a:prstGeom>
          <a:noFill/>
        </p:spPr>
        <p:txBody>
          <a:bodyPr wrap="square" lIns="0" tIns="0" rIns="0" bIns="0" anchor="t">
            <a:spAutoFit/>
          </a:bodyPr>
          <a:lstStyle/>
          <a:p>
            <a:pPr algn="r"/>
            <a:r>
              <a:rPr sz="800" b="0">
                <a:solidFill>
                  <a:srgbClr val="525B66"/>
                </a:solidFill>
                <a:latin typeface="Arial"/>
              </a:rPr>
              <a:t>34 / 38</a:t>
            </a:r>
          </a:p>
        </p:txBody>
      </p:sp>
      <p:sp>
        <p:nvSpPr>
          <p:cNvPr id="5" name="TextBox 4"/>
          <p:cNvSpPr txBox="1"/>
          <p:nvPr/>
        </p:nvSpPr>
        <p:spPr>
          <a:xfrm>
            <a:off x="365760" y="146304"/>
            <a:ext cx="8412480" cy="420624"/>
          </a:xfrm>
          <a:prstGeom prst="rect">
            <a:avLst/>
          </a:prstGeom>
          <a:noFill/>
        </p:spPr>
        <p:txBody>
          <a:bodyPr wrap="square" lIns="0" tIns="0" rIns="0" bIns="0" anchor="ctr">
            <a:spAutoFit/>
          </a:bodyPr>
          <a:lstStyle/>
          <a:p>
            <a:pPr algn="l"/>
            <a:r>
              <a:rPr sz="2000" b="1">
                <a:solidFill>
                  <a:srgbClr val="FFFFFF"/>
                </a:solidFill>
                <a:latin typeface="Arial"/>
              </a:rPr>
              <a:t>Por qué hablamos de RMMs: los números</a:t>
            </a:r>
          </a:p>
        </p:txBody>
      </p:sp>
      <p:sp>
        <p:nvSpPr>
          <p:cNvPr id="6" name="TextBox 5"/>
          <p:cNvSpPr txBox="1"/>
          <p:nvPr/>
        </p:nvSpPr>
        <p:spPr>
          <a:xfrm>
            <a:off x="365760" y="822960"/>
            <a:ext cx="8412480" cy="365760"/>
          </a:xfrm>
          <a:prstGeom prst="rect">
            <a:avLst/>
          </a:prstGeom>
          <a:noFill/>
        </p:spPr>
        <p:txBody>
          <a:bodyPr wrap="square" lIns="0" tIns="0" rIns="0" bIns="0" anchor="t">
            <a:spAutoFit/>
          </a:bodyPr>
          <a:lstStyle/>
          <a:p>
            <a:pPr algn="l"/>
            <a:r>
              <a:rPr sz="1200" b="0">
                <a:solidFill>
                  <a:srgbClr val="525B66"/>
                </a:solidFill>
                <a:latin typeface="Arial"/>
              </a:rPr>
              <a:t>Living off the Land ya no es excepción. Es la norma operativa del cibercrimen.</a:t>
            </a:r>
          </a:p>
        </p:txBody>
      </p:sp>
      <p:sp>
        <p:nvSpPr>
          <p:cNvPr id="7" name="Rectangle 6"/>
          <p:cNvSpPr/>
          <p:nvPr/>
        </p:nvSpPr>
        <p:spPr>
          <a:xfrm>
            <a:off x="365760" y="1417320"/>
            <a:ext cx="2057400" cy="2286000"/>
          </a:xfrm>
          <a:prstGeom prst="rect">
            <a:avLst/>
          </a:prstGeom>
          <a:solidFill>
            <a:srgbClr val="FFFFFF"/>
          </a:solidFill>
          <a:ln w="63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417320"/>
            <a:ext cx="91440" cy="228600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1783080"/>
            <a:ext cx="1783080" cy="868680"/>
          </a:xfrm>
          <a:prstGeom prst="rect">
            <a:avLst/>
          </a:prstGeom>
          <a:noFill/>
        </p:spPr>
        <p:txBody>
          <a:bodyPr wrap="square" lIns="0" tIns="0" rIns="0" bIns="0" anchor="ctr">
            <a:spAutoFit/>
          </a:bodyPr>
          <a:lstStyle/>
          <a:p>
            <a:pPr algn="ctr"/>
            <a:r>
              <a:rPr sz="4200" b="1">
                <a:solidFill>
                  <a:srgbClr val="B2163F"/>
                </a:solidFill>
                <a:latin typeface="Arial"/>
              </a:rPr>
              <a:t>+277%</a:t>
            </a:r>
          </a:p>
        </p:txBody>
      </p:sp>
      <p:sp>
        <p:nvSpPr>
          <p:cNvPr id="10" name="TextBox 9"/>
          <p:cNvSpPr txBox="1"/>
          <p:nvPr/>
        </p:nvSpPr>
        <p:spPr>
          <a:xfrm>
            <a:off x="530352" y="2788920"/>
            <a:ext cx="1783080" cy="868680"/>
          </a:xfrm>
          <a:prstGeom prst="rect">
            <a:avLst/>
          </a:prstGeom>
          <a:noFill/>
        </p:spPr>
        <p:txBody>
          <a:bodyPr wrap="square" lIns="0" tIns="0" rIns="0" bIns="0" anchor="ctr">
            <a:spAutoFit/>
          </a:bodyPr>
          <a:lstStyle/>
          <a:p>
            <a:pPr algn="ctr"/>
            <a:r>
              <a:rPr sz="1000" b="0">
                <a:solidFill>
                  <a:srgbClr val="1F2937"/>
                </a:solidFill>
                <a:latin typeface="Arial"/>
              </a:rPr>
              <a:t>Aumento YoY en abuso de RMM (2025 vs 2024)</a:t>
            </a:r>
          </a:p>
        </p:txBody>
      </p:sp>
      <p:sp>
        <p:nvSpPr>
          <p:cNvPr id="11" name="Rectangle 10"/>
          <p:cNvSpPr/>
          <p:nvPr/>
        </p:nvSpPr>
        <p:spPr>
          <a:xfrm>
            <a:off x="2514600" y="1417320"/>
            <a:ext cx="2057400" cy="2286000"/>
          </a:xfrm>
          <a:prstGeom prst="rect">
            <a:avLst/>
          </a:prstGeom>
          <a:solidFill>
            <a:srgbClr val="FFFFFF"/>
          </a:solidFill>
          <a:ln w="63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4600" y="1417320"/>
            <a:ext cx="91440" cy="228600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79192" y="1783080"/>
            <a:ext cx="1783080" cy="868680"/>
          </a:xfrm>
          <a:prstGeom prst="rect">
            <a:avLst/>
          </a:prstGeom>
          <a:noFill/>
        </p:spPr>
        <p:txBody>
          <a:bodyPr wrap="square" lIns="0" tIns="0" rIns="0" bIns="0" anchor="ctr">
            <a:spAutoFit/>
          </a:bodyPr>
          <a:lstStyle/>
          <a:p>
            <a:pPr algn="ctr"/>
            <a:r>
              <a:rPr sz="4200" b="1">
                <a:solidFill>
                  <a:srgbClr val="B2163F"/>
                </a:solidFill>
                <a:latin typeface="Arial"/>
              </a:rPr>
              <a:t>24%</a:t>
            </a:r>
          </a:p>
        </p:txBody>
      </p:sp>
      <p:sp>
        <p:nvSpPr>
          <p:cNvPr id="14" name="TextBox 13"/>
          <p:cNvSpPr txBox="1"/>
          <p:nvPr/>
        </p:nvSpPr>
        <p:spPr>
          <a:xfrm>
            <a:off x="2679192" y="2788920"/>
            <a:ext cx="1783080" cy="868680"/>
          </a:xfrm>
          <a:prstGeom prst="rect">
            <a:avLst/>
          </a:prstGeom>
          <a:noFill/>
        </p:spPr>
        <p:txBody>
          <a:bodyPr wrap="square" lIns="0" tIns="0" rIns="0" bIns="0" anchor="ctr">
            <a:spAutoFit/>
          </a:bodyPr>
          <a:lstStyle/>
          <a:p>
            <a:pPr algn="ctr"/>
            <a:r>
              <a:rPr sz="1000" b="0">
                <a:solidFill>
                  <a:srgbClr val="1F2937"/>
                </a:solidFill>
                <a:latin typeface="Arial"/>
              </a:rPr>
              <a:t>1 de cada 4 incidentes involucra un RMM</a:t>
            </a:r>
          </a:p>
        </p:txBody>
      </p:sp>
      <p:sp>
        <p:nvSpPr>
          <p:cNvPr id="15" name="Rectangle 14"/>
          <p:cNvSpPr/>
          <p:nvPr/>
        </p:nvSpPr>
        <p:spPr>
          <a:xfrm>
            <a:off x="4663440" y="1417320"/>
            <a:ext cx="2057400" cy="2286000"/>
          </a:xfrm>
          <a:prstGeom prst="rect">
            <a:avLst/>
          </a:prstGeom>
          <a:solidFill>
            <a:srgbClr val="FFFFFF"/>
          </a:solidFill>
          <a:ln w="63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663440" y="1417320"/>
            <a:ext cx="91440" cy="228600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28032" y="1783080"/>
            <a:ext cx="1783080" cy="868680"/>
          </a:xfrm>
          <a:prstGeom prst="rect">
            <a:avLst/>
          </a:prstGeom>
          <a:noFill/>
        </p:spPr>
        <p:txBody>
          <a:bodyPr wrap="square" lIns="0" tIns="0" rIns="0" bIns="0" anchor="ctr">
            <a:spAutoFit/>
          </a:bodyPr>
          <a:lstStyle/>
          <a:p>
            <a:pPr algn="ctr"/>
            <a:r>
              <a:rPr sz="4200" b="1">
                <a:solidFill>
                  <a:srgbClr val="B2163F"/>
                </a:solidFill>
                <a:latin typeface="Arial"/>
              </a:rPr>
              <a:t>59.4%</a:t>
            </a:r>
          </a:p>
        </p:txBody>
      </p:sp>
      <p:sp>
        <p:nvSpPr>
          <p:cNvPr id="18" name="TextBox 17"/>
          <p:cNvSpPr txBox="1"/>
          <p:nvPr/>
        </p:nvSpPr>
        <p:spPr>
          <a:xfrm>
            <a:off x="4828032" y="2788920"/>
            <a:ext cx="1783080" cy="868680"/>
          </a:xfrm>
          <a:prstGeom prst="rect">
            <a:avLst/>
          </a:prstGeom>
          <a:noFill/>
        </p:spPr>
        <p:txBody>
          <a:bodyPr wrap="square" lIns="0" tIns="0" rIns="0" bIns="0" anchor="ctr">
            <a:spAutoFit/>
          </a:bodyPr>
          <a:lstStyle/>
          <a:p>
            <a:pPr algn="ctr"/>
            <a:r>
              <a:rPr sz="1000" b="0">
                <a:solidFill>
                  <a:srgbClr val="1F2937"/>
                </a:solidFill>
                <a:latin typeface="Arial"/>
              </a:rPr>
              <a:t>Ransomware que entra por external remote access</a:t>
            </a:r>
          </a:p>
        </p:txBody>
      </p:sp>
      <p:sp>
        <p:nvSpPr>
          <p:cNvPr id="19" name="Rectangle 18"/>
          <p:cNvSpPr/>
          <p:nvPr/>
        </p:nvSpPr>
        <p:spPr>
          <a:xfrm>
            <a:off x="6812280" y="1417320"/>
            <a:ext cx="2057400" cy="2286000"/>
          </a:xfrm>
          <a:prstGeom prst="rect">
            <a:avLst/>
          </a:prstGeom>
          <a:solidFill>
            <a:srgbClr val="FFFFFF"/>
          </a:solidFill>
          <a:ln w="63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812280" y="1417320"/>
            <a:ext cx="91440" cy="228600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76872" y="1783080"/>
            <a:ext cx="1783080" cy="868680"/>
          </a:xfrm>
          <a:prstGeom prst="rect">
            <a:avLst/>
          </a:prstGeom>
          <a:noFill/>
        </p:spPr>
        <p:txBody>
          <a:bodyPr wrap="square" lIns="0" tIns="0" rIns="0" bIns="0" anchor="ctr">
            <a:spAutoFit/>
          </a:bodyPr>
          <a:lstStyle/>
          <a:p>
            <a:pPr algn="ctr"/>
            <a:r>
              <a:rPr sz="4200" b="1">
                <a:solidFill>
                  <a:srgbClr val="B2163F"/>
                </a:solidFill>
                <a:latin typeface="Arial"/>
              </a:rPr>
              <a:t>51.3%</a:t>
            </a:r>
          </a:p>
        </p:txBody>
      </p:sp>
      <p:sp>
        <p:nvSpPr>
          <p:cNvPr id="22" name="TextBox 21"/>
          <p:cNvSpPr txBox="1"/>
          <p:nvPr/>
        </p:nvSpPr>
        <p:spPr>
          <a:xfrm>
            <a:off x="6976872" y="2788920"/>
            <a:ext cx="1783080" cy="868680"/>
          </a:xfrm>
          <a:prstGeom prst="rect">
            <a:avLst/>
          </a:prstGeom>
          <a:noFill/>
        </p:spPr>
        <p:txBody>
          <a:bodyPr wrap="square" lIns="0" tIns="0" rIns="0" bIns="0" anchor="ctr">
            <a:spAutoFit/>
          </a:bodyPr>
          <a:lstStyle/>
          <a:p>
            <a:pPr algn="ctr"/>
            <a:r>
              <a:rPr sz="1000" b="0">
                <a:solidFill>
                  <a:srgbClr val="1F2937"/>
                </a:solidFill>
                <a:latin typeface="Arial"/>
              </a:rPr>
              <a:t>Concentración de Big Four: Akira · Medusa · Qilin · RansomHub</a:t>
            </a:r>
          </a:p>
        </p:txBody>
      </p:sp>
      <p:sp>
        <p:nvSpPr>
          <p:cNvPr id="23" name="Rectangle 22"/>
          <p:cNvSpPr/>
          <p:nvPr/>
        </p:nvSpPr>
        <p:spPr>
          <a:xfrm>
            <a:off x="365760" y="3931920"/>
            <a:ext cx="8412480" cy="71323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3986784"/>
            <a:ext cx="8138160" cy="365760"/>
          </a:xfrm>
          <a:prstGeom prst="rect">
            <a:avLst/>
          </a:prstGeom>
          <a:noFill/>
        </p:spPr>
        <p:txBody>
          <a:bodyPr wrap="square" lIns="0" tIns="0" rIns="0" bIns="0" anchor="t">
            <a:spAutoFit/>
          </a:bodyPr>
          <a:lstStyle/>
          <a:p>
            <a:pPr algn="l"/>
            <a:r>
              <a:rPr sz="1050" b="1">
                <a:solidFill>
                  <a:srgbClr val="FFFFFF"/>
                </a:solidFill>
                <a:latin typeface="Arial"/>
              </a:rPr>
              <a:t>"Los atacantes continúan apoyándose en la eficiencia operativa — iniciando sesión en lugar de irrumpir,</a:t>
            </a:r>
          </a:p>
        </p:txBody>
      </p:sp>
      <p:sp>
        <p:nvSpPr>
          <p:cNvPr id="25" name="TextBox 24"/>
          <p:cNvSpPr txBox="1"/>
          <p:nvPr/>
        </p:nvSpPr>
        <p:spPr>
          <a:xfrm>
            <a:off x="502920" y="4187952"/>
            <a:ext cx="8138160" cy="365760"/>
          </a:xfrm>
          <a:prstGeom prst="rect">
            <a:avLst/>
          </a:prstGeom>
          <a:noFill/>
        </p:spPr>
        <p:txBody>
          <a:bodyPr wrap="square" lIns="0" tIns="0" rIns="0" bIns="0" anchor="t">
            <a:spAutoFit/>
          </a:bodyPr>
          <a:lstStyle/>
          <a:p>
            <a:pPr algn="l"/>
            <a:r>
              <a:rPr sz="1050" b="1">
                <a:solidFill>
                  <a:srgbClr val="FFFFFF"/>
                </a:solidFill>
                <a:latin typeface="Arial"/>
              </a:rPr>
              <a:t>robando datos en lugar de cifrarlos, y explotando herramientas confiables en lugar de vulnerabilidades complejas."</a:t>
            </a:r>
          </a:p>
        </p:txBody>
      </p:sp>
      <p:sp>
        <p:nvSpPr>
          <p:cNvPr id="26" name="TextBox 25"/>
          <p:cNvSpPr txBox="1"/>
          <p:nvPr/>
        </p:nvSpPr>
        <p:spPr>
          <a:xfrm>
            <a:off x="502920" y="4434840"/>
            <a:ext cx="8138160" cy="182880"/>
          </a:xfrm>
          <a:prstGeom prst="rect">
            <a:avLst/>
          </a:prstGeom>
          <a:noFill/>
        </p:spPr>
        <p:txBody>
          <a:bodyPr wrap="square" lIns="0" tIns="0" rIns="0" bIns="0" anchor="t">
            <a:spAutoFit/>
          </a:bodyPr>
          <a:lstStyle/>
          <a:p>
            <a:pPr algn="l"/>
            <a:r>
              <a:rPr sz="800" b="0">
                <a:solidFill>
                  <a:srgbClr val="D1D5DB"/>
                </a:solidFill>
                <a:latin typeface="Arial"/>
              </a:rPr>
              <a:t>— Ismael Valenzuela · VP of Labs · Arctic Wolf</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02727"/>
            <a:ext cx="8412480" cy="307777"/>
          </a:xfrm>
          <a:prstGeom prst="rect">
            <a:avLst/>
          </a:prstGeom>
          <a:noFill/>
        </p:spPr>
        <p:txBody>
          <a:bodyPr wrap="square" lIns="0" tIns="0" rIns="0" bIns="0" anchor="ctr">
            <a:spAutoFit/>
          </a:bodyPr>
          <a:lstStyle/>
          <a:p>
            <a:pPr algn="l"/>
            <a:r>
              <a:rPr sz="2000" b="1" dirty="0">
                <a:solidFill>
                  <a:srgbClr val="FFFFFF"/>
                </a:solidFill>
                <a:latin typeface="Arial"/>
              </a:rPr>
              <a:t>Living off the Land · RMMs </a:t>
            </a:r>
            <a:r>
              <a:rPr lang="es-419" sz="2000" b="1" dirty="0">
                <a:solidFill>
                  <a:srgbClr val="FFFFFF"/>
                </a:solidFill>
                <a:latin typeface="Arial"/>
              </a:rPr>
              <a:t>utilizadas</a:t>
            </a:r>
            <a:r>
              <a:rPr sz="2000" b="1" dirty="0">
                <a:solidFill>
                  <a:srgbClr val="FFFFFF"/>
                </a:solidFill>
                <a:latin typeface="Arial"/>
              </a:rPr>
              <a:t> </a:t>
            </a:r>
            <a:r>
              <a:rPr sz="2000" b="1" dirty="0" err="1">
                <a:solidFill>
                  <a:srgbClr val="FFFFFF"/>
                </a:solidFill>
                <a:latin typeface="Arial"/>
              </a:rPr>
              <a:t>por</a:t>
            </a:r>
            <a:r>
              <a:rPr sz="2000" b="1" dirty="0">
                <a:solidFill>
                  <a:srgbClr val="FFFFFF"/>
                </a:solidFill>
                <a:latin typeface="Arial"/>
              </a:rPr>
              <a:t> </a:t>
            </a:r>
            <a:r>
              <a:rPr sz="2000" b="1" dirty="0" err="1">
                <a:solidFill>
                  <a:srgbClr val="FFFFFF"/>
                </a:solidFill>
                <a:latin typeface="Arial"/>
              </a:rPr>
              <a:t>adversarios</a:t>
            </a:r>
            <a:endParaRPr sz="2000" b="1" dirty="0">
              <a:solidFill>
                <a:srgbClr val="FFFFFF"/>
              </a:solidFill>
              <a:latin typeface="Arial"/>
            </a:endParaRPr>
          </a:p>
        </p:txBody>
      </p:sp>
      <p:sp>
        <p:nvSpPr>
          <p:cNvPr id="5" name="TextBox 4"/>
          <p:cNvSpPr txBox="1"/>
          <p:nvPr/>
        </p:nvSpPr>
        <p:spPr>
          <a:xfrm>
            <a:off x="365760" y="1261872"/>
            <a:ext cx="8412480" cy="256032"/>
          </a:xfrm>
          <a:prstGeom prst="rect">
            <a:avLst/>
          </a:prstGeom>
          <a:noFill/>
        </p:spPr>
        <p:txBody>
          <a:bodyPr wrap="square" lIns="0" tIns="0" rIns="0" bIns="0" anchor="t">
            <a:spAutoFit/>
          </a:bodyPr>
          <a:lstStyle/>
          <a:p>
            <a:pPr algn="l"/>
            <a:r>
              <a:rPr sz="1000" b="1">
                <a:solidFill>
                  <a:srgbClr val="B2163F"/>
                </a:solidFill>
                <a:latin typeface="Arial"/>
              </a:rPr>
              <a:t>TOP TIER · las más citadas en incidentes recientes</a:t>
            </a:r>
          </a:p>
        </p:txBody>
      </p:sp>
      <p:sp>
        <p:nvSpPr>
          <p:cNvPr id="6" name="Rectangle 5"/>
          <p:cNvSpPr/>
          <p:nvPr/>
        </p:nvSpPr>
        <p:spPr>
          <a:xfrm>
            <a:off x="365760" y="1554480"/>
            <a:ext cx="2057400" cy="1097280"/>
          </a:xfrm>
          <a:prstGeom prst="rect">
            <a:avLst/>
          </a:prstGeom>
          <a:solidFill>
            <a:srgbClr val="FFFFFF"/>
          </a:solidFill>
          <a:ln w="63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554480"/>
            <a:ext cx="73152" cy="10972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0352" y="1645920"/>
            <a:ext cx="1828800" cy="292608"/>
          </a:xfrm>
          <a:prstGeom prst="rect">
            <a:avLst/>
          </a:prstGeom>
          <a:noFill/>
        </p:spPr>
        <p:txBody>
          <a:bodyPr wrap="square" lIns="0" tIns="0" rIns="0" bIns="0" anchor="t">
            <a:spAutoFit/>
          </a:bodyPr>
          <a:lstStyle/>
          <a:p>
            <a:pPr algn="l"/>
            <a:r>
              <a:rPr sz="1300" b="1">
                <a:solidFill>
                  <a:srgbClr val="1F2937"/>
                </a:solidFill>
                <a:latin typeface="Arial"/>
              </a:rPr>
              <a:t>ScreenConnect</a:t>
            </a:r>
          </a:p>
        </p:txBody>
      </p:sp>
      <p:sp>
        <p:nvSpPr>
          <p:cNvPr id="9" name="TextBox 8"/>
          <p:cNvSpPr txBox="1"/>
          <p:nvPr/>
        </p:nvSpPr>
        <p:spPr>
          <a:xfrm>
            <a:off x="530352" y="1938528"/>
            <a:ext cx="1828800" cy="256032"/>
          </a:xfrm>
          <a:prstGeom prst="rect">
            <a:avLst/>
          </a:prstGeom>
          <a:noFill/>
        </p:spPr>
        <p:txBody>
          <a:bodyPr wrap="square" lIns="0" tIns="0" rIns="0" bIns="0" anchor="t">
            <a:spAutoFit/>
          </a:bodyPr>
          <a:lstStyle/>
          <a:p>
            <a:pPr algn="l"/>
            <a:r>
              <a:rPr sz="900" b="0">
                <a:solidFill>
                  <a:srgbClr val="B2163F"/>
                </a:solidFill>
                <a:latin typeface="Arial"/>
              </a:rPr>
              <a:t>ConnectWise Control</a:t>
            </a:r>
          </a:p>
        </p:txBody>
      </p:sp>
      <p:sp>
        <p:nvSpPr>
          <p:cNvPr id="10" name="TextBox 9"/>
          <p:cNvSpPr txBox="1"/>
          <p:nvPr/>
        </p:nvSpPr>
        <p:spPr>
          <a:xfrm>
            <a:off x="530352" y="2194560"/>
            <a:ext cx="1828800" cy="411480"/>
          </a:xfrm>
          <a:prstGeom prst="rect">
            <a:avLst/>
          </a:prstGeom>
          <a:noFill/>
        </p:spPr>
        <p:txBody>
          <a:bodyPr wrap="square" lIns="0" tIns="0" rIns="0" bIns="0" anchor="t">
            <a:spAutoFit/>
          </a:bodyPr>
          <a:lstStyle/>
          <a:p>
            <a:pPr algn="l"/>
            <a:r>
              <a:rPr sz="950" b="0" dirty="0">
                <a:solidFill>
                  <a:srgbClr val="525B66"/>
                </a:solidFill>
                <a:latin typeface="Arial"/>
              </a:rPr>
              <a:t>El </a:t>
            </a:r>
            <a:r>
              <a:rPr sz="950" b="0" dirty="0" err="1">
                <a:solidFill>
                  <a:srgbClr val="525B66"/>
                </a:solidFill>
                <a:latin typeface="Arial"/>
              </a:rPr>
              <a:t>más</a:t>
            </a:r>
            <a:r>
              <a:rPr sz="950" b="0" dirty="0">
                <a:solidFill>
                  <a:srgbClr val="525B66"/>
                </a:solidFill>
                <a:latin typeface="Arial"/>
              </a:rPr>
              <a:t> </a:t>
            </a:r>
            <a:r>
              <a:rPr sz="950" b="0" dirty="0" err="1">
                <a:solidFill>
                  <a:srgbClr val="525B66"/>
                </a:solidFill>
                <a:latin typeface="Arial"/>
              </a:rPr>
              <a:t>citado</a:t>
            </a:r>
            <a:r>
              <a:rPr sz="950" b="0" dirty="0">
                <a:solidFill>
                  <a:srgbClr val="525B66"/>
                </a:solidFill>
                <a:latin typeface="Arial"/>
              </a:rPr>
              <a:t> de </a:t>
            </a:r>
            <a:r>
              <a:rPr sz="950" b="0" dirty="0" err="1">
                <a:solidFill>
                  <a:srgbClr val="525B66"/>
                </a:solidFill>
                <a:latin typeface="Arial"/>
              </a:rPr>
              <a:t>todos</a:t>
            </a:r>
            <a:r>
              <a:rPr sz="950" b="0" dirty="0">
                <a:solidFill>
                  <a:srgbClr val="525B66"/>
                </a:solidFill>
                <a:latin typeface="Arial"/>
              </a:rPr>
              <a:t> </a:t>
            </a:r>
            <a:r>
              <a:rPr sz="950" b="0" dirty="0" err="1">
                <a:solidFill>
                  <a:srgbClr val="525B66"/>
                </a:solidFill>
                <a:latin typeface="Arial"/>
              </a:rPr>
              <a:t>en</a:t>
            </a:r>
            <a:r>
              <a:rPr sz="950" b="0" dirty="0">
                <a:solidFill>
                  <a:srgbClr val="525B66"/>
                </a:solidFill>
                <a:latin typeface="Arial"/>
              </a:rPr>
              <a:t> </a:t>
            </a:r>
            <a:r>
              <a:rPr sz="950" b="0" dirty="0" err="1">
                <a:solidFill>
                  <a:srgbClr val="525B66"/>
                </a:solidFill>
                <a:latin typeface="Arial"/>
              </a:rPr>
              <a:t>incidentes</a:t>
            </a:r>
            <a:r>
              <a:rPr sz="950" b="0" dirty="0">
                <a:solidFill>
                  <a:srgbClr val="525B66"/>
                </a:solidFill>
                <a:latin typeface="Arial"/>
              </a:rPr>
              <a:t>.</a:t>
            </a:r>
          </a:p>
        </p:txBody>
      </p:sp>
      <p:sp>
        <p:nvSpPr>
          <p:cNvPr id="11" name="Rectangle 10"/>
          <p:cNvSpPr/>
          <p:nvPr/>
        </p:nvSpPr>
        <p:spPr>
          <a:xfrm>
            <a:off x="2514600" y="1554480"/>
            <a:ext cx="2057400" cy="1097280"/>
          </a:xfrm>
          <a:prstGeom prst="rect">
            <a:avLst/>
          </a:prstGeom>
          <a:solidFill>
            <a:srgbClr val="FFFFFF"/>
          </a:solidFill>
          <a:ln w="63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4600" y="1554480"/>
            <a:ext cx="73152" cy="10972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79192" y="1645920"/>
            <a:ext cx="1828800" cy="292608"/>
          </a:xfrm>
          <a:prstGeom prst="rect">
            <a:avLst/>
          </a:prstGeom>
          <a:noFill/>
        </p:spPr>
        <p:txBody>
          <a:bodyPr wrap="square" lIns="0" tIns="0" rIns="0" bIns="0" anchor="t">
            <a:spAutoFit/>
          </a:bodyPr>
          <a:lstStyle/>
          <a:p>
            <a:pPr algn="l"/>
            <a:r>
              <a:rPr sz="1300" b="1">
                <a:solidFill>
                  <a:srgbClr val="1F2937"/>
                </a:solidFill>
                <a:latin typeface="Arial"/>
              </a:rPr>
              <a:t>SimpleHelp</a:t>
            </a:r>
          </a:p>
        </p:txBody>
      </p:sp>
      <p:sp>
        <p:nvSpPr>
          <p:cNvPr id="14" name="TextBox 13"/>
          <p:cNvSpPr txBox="1"/>
          <p:nvPr/>
        </p:nvSpPr>
        <p:spPr>
          <a:xfrm>
            <a:off x="2679192" y="1938528"/>
            <a:ext cx="1828800" cy="256032"/>
          </a:xfrm>
          <a:prstGeom prst="rect">
            <a:avLst/>
          </a:prstGeom>
          <a:noFill/>
        </p:spPr>
        <p:txBody>
          <a:bodyPr wrap="square" lIns="0" tIns="0" rIns="0" bIns="0" anchor="t">
            <a:spAutoFit/>
          </a:bodyPr>
          <a:lstStyle/>
          <a:p>
            <a:pPr algn="l"/>
            <a:r>
              <a:rPr sz="900" b="0" dirty="0">
                <a:solidFill>
                  <a:srgbClr val="B2163F"/>
                </a:solidFill>
                <a:latin typeface="Arial"/>
              </a:rPr>
              <a:t>Medusa · </a:t>
            </a:r>
            <a:r>
              <a:rPr sz="900" b="0" dirty="0" err="1">
                <a:solidFill>
                  <a:srgbClr val="B2163F"/>
                </a:solidFill>
                <a:latin typeface="Arial"/>
              </a:rPr>
              <a:t>DragonForce</a:t>
            </a:r>
            <a:endParaRPr sz="900" b="0" dirty="0">
              <a:solidFill>
                <a:srgbClr val="B2163F"/>
              </a:solidFill>
              <a:latin typeface="Arial"/>
            </a:endParaRPr>
          </a:p>
        </p:txBody>
      </p:sp>
      <p:sp>
        <p:nvSpPr>
          <p:cNvPr id="15" name="TextBox 14"/>
          <p:cNvSpPr txBox="1"/>
          <p:nvPr/>
        </p:nvSpPr>
        <p:spPr>
          <a:xfrm>
            <a:off x="2679192" y="2194560"/>
            <a:ext cx="1828800" cy="411480"/>
          </a:xfrm>
          <a:prstGeom prst="rect">
            <a:avLst/>
          </a:prstGeom>
          <a:noFill/>
        </p:spPr>
        <p:txBody>
          <a:bodyPr wrap="square" lIns="0" tIns="0" rIns="0" bIns="0" anchor="t">
            <a:spAutoFit/>
          </a:bodyPr>
          <a:lstStyle/>
          <a:p>
            <a:pPr algn="l"/>
            <a:r>
              <a:rPr sz="950" b="0">
                <a:solidFill>
                  <a:srgbClr val="525B66"/>
                </a:solidFill>
                <a:latin typeface="Arial"/>
              </a:rPr>
              <a:t>Protagonista en campañas de ransomware.</a:t>
            </a:r>
          </a:p>
        </p:txBody>
      </p:sp>
      <p:sp>
        <p:nvSpPr>
          <p:cNvPr id="16" name="Rectangle 15"/>
          <p:cNvSpPr/>
          <p:nvPr/>
        </p:nvSpPr>
        <p:spPr>
          <a:xfrm>
            <a:off x="4663440" y="1554480"/>
            <a:ext cx="2057400" cy="1097280"/>
          </a:xfrm>
          <a:prstGeom prst="rect">
            <a:avLst/>
          </a:prstGeom>
          <a:solidFill>
            <a:srgbClr val="FFFFFF"/>
          </a:solidFill>
          <a:ln w="63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663440" y="1554480"/>
            <a:ext cx="73152" cy="10972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828032" y="1645920"/>
            <a:ext cx="1828800" cy="292608"/>
          </a:xfrm>
          <a:prstGeom prst="rect">
            <a:avLst/>
          </a:prstGeom>
          <a:noFill/>
        </p:spPr>
        <p:txBody>
          <a:bodyPr wrap="square" lIns="0" tIns="0" rIns="0" bIns="0" anchor="t">
            <a:spAutoFit/>
          </a:bodyPr>
          <a:lstStyle/>
          <a:p>
            <a:pPr algn="l"/>
            <a:r>
              <a:rPr sz="1300" b="1">
                <a:solidFill>
                  <a:srgbClr val="1F2937"/>
                </a:solidFill>
                <a:latin typeface="Arial"/>
              </a:rPr>
              <a:t>AnyDesk</a:t>
            </a:r>
          </a:p>
        </p:txBody>
      </p:sp>
      <p:sp>
        <p:nvSpPr>
          <p:cNvPr id="19" name="TextBox 18"/>
          <p:cNvSpPr txBox="1"/>
          <p:nvPr/>
        </p:nvSpPr>
        <p:spPr>
          <a:xfrm>
            <a:off x="4828032" y="1938528"/>
            <a:ext cx="1828800" cy="138499"/>
          </a:xfrm>
          <a:prstGeom prst="rect">
            <a:avLst/>
          </a:prstGeom>
          <a:noFill/>
        </p:spPr>
        <p:txBody>
          <a:bodyPr wrap="square" lIns="0" tIns="0" rIns="0" bIns="0" anchor="t">
            <a:spAutoFit/>
          </a:bodyPr>
          <a:lstStyle/>
          <a:p>
            <a:r>
              <a:rPr lang="en-AR" sz="900" dirty="0">
                <a:solidFill>
                  <a:srgbClr val="B2163F"/>
                </a:solidFill>
              </a:rPr>
              <a:t>LockBit</a:t>
            </a:r>
            <a:endParaRPr sz="900" b="0" dirty="0">
              <a:solidFill>
                <a:srgbClr val="B2163F"/>
              </a:solidFill>
              <a:latin typeface="Arial"/>
            </a:endParaRPr>
          </a:p>
        </p:txBody>
      </p:sp>
      <p:sp>
        <p:nvSpPr>
          <p:cNvPr id="20" name="TextBox 19"/>
          <p:cNvSpPr txBox="1"/>
          <p:nvPr/>
        </p:nvSpPr>
        <p:spPr>
          <a:xfrm>
            <a:off x="4828032" y="2194560"/>
            <a:ext cx="1828800" cy="411480"/>
          </a:xfrm>
          <a:prstGeom prst="rect">
            <a:avLst/>
          </a:prstGeom>
          <a:noFill/>
        </p:spPr>
        <p:txBody>
          <a:bodyPr wrap="square" lIns="0" tIns="0" rIns="0" bIns="0" anchor="t">
            <a:spAutoFit/>
          </a:bodyPr>
          <a:lstStyle/>
          <a:p>
            <a:pPr algn="l"/>
            <a:r>
              <a:rPr sz="950" b="0">
                <a:solidFill>
                  <a:srgbClr val="525B66"/>
                </a:solidFill>
                <a:latin typeface="Arial"/>
              </a:rPr>
              <a:t>Habitual para post-compromiso.</a:t>
            </a:r>
          </a:p>
        </p:txBody>
      </p:sp>
      <p:sp>
        <p:nvSpPr>
          <p:cNvPr id="21" name="Rectangle 20"/>
          <p:cNvSpPr/>
          <p:nvPr/>
        </p:nvSpPr>
        <p:spPr>
          <a:xfrm>
            <a:off x="6812280" y="1554480"/>
            <a:ext cx="2057400" cy="1097280"/>
          </a:xfrm>
          <a:prstGeom prst="rect">
            <a:avLst/>
          </a:prstGeom>
          <a:solidFill>
            <a:srgbClr val="FFFFFF"/>
          </a:solidFill>
          <a:ln w="63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812280" y="1554480"/>
            <a:ext cx="73152" cy="10972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76872" y="1645920"/>
            <a:ext cx="1828800" cy="292608"/>
          </a:xfrm>
          <a:prstGeom prst="rect">
            <a:avLst/>
          </a:prstGeom>
          <a:noFill/>
        </p:spPr>
        <p:txBody>
          <a:bodyPr wrap="square" lIns="0" tIns="0" rIns="0" bIns="0" anchor="t">
            <a:spAutoFit/>
          </a:bodyPr>
          <a:lstStyle/>
          <a:p>
            <a:pPr algn="l"/>
            <a:r>
              <a:rPr sz="1300" b="1">
                <a:solidFill>
                  <a:srgbClr val="1F2937"/>
                </a:solidFill>
                <a:latin typeface="Arial"/>
              </a:rPr>
              <a:t>TeamViewer</a:t>
            </a:r>
          </a:p>
        </p:txBody>
      </p:sp>
      <p:sp>
        <p:nvSpPr>
          <p:cNvPr id="24" name="TextBox 23"/>
          <p:cNvSpPr txBox="1"/>
          <p:nvPr/>
        </p:nvSpPr>
        <p:spPr>
          <a:xfrm>
            <a:off x="6976872" y="1938528"/>
            <a:ext cx="1828800" cy="138499"/>
          </a:xfrm>
          <a:prstGeom prst="rect">
            <a:avLst/>
          </a:prstGeom>
          <a:noFill/>
        </p:spPr>
        <p:txBody>
          <a:bodyPr wrap="square" lIns="0" tIns="0" rIns="0" bIns="0" anchor="t">
            <a:spAutoFit/>
          </a:bodyPr>
          <a:lstStyle/>
          <a:p>
            <a:r>
              <a:rPr lang="en-AR" sz="900" dirty="0">
                <a:solidFill>
                  <a:srgbClr val="B2163F"/>
                </a:solidFill>
              </a:rPr>
              <a:t>BianLian</a:t>
            </a:r>
            <a:endParaRPr sz="900" dirty="0">
              <a:solidFill>
                <a:srgbClr val="B2163F"/>
              </a:solidFill>
            </a:endParaRPr>
          </a:p>
        </p:txBody>
      </p:sp>
      <p:sp>
        <p:nvSpPr>
          <p:cNvPr id="25" name="TextBox 24"/>
          <p:cNvSpPr txBox="1"/>
          <p:nvPr/>
        </p:nvSpPr>
        <p:spPr>
          <a:xfrm>
            <a:off x="6976872" y="2194560"/>
            <a:ext cx="1828800" cy="146194"/>
          </a:xfrm>
          <a:prstGeom prst="rect">
            <a:avLst/>
          </a:prstGeom>
          <a:noFill/>
        </p:spPr>
        <p:txBody>
          <a:bodyPr wrap="square" lIns="0" tIns="0" rIns="0" bIns="0" anchor="t">
            <a:spAutoFit/>
          </a:bodyPr>
          <a:lstStyle/>
          <a:p>
            <a:pPr algn="l"/>
            <a:r>
              <a:rPr lang="es-419" sz="950" b="0" dirty="0">
                <a:solidFill>
                  <a:srgbClr val="525B66"/>
                </a:solidFill>
                <a:latin typeface="Arial"/>
              </a:rPr>
              <a:t>Uno de los más usados post-compromiso.</a:t>
            </a:r>
            <a:endParaRPr sz="950" b="0" dirty="0">
              <a:solidFill>
                <a:srgbClr val="525B66"/>
              </a:solidFill>
              <a:latin typeface="Arial"/>
            </a:endParaRPr>
          </a:p>
        </p:txBody>
      </p:sp>
      <p:sp>
        <p:nvSpPr>
          <p:cNvPr id="26" name="TextBox 25"/>
          <p:cNvSpPr txBox="1"/>
          <p:nvPr/>
        </p:nvSpPr>
        <p:spPr>
          <a:xfrm>
            <a:off x="365760" y="2743200"/>
            <a:ext cx="8412480" cy="256032"/>
          </a:xfrm>
          <a:prstGeom prst="rect">
            <a:avLst/>
          </a:prstGeom>
          <a:noFill/>
        </p:spPr>
        <p:txBody>
          <a:bodyPr wrap="square" lIns="0" tIns="0" rIns="0" bIns="0" anchor="t">
            <a:spAutoFit/>
          </a:bodyPr>
          <a:lstStyle/>
          <a:p>
            <a:pPr algn="l"/>
            <a:r>
              <a:rPr sz="1000" b="1">
                <a:solidFill>
                  <a:srgbClr val="B2163F"/>
                </a:solidFill>
                <a:latin typeface="Arial"/>
              </a:rPr>
              <a:t>VISTAS EN CAMPAÑAS · APTs, ransomware, vishing</a:t>
            </a:r>
          </a:p>
        </p:txBody>
      </p:sp>
      <p:sp>
        <p:nvSpPr>
          <p:cNvPr id="27" name="Rectangle 26"/>
          <p:cNvSpPr/>
          <p:nvPr/>
        </p:nvSpPr>
        <p:spPr>
          <a:xfrm>
            <a:off x="365760" y="3017520"/>
            <a:ext cx="2057400" cy="777240"/>
          </a:xfrm>
          <a:prstGeom prst="rect">
            <a:avLst/>
          </a:prstGeom>
          <a:solidFill>
            <a:srgbClr val="FFFFFF"/>
          </a:solidFill>
          <a:ln w="63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65760" y="3017520"/>
            <a:ext cx="73152" cy="77724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0352" y="3108960"/>
            <a:ext cx="1828800" cy="292608"/>
          </a:xfrm>
          <a:prstGeom prst="rect">
            <a:avLst/>
          </a:prstGeom>
          <a:noFill/>
        </p:spPr>
        <p:txBody>
          <a:bodyPr wrap="square" lIns="0" tIns="0" rIns="0" bIns="0" anchor="t">
            <a:spAutoFit/>
          </a:bodyPr>
          <a:lstStyle/>
          <a:p>
            <a:pPr algn="l"/>
            <a:r>
              <a:rPr sz="1200" b="1">
                <a:solidFill>
                  <a:srgbClr val="1F2937"/>
                </a:solidFill>
                <a:latin typeface="Arial"/>
              </a:rPr>
              <a:t>Atera</a:t>
            </a:r>
          </a:p>
        </p:txBody>
      </p:sp>
      <p:sp>
        <p:nvSpPr>
          <p:cNvPr id="30" name="TextBox 29"/>
          <p:cNvSpPr txBox="1"/>
          <p:nvPr/>
        </p:nvSpPr>
        <p:spPr>
          <a:xfrm>
            <a:off x="530352" y="3401568"/>
            <a:ext cx="1828800" cy="365760"/>
          </a:xfrm>
          <a:prstGeom prst="rect">
            <a:avLst/>
          </a:prstGeom>
          <a:noFill/>
        </p:spPr>
        <p:txBody>
          <a:bodyPr wrap="square" lIns="0" tIns="0" rIns="0" bIns="0" anchor="t">
            <a:spAutoFit/>
          </a:bodyPr>
          <a:lstStyle/>
          <a:p>
            <a:pPr algn="l"/>
            <a:r>
              <a:rPr sz="900" b="0">
                <a:solidFill>
                  <a:srgbClr val="525B66"/>
                </a:solidFill>
                <a:latin typeface="Arial"/>
              </a:rPr>
              <a:t>MuddyWater · Royal · BianLian · ALPHV</a:t>
            </a:r>
          </a:p>
        </p:txBody>
      </p:sp>
      <p:sp>
        <p:nvSpPr>
          <p:cNvPr id="31" name="Rectangle 30"/>
          <p:cNvSpPr/>
          <p:nvPr/>
        </p:nvSpPr>
        <p:spPr>
          <a:xfrm>
            <a:off x="2514600" y="3017520"/>
            <a:ext cx="2057400" cy="777240"/>
          </a:xfrm>
          <a:prstGeom prst="rect">
            <a:avLst/>
          </a:prstGeom>
          <a:solidFill>
            <a:srgbClr val="FFFFFF"/>
          </a:solidFill>
          <a:ln w="63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514600" y="3017520"/>
            <a:ext cx="73152" cy="77724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679192" y="3108960"/>
            <a:ext cx="1828800" cy="292608"/>
          </a:xfrm>
          <a:prstGeom prst="rect">
            <a:avLst/>
          </a:prstGeom>
          <a:noFill/>
        </p:spPr>
        <p:txBody>
          <a:bodyPr wrap="square" lIns="0" tIns="0" rIns="0" bIns="0" anchor="t">
            <a:spAutoFit/>
          </a:bodyPr>
          <a:lstStyle/>
          <a:p>
            <a:pPr algn="l"/>
            <a:r>
              <a:rPr sz="1200" b="1">
                <a:solidFill>
                  <a:srgbClr val="1F2937"/>
                </a:solidFill>
                <a:latin typeface="Arial"/>
              </a:rPr>
              <a:t>NetSupport Mgr</a:t>
            </a:r>
          </a:p>
        </p:txBody>
      </p:sp>
      <p:sp>
        <p:nvSpPr>
          <p:cNvPr id="34" name="TextBox 33"/>
          <p:cNvSpPr txBox="1"/>
          <p:nvPr/>
        </p:nvSpPr>
        <p:spPr>
          <a:xfrm>
            <a:off x="2679192" y="3401568"/>
            <a:ext cx="1828800" cy="365760"/>
          </a:xfrm>
          <a:prstGeom prst="rect">
            <a:avLst/>
          </a:prstGeom>
          <a:noFill/>
        </p:spPr>
        <p:txBody>
          <a:bodyPr wrap="square" lIns="0" tIns="0" rIns="0" bIns="0" anchor="t">
            <a:spAutoFit/>
          </a:bodyPr>
          <a:lstStyle/>
          <a:p>
            <a:pPr algn="l"/>
            <a:r>
              <a:rPr sz="900" b="0">
                <a:solidFill>
                  <a:srgbClr val="525B66"/>
                </a:solidFill>
                <a:latin typeface="Arial"/>
              </a:rPr>
              <a:t>RAT legacy · Top 4 Red Canary</a:t>
            </a:r>
          </a:p>
        </p:txBody>
      </p:sp>
      <p:sp>
        <p:nvSpPr>
          <p:cNvPr id="35" name="Rectangle 34"/>
          <p:cNvSpPr/>
          <p:nvPr/>
        </p:nvSpPr>
        <p:spPr>
          <a:xfrm>
            <a:off x="4663440" y="3017520"/>
            <a:ext cx="2057400" cy="777240"/>
          </a:xfrm>
          <a:prstGeom prst="rect">
            <a:avLst/>
          </a:prstGeom>
          <a:solidFill>
            <a:srgbClr val="FFFFFF"/>
          </a:solidFill>
          <a:ln w="63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63440" y="3017520"/>
            <a:ext cx="73152" cy="77724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828032" y="3108960"/>
            <a:ext cx="1828800" cy="292608"/>
          </a:xfrm>
          <a:prstGeom prst="rect">
            <a:avLst/>
          </a:prstGeom>
          <a:noFill/>
        </p:spPr>
        <p:txBody>
          <a:bodyPr wrap="square" lIns="0" tIns="0" rIns="0" bIns="0" anchor="t">
            <a:spAutoFit/>
          </a:bodyPr>
          <a:lstStyle/>
          <a:p>
            <a:pPr algn="l"/>
            <a:r>
              <a:rPr sz="1200" b="1">
                <a:solidFill>
                  <a:srgbClr val="1F2937"/>
                </a:solidFill>
                <a:latin typeface="Arial"/>
              </a:rPr>
              <a:t>PDQ Connect/Deploy</a:t>
            </a:r>
          </a:p>
        </p:txBody>
      </p:sp>
      <p:sp>
        <p:nvSpPr>
          <p:cNvPr id="38" name="TextBox 37"/>
          <p:cNvSpPr txBox="1"/>
          <p:nvPr/>
        </p:nvSpPr>
        <p:spPr>
          <a:xfrm>
            <a:off x="4828032" y="3401568"/>
            <a:ext cx="1828800" cy="365760"/>
          </a:xfrm>
          <a:prstGeom prst="rect">
            <a:avLst/>
          </a:prstGeom>
          <a:noFill/>
        </p:spPr>
        <p:txBody>
          <a:bodyPr wrap="square" lIns="0" tIns="0" rIns="0" bIns="0" anchor="t">
            <a:spAutoFit/>
          </a:bodyPr>
          <a:lstStyle/>
          <a:p>
            <a:pPr algn="l"/>
            <a:r>
              <a:rPr sz="900" b="0">
                <a:solidFill>
                  <a:srgbClr val="525B66"/>
                </a:solidFill>
                <a:latin typeface="Arial"/>
              </a:rPr>
              <a:t>Pivot para desplegar otros RMMs</a:t>
            </a:r>
          </a:p>
        </p:txBody>
      </p:sp>
      <p:sp>
        <p:nvSpPr>
          <p:cNvPr id="39" name="Rectangle 38"/>
          <p:cNvSpPr/>
          <p:nvPr/>
        </p:nvSpPr>
        <p:spPr>
          <a:xfrm>
            <a:off x="6812280" y="3017520"/>
            <a:ext cx="2057400" cy="777240"/>
          </a:xfrm>
          <a:prstGeom prst="rect">
            <a:avLst/>
          </a:prstGeom>
          <a:solidFill>
            <a:srgbClr val="FFFFFF"/>
          </a:solidFill>
          <a:ln w="63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812280" y="3017520"/>
            <a:ext cx="73152" cy="77724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976872" y="3108960"/>
            <a:ext cx="1828800" cy="292608"/>
          </a:xfrm>
          <a:prstGeom prst="rect">
            <a:avLst/>
          </a:prstGeom>
          <a:noFill/>
        </p:spPr>
        <p:txBody>
          <a:bodyPr wrap="square" lIns="0" tIns="0" rIns="0" bIns="0" anchor="t">
            <a:spAutoFit/>
          </a:bodyPr>
          <a:lstStyle/>
          <a:p>
            <a:pPr algn="l"/>
            <a:r>
              <a:rPr sz="1200" b="1">
                <a:solidFill>
                  <a:srgbClr val="1F2937"/>
                </a:solidFill>
                <a:latin typeface="Arial"/>
              </a:rPr>
              <a:t>Quick Assist (MS)</a:t>
            </a:r>
          </a:p>
        </p:txBody>
      </p:sp>
      <p:sp>
        <p:nvSpPr>
          <p:cNvPr id="42" name="TextBox 41"/>
          <p:cNvSpPr txBox="1"/>
          <p:nvPr/>
        </p:nvSpPr>
        <p:spPr>
          <a:xfrm>
            <a:off x="6976872" y="3401568"/>
            <a:ext cx="1828800" cy="138499"/>
          </a:xfrm>
          <a:prstGeom prst="rect">
            <a:avLst/>
          </a:prstGeom>
          <a:noFill/>
        </p:spPr>
        <p:txBody>
          <a:bodyPr wrap="square" lIns="0" tIns="0" rIns="0" bIns="0" anchor="t">
            <a:spAutoFit/>
          </a:bodyPr>
          <a:lstStyle/>
          <a:p>
            <a:pPr algn="l"/>
            <a:r>
              <a:rPr sz="900" b="0" dirty="0">
                <a:solidFill>
                  <a:srgbClr val="525B66"/>
                </a:solidFill>
                <a:latin typeface="Arial"/>
              </a:rPr>
              <a:t>Vishing </a:t>
            </a:r>
            <a:r>
              <a:rPr lang="es-419" sz="900" b="0" dirty="0">
                <a:solidFill>
                  <a:srgbClr val="525B66"/>
                </a:solidFill>
                <a:latin typeface="Arial"/>
              </a:rPr>
              <a:t>y Phishing</a:t>
            </a:r>
            <a:endParaRPr sz="900" b="0" dirty="0">
              <a:solidFill>
                <a:srgbClr val="525B66"/>
              </a:solidFill>
              <a:latin typeface="Arial"/>
            </a:endParaRPr>
          </a:p>
        </p:txBody>
      </p:sp>
      <p:sp>
        <p:nvSpPr>
          <p:cNvPr id="44" name="Rectangle 43"/>
          <p:cNvSpPr/>
          <p:nvPr/>
        </p:nvSpPr>
        <p:spPr>
          <a:xfrm>
            <a:off x="365760" y="4133087"/>
            <a:ext cx="982980" cy="25603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65760" y="4133087"/>
            <a:ext cx="982980" cy="256032"/>
          </a:xfrm>
          <a:prstGeom prst="rect">
            <a:avLst/>
          </a:prstGeom>
          <a:noFill/>
        </p:spPr>
        <p:txBody>
          <a:bodyPr wrap="none" lIns="0" tIns="0" rIns="0" bIns="0" anchor="ctr">
            <a:spAutoFit/>
          </a:bodyPr>
          <a:lstStyle/>
          <a:p>
            <a:pPr algn="ctr"/>
            <a:r>
              <a:rPr sz="850" b="1">
                <a:solidFill>
                  <a:srgbClr val="FFFFFF"/>
                </a:solidFill>
                <a:latin typeface="Arial"/>
              </a:rPr>
              <a:t>BeyondTrust</a:t>
            </a:r>
          </a:p>
        </p:txBody>
      </p:sp>
      <p:sp>
        <p:nvSpPr>
          <p:cNvPr id="46" name="Rectangle 45"/>
          <p:cNvSpPr/>
          <p:nvPr/>
        </p:nvSpPr>
        <p:spPr>
          <a:xfrm>
            <a:off x="1403604" y="4133087"/>
            <a:ext cx="708660" cy="25603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403604" y="4133087"/>
            <a:ext cx="708660" cy="256032"/>
          </a:xfrm>
          <a:prstGeom prst="rect">
            <a:avLst/>
          </a:prstGeom>
          <a:noFill/>
        </p:spPr>
        <p:txBody>
          <a:bodyPr wrap="none" lIns="0" tIns="0" rIns="0" bIns="0" anchor="ctr">
            <a:spAutoFit/>
          </a:bodyPr>
          <a:lstStyle/>
          <a:p>
            <a:pPr algn="ctr"/>
            <a:r>
              <a:rPr sz="850" b="1">
                <a:solidFill>
                  <a:srgbClr val="FFFFFF"/>
                </a:solidFill>
                <a:latin typeface="Arial"/>
              </a:rPr>
              <a:t>LogMeIn</a:t>
            </a:r>
          </a:p>
        </p:txBody>
      </p:sp>
      <p:sp>
        <p:nvSpPr>
          <p:cNvPr id="48" name="Rectangle 47"/>
          <p:cNvSpPr/>
          <p:nvPr/>
        </p:nvSpPr>
        <p:spPr>
          <a:xfrm>
            <a:off x="2167128" y="4133087"/>
            <a:ext cx="1051560" cy="25603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167128" y="4133087"/>
            <a:ext cx="1051560" cy="256032"/>
          </a:xfrm>
          <a:prstGeom prst="rect">
            <a:avLst/>
          </a:prstGeom>
          <a:noFill/>
        </p:spPr>
        <p:txBody>
          <a:bodyPr wrap="none" lIns="0" tIns="0" rIns="0" bIns="0" anchor="ctr">
            <a:spAutoFit/>
          </a:bodyPr>
          <a:lstStyle/>
          <a:p>
            <a:pPr algn="ctr"/>
            <a:r>
              <a:rPr sz="850" b="1">
                <a:solidFill>
                  <a:srgbClr val="FFFFFF"/>
                </a:solidFill>
                <a:latin typeface="Arial"/>
              </a:rPr>
              <a:t>GoTo Resolve</a:t>
            </a:r>
          </a:p>
        </p:txBody>
      </p:sp>
      <p:sp>
        <p:nvSpPr>
          <p:cNvPr id="50" name="Rectangle 49"/>
          <p:cNvSpPr/>
          <p:nvPr/>
        </p:nvSpPr>
        <p:spPr>
          <a:xfrm>
            <a:off x="3273552" y="4133087"/>
            <a:ext cx="685800" cy="25603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273552" y="4133087"/>
            <a:ext cx="685800" cy="256032"/>
          </a:xfrm>
          <a:prstGeom prst="rect">
            <a:avLst/>
          </a:prstGeom>
          <a:noFill/>
        </p:spPr>
        <p:txBody>
          <a:bodyPr wrap="none" lIns="0" tIns="0" rIns="0" bIns="0" anchor="ctr">
            <a:spAutoFit/>
          </a:bodyPr>
          <a:lstStyle/>
          <a:p>
            <a:pPr algn="ctr"/>
            <a:r>
              <a:rPr sz="850" b="1">
                <a:solidFill>
                  <a:srgbClr val="FFFFFF"/>
                </a:solidFill>
                <a:latin typeface="Arial"/>
              </a:rPr>
              <a:t>N-able</a:t>
            </a:r>
          </a:p>
        </p:txBody>
      </p:sp>
      <p:sp>
        <p:nvSpPr>
          <p:cNvPr id="52" name="Rectangle 51"/>
          <p:cNvSpPr/>
          <p:nvPr/>
        </p:nvSpPr>
        <p:spPr>
          <a:xfrm>
            <a:off x="4014216" y="4133087"/>
            <a:ext cx="845819" cy="25603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914900" y="4133087"/>
            <a:ext cx="845819" cy="25603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AR" sz="850" b="1" dirty="0">
                <a:solidFill>
                  <a:srgbClr val="FFFFFF"/>
                </a:solidFill>
                <a:latin typeface="Arial"/>
                <a:cs typeface="Arial"/>
              </a:rPr>
              <a:t>FleetDeck</a:t>
            </a:r>
          </a:p>
        </p:txBody>
      </p:sp>
      <p:sp>
        <p:nvSpPr>
          <p:cNvPr id="55" name="TextBox 54"/>
          <p:cNvSpPr txBox="1"/>
          <p:nvPr/>
        </p:nvSpPr>
        <p:spPr>
          <a:xfrm>
            <a:off x="3994947" y="4133087"/>
            <a:ext cx="845819" cy="256032"/>
          </a:xfrm>
          <a:prstGeom prst="rect">
            <a:avLst/>
          </a:prstGeom>
          <a:noFill/>
        </p:spPr>
        <p:txBody>
          <a:bodyPr wrap="none" lIns="0" tIns="0" rIns="0" bIns="0" anchor="ctr">
            <a:spAutoFit/>
          </a:bodyPr>
          <a:lstStyle/>
          <a:p>
            <a:pPr algn="ctr"/>
            <a:r>
              <a:rPr sz="850" b="1" dirty="0" err="1">
                <a:solidFill>
                  <a:srgbClr val="FFFFFF"/>
                </a:solidFill>
                <a:latin typeface="Arial"/>
              </a:rPr>
              <a:t>Splashtop</a:t>
            </a:r>
            <a:endParaRPr sz="850" b="1" dirty="0">
              <a:solidFill>
                <a:srgbClr val="FFFFFF"/>
              </a:solidFill>
              <a:latin typeface="Arial"/>
            </a:endParaRPr>
          </a:p>
        </p:txBody>
      </p:sp>
      <p:sp>
        <p:nvSpPr>
          <p:cNvPr id="56" name="Rectangle 55"/>
          <p:cNvSpPr/>
          <p:nvPr/>
        </p:nvSpPr>
        <p:spPr>
          <a:xfrm>
            <a:off x="5815583" y="4133087"/>
            <a:ext cx="777240" cy="25603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fontAlgn="base"/>
            <a:endParaRPr lang="en-AR" sz="850" b="1" dirty="0">
              <a:solidFill>
                <a:srgbClr val="FFFFFF"/>
              </a:solidFill>
              <a:latin typeface="Arial"/>
              <a:cs typeface="Arial"/>
            </a:endParaRPr>
          </a:p>
          <a:p>
            <a:pPr fontAlgn="base"/>
            <a:r>
              <a:rPr lang="en-AR" sz="850" b="1" dirty="0">
                <a:solidFill>
                  <a:srgbClr val="FFFFFF"/>
                </a:solidFill>
                <a:latin typeface="Arial"/>
                <a:cs typeface="Arial"/>
              </a:rPr>
              <a:t>Ms Quick Assist</a:t>
            </a:r>
            <a:br>
              <a:rPr lang="en-AR" sz="850" b="1" dirty="0">
                <a:solidFill>
                  <a:srgbClr val="FFFFFF"/>
                </a:solidFill>
                <a:latin typeface="Arial"/>
                <a:cs typeface="Arial"/>
              </a:rPr>
            </a:br>
            <a:endParaRPr sz="850" b="1" dirty="0">
              <a:solidFill>
                <a:srgbClr val="FFFFFF"/>
              </a:solidFill>
              <a:latin typeface="Arial"/>
              <a:cs typeface="Arial"/>
            </a:endParaRPr>
          </a:p>
        </p:txBody>
      </p:sp>
      <p:sp>
        <p:nvSpPr>
          <p:cNvPr id="58" name="Rectangle 57"/>
          <p:cNvSpPr/>
          <p:nvPr/>
        </p:nvSpPr>
        <p:spPr>
          <a:xfrm>
            <a:off x="6647688" y="4133087"/>
            <a:ext cx="1051560" cy="25603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7754112" y="4133087"/>
            <a:ext cx="982980" cy="256032"/>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8046720" y="4818888"/>
            <a:ext cx="868680" cy="274320"/>
          </a:xfrm>
          <a:prstGeom prst="rect">
            <a:avLst/>
          </a:prstGeom>
          <a:noFill/>
        </p:spPr>
        <p:txBody>
          <a:bodyPr wrap="square" lIns="0" tIns="0" rIns="0" bIns="0" anchor="t">
            <a:spAutoFit/>
          </a:bodyPr>
          <a:lstStyle/>
          <a:p>
            <a:pPr algn="r"/>
            <a:r>
              <a:rPr sz="800" b="0">
                <a:solidFill>
                  <a:srgbClr val="525B66"/>
                </a:solidFill>
                <a:latin typeface="Arial"/>
              </a:rPr>
              <a:t>35 / 38</a:t>
            </a:r>
          </a:p>
        </p:txBody>
      </p:sp>
      <p:pic>
        <p:nvPicPr>
          <p:cNvPr id="79" name="Picture 78">
            <a:extLst>
              <a:ext uri="{FF2B5EF4-FFF2-40B4-BE49-F238E27FC236}">
                <a16:creationId xmlns:a16="http://schemas.microsoft.com/office/drawing/2014/main" id="{C9B4CC24-0071-088B-C45F-2183E970155B}"/>
              </a:ext>
            </a:extLst>
          </p:cNvPr>
          <p:cNvPicPr>
            <a:picLocks noChangeAspect="1"/>
          </p:cNvPicPr>
          <p:nvPr/>
        </p:nvPicPr>
        <p:blipFill>
          <a:blip r:embed="rId2"/>
          <a:stretch>
            <a:fillRect/>
          </a:stretch>
        </p:blipFill>
        <p:spPr>
          <a:xfrm>
            <a:off x="6592823" y="1161288"/>
            <a:ext cx="2557707" cy="39822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additive="base">
                                        <p:cTn id="7" dur="1500" fill="hold"/>
                                        <p:tgtEl>
                                          <p:spTgt spid="79"/>
                                        </p:tgtEl>
                                        <p:attrNameLst>
                                          <p:attrName>ppt_x</p:attrName>
                                        </p:attrNameLst>
                                      </p:cBhvr>
                                      <p:tavLst>
                                        <p:tav tm="0">
                                          <p:val>
                                            <p:strVal val="0-#ppt_w/2"/>
                                          </p:val>
                                        </p:tav>
                                        <p:tav tm="100000">
                                          <p:val>
                                            <p:strVal val="#ppt_x"/>
                                          </p:val>
                                        </p:tav>
                                      </p:tavLst>
                                    </p:anim>
                                    <p:anim calcmode="lin" valueType="num">
                                      <p:cBhvr additive="base">
                                        <p:cTn id="8" dur="1500" fill="hold"/>
                                        <p:tgtEl>
                                          <p:spTgt spid="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right.png"/>
          <p:cNvPicPr>
            <a:picLocks noChangeAspect="1"/>
          </p:cNvPicPr>
          <p:nvPr/>
        </p:nvPicPr>
        <p:blipFill>
          <a:blip r:embed="rId2">
            <a:alphaModFix amt="12000"/>
          </a:blip>
          <a:stretch>
            <a:fillRect/>
          </a:stretch>
        </p:blipFill>
        <p:spPr>
          <a:xfrm>
            <a:off x="7772400" y="777240"/>
            <a:ext cx="2138035" cy="4206240"/>
          </a:xfrm>
          <a:prstGeom prst="rect">
            <a:avLst/>
          </a:prstGeom>
        </p:spPr>
      </p:pic>
      <p:sp>
        <p:nvSpPr>
          <p:cNvPr id="4" name="TextBox 3"/>
          <p:cNvSpPr txBox="1"/>
          <p:nvPr/>
        </p:nvSpPr>
        <p:spPr>
          <a:xfrm>
            <a:off x="365760" y="146304"/>
            <a:ext cx="8412480" cy="420624"/>
          </a:xfrm>
          <a:prstGeom prst="rect">
            <a:avLst/>
          </a:prstGeom>
          <a:noFill/>
        </p:spPr>
        <p:txBody>
          <a:bodyPr wrap="square" lIns="25400" tIns="12700" rIns="25400" bIns="12700" anchor="ctr">
            <a:spAutoFit/>
          </a:bodyPr>
          <a:lstStyle/>
          <a:p>
            <a:pPr algn="l"/>
            <a:r>
              <a:rPr sz="2000" b="1" i="0">
                <a:solidFill>
                  <a:srgbClr val="FFFFFF"/>
                </a:solidFill>
                <a:latin typeface="Arial"/>
              </a:rPr>
              <a:t>3 cosas que te llevás</a:t>
            </a:r>
          </a:p>
        </p:txBody>
      </p:sp>
      <p:sp>
        <p:nvSpPr>
          <p:cNvPr id="5" name="Rectangle 4"/>
          <p:cNvSpPr/>
          <p:nvPr/>
        </p:nvSpPr>
        <p:spPr>
          <a:xfrm>
            <a:off x="365760" y="1051560"/>
            <a:ext cx="8412480" cy="9601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051560"/>
            <a:ext cx="1097280" cy="96012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051560"/>
            <a:ext cx="1097280" cy="960120"/>
          </a:xfrm>
          <a:prstGeom prst="rect">
            <a:avLst/>
          </a:prstGeom>
          <a:noFill/>
        </p:spPr>
        <p:txBody>
          <a:bodyPr wrap="square" lIns="25400" tIns="12700" rIns="25400" bIns="12700" anchor="ctr">
            <a:spAutoFit/>
          </a:bodyPr>
          <a:lstStyle/>
          <a:p>
            <a:pPr algn="ctr"/>
            <a:r>
              <a:rPr sz="3200" b="1" i="0">
                <a:solidFill>
                  <a:srgbClr val="FFFFFF"/>
                </a:solidFill>
                <a:latin typeface="Arial"/>
              </a:rPr>
              <a:t>01</a:t>
            </a:r>
          </a:p>
        </p:txBody>
      </p:sp>
      <p:sp>
        <p:nvSpPr>
          <p:cNvPr id="8" name="TextBox 7"/>
          <p:cNvSpPr txBox="1"/>
          <p:nvPr/>
        </p:nvSpPr>
        <p:spPr>
          <a:xfrm>
            <a:off x="1600200" y="1143000"/>
            <a:ext cx="7040880" cy="411480"/>
          </a:xfrm>
          <a:prstGeom prst="rect">
            <a:avLst/>
          </a:prstGeom>
          <a:noFill/>
        </p:spPr>
        <p:txBody>
          <a:bodyPr wrap="square" lIns="25400" tIns="12700" rIns="25400" bIns="12700" anchor="t">
            <a:spAutoFit/>
          </a:bodyPr>
          <a:lstStyle/>
          <a:p>
            <a:pPr algn="l"/>
            <a:r>
              <a:rPr sz="1800" b="1" i="0">
                <a:solidFill>
                  <a:srgbClr val="1F2937"/>
                </a:solidFill>
                <a:latin typeface="Arial"/>
              </a:rPr>
              <a:t>CTI = proceso, no herramienta.</a:t>
            </a:r>
          </a:p>
        </p:txBody>
      </p:sp>
      <p:sp>
        <p:nvSpPr>
          <p:cNvPr id="9" name="TextBox 8"/>
          <p:cNvSpPr txBox="1"/>
          <p:nvPr/>
        </p:nvSpPr>
        <p:spPr>
          <a:xfrm>
            <a:off x="1600200" y="1554480"/>
            <a:ext cx="7040880" cy="457200"/>
          </a:xfrm>
          <a:prstGeom prst="rect">
            <a:avLst/>
          </a:prstGeom>
          <a:noFill/>
        </p:spPr>
        <p:txBody>
          <a:bodyPr wrap="square" lIns="25400" tIns="12700" rIns="25400" bIns="12700" anchor="t">
            <a:spAutoFit/>
          </a:bodyPr>
          <a:lstStyle/>
          <a:p>
            <a:pPr algn="l"/>
            <a:r>
              <a:rPr sz="1300" b="0" i="1">
                <a:solidFill>
                  <a:srgbClr val="525B66"/>
                </a:solidFill>
                <a:latin typeface="Arial"/>
              </a:rPr>
              <a:t>Empieza por escribir tus PIRs. Sin PIRs, no hay inteligencia.</a:t>
            </a:r>
          </a:p>
        </p:txBody>
      </p:sp>
      <p:sp>
        <p:nvSpPr>
          <p:cNvPr id="10" name="Rectangle 9"/>
          <p:cNvSpPr/>
          <p:nvPr/>
        </p:nvSpPr>
        <p:spPr>
          <a:xfrm>
            <a:off x="365760" y="2148839"/>
            <a:ext cx="8412480" cy="9601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5760" y="2148839"/>
            <a:ext cx="1097280" cy="96012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2148839"/>
            <a:ext cx="1097280" cy="960120"/>
          </a:xfrm>
          <a:prstGeom prst="rect">
            <a:avLst/>
          </a:prstGeom>
          <a:noFill/>
        </p:spPr>
        <p:txBody>
          <a:bodyPr wrap="square" lIns="25400" tIns="12700" rIns="25400" bIns="12700" anchor="ctr">
            <a:spAutoFit/>
          </a:bodyPr>
          <a:lstStyle/>
          <a:p>
            <a:pPr algn="ctr"/>
            <a:r>
              <a:rPr sz="3200" b="1" i="0">
                <a:solidFill>
                  <a:srgbClr val="FFFFFF"/>
                </a:solidFill>
                <a:latin typeface="Arial"/>
              </a:rPr>
              <a:t>02</a:t>
            </a:r>
          </a:p>
        </p:txBody>
      </p:sp>
      <p:sp>
        <p:nvSpPr>
          <p:cNvPr id="13" name="TextBox 12"/>
          <p:cNvSpPr txBox="1"/>
          <p:nvPr/>
        </p:nvSpPr>
        <p:spPr>
          <a:xfrm>
            <a:off x="1600200" y="2240279"/>
            <a:ext cx="7040880" cy="411480"/>
          </a:xfrm>
          <a:prstGeom prst="rect">
            <a:avLst/>
          </a:prstGeom>
          <a:noFill/>
        </p:spPr>
        <p:txBody>
          <a:bodyPr wrap="square" lIns="25400" tIns="12700" rIns="25400" bIns="12700" anchor="t">
            <a:spAutoFit/>
          </a:bodyPr>
          <a:lstStyle/>
          <a:p>
            <a:pPr algn="l"/>
            <a:r>
              <a:rPr sz="1800" b="1" i="0">
                <a:solidFill>
                  <a:srgbClr val="1F2937"/>
                </a:solidFill>
                <a:latin typeface="Arial"/>
              </a:rPr>
              <a:t>Apuntá a la cima de la pirámide.</a:t>
            </a:r>
          </a:p>
        </p:txBody>
      </p:sp>
      <p:sp>
        <p:nvSpPr>
          <p:cNvPr id="14" name="TextBox 13"/>
          <p:cNvSpPr txBox="1"/>
          <p:nvPr/>
        </p:nvSpPr>
        <p:spPr>
          <a:xfrm>
            <a:off x="1600200" y="2651759"/>
            <a:ext cx="7040880" cy="457200"/>
          </a:xfrm>
          <a:prstGeom prst="rect">
            <a:avLst/>
          </a:prstGeom>
          <a:noFill/>
        </p:spPr>
        <p:txBody>
          <a:bodyPr wrap="square" lIns="25400" tIns="12700" rIns="25400" bIns="12700" anchor="t">
            <a:spAutoFit/>
          </a:bodyPr>
          <a:lstStyle/>
          <a:p>
            <a:pPr algn="l"/>
            <a:r>
              <a:rPr sz="1300" b="0" i="1">
                <a:solidFill>
                  <a:srgbClr val="525B66"/>
                </a:solidFill>
                <a:latin typeface="Arial"/>
              </a:rPr>
              <a:t>Cambiar un hash es trivial. Cambiar un TTP es meses de re-trabajo para el adversario.</a:t>
            </a:r>
          </a:p>
        </p:txBody>
      </p:sp>
      <p:sp>
        <p:nvSpPr>
          <p:cNvPr id="15" name="Rectangle 14"/>
          <p:cNvSpPr/>
          <p:nvPr/>
        </p:nvSpPr>
        <p:spPr>
          <a:xfrm>
            <a:off x="365760" y="3246120"/>
            <a:ext cx="8412480" cy="9601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5760" y="3246120"/>
            <a:ext cx="1097280" cy="96012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3246120"/>
            <a:ext cx="1097280" cy="960120"/>
          </a:xfrm>
          <a:prstGeom prst="rect">
            <a:avLst/>
          </a:prstGeom>
          <a:noFill/>
        </p:spPr>
        <p:txBody>
          <a:bodyPr wrap="square" lIns="25400" tIns="12700" rIns="25400" bIns="12700" anchor="ctr">
            <a:spAutoFit/>
          </a:bodyPr>
          <a:lstStyle/>
          <a:p>
            <a:pPr algn="ctr"/>
            <a:r>
              <a:rPr sz="3200" b="1" i="0">
                <a:solidFill>
                  <a:srgbClr val="FFFFFF"/>
                </a:solidFill>
                <a:latin typeface="Arial"/>
              </a:rPr>
              <a:t>03</a:t>
            </a:r>
          </a:p>
        </p:txBody>
      </p:sp>
      <p:sp>
        <p:nvSpPr>
          <p:cNvPr id="18" name="TextBox 17"/>
          <p:cNvSpPr txBox="1"/>
          <p:nvPr/>
        </p:nvSpPr>
        <p:spPr>
          <a:xfrm>
            <a:off x="1600200" y="3337560"/>
            <a:ext cx="7040880" cy="411480"/>
          </a:xfrm>
          <a:prstGeom prst="rect">
            <a:avLst/>
          </a:prstGeom>
          <a:noFill/>
        </p:spPr>
        <p:txBody>
          <a:bodyPr wrap="square" lIns="25400" tIns="12700" rIns="25400" bIns="12700" anchor="t">
            <a:spAutoFit/>
          </a:bodyPr>
          <a:lstStyle/>
          <a:p>
            <a:pPr algn="l"/>
            <a:r>
              <a:rPr sz="1800" b="1" i="0">
                <a:solidFill>
                  <a:srgbClr val="1F2937"/>
                </a:solidFill>
                <a:latin typeface="Arial"/>
              </a:rPr>
              <a:t>El adversario también deja artefactos.</a:t>
            </a:r>
          </a:p>
        </p:txBody>
      </p:sp>
      <p:sp>
        <p:nvSpPr>
          <p:cNvPr id="19" name="TextBox 18"/>
          <p:cNvSpPr txBox="1"/>
          <p:nvPr/>
        </p:nvSpPr>
        <p:spPr>
          <a:xfrm>
            <a:off x="1600200" y="3749039"/>
            <a:ext cx="7040880" cy="457200"/>
          </a:xfrm>
          <a:prstGeom prst="rect">
            <a:avLst/>
          </a:prstGeom>
          <a:noFill/>
        </p:spPr>
        <p:txBody>
          <a:bodyPr wrap="square" lIns="25400" tIns="12700" rIns="25400" bIns="12700" anchor="t">
            <a:spAutoFit/>
          </a:bodyPr>
          <a:lstStyle/>
          <a:p>
            <a:pPr algn="l"/>
            <a:r>
              <a:rPr sz="1300" b="0" i="1">
                <a:solidFill>
                  <a:srgbClr val="525B66"/>
                </a:solidFill>
                <a:latin typeface="Arial"/>
              </a:rPr>
              <a:t>Pivoting + framework + tiempo = atribución. El anonimato perfecto no existe.</a:t>
            </a:r>
          </a:p>
        </p:txBody>
      </p:sp>
      <p:sp>
        <p:nvSpPr>
          <p:cNvPr id="21" name="TextBox 20"/>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36 / 38</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41A52"/>
        </a:solidFill>
        <a:effectLst/>
      </p:bgPr>
    </p:bg>
    <p:spTree>
      <p:nvGrpSpPr>
        <p:cNvPr id="1" name=""/>
        <p:cNvGrpSpPr/>
        <p:nvPr/>
      </p:nvGrpSpPr>
      <p:grpSpPr>
        <a:xfrm>
          <a:off x="0" y="0"/>
          <a:ext cx="0" cy="0"/>
          <a:chOff x="0" y="0"/>
          <a:chExt cx="0" cy="0"/>
        </a:xfrm>
      </p:grpSpPr>
      <p:sp>
        <p:nvSpPr>
          <p:cNvPr id="2" name="Rectangle 1"/>
          <p:cNvSpPr/>
          <p:nvPr/>
        </p:nvSpPr>
        <p:spPr>
          <a:xfrm>
            <a:off x="0" y="3291840"/>
            <a:ext cx="9144000" cy="1851660"/>
          </a:xfrm>
          <a:prstGeom prst="rect">
            <a:avLst/>
          </a:prstGeom>
          <a:solidFill>
            <a:srgbClr val="B21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brand_palm_left.png"/>
          <p:cNvPicPr>
            <a:picLocks noChangeAspect="1"/>
          </p:cNvPicPr>
          <p:nvPr/>
        </p:nvPicPr>
        <p:blipFill>
          <a:blip r:embed="rId2">
            <a:alphaModFix amt="20000"/>
          </a:blip>
          <a:stretch>
            <a:fillRect/>
          </a:stretch>
        </p:blipFill>
        <p:spPr>
          <a:xfrm>
            <a:off x="-548640" y="365760"/>
            <a:ext cx="2413248" cy="4572000"/>
          </a:xfrm>
          <a:prstGeom prst="rect">
            <a:avLst/>
          </a:prstGeom>
        </p:spPr>
      </p:pic>
      <p:pic>
        <p:nvPicPr>
          <p:cNvPr id="4" name="Picture 3" descr="brand_palm_right.png"/>
          <p:cNvPicPr>
            <a:picLocks noChangeAspect="1"/>
          </p:cNvPicPr>
          <p:nvPr/>
        </p:nvPicPr>
        <p:blipFill>
          <a:blip r:embed="rId3">
            <a:alphaModFix amt="20000"/>
          </a:blip>
          <a:stretch>
            <a:fillRect/>
          </a:stretch>
        </p:blipFill>
        <p:spPr>
          <a:xfrm>
            <a:off x="6583680" y="365760"/>
            <a:ext cx="2323951" cy="4572000"/>
          </a:xfrm>
          <a:prstGeom prst="rect">
            <a:avLst/>
          </a:prstGeom>
        </p:spPr>
      </p:pic>
      <p:sp>
        <p:nvSpPr>
          <p:cNvPr id="5" name="TextBox 4"/>
          <p:cNvSpPr txBox="1"/>
          <p:nvPr/>
        </p:nvSpPr>
        <p:spPr>
          <a:xfrm>
            <a:off x="365760" y="731520"/>
            <a:ext cx="8412480" cy="1188720"/>
          </a:xfrm>
          <a:prstGeom prst="rect">
            <a:avLst/>
          </a:prstGeom>
          <a:noFill/>
        </p:spPr>
        <p:txBody>
          <a:bodyPr wrap="square" lIns="25400" tIns="12700" rIns="25400" bIns="12700" anchor="ctr">
            <a:spAutoFit/>
          </a:bodyPr>
          <a:lstStyle/>
          <a:p>
            <a:pPr algn="l"/>
            <a:r>
              <a:rPr sz="6400" b="1" i="0">
                <a:solidFill>
                  <a:srgbClr val="FFFFFF"/>
                </a:solidFill>
                <a:latin typeface="Arial"/>
              </a:rPr>
              <a:t>¡Gracias!</a:t>
            </a:r>
          </a:p>
        </p:txBody>
      </p:sp>
      <p:sp>
        <p:nvSpPr>
          <p:cNvPr id="6" name="TextBox 5"/>
          <p:cNvSpPr txBox="1"/>
          <p:nvPr/>
        </p:nvSpPr>
        <p:spPr>
          <a:xfrm>
            <a:off x="365760" y="1874519"/>
            <a:ext cx="8412480" cy="457200"/>
          </a:xfrm>
          <a:prstGeom prst="rect">
            <a:avLst/>
          </a:prstGeom>
          <a:noFill/>
        </p:spPr>
        <p:txBody>
          <a:bodyPr wrap="square" lIns="25400" tIns="12700" rIns="25400" bIns="12700" anchor="t">
            <a:spAutoFit/>
          </a:bodyPr>
          <a:lstStyle/>
          <a:p>
            <a:pPr algn="l"/>
            <a:r>
              <a:rPr sz="2200" b="0" i="1">
                <a:solidFill>
                  <a:srgbClr val="FFFFFF"/>
                </a:solidFill>
                <a:latin typeface="Arial"/>
              </a:rPr>
              <a:t>Preguntas, dudas, debate.</a:t>
            </a:r>
          </a:p>
        </p:txBody>
      </p:sp>
      <p:sp>
        <p:nvSpPr>
          <p:cNvPr id="7" name="Rectangle 6"/>
          <p:cNvSpPr/>
          <p:nvPr/>
        </p:nvSpPr>
        <p:spPr>
          <a:xfrm>
            <a:off x="365760" y="2468880"/>
            <a:ext cx="9144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4617720"/>
            <a:ext cx="5486400" cy="225703"/>
          </a:xfrm>
          <a:prstGeom prst="rect">
            <a:avLst/>
          </a:prstGeom>
          <a:noFill/>
        </p:spPr>
        <p:txBody>
          <a:bodyPr wrap="square" lIns="25400" tIns="12700" rIns="25400" bIns="12700" anchor="t">
            <a:spAutoFit/>
          </a:bodyPr>
          <a:lstStyle/>
          <a:p>
            <a:r>
              <a:rPr sz="1300" b="1" i="0" dirty="0">
                <a:solidFill>
                  <a:srgbClr val="FFFFFF"/>
                </a:solidFill>
                <a:latin typeface="Arial"/>
              </a:rPr>
              <a:t>Da</a:t>
            </a:r>
            <a:r>
              <a:rPr lang="en-US" sz="1300" b="1" i="0" dirty="0">
                <a:solidFill>
                  <a:srgbClr val="FFFFFF"/>
                </a:solidFill>
                <a:latin typeface="Arial"/>
              </a:rPr>
              <a:t>vid</a:t>
            </a:r>
            <a:r>
              <a:rPr sz="1300" b="1" i="0" dirty="0">
                <a:solidFill>
                  <a:srgbClr val="FFFFFF"/>
                </a:solidFill>
                <a:latin typeface="Arial"/>
              </a:rPr>
              <a:t> Pérez · </a:t>
            </a:r>
            <a:r>
              <a:rPr lang="es-419" sz="1300" b="1" dirty="0">
                <a:solidFill>
                  <a:srgbClr val="FFFFFF"/>
                </a:solidFill>
              </a:rPr>
              <a:t>     anakinswal</a:t>
            </a:r>
            <a:endParaRPr sz="1300" b="1" i="0" dirty="0">
              <a:solidFill>
                <a:srgbClr val="FFFFFF"/>
              </a:solidFill>
              <a:latin typeface="Arial"/>
            </a:endParaRPr>
          </a:p>
        </p:txBody>
      </p:sp>
      <p:sp>
        <p:nvSpPr>
          <p:cNvPr id="11" name="TextBox 10"/>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37 / 38</a:t>
            </a:r>
          </a:p>
        </p:txBody>
      </p:sp>
      <p:pic>
        <p:nvPicPr>
          <p:cNvPr id="12" name="object 3">
            <a:extLst>
              <a:ext uri="{FF2B5EF4-FFF2-40B4-BE49-F238E27FC236}">
                <a16:creationId xmlns:a16="http://schemas.microsoft.com/office/drawing/2014/main" id="{3D1F9E8D-BF88-F8B5-F9A1-2F7A6428E0D3}"/>
              </a:ext>
            </a:extLst>
          </p:cNvPr>
          <p:cNvPicPr/>
          <p:nvPr/>
        </p:nvPicPr>
        <p:blipFill>
          <a:blip r:embed="rId4" cstate="print"/>
          <a:stretch>
            <a:fillRect/>
          </a:stretch>
        </p:blipFill>
        <p:spPr>
          <a:xfrm>
            <a:off x="1509008" y="4639794"/>
            <a:ext cx="190500" cy="1524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7F9"/>
        </a:solidFill>
        <a:effectLst/>
      </p:bgPr>
    </p:bg>
    <p:spTree>
      <p:nvGrpSpPr>
        <p:cNvPr id="1" name="">
          <a:extLst>
            <a:ext uri="{FF2B5EF4-FFF2-40B4-BE49-F238E27FC236}">
              <a16:creationId xmlns:a16="http://schemas.microsoft.com/office/drawing/2014/main" id="{66A29416-781A-303F-B126-C68BA5095C2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65940BD-30E8-7408-C893-B25AD7D52CB3}"/>
              </a:ext>
            </a:extLst>
          </p:cNvPr>
          <p:cNvSpPr/>
          <p:nvPr/>
        </p:nvSpPr>
        <p:spPr>
          <a:xfrm>
            <a:off x="0" y="0"/>
            <a:ext cx="9144000" cy="713232"/>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0F2A1E1-67D3-8319-517E-F5790C63BB05}"/>
              </a:ext>
            </a:extLst>
          </p:cNvPr>
          <p:cNvSpPr txBox="1"/>
          <p:nvPr/>
        </p:nvSpPr>
        <p:spPr>
          <a:xfrm>
            <a:off x="365760" y="189903"/>
            <a:ext cx="8412480" cy="333425"/>
          </a:xfrm>
          <a:prstGeom prst="rect">
            <a:avLst/>
          </a:prstGeom>
          <a:noFill/>
        </p:spPr>
        <p:txBody>
          <a:bodyPr wrap="square" lIns="25400" tIns="12700" rIns="25400" bIns="12700" anchor="ctr">
            <a:spAutoFit/>
          </a:bodyPr>
          <a:lstStyle/>
          <a:p>
            <a:pPr algn="l"/>
            <a:r>
              <a:rPr lang="es-419" sz="2000" b="1" dirty="0">
                <a:solidFill>
                  <a:srgbClr val="FFFFFF"/>
                </a:solidFill>
              </a:rPr>
              <a:t>Referencias:</a:t>
            </a:r>
            <a:endParaRPr sz="2000" b="1" i="0" dirty="0">
              <a:solidFill>
                <a:srgbClr val="FFFFFF"/>
              </a:solidFill>
              <a:latin typeface="Arial"/>
            </a:endParaRPr>
          </a:p>
        </p:txBody>
      </p:sp>
      <p:sp>
        <p:nvSpPr>
          <p:cNvPr id="9" name="Rectangle 8">
            <a:extLst>
              <a:ext uri="{FF2B5EF4-FFF2-40B4-BE49-F238E27FC236}">
                <a16:creationId xmlns:a16="http://schemas.microsoft.com/office/drawing/2014/main" id="{D967378B-918E-128C-9332-DBC944C6E096}"/>
              </a:ext>
            </a:extLst>
          </p:cNvPr>
          <p:cNvSpPr/>
          <p:nvPr/>
        </p:nvSpPr>
        <p:spPr>
          <a:xfrm>
            <a:off x="502920" y="1231502"/>
            <a:ext cx="182880" cy="1828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FCBE6412-0043-5B96-1711-2E3EA3F52BAA}"/>
              </a:ext>
            </a:extLst>
          </p:cNvPr>
          <p:cNvSpPr txBox="1"/>
          <p:nvPr/>
        </p:nvSpPr>
        <p:spPr>
          <a:xfrm>
            <a:off x="777239" y="1222580"/>
            <a:ext cx="8239539" cy="164148"/>
          </a:xfrm>
          <a:prstGeom prst="rect">
            <a:avLst/>
          </a:prstGeom>
          <a:noFill/>
        </p:spPr>
        <p:txBody>
          <a:bodyPr wrap="square" lIns="25400" tIns="12700" rIns="25400" bIns="12700" anchor="ctr">
            <a:spAutoFit/>
          </a:bodyPr>
          <a:lstStyle/>
          <a:p>
            <a:r>
              <a:rPr lang="es-419" sz="900" b="0" i="0" dirty="0">
                <a:solidFill>
                  <a:srgbClr val="1F2937"/>
                </a:solidFill>
                <a:latin typeface="Arial"/>
              </a:rPr>
              <a:t>Verizon Data Breach Report</a:t>
            </a:r>
            <a:r>
              <a:rPr lang="es-419" sz="900" dirty="0">
                <a:solidFill>
                  <a:srgbClr val="1F2937"/>
                </a:solidFill>
              </a:rPr>
              <a:t>: </a:t>
            </a:r>
            <a:r>
              <a:rPr lang="es-419" sz="900" dirty="0">
                <a:solidFill>
                  <a:srgbClr val="1F2937"/>
                </a:solidFill>
                <a:hlinkClick r:id="rId2"/>
              </a:rPr>
              <a:t>https://www.verizon.com/business/resources/reports/2024-dbir-data-breach-investigations-report.pdf</a:t>
            </a:r>
            <a:r>
              <a:rPr lang="es-419" sz="900" dirty="0">
                <a:solidFill>
                  <a:srgbClr val="1F2937"/>
                </a:solidFill>
              </a:rPr>
              <a:t> </a:t>
            </a:r>
            <a:endParaRPr sz="900" b="0" i="0" dirty="0">
              <a:solidFill>
                <a:srgbClr val="1F2937"/>
              </a:solidFill>
              <a:latin typeface="Arial"/>
            </a:endParaRPr>
          </a:p>
        </p:txBody>
      </p:sp>
      <p:sp>
        <p:nvSpPr>
          <p:cNvPr id="11" name="Rectangle 10">
            <a:extLst>
              <a:ext uri="{FF2B5EF4-FFF2-40B4-BE49-F238E27FC236}">
                <a16:creationId xmlns:a16="http://schemas.microsoft.com/office/drawing/2014/main" id="{AD900233-3C64-26FA-42AF-DD4F4F94C1A8}"/>
              </a:ext>
            </a:extLst>
          </p:cNvPr>
          <p:cNvSpPr/>
          <p:nvPr/>
        </p:nvSpPr>
        <p:spPr>
          <a:xfrm>
            <a:off x="502920" y="1642982"/>
            <a:ext cx="182880" cy="1828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076FE70C-04E7-C2DA-FC59-DCA942B3E5F5}"/>
              </a:ext>
            </a:extLst>
          </p:cNvPr>
          <p:cNvSpPr txBox="1"/>
          <p:nvPr/>
        </p:nvSpPr>
        <p:spPr>
          <a:xfrm>
            <a:off x="777239" y="1595587"/>
            <a:ext cx="7863841" cy="241092"/>
          </a:xfrm>
          <a:prstGeom prst="rect">
            <a:avLst/>
          </a:prstGeom>
          <a:noFill/>
        </p:spPr>
        <p:txBody>
          <a:bodyPr wrap="square" lIns="25400" tIns="12700" rIns="25400" bIns="12700" anchor="ctr">
            <a:spAutoFit/>
          </a:bodyPr>
          <a:lstStyle/>
          <a:p>
            <a:r>
              <a:rPr lang="en-AR" sz="900" dirty="0">
                <a:solidFill>
                  <a:srgbClr val="1F2937"/>
                </a:solidFill>
              </a:rPr>
              <a:t>State of Vulnerability Response:</a:t>
            </a:r>
            <a:r>
              <a:rPr lang="en-AR" b="1" dirty="0"/>
              <a:t> </a:t>
            </a:r>
            <a:r>
              <a:rPr lang="en-US" sz="900" dirty="0">
                <a:solidFill>
                  <a:srgbClr val="1F2937"/>
                </a:solidFill>
                <a:hlinkClick r:id="rId3"/>
              </a:rPr>
              <a:t>https://</a:t>
            </a:r>
            <a:r>
              <a:rPr lang="en-US" sz="900" dirty="0" err="1">
                <a:solidFill>
                  <a:srgbClr val="1F2937"/>
                </a:solidFill>
                <a:hlinkClick r:id="rId3"/>
              </a:rPr>
              <a:t>es.scribd.com</a:t>
            </a:r>
            <a:r>
              <a:rPr lang="en-US" sz="900" dirty="0">
                <a:solidFill>
                  <a:srgbClr val="1F2937"/>
                </a:solidFill>
                <a:hlinkClick r:id="rId3"/>
              </a:rPr>
              <a:t>/document/1019779413/1730403607-State-of-Vulnerability-Response-Ponemon</a:t>
            </a:r>
            <a:endParaRPr sz="900" b="0" i="0" dirty="0">
              <a:solidFill>
                <a:srgbClr val="1F2937"/>
              </a:solidFill>
              <a:latin typeface="Arial"/>
            </a:endParaRPr>
          </a:p>
        </p:txBody>
      </p:sp>
      <p:sp>
        <p:nvSpPr>
          <p:cNvPr id="13" name="Rectangle 12">
            <a:extLst>
              <a:ext uri="{FF2B5EF4-FFF2-40B4-BE49-F238E27FC236}">
                <a16:creationId xmlns:a16="http://schemas.microsoft.com/office/drawing/2014/main" id="{B2FF1E0B-441A-9751-EE73-C1B56EAC97B1}"/>
              </a:ext>
            </a:extLst>
          </p:cNvPr>
          <p:cNvSpPr/>
          <p:nvPr/>
        </p:nvSpPr>
        <p:spPr>
          <a:xfrm>
            <a:off x="502920" y="2054462"/>
            <a:ext cx="182880" cy="1828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BA46714F-22B9-9361-8102-4529672C93EC}"/>
              </a:ext>
            </a:extLst>
          </p:cNvPr>
          <p:cNvSpPr/>
          <p:nvPr/>
        </p:nvSpPr>
        <p:spPr>
          <a:xfrm>
            <a:off x="502920" y="2465942"/>
            <a:ext cx="182880" cy="1828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3A3C9463-110C-0134-F239-9F895003AA26}"/>
              </a:ext>
            </a:extLst>
          </p:cNvPr>
          <p:cNvSpPr/>
          <p:nvPr/>
        </p:nvSpPr>
        <p:spPr>
          <a:xfrm>
            <a:off x="520012" y="3300127"/>
            <a:ext cx="182880" cy="1828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C5A986B9-BE19-5974-2E8A-E825AF74918C}"/>
              </a:ext>
            </a:extLst>
          </p:cNvPr>
          <p:cNvSpPr txBox="1"/>
          <p:nvPr/>
        </p:nvSpPr>
        <p:spPr>
          <a:xfrm>
            <a:off x="8046720" y="4818888"/>
            <a:ext cx="868680" cy="274320"/>
          </a:xfrm>
          <a:prstGeom prst="rect">
            <a:avLst/>
          </a:prstGeom>
          <a:noFill/>
        </p:spPr>
        <p:txBody>
          <a:bodyPr wrap="square" lIns="25400" tIns="12700" rIns="25400" bIns="12700" anchor="t">
            <a:spAutoFit/>
          </a:bodyPr>
          <a:lstStyle/>
          <a:p>
            <a:pPr algn="r"/>
            <a:r>
              <a:rPr sz="800">
                <a:solidFill>
                  <a:srgbClr val="525B66"/>
                </a:solidFill>
                <a:latin typeface="Arial"/>
              </a:rPr>
              <a:t>38 / 38</a:t>
            </a:r>
          </a:p>
        </p:txBody>
      </p:sp>
      <p:sp>
        <p:nvSpPr>
          <p:cNvPr id="40" name="TextBox 39">
            <a:extLst>
              <a:ext uri="{FF2B5EF4-FFF2-40B4-BE49-F238E27FC236}">
                <a16:creationId xmlns:a16="http://schemas.microsoft.com/office/drawing/2014/main" id="{EC2E9D37-5BE6-2FA9-8CA6-09BF46E6E982}"/>
              </a:ext>
            </a:extLst>
          </p:cNvPr>
          <p:cNvSpPr txBox="1"/>
          <p:nvPr/>
        </p:nvSpPr>
        <p:spPr>
          <a:xfrm>
            <a:off x="794470" y="1964983"/>
            <a:ext cx="7863841" cy="379591"/>
          </a:xfrm>
          <a:prstGeom prst="rect">
            <a:avLst/>
          </a:prstGeom>
          <a:noFill/>
        </p:spPr>
        <p:txBody>
          <a:bodyPr wrap="square" lIns="25400" tIns="12700" rIns="25400" bIns="12700" anchor="ctr">
            <a:spAutoFit/>
          </a:bodyPr>
          <a:lstStyle/>
          <a:p>
            <a:r>
              <a:rPr lang="en-AR" sz="900" dirty="0">
                <a:solidFill>
                  <a:srgbClr val="1F2937"/>
                </a:solidFill>
              </a:rPr>
              <a:t>Keys to the Kingdom:</a:t>
            </a:r>
            <a:r>
              <a:rPr lang="en-AR" b="1" dirty="0"/>
              <a:t> </a:t>
            </a:r>
            <a:r>
              <a:rPr lang="en-US" sz="900" dirty="0">
                <a:solidFill>
                  <a:srgbClr val="1F2937"/>
                </a:solidFill>
                <a:hlinkClick r:id="rId4"/>
              </a:rPr>
              <a:t>https://techcommunity.microsoft.com/blog/microsoftsecurityexperts/keys-to-the-kingdom-rmm-exploits-enabling-human-operated-intrusions-in-2024%E2%80%9325/4410903</a:t>
            </a:r>
            <a:r>
              <a:rPr lang="en-US" sz="900" dirty="0">
                <a:solidFill>
                  <a:srgbClr val="1F2937"/>
                </a:solidFill>
              </a:rPr>
              <a:t> </a:t>
            </a:r>
            <a:endParaRPr sz="900" b="0" i="0" dirty="0">
              <a:solidFill>
                <a:srgbClr val="1F2937"/>
              </a:solidFill>
              <a:latin typeface="Arial"/>
            </a:endParaRPr>
          </a:p>
        </p:txBody>
      </p:sp>
      <p:sp>
        <p:nvSpPr>
          <p:cNvPr id="41" name="TextBox 40">
            <a:extLst>
              <a:ext uri="{FF2B5EF4-FFF2-40B4-BE49-F238E27FC236}">
                <a16:creationId xmlns:a16="http://schemas.microsoft.com/office/drawing/2014/main" id="{3B24CEAB-76A1-D5B8-CCF7-5DB2C80B078E}"/>
              </a:ext>
            </a:extLst>
          </p:cNvPr>
          <p:cNvSpPr txBox="1"/>
          <p:nvPr/>
        </p:nvSpPr>
        <p:spPr>
          <a:xfrm>
            <a:off x="779891" y="2411579"/>
            <a:ext cx="7863841" cy="379591"/>
          </a:xfrm>
          <a:prstGeom prst="rect">
            <a:avLst/>
          </a:prstGeom>
          <a:noFill/>
        </p:spPr>
        <p:txBody>
          <a:bodyPr wrap="square" lIns="25400" tIns="12700" rIns="25400" bIns="12700" anchor="ctr">
            <a:spAutoFit/>
          </a:bodyPr>
          <a:lstStyle/>
          <a:p>
            <a:r>
              <a:rPr lang="en-AR" sz="900" dirty="0"/>
              <a:t>Understanding the Risks of Remote Monitoring and Management Tools</a:t>
            </a:r>
            <a:r>
              <a:rPr lang="en-AR" sz="900" dirty="0">
                <a:solidFill>
                  <a:srgbClr val="1F2937"/>
                </a:solidFill>
              </a:rPr>
              <a:t>:</a:t>
            </a:r>
            <a:r>
              <a:rPr lang="en-AR" b="1" dirty="0"/>
              <a:t> </a:t>
            </a:r>
            <a:r>
              <a:rPr lang="en-US" sz="900" dirty="0">
                <a:solidFill>
                  <a:srgbClr val="1F2937"/>
                </a:solidFill>
                <a:hlinkClick r:id="rId5"/>
              </a:rPr>
              <a:t>https://arcticwolf.com/resources/blog/understanding-the-risks-of-remote-monitoring-and-management-tools/</a:t>
            </a:r>
            <a:r>
              <a:rPr lang="en-US" sz="900" dirty="0">
                <a:solidFill>
                  <a:srgbClr val="1F2937"/>
                </a:solidFill>
              </a:rPr>
              <a:t> </a:t>
            </a:r>
            <a:endParaRPr sz="900" b="0" i="0" dirty="0">
              <a:solidFill>
                <a:srgbClr val="1F2937"/>
              </a:solidFill>
              <a:latin typeface="Arial"/>
            </a:endParaRPr>
          </a:p>
        </p:txBody>
      </p:sp>
      <p:sp>
        <p:nvSpPr>
          <p:cNvPr id="42" name="TextBox 41">
            <a:extLst>
              <a:ext uri="{FF2B5EF4-FFF2-40B4-BE49-F238E27FC236}">
                <a16:creationId xmlns:a16="http://schemas.microsoft.com/office/drawing/2014/main" id="{7DAD29F1-D797-11FE-21DD-A3F809943971}"/>
              </a:ext>
            </a:extLst>
          </p:cNvPr>
          <p:cNvSpPr txBox="1"/>
          <p:nvPr/>
        </p:nvSpPr>
        <p:spPr>
          <a:xfrm>
            <a:off x="814214" y="3340897"/>
            <a:ext cx="7863841" cy="164148"/>
          </a:xfrm>
          <a:prstGeom prst="rect">
            <a:avLst/>
          </a:prstGeom>
          <a:noFill/>
        </p:spPr>
        <p:txBody>
          <a:bodyPr wrap="square" lIns="25400" tIns="12700" rIns="25400" bIns="12700" anchor="ctr">
            <a:spAutoFit/>
          </a:bodyPr>
          <a:lstStyle/>
          <a:p>
            <a:r>
              <a:rPr lang="en-AR" sz="900" dirty="0"/>
              <a:t>Daisy-Chaining Rogue RMM Tools: </a:t>
            </a:r>
            <a:r>
              <a:rPr lang="en-US" sz="900" dirty="0">
                <a:solidFill>
                  <a:srgbClr val="1F2937"/>
                </a:solidFill>
                <a:hlinkClick r:id="rId6"/>
              </a:rPr>
              <a:t>https://www.huntress.com/blog/daisy-chaining-rogue-rmm-tools</a:t>
            </a:r>
            <a:r>
              <a:rPr lang="en-US" sz="900" dirty="0">
                <a:solidFill>
                  <a:srgbClr val="1F2937"/>
                </a:solidFill>
              </a:rPr>
              <a:t> </a:t>
            </a:r>
            <a:endParaRPr sz="900" b="0" i="0" dirty="0">
              <a:solidFill>
                <a:srgbClr val="1F2937"/>
              </a:solidFill>
              <a:latin typeface="Arial"/>
            </a:endParaRPr>
          </a:p>
        </p:txBody>
      </p:sp>
      <p:sp>
        <p:nvSpPr>
          <p:cNvPr id="43" name="Rectangle 42">
            <a:extLst>
              <a:ext uri="{FF2B5EF4-FFF2-40B4-BE49-F238E27FC236}">
                <a16:creationId xmlns:a16="http://schemas.microsoft.com/office/drawing/2014/main" id="{431A47D1-101C-36A3-1CC2-59A7344FF6D2}"/>
              </a:ext>
            </a:extLst>
          </p:cNvPr>
          <p:cNvSpPr/>
          <p:nvPr/>
        </p:nvSpPr>
        <p:spPr>
          <a:xfrm>
            <a:off x="529294" y="3595645"/>
            <a:ext cx="182880" cy="1828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A4202619-B565-F516-3CA3-21680061102A}"/>
              </a:ext>
            </a:extLst>
          </p:cNvPr>
          <p:cNvSpPr txBox="1"/>
          <p:nvPr/>
        </p:nvSpPr>
        <p:spPr>
          <a:xfrm>
            <a:off x="823496" y="3636415"/>
            <a:ext cx="7863841" cy="164148"/>
          </a:xfrm>
          <a:prstGeom prst="rect">
            <a:avLst/>
          </a:prstGeom>
          <a:noFill/>
        </p:spPr>
        <p:txBody>
          <a:bodyPr wrap="square" lIns="25400" tIns="12700" rIns="25400" bIns="12700" anchor="ctr">
            <a:spAutoFit/>
          </a:bodyPr>
          <a:lstStyle/>
          <a:p>
            <a:r>
              <a:rPr lang="en-AR" sz="900" dirty="0"/>
              <a:t>Proyectos - Tools: </a:t>
            </a:r>
            <a:r>
              <a:rPr lang="en-US" sz="900" dirty="0">
                <a:solidFill>
                  <a:srgbClr val="1F2937"/>
                </a:solidFill>
                <a:hlinkClick r:id="rId7"/>
              </a:rPr>
              <a:t>https://lolrmm.io</a:t>
            </a:r>
            <a:r>
              <a:rPr lang="en-US" sz="900" dirty="0">
                <a:solidFill>
                  <a:srgbClr val="1F2937"/>
                </a:solidFill>
              </a:rPr>
              <a:t> - </a:t>
            </a:r>
            <a:r>
              <a:rPr lang="en-US" sz="900" dirty="0">
                <a:solidFill>
                  <a:srgbClr val="1F2937"/>
                </a:solidFill>
                <a:hlinkClick r:id="rId8"/>
              </a:rPr>
              <a:t>https://favicon-hash.kmsec.uk</a:t>
            </a:r>
            <a:endParaRPr sz="900" b="0" i="0" dirty="0">
              <a:solidFill>
                <a:srgbClr val="1F2937"/>
              </a:solidFill>
              <a:latin typeface="Arial"/>
            </a:endParaRPr>
          </a:p>
        </p:txBody>
      </p:sp>
      <p:sp>
        <p:nvSpPr>
          <p:cNvPr id="3" name="Rectangle 2">
            <a:extLst>
              <a:ext uri="{FF2B5EF4-FFF2-40B4-BE49-F238E27FC236}">
                <a16:creationId xmlns:a16="http://schemas.microsoft.com/office/drawing/2014/main" id="{FF333CD8-343A-F033-64F0-F4E390C143C3}"/>
              </a:ext>
            </a:extLst>
          </p:cNvPr>
          <p:cNvSpPr/>
          <p:nvPr/>
        </p:nvSpPr>
        <p:spPr>
          <a:xfrm>
            <a:off x="534742" y="3894997"/>
            <a:ext cx="182880" cy="1828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60B2CBF8-409A-7958-7BE6-DE89D7AC9F50}"/>
              </a:ext>
            </a:extLst>
          </p:cNvPr>
          <p:cNvSpPr txBox="1"/>
          <p:nvPr/>
        </p:nvSpPr>
        <p:spPr>
          <a:xfrm>
            <a:off x="828944" y="3935767"/>
            <a:ext cx="7863841" cy="164148"/>
          </a:xfrm>
          <a:prstGeom prst="rect">
            <a:avLst/>
          </a:prstGeom>
          <a:noFill/>
        </p:spPr>
        <p:txBody>
          <a:bodyPr wrap="square" lIns="25400" tIns="12700" rIns="25400" bIns="12700" anchor="ctr">
            <a:spAutoFit/>
          </a:bodyPr>
          <a:lstStyle/>
          <a:p>
            <a:r>
              <a:rPr lang="en-AR" sz="900" dirty="0"/>
              <a:t>Autores: </a:t>
            </a:r>
            <a:r>
              <a:rPr lang="en-US" sz="900" dirty="0">
                <a:solidFill>
                  <a:srgbClr val="1F2937"/>
                </a:solidFill>
              </a:rPr>
              <a:t> @</a:t>
            </a:r>
            <a:r>
              <a:rPr lang="en-US" sz="900" dirty="0" err="1">
                <a:solidFill>
                  <a:srgbClr val="1F2937"/>
                </a:solidFill>
              </a:rPr>
              <a:t>gertjanbruggink</a:t>
            </a:r>
            <a:endParaRPr sz="900" b="0" i="0" dirty="0">
              <a:solidFill>
                <a:srgbClr val="1F2937"/>
              </a:solidFill>
              <a:latin typeface="Arial"/>
            </a:endParaRPr>
          </a:p>
        </p:txBody>
      </p:sp>
      <p:sp>
        <p:nvSpPr>
          <p:cNvPr id="6" name="Rectangle 5">
            <a:extLst>
              <a:ext uri="{FF2B5EF4-FFF2-40B4-BE49-F238E27FC236}">
                <a16:creationId xmlns:a16="http://schemas.microsoft.com/office/drawing/2014/main" id="{5E112302-B3D6-27AA-18A2-0E79D6851860}"/>
              </a:ext>
            </a:extLst>
          </p:cNvPr>
          <p:cNvSpPr/>
          <p:nvPr/>
        </p:nvSpPr>
        <p:spPr>
          <a:xfrm>
            <a:off x="522318" y="2905127"/>
            <a:ext cx="182880" cy="182880"/>
          </a:xfrm>
          <a:prstGeom prst="rect">
            <a:avLst/>
          </a:prstGeom>
          <a:solidFill>
            <a:srgbClr val="E41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40BCD38C-F38C-57F1-0101-185FB0289F90}"/>
              </a:ext>
            </a:extLst>
          </p:cNvPr>
          <p:cNvSpPr txBox="1"/>
          <p:nvPr/>
        </p:nvSpPr>
        <p:spPr>
          <a:xfrm>
            <a:off x="816520" y="2945898"/>
            <a:ext cx="7863841" cy="164148"/>
          </a:xfrm>
          <a:prstGeom prst="rect">
            <a:avLst/>
          </a:prstGeom>
          <a:noFill/>
        </p:spPr>
        <p:txBody>
          <a:bodyPr wrap="square" lIns="25400" tIns="12700" rIns="25400" bIns="12700" anchor="ctr">
            <a:spAutoFit/>
          </a:bodyPr>
          <a:lstStyle/>
          <a:p>
            <a:r>
              <a:rPr lang="en-AR" sz="900" dirty="0"/>
              <a:t>Cyber Kill Chains: Strategies &amp; Tactics: </a:t>
            </a:r>
            <a:r>
              <a:rPr lang="en-US" sz="900" dirty="0">
                <a:solidFill>
                  <a:srgbClr val="1F2937"/>
                </a:solidFill>
                <a:hlinkClick r:id="rId9"/>
              </a:rPr>
              <a:t>https://www.splunk.com/en_us/blog/learn/cyber-kill-chains.html</a:t>
            </a:r>
            <a:r>
              <a:rPr lang="en-US" sz="900" dirty="0">
                <a:solidFill>
                  <a:srgbClr val="1F2937"/>
                </a:solidFill>
              </a:rPr>
              <a:t> </a:t>
            </a:r>
            <a:endParaRPr sz="900" b="0" i="0" dirty="0">
              <a:solidFill>
                <a:srgbClr val="1F2937"/>
              </a:solidFill>
              <a:latin typeface="Arial"/>
            </a:endParaRPr>
          </a:p>
        </p:txBody>
      </p:sp>
    </p:spTree>
    <p:extLst>
      <p:ext uri="{BB962C8B-B14F-4D97-AF65-F5344CB8AC3E}">
        <p14:creationId xmlns:p14="http://schemas.microsoft.com/office/powerpoint/2010/main" val="123869646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3713</TotalTime>
  <Words>3196</Words>
  <Application>Microsoft Macintosh PowerPoint</Application>
  <PresentationFormat>On-screen Show (16:9)</PresentationFormat>
  <Paragraphs>557</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Arial MT</vt:lpstr>
      <vt:lpstr>Urbanist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David Perez</cp:lastModifiedBy>
  <cp:revision>64</cp:revision>
  <dcterms:modified xsi:type="dcterms:W3CDTF">2026-06-04T19:41:14Z</dcterms:modified>
</cp:coreProperties>
</file>