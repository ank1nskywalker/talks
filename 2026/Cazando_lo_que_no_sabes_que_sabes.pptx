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13716000" cx="24384000"/>
  <p:notesSz cx="6858000" cy="9144000"/>
  <p:embeddedFontLst>
    <p:embeddedFont>
      <p:font typeface="Helvetica Neue"/>
      <p:regular r:id="rId31"/>
      <p:bold r:id="rId32"/>
      <p:italic r:id="rId33"/>
      <p:boldItalic r:id="rId34"/>
    </p:embeddedFont>
    <p:embeddedFont>
      <p:font typeface="Helvetica Neue Light"/>
      <p:regular r:id="rId35"/>
      <p:bold r:id="rId36"/>
      <p:italic r:id="rId37"/>
      <p:boldItalic r:id="rId38"/>
    </p:embeddedFont>
    <p:embeddedFont>
      <p:font typeface="Oswald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000000"/>
          </p15:clr>
        </p15:guide>
        <p15:guide id="2" pos="76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swald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HelveticaNeue-italic.fntdata"/><Relationship Id="rId10" Type="http://schemas.openxmlformats.org/officeDocument/2006/relationships/slide" Target="slides/slide5.xml"/><Relationship Id="rId32" Type="http://schemas.openxmlformats.org/officeDocument/2006/relationships/font" Target="fonts/HelveticaNeue-bold.fntdata"/><Relationship Id="rId13" Type="http://schemas.openxmlformats.org/officeDocument/2006/relationships/slide" Target="slides/slide8.xml"/><Relationship Id="rId35" Type="http://schemas.openxmlformats.org/officeDocument/2006/relationships/font" Target="fonts/HelveticaNeueLight-regular.fntdata"/><Relationship Id="rId12" Type="http://schemas.openxmlformats.org/officeDocument/2006/relationships/slide" Target="slides/slide7.xml"/><Relationship Id="rId34" Type="http://schemas.openxmlformats.org/officeDocument/2006/relationships/font" Target="fonts/HelveticaNeue-boldItalic.fntdata"/><Relationship Id="rId15" Type="http://schemas.openxmlformats.org/officeDocument/2006/relationships/slide" Target="slides/slide10.xml"/><Relationship Id="rId37" Type="http://schemas.openxmlformats.org/officeDocument/2006/relationships/font" Target="fonts/HelveticaNeueLight-italic.fntdata"/><Relationship Id="rId14" Type="http://schemas.openxmlformats.org/officeDocument/2006/relationships/slide" Target="slides/slide9.xml"/><Relationship Id="rId36" Type="http://schemas.openxmlformats.org/officeDocument/2006/relationships/font" Target="fonts/HelveticaNeueLight-bold.fntdata"/><Relationship Id="rId17" Type="http://schemas.openxmlformats.org/officeDocument/2006/relationships/slide" Target="slides/slide12.xml"/><Relationship Id="rId39" Type="http://schemas.openxmlformats.org/officeDocument/2006/relationships/font" Target="fonts/Oswald-regular.fntdata"/><Relationship Id="rId16" Type="http://schemas.openxmlformats.org/officeDocument/2006/relationships/slide" Target="slides/slide11.xml"/><Relationship Id="rId38" Type="http://schemas.openxmlformats.org/officeDocument/2006/relationships/font" Target="fonts/HelveticaNeueLigh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Portada con la estética de hackingday.com.ar (fondo #050D05, verde neón, tipografía mono). La web usa Mokoto y adelle-mono; acá va Courier New para que no cambie en otra máquina.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0:15 — Título y a la sala.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0:40 — Quién soy y desde dónde hablo. No leas las filas. Lo que le importa a esta sala: hago hunting todos los días en un MSSP, sobre flotas reales, y lo que van a ver hoy salió de un incidente de la semana pasada. La fila C explica el sesgo: vengo de inteligencia, por eso la charla arranca con una pregunta de inteligencia y no con una herramienta.</a:t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1:15 — Dejá la pregunta sola en pantalla cinco segundos, sin hablar. Pregunta a la sala: ¿cuántos saben qué pasó ayer en su red que NO les generó una alerta? Esperá manos (no va a haber muchas).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Señalá al chico del meme: "Esta es la cara de todos cuando escuchan la frase por primera vez."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Rumsfeld en 20 segundos: conferencia de prensa, 2002, Irak. La frase sonó a trabalenguas, pero los analistas de inteligencia la adoptaron como marco para clasificar riesgos y priorizar la recolección.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Transición: 'Veamos el modelo con ejemplos de ClickFix'.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2:00 — EL MAPA DE TODA LA CHARLA. Mismos tres cuadrantes del slide anterior, ahora con lo que vamos a cazar.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Verde: lo que ya sabés detectar, como una IP que ya está en una lista.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Amarillo, con pausa: la inteligencia te dice que ClickFix existe; no sabés si te pasó. Si pasó, está en los datos, clasificado como 'info'. Eso es una hipótesis de hunting.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Naranja: lo que no podés imaginar hasta que cazás. Adelantá: en la demo, buscando un comando pegado, vamos a encontrar algo que nadie estaba buscando.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Cerrá: 'La charla abre y cierra en esta matriz'.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1:15 — Mismo formato que '¿Qué NO es CTI?' de Ekoparty. Los cuatro NO van rápido; el que más discusión trae es el barrido de IOCs: muchos SOC le dicen hunting. Es útil, pero no hay hipótesis y el IOC dura horas (en el caso, el servidor cayó al día siguiente).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Definición: leela entera, una vez. Las tres propiedades son las que vamos a ver en la demo.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1:15 — Tres formas, según de dónde sale la pregunta. Inteligencia: de afuera, un reporte o un PIR. Hipótesis: de tu cabeza, ATT&amp;CK o experiencia. Línea base: de tus datos, qué es normal y qué no.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de hoy es guiada por inteligencia: el reporte de Microsoft dispara la pregunta y la convertimos en una hipótesis comprobable. En la demo aparecen las otras dos: la persistencia en el navegador es una hipótesis de ATT&amp;CK y el csc.exe sin argumentos es una pregunta de línea base. Si preguntan por PEAK: suma un cuarto tipo, asistido por modelos (M-ATH).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1:30 — Slide de Ekoparty, gráfico original. Abajo, la pirámide de Bianco: hashes, IPs y dominios son baratos de cambiar para el atacante; arriba los TTPs le cuestan meses. La extensión suma campañas, grupos de actividad y atribución: el idioma de los stakeholders.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hunting: la hipótesis se escribe arriba (TTPs), no abajo. En el caso, el hash del script cambió en cada descarga y el servidor cayó al día siguiente; el comportamiento (pegar → PowerShell → msiexec → binario .NET) no cambió. 'Sube la pirámide, o hashes perseguirás'.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1:00 — Este es el esqueleto de la demo: cada paso de acá aparece en el caso. Marcá el paso 3: la query se prueba contra algo que sabés que existe. Y el paso 5: sin reporte, la hunt se pierde.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1:30 — Acá está el disparador de inteligencia. El 47 % es el dato más fuerte: Microsoft dice que ClickFix superó al phishing como acceso inicial en lo que atendió Defender Experts.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Explicá la cadena en 4 pasos en 20 segundos. Remarcá el 4 de 5: no llega por mail, llega por Google. Eso es exactamente lo que pasó en el caso (una búsqueda de música).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33f2d8dae9ace9e6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h33f2d8dae9ace9e6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1:30 — Acá está el disparador de inteligencia. El 47 % es el dato más fuerte: Microsoft dice que ClickFix superó al phishing como acceso inicial en lo que atendió Defender Experts.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Explicá la cadena en 4 pasos en 20 segundos. Remarcá el 4 de 5: no llega por mail, llega por Google. Eso es exactamente lo que pasó en el caso (una búsqueda de música).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2:00 — EL EJERCICIO. 'Tengo la telemetría real de un día de una flota. No miramos alertas: solo tenemos la inteligencia de ClickFix y esta hipótesis'.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Leé la hipótesis completa, en voz alta. Marcá dos filas: el control positivo (sin él, cero resultados no prueban nada) y la brecha conocida (declarar lo que no ves es parte de la hipótesis).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digas todavía que hubo una alerta: eso se revela después de la demo.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0:10 — MEME. "Antes de decir que no pasó, probá la query contra algo que sabés que existe."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0:30 — Planteá el juego: 'Tengo la telemetría de un día real de una flota. No les voy a mostrar las alertas. Vamos a cazar solo con la hipótesis'.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adelantes que hubo un incidente ni una alerta: eso se revela después de la demo.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2:00 — Primer hallazgo del ejercicio: un solo equipo en toda la flota, con cuatro aciertos. Mostrá la query, después el resultado. Convertí la IP en vivo en PowerShell: [ipaddress]3405803783. Remarcá que ninguno de los eventos generó alerta. Dejá abierta la pregunta de los cuatro intentos.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2:00 — Primer hallazgo del ejercicio: un solo equipo en toda la flota, con cuatro aciertos. Mostrá la query, después el resultado. Convertí la IP en vivo en PowerShell: [ipaddress]3405803783. Remarcá que ninguno de los eventos generó alerta. Dejá abierta la pregunta de los cuatro intentos.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2:00 — La hipótesis de persistencia: un proceso que no es el navegador toca el perfil. Revelá la extensión de a una tarjeta. Cerrá: bloquear los dos C2 anteriores no corta este tercero (WebSocket a un puerto no web).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2:00 — Pivot del paso 1: qué captó AMSI de ese PowerShell. No hace falta leer el script: contá qué hace. Conectá con la pirámide: cada descarga, un hash distinto.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1:30 — EL REVEAL. 'Hasta acá fue un ejercicio: cazamos sobre la telemetría real sin mirar alertas. Ahora les cuento qué pasó en la realidad.' Recorré los puntos de izquierda a derecha sin detenerte. Pausa en el 6: lo único que funcionó fue la reputación de una IP. Y la alerta llegó casi cinco minutos después del pegado.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Pregunta a la sala: '¿Qué hubiera pasado si esa IP no estaba en la lista?'. Respuesta: el segundo C2 no estaba, y salió sin alerta.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Transición: 'Todo lo que encontramos cazando ya estaba en la telemetría antes de la alerta. Ahora, documentémoslo'.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0:15 — MEME. Leé los paneles en orden. Remate: "Este soy yo con el primer C2." Después: "el segundo C2 no estaba en ninguna lista y salió sin alerta."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8" name="Google Shape;408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1:30 — SLIDE EJECUTIVO. Sin tecnicismos: leé cada fila de izquierda a derecha en una sola frase. 'Encontramos esto, lo vimos así, y nos quedó esta detección'.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Remarcá la última columna: ninguna detección depende de una IP o un hash. Si el atacante cambia su infraestructura mañana, las tres siguen funcionando.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una audiencia no técnica, este slide puede reemplazar a los seis de la demo.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8" name="Google Shape;438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0:45 — ARRANCA EL BLOQUE DEL INFORME. "Todo lo que vimos en la demo no sirve de nada si mañana no queda escrito."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Recorré los cuatro lectores rápido: el que decide, el SOC, el próximo hunter y el cliente. Cada uno lee una parte distinta del mismo documento.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Cerrá con las tres preguntas de abajo: qué pasó, qué no vimos y qué cambia mañana. Son el esqueleto de todo lo que sigue.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3" name="Google Shape;463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0:15 — Gracias y a preguntas. El anexo con las queries está detrás.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3" name="Google Shape;473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ANEXO — Para el Q&amp;A. Queries en S1QL (SentinelOne Singularity Data Lake). Validar nombres de campo con el autocompletado de la consola: pueden variar entre versiones. La 7 es un borrador de la próxima hunt, sin validar.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86678" y="233264"/>
            <a:ext cx="23810645" cy="1440000"/>
          </a:xfrm>
          <a:prstGeom prst="rect">
            <a:avLst/>
          </a:prstGeom>
          <a:solidFill>
            <a:srgbClr val="63757B"/>
          </a:solidFill>
          <a:ln>
            <a:noFill/>
          </a:ln>
        </p:spPr>
        <p:txBody>
          <a:bodyPr anchorCtr="0" anchor="ctr" bIns="50800" lIns="50800" spcFirstLastPara="1" rIns="288000" wrap="square" tIns="508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7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22369131" y="12985751"/>
            <a:ext cx="1920213" cy="44114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2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2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2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2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2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2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2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2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2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with photo">
  <p:cSld name="Blank Slide with photo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38103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4" name="Google Shape;14;p3"/>
          <p:cNvSpPr/>
          <p:nvPr>
            <p:ph idx="3" type="pic"/>
          </p:nvPr>
        </p:nvSpPr>
        <p:spPr>
          <a:xfrm>
            <a:off x="73917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5" name="Google Shape;15;p3"/>
          <p:cNvSpPr/>
          <p:nvPr>
            <p:ph idx="4" type="pic"/>
          </p:nvPr>
        </p:nvSpPr>
        <p:spPr>
          <a:xfrm>
            <a:off x="109731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6" name="Google Shape;16;p3"/>
          <p:cNvSpPr/>
          <p:nvPr>
            <p:ph idx="5" type="pic"/>
          </p:nvPr>
        </p:nvSpPr>
        <p:spPr>
          <a:xfrm>
            <a:off x="145545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7" name="Google Shape;17;p3"/>
          <p:cNvSpPr/>
          <p:nvPr>
            <p:ph idx="6" type="pic"/>
          </p:nvPr>
        </p:nvSpPr>
        <p:spPr>
          <a:xfrm>
            <a:off x="18135927" y="3676275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8" name="Google Shape;18;p3"/>
          <p:cNvSpPr/>
          <p:nvPr>
            <p:ph idx="7" type="pic"/>
          </p:nvPr>
        </p:nvSpPr>
        <p:spPr>
          <a:xfrm>
            <a:off x="38103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19" name="Google Shape;19;p3"/>
          <p:cNvSpPr/>
          <p:nvPr>
            <p:ph idx="8" type="pic"/>
          </p:nvPr>
        </p:nvSpPr>
        <p:spPr>
          <a:xfrm>
            <a:off x="73917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20" name="Google Shape;20;p3"/>
          <p:cNvSpPr/>
          <p:nvPr>
            <p:ph idx="9" type="pic"/>
          </p:nvPr>
        </p:nvSpPr>
        <p:spPr>
          <a:xfrm>
            <a:off x="109731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21" name="Google Shape;21;p3"/>
          <p:cNvSpPr/>
          <p:nvPr>
            <p:ph idx="13" type="pic"/>
          </p:nvPr>
        </p:nvSpPr>
        <p:spPr>
          <a:xfrm>
            <a:off x="145545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22" name="Google Shape;22;p3"/>
          <p:cNvSpPr/>
          <p:nvPr>
            <p:ph idx="14" type="pic"/>
          </p:nvPr>
        </p:nvSpPr>
        <p:spPr>
          <a:xfrm>
            <a:off x="18135927" y="7118349"/>
            <a:ext cx="2437746" cy="2383865"/>
          </a:xfrm>
          <a:prstGeom prst="rect">
            <a:avLst/>
          </a:prstGeom>
          <a:solidFill>
            <a:srgbClr val="88898C"/>
          </a:solidFill>
          <a:ln>
            <a:noFill/>
          </a:ln>
        </p:spPr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1958637" y="13081000"/>
            <a:ext cx="45402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60960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0960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0960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0960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09600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09600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09600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09600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09600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958637" y="13081000"/>
            <a:ext cx="45402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8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1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g"/><Relationship Id="rId4" Type="http://schemas.openxmlformats.org/officeDocument/2006/relationships/image" Target="../media/image1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en.wikipedia.org/wiki/There_are_unknown_unknowns" TargetMode="External"/><Relationship Id="rId4" Type="http://schemas.openxmlformats.org/officeDocument/2006/relationships/hyperlink" Target="https://www.threathunting.net/sqrrl-archive" TargetMode="External"/><Relationship Id="rId11" Type="http://schemas.openxmlformats.org/officeDocument/2006/relationships/hyperlink" Target="https://attack.mitre.org/techniques/T1204/004/" TargetMode="External"/><Relationship Id="rId10" Type="http://schemas.openxmlformats.org/officeDocument/2006/relationships/hyperlink" Target="https://www.secnews.gr/en/735682/clickfix-istoselides-pagides-malware/" TargetMode="External"/><Relationship Id="rId12" Type="http://schemas.openxmlformats.org/officeDocument/2006/relationships/hyperlink" Target="https://attack.mitre.org/techniques/T1176/001/" TargetMode="External"/><Relationship Id="rId9" Type="http://schemas.openxmlformats.org/officeDocument/2006/relationships/hyperlink" Target="https://pushsecurity.com/blog/the-state-of-clickfix-by-detection-data" TargetMode="External"/><Relationship Id="rId5" Type="http://schemas.openxmlformats.org/officeDocument/2006/relationships/hyperlink" Target="https://www.splunk.com/en_us/blog/security/peak-threat-hunting-framework.html" TargetMode="External"/><Relationship Id="rId6" Type="http://schemas.openxmlformats.org/officeDocument/2006/relationships/hyperlink" Target="http://detect-respond.blogspot.com/2013/03/the-pyramid-of-pain.html" TargetMode="External"/><Relationship Id="rId7" Type="http://schemas.openxmlformats.org/officeDocument/2006/relationships/hyperlink" Target="https://cdn-dynmedia-1.microsoft.com/is/content/microsoftcorp/microsoft/msc/documents/presentations/CSR/Microsoft-Digital-Defense-Report-2025.pdf" TargetMode="External"/><Relationship Id="rId8" Type="http://schemas.openxmlformats.org/officeDocument/2006/relationships/hyperlink" Target="https://www.infosecurity-magazine.com/news/clickfix-attacks-surge-2025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D0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320040"/>
            <a:ext cx="24384000" cy="685800"/>
          </a:xfrm>
          <a:prstGeom prst="rect">
            <a:avLst/>
          </a:prstGeom>
          <a:solidFill>
            <a:srgbClr val="081208"/>
          </a:solidFill>
          <a:ln cap="flat" cmpd="sng" w="127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0B8A0"/>
                </a:solidFill>
                <a:latin typeface="Courier New"/>
                <a:ea typeface="Courier New"/>
                <a:cs typeface="Courier New"/>
                <a:sym typeface="Courier New"/>
              </a:rPr>
              <a:t>HACKING DAY  ·  PARANÁ  ·  GRATUITO  ·  OCTUBRE 2026  ·  HACKING DAY  ·  PARANÁ  ·  GRATUITO  ·  OCTUBRE 2026  ·  HACKING DAY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1097280" y="2194560"/>
            <a:ext cx="2194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5A7A5A"/>
                </a:solidFill>
                <a:latin typeface="Courier New"/>
                <a:ea typeface="Courier New"/>
                <a:cs typeface="Courier New"/>
                <a:sym typeface="Courier New"/>
              </a:rPr>
              <a:t>$ ./hunt --hipotesis clickfix --sin-alertas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1097280" y="3383280"/>
            <a:ext cx="2221992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b="1" i="0" lang="en-US" sz="10000" u="none" cap="none" strike="noStrike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CAZANDO LO QUE NO SABÉS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b="1" i="0" lang="en-US" sz="10000" u="none" cap="none" strike="noStrike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QUE NO SABÉS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1097280" y="8778240"/>
            <a:ext cx="2103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E8F5E8"/>
                </a:solidFill>
                <a:latin typeface="Courier New"/>
                <a:ea typeface="Courier New"/>
                <a:cs typeface="Courier New"/>
                <a:sym typeface="Courier New"/>
              </a:rPr>
              <a:t>Threat hunting guiado por inteligencia, sobre un caso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097280" y="10332720"/>
            <a:ext cx="13898880" cy="1234440"/>
          </a:xfrm>
          <a:prstGeom prst="roundRect">
            <a:avLst>
              <a:gd fmla="val 16667" name="adj"/>
            </a:avLst>
          </a:prstGeom>
          <a:solidFill>
            <a:srgbClr val="111E11"/>
          </a:solidFill>
          <a:ln cap="flat" cmpd="sng" w="254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David Pérez</a:t>
            </a:r>
            <a:r>
              <a:rPr b="0" i="0" lang="en-US" sz="2200" u="none" cap="none" strike="noStrike">
                <a:solidFill>
                  <a:srgbClr val="A0B8A0"/>
                </a:solidFill>
                <a:latin typeface="Courier New"/>
                <a:ea typeface="Courier New"/>
                <a:cs typeface="Courier New"/>
                <a:sym typeface="Courier New"/>
              </a:rPr>
              <a:t>  ·  Threat Intelligence &amp; Threat Hunting  ·  Security Advisor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15544800" y="10332720"/>
            <a:ext cx="77724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A0B8A0"/>
                </a:solidFill>
                <a:latin typeface="Courier New"/>
                <a:ea typeface="Courier New"/>
                <a:cs typeface="Courier New"/>
                <a:sym typeface="Courier New"/>
              </a:rPr>
              <a:t>2 de octubre 2026  ·  Sala Mayo, Paraná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0" y="12664440"/>
            <a:ext cx="24384000" cy="685800"/>
          </a:xfrm>
          <a:prstGeom prst="rect">
            <a:avLst/>
          </a:prstGeom>
          <a:solidFill>
            <a:srgbClr val="081208"/>
          </a:solidFill>
          <a:ln cap="flat" cmpd="sng" w="127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0B8A0"/>
                </a:solidFill>
                <a:latin typeface="Courier New"/>
                <a:ea typeface="Courier New"/>
                <a:cs typeface="Courier New"/>
                <a:sym typeface="Courier New"/>
              </a:rPr>
              <a:t>THREAT HUNTING  ·  CTI  ·  CLICKFIX  ·  THREAT HUNTING  ·  CTI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5"/>
          <p:cNvCxnSpPr/>
          <p:nvPr/>
        </p:nvCxnSpPr>
        <p:spPr>
          <a:xfrm flipH="1" rot="10800000">
            <a:off x="5" y="1498290"/>
            <a:ext cx="24383995" cy="17584"/>
          </a:xfrm>
          <a:prstGeom prst="straightConnector1">
            <a:avLst/>
          </a:prstGeom>
          <a:noFill/>
          <a:ln cap="flat" cmpd="sng" w="114300">
            <a:solidFill>
              <a:srgbClr val="221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5"/>
          <p:cNvCxnSpPr/>
          <p:nvPr/>
        </p:nvCxnSpPr>
        <p:spPr>
          <a:xfrm>
            <a:off x="573282" y="4156225"/>
            <a:ext cx="11927100" cy="0"/>
          </a:xfrm>
          <a:prstGeom prst="straightConnector1">
            <a:avLst/>
          </a:prstGeom>
          <a:noFill/>
          <a:ln cap="flat" cmpd="sng" w="38100">
            <a:solidFill>
              <a:srgbClr val="221666"/>
            </a:solidFill>
            <a:prstDash val="solid"/>
            <a:round/>
            <a:headEnd len="sm" w="sm" type="none"/>
            <a:tailEnd len="med" w="med" type="oval"/>
          </a:ln>
        </p:spPr>
      </p:cxnSp>
      <p:grpSp>
        <p:nvGrpSpPr>
          <p:cNvPr id="41" name="Google Shape;41;p5"/>
          <p:cNvGrpSpPr/>
          <p:nvPr/>
        </p:nvGrpSpPr>
        <p:grpSpPr>
          <a:xfrm>
            <a:off x="4833546" y="3483600"/>
            <a:ext cx="5993811" cy="476700"/>
            <a:chOff x="4223025" y="2775961"/>
            <a:chExt cx="5993811" cy="476700"/>
          </a:xfrm>
        </p:grpSpPr>
        <p:cxnSp>
          <p:nvCxnSpPr>
            <p:cNvPr id="42" name="Google Shape;42;p5"/>
            <p:cNvCxnSpPr/>
            <p:nvPr/>
          </p:nvCxnSpPr>
          <p:spPr>
            <a:xfrm>
              <a:off x="4223025" y="2784900"/>
              <a:ext cx="2381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" name="Google Shape;43;p5"/>
            <p:cNvCxnSpPr/>
            <p:nvPr/>
          </p:nvCxnSpPr>
          <p:spPr>
            <a:xfrm>
              <a:off x="6587974" y="2775961"/>
              <a:ext cx="340200" cy="4767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" name="Google Shape;44;p5"/>
            <p:cNvCxnSpPr/>
            <p:nvPr/>
          </p:nvCxnSpPr>
          <p:spPr>
            <a:xfrm>
              <a:off x="6918936" y="3240486"/>
              <a:ext cx="32979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cxnSp>
        <p:nvCxnSpPr>
          <p:cNvPr id="45" name="Google Shape;45;p5"/>
          <p:cNvCxnSpPr/>
          <p:nvPr/>
        </p:nvCxnSpPr>
        <p:spPr>
          <a:xfrm>
            <a:off x="0" y="13490725"/>
            <a:ext cx="23865900" cy="0"/>
          </a:xfrm>
          <a:prstGeom prst="straightConnector1">
            <a:avLst/>
          </a:prstGeom>
          <a:noFill/>
          <a:ln cap="flat" cmpd="sng" w="38100">
            <a:solidFill>
              <a:srgbClr val="22166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46" name="Google Shape;46;p5"/>
          <p:cNvCxnSpPr/>
          <p:nvPr/>
        </p:nvCxnSpPr>
        <p:spPr>
          <a:xfrm>
            <a:off x="590672" y="7670325"/>
            <a:ext cx="11927100" cy="0"/>
          </a:xfrm>
          <a:prstGeom prst="straightConnector1">
            <a:avLst/>
          </a:prstGeom>
          <a:noFill/>
          <a:ln cap="flat" cmpd="sng" w="38100">
            <a:solidFill>
              <a:srgbClr val="221666"/>
            </a:solidFill>
            <a:prstDash val="solid"/>
            <a:round/>
            <a:headEnd len="sm" w="sm" type="none"/>
            <a:tailEnd len="med" w="med" type="oval"/>
          </a:ln>
        </p:spPr>
      </p:cxnSp>
      <p:grpSp>
        <p:nvGrpSpPr>
          <p:cNvPr id="47" name="Google Shape;47;p5"/>
          <p:cNvGrpSpPr/>
          <p:nvPr/>
        </p:nvGrpSpPr>
        <p:grpSpPr>
          <a:xfrm>
            <a:off x="4850936" y="6997700"/>
            <a:ext cx="5993811" cy="476700"/>
            <a:chOff x="4223025" y="2775961"/>
            <a:chExt cx="5993811" cy="476700"/>
          </a:xfrm>
        </p:grpSpPr>
        <p:cxnSp>
          <p:nvCxnSpPr>
            <p:cNvPr id="48" name="Google Shape;48;p5"/>
            <p:cNvCxnSpPr/>
            <p:nvPr/>
          </p:nvCxnSpPr>
          <p:spPr>
            <a:xfrm>
              <a:off x="4223025" y="2784900"/>
              <a:ext cx="2381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" name="Google Shape;49;p5"/>
            <p:cNvCxnSpPr/>
            <p:nvPr/>
          </p:nvCxnSpPr>
          <p:spPr>
            <a:xfrm>
              <a:off x="6587974" y="2775961"/>
              <a:ext cx="340200" cy="4767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" name="Google Shape;50;p5"/>
            <p:cNvCxnSpPr/>
            <p:nvPr/>
          </p:nvCxnSpPr>
          <p:spPr>
            <a:xfrm>
              <a:off x="6918936" y="3240486"/>
              <a:ext cx="32979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sp>
        <p:nvSpPr>
          <p:cNvPr id="51" name="Google Shape;51;p5"/>
          <p:cNvSpPr txBox="1"/>
          <p:nvPr/>
        </p:nvSpPr>
        <p:spPr>
          <a:xfrm>
            <a:off x="868680" y="384048"/>
            <a:ext cx="20574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Sobre el autor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" name="Google Shape;52;p5"/>
          <p:cNvCxnSpPr/>
          <p:nvPr/>
        </p:nvCxnSpPr>
        <p:spPr>
          <a:xfrm flipH="1" rot="10800000">
            <a:off x="5" y="1498290"/>
            <a:ext cx="24383995" cy="17584"/>
          </a:xfrm>
          <a:prstGeom prst="straightConnector1">
            <a:avLst/>
          </a:prstGeom>
          <a:noFill/>
          <a:ln cap="flat" cmpd="sng" w="114300">
            <a:solidFill>
              <a:srgbClr val="221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5"/>
          <p:cNvSpPr/>
          <p:nvPr/>
        </p:nvSpPr>
        <p:spPr>
          <a:xfrm flipH="1" rot="10800000">
            <a:off x="22505" y="1629340"/>
            <a:ext cx="7310400" cy="305100"/>
          </a:xfrm>
          <a:prstGeom prst="parallelogram">
            <a:avLst>
              <a:gd fmla="val 6725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822960" y="2148840"/>
            <a:ext cx="777240" cy="1298448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1645920" y="2148840"/>
            <a:ext cx="6949440" cy="1298448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Trayectoria 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 Analyst (L1, L2) → Phishing Analyst → Threat Intelligence, Threat Hunter e Incident Response.Lider SOC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22960" y="3611880"/>
            <a:ext cx="777240" cy="1298448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1645920" y="3611880"/>
            <a:ext cx="6949440" cy="1298448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Roles en el Estado 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Inteligencia Criminal (Area Reunión de Información) Jefe Dpto  Analisis y Contrainteligencia — Ministerio de Justicia Bs 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822960" y="5074920"/>
            <a:ext cx="777240" cy="1298448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1645920" y="5074920"/>
            <a:ext cx="6949440" cy="1298448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Temas que sigo 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Threat Intelligence, Ransomware, ecosistema de acceso inicial y Leaks en LATAM.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822960" y="6537960"/>
            <a:ext cx="777240" cy="1298448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1645920" y="6537960"/>
            <a:ext cx="6949440" cy="1298448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Temas que sigo 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Threat Intelligence, Ransomware, ecosistema de acceso inicial y Leaks en LATAM.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822960" y="8001000"/>
            <a:ext cx="777240" cy="1298448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1645920" y="8001000"/>
            <a:ext cx="6949440" cy="1298448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Certificaciones 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eCIR · eCTHP (INE Security) · CTIA · ECIH (EC-Council) · CCFA (CrowdStrike) · SC-200 (Microsoft).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22960" y="9464040"/>
            <a:ext cx="777240" cy="1298448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1645920" y="9464040"/>
            <a:ext cx="6949440" cy="1298448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Contacto 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@anakinswal · github.com/Ank1nskywalker/talks · perez.edav@gmail.com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_40.png" id="66" name="Google Shape;6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2540" y="2240280"/>
            <a:ext cx="1463040" cy="1463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_52.png" id="67" name="Google Shape;6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2232" y="2240280"/>
            <a:ext cx="906936" cy="1463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_42.png" id="68" name="Google Shape;6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75820" y="2240280"/>
            <a:ext cx="1463040" cy="1463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_44.png" id="69" name="Google Shape;6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92540" y="3931920"/>
            <a:ext cx="1463040" cy="1463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cfa.png" id="70" name="Google Shape;7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84180" y="3931920"/>
            <a:ext cx="1463040" cy="1463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200.png" id="71" name="Google Shape;71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275820" y="3931920"/>
            <a:ext cx="1463040" cy="146304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 txBox="1"/>
          <p:nvPr/>
        </p:nvSpPr>
        <p:spPr>
          <a:xfrm>
            <a:off x="8732520" y="56692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Certificaciones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_2.png" id="73" name="Google Shape;73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932920" y="5989320"/>
            <a:ext cx="3352800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5"/>
          <p:cNvSpPr txBox="1"/>
          <p:nvPr/>
        </p:nvSpPr>
        <p:spPr>
          <a:xfrm>
            <a:off x="548640" y="12024360"/>
            <a:ext cx="1645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Cazando lo que no sabés que no sabés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David Pérez  ·  Hacking Day Paraná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22128480" y="120243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1666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/>
          <p:nvPr/>
        </p:nvSpPr>
        <p:spPr>
          <a:xfrm>
            <a:off x="822960" y="731520"/>
            <a:ext cx="22741128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¿Lo que no sabemos </a:t>
            </a:r>
            <a:r>
              <a:rPr b="0" i="0" lang="en-US" sz="8000" u="none" cap="none" strike="noStrike">
                <a:solidFill>
                  <a:srgbClr val="3C98FE"/>
                </a:solidFill>
                <a:latin typeface="Oswald"/>
                <a:ea typeface="Oswald"/>
                <a:cs typeface="Oswald"/>
                <a:sym typeface="Oswald"/>
              </a:rPr>
              <a:t>que no sabemos?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onald Rumsfeld, Secretario de Defensa de EE. UU." id="81" name="Google Shape;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749039"/>
            <a:ext cx="5641848" cy="676656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 txBox="1"/>
          <p:nvPr/>
        </p:nvSpPr>
        <p:spPr>
          <a:xfrm>
            <a:off x="7086600" y="3749039"/>
            <a:ext cx="10287000" cy="6766560"/>
          </a:xfrm>
          <a:prstGeom prst="rect">
            <a:avLst/>
          </a:prstGeom>
          <a:solidFill>
            <a:srgbClr val="2E2A7A"/>
          </a:solidFill>
          <a:ln>
            <a:noFill/>
          </a:ln>
        </p:spPr>
        <p:txBody>
          <a:bodyPr anchorCtr="0" anchor="ctr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1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“Hay cosas que sabemos que sabemos. Hay cosas que sabemos que no sabemos. Y hay cosas que no sabemos que no sabemos.”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3C98FE"/>
                </a:solidFill>
                <a:latin typeface="Arial"/>
                <a:ea typeface="Arial"/>
                <a:cs typeface="Arial"/>
                <a:sym typeface="Arial"/>
              </a:rPr>
              <a:t>Donald Rumsfeld · Secretario de Defensa de EE. UU. · Conferencia de prensa, febrero de 2002, en plena antesala de la guerra de Irak.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9C6E0"/>
                </a:solidFill>
                <a:latin typeface="Arial"/>
                <a:ea typeface="Arial"/>
                <a:cs typeface="Arial"/>
                <a:sym typeface="Arial"/>
              </a:rPr>
              <a:t>La frase se convirtió en un marco de gestión de riesgo para analistas de inteligencia: separa lo confirmado, lo que hay que investigar y lo que ni siquiera sabemos que existe.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eme: hombre confundido con signos de pregunta" id="83" name="Google Shape;8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76520" y="4206240"/>
            <a:ext cx="5852160" cy="58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6"/>
          <p:cNvSpPr txBox="1"/>
          <p:nvPr/>
        </p:nvSpPr>
        <p:spPr>
          <a:xfrm>
            <a:off x="822960" y="10972800"/>
            <a:ext cx="2274112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en-US" sz="2200" u="none" cap="none" strike="noStrike">
                <a:solidFill>
                  <a:srgbClr val="C9C6E0"/>
                </a:solidFill>
                <a:latin typeface="Arial"/>
                <a:ea typeface="Arial"/>
                <a:cs typeface="Arial"/>
                <a:sym typeface="Arial"/>
              </a:rPr>
              <a:t>Todo SOC tiene una. La pregunta es si alguien sale a buscarla.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2721" y="11658600"/>
            <a:ext cx="24384000" cy="148590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0" name="Google Shape;90;p7"/>
          <p:cNvCxnSpPr/>
          <p:nvPr/>
        </p:nvCxnSpPr>
        <p:spPr>
          <a:xfrm>
            <a:off x="0" y="13490725"/>
            <a:ext cx="23865900" cy="0"/>
          </a:xfrm>
          <a:prstGeom prst="straightConnector1">
            <a:avLst/>
          </a:prstGeom>
          <a:noFill/>
          <a:ln cap="flat" cmpd="sng" w="38100">
            <a:solidFill>
              <a:srgbClr val="22166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91" name="Google Shape;91;p7"/>
          <p:cNvCxnSpPr/>
          <p:nvPr/>
        </p:nvCxnSpPr>
        <p:spPr>
          <a:xfrm flipH="1" rot="10800000">
            <a:off x="5" y="1498290"/>
            <a:ext cx="24383995" cy="17584"/>
          </a:xfrm>
          <a:prstGeom prst="straightConnector1">
            <a:avLst/>
          </a:prstGeom>
          <a:noFill/>
          <a:ln cap="flat" cmpd="sng" w="114300">
            <a:solidFill>
              <a:srgbClr val="221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7"/>
          <p:cNvSpPr/>
          <p:nvPr/>
        </p:nvSpPr>
        <p:spPr>
          <a:xfrm flipH="1" rot="10800000">
            <a:off x="22505" y="1629340"/>
            <a:ext cx="7310400" cy="305100"/>
          </a:xfrm>
          <a:prstGeom prst="parallelogram">
            <a:avLst>
              <a:gd fmla="val 6725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7"/>
          <p:cNvSpPr txBox="1"/>
          <p:nvPr/>
        </p:nvSpPr>
        <p:spPr>
          <a:xfrm>
            <a:off x="868680" y="384048"/>
            <a:ext cx="20574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Known / Unknown: El modelo Rumsfeld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7"/>
          <p:cNvSpPr txBox="1"/>
          <p:nvPr/>
        </p:nvSpPr>
        <p:spPr>
          <a:xfrm>
            <a:off x="548640" y="12024360"/>
            <a:ext cx="1645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Cazando lo que no sabés que no sabés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David Pérez  ·  Hacking Day Paraná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 txBox="1"/>
          <p:nvPr/>
        </p:nvSpPr>
        <p:spPr>
          <a:xfrm>
            <a:off x="22128480" y="120243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822960" y="2103120"/>
            <a:ext cx="7269480" cy="141732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KNOWN KNOWNS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Realidad operativa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6629400" y="2103120"/>
            <a:ext cx="12801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822960" y="3520440"/>
            <a:ext cx="7269480" cy="54864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Lo que sabemos que sabemos.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ESCENARIO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ClickFix está documentado: falso CAPTCHA, Win+R, Ctrl+V, Enter. Los IOCs de las campañas circulan en feeds y el EDR bloquea las IPs que ya están en listas. Pero el comando lo ejecuta el propio usuario, con PowerShell firmado por Microsoft.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 txBox="1"/>
          <p:nvPr/>
        </p:nvSpPr>
        <p:spPr>
          <a:xfrm>
            <a:off x="822960" y="8092440"/>
            <a:ext cx="7269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0025" lIns="320025" spcFirstLastPara="1" rIns="320025" wrap="square" tIns="32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Aca vive el SOC reactivo.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8503920" y="2103120"/>
            <a:ext cx="7269480" cy="1417320"/>
          </a:xfrm>
          <a:prstGeom prst="rect">
            <a:avLst/>
          </a:prstGeom>
          <a:solidFill>
            <a:srgbClr val="3C98FE"/>
          </a:solidFill>
          <a:ln>
            <a:noFill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KNOWN UNKNOWNS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Incertidumbre estratégica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14310360" y="2103120"/>
            <a:ext cx="12801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8503920" y="3520440"/>
            <a:ext cx="7269480" cy="54864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Sabemos que hay cosas que no sabemos.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ESCENARIO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Sabemos que ClickFix fue el 47 % de los accesos iniciales que vio Microsoft y que 4 de cada 5 llegan desde un buscador. No sabemos si alguno de nuestros usuarios ya pegó un comando: queda registrado como actividad del usuario, con riesgo “info”.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8503857" y="7895740"/>
            <a:ext cx="7269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0025" lIns="320025" spcFirstLastPara="1" rIns="320025" wrap="square" tIns="32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C98FE"/>
                </a:solidFill>
                <a:latin typeface="Arial"/>
                <a:ea typeface="Arial"/>
                <a:cs typeface="Arial"/>
                <a:sym typeface="Arial"/>
              </a:rPr>
              <a:t>Aca viven los PIRs (Priority Intelligence Requirement) y el threat hunting.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6184880" y="2103120"/>
            <a:ext cx="7269480" cy="1417320"/>
          </a:xfrm>
          <a:prstGeom prst="rect">
            <a:avLst/>
          </a:prstGeom>
          <a:solidFill>
            <a:srgbClr val="6C84EC"/>
          </a:solidFill>
          <a:ln>
            <a:noFill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UNKNOWN UNKNOWNS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Cisne negro cibernético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21991320" y="2103120"/>
            <a:ext cx="12801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16184880" y="3520440"/>
            <a:ext cx="7269480" cy="54864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Lo que no sabemos que no sabemos.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ESCENARIO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La próxima variante del truco, la que todavía no tiene nombre. Ya pasó con FileFix (pegar en la barra de direcciones del Explorador) y con la versión para macOS (Terminal): cada una esquiva la regla que escribiste para la anterior.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16184880" y="8092440"/>
            <a:ext cx="7269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0025" lIns="320025" spcFirstLastPara="1" rIns="320025" wrap="square" tIns="32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C98FE"/>
                </a:solidFill>
                <a:latin typeface="Arial"/>
                <a:ea typeface="Arial"/>
                <a:cs typeface="Arial"/>
                <a:sym typeface="Arial"/>
              </a:rPr>
              <a:t>Aca vive la inteligencia anticipatoria.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822960" y="9281160"/>
            <a:ext cx="22631400" cy="86868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objetivo de CTI: mover lo máximo posible de Unknown a Known — y aceptar lo que no podés mover.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/>
          <p:nvPr/>
        </p:nvSpPr>
        <p:spPr>
          <a:xfrm>
            <a:off x="2721" y="11658600"/>
            <a:ext cx="24384000" cy="148590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4" name="Google Shape;114;p8"/>
          <p:cNvCxnSpPr/>
          <p:nvPr/>
        </p:nvCxnSpPr>
        <p:spPr>
          <a:xfrm>
            <a:off x="0" y="13490725"/>
            <a:ext cx="23865900" cy="0"/>
          </a:xfrm>
          <a:prstGeom prst="straightConnector1">
            <a:avLst/>
          </a:prstGeom>
          <a:noFill/>
          <a:ln cap="flat" cmpd="sng" w="38100">
            <a:solidFill>
              <a:srgbClr val="22166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15" name="Google Shape;115;p8"/>
          <p:cNvCxnSpPr/>
          <p:nvPr/>
        </p:nvCxnSpPr>
        <p:spPr>
          <a:xfrm flipH="1" rot="10800000">
            <a:off x="5" y="1498290"/>
            <a:ext cx="24383995" cy="17584"/>
          </a:xfrm>
          <a:prstGeom prst="straightConnector1">
            <a:avLst/>
          </a:prstGeom>
          <a:noFill/>
          <a:ln cap="flat" cmpd="sng" w="114300">
            <a:solidFill>
              <a:srgbClr val="221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8"/>
          <p:cNvSpPr/>
          <p:nvPr/>
        </p:nvSpPr>
        <p:spPr>
          <a:xfrm flipH="1" rot="10800000">
            <a:off x="22505" y="1629340"/>
            <a:ext cx="7310400" cy="305100"/>
          </a:xfrm>
          <a:prstGeom prst="parallelogram">
            <a:avLst>
              <a:gd fmla="val 6725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868680" y="384048"/>
            <a:ext cx="20574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Los tres cuadrantes, llevados al hunting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548640" y="12024360"/>
            <a:ext cx="1645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Cazando lo que no sabés que no sabés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David Pérez  ·  Hacking Day Paraná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22128480" y="120243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822960" y="11109960"/>
            <a:ext cx="2011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Fuente: adaptación propia del modelo de Rumsfeld (2002). Ejemplos del caso que vamos a recorrer en la demo.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822960" y="2286000"/>
            <a:ext cx="7305040" cy="141732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2E9E4F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1" i="0" lang="en-US" sz="3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KNOWN KNOWNS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 que sabemos que sabemos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6664960" y="2286000"/>
            <a:ext cx="12801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822960" y="3703320"/>
            <a:ext cx="7305040" cy="539496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IOCs, reglas, listas de reputación.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Una IP que ya está en una lista de reputación: el EDR la bloquea solo.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E9E4F"/>
                </a:solidFill>
                <a:latin typeface="Arial"/>
                <a:ea typeface="Arial"/>
                <a:cs typeface="Arial"/>
                <a:sym typeface="Arial"/>
              </a:rPr>
              <a:t>Acá vive el SOC reactivo.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8539480" y="2286000"/>
            <a:ext cx="7305040" cy="141732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E8A800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1" i="0" lang="en-US" sz="3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KNOWN UNKNOWNS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Sabemos que hay cosas que no sabemos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14381480" y="2286000"/>
            <a:ext cx="12801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8539480" y="3703320"/>
            <a:ext cx="7305040" cy="539496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Técnicas conocidas que no sabés si te pasaron.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ClickFix está en todos los reportes. ¿Nos pasó? Si pasó, está en la telemetría, con riesgo “info”. Hay que salir a buscarlo.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B88200"/>
                </a:solidFill>
                <a:latin typeface="Arial"/>
                <a:ea typeface="Arial"/>
                <a:cs typeface="Arial"/>
                <a:sym typeface="Arial"/>
              </a:rPr>
              <a:t>Acá vive el hunting por hipótesis.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16256000" y="2286000"/>
            <a:ext cx="7305040" cy="141732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E25B1F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1" i="0" lang="en-US" sz="3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UNKNOWN UNKNOWNS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 que no sabemos que no sabemos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22098000" y="2286000"/>
            <a:ext cx="12801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16256000" y="3703320"/>
            <a:ext cx="7305040" cy="539496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Lo que aparece recién cuando salís a cazar.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br>
              <a:rPr b="1" i="0" lang="en-US" sz="18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Lo que vamos a encontrar en la demo buscando otra cosa.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25B1F"/>
                </a:solidFill>
                <a:latin typeface="Arial"/>
                <a:ea typeface="Arial"/>
                <a:cs typeface="Arial"/>
                <a:sym typeface="Arial"/>
              </a:rPr>
              <a:t>Acá nace la próxima hunt.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822960" y="9372600"/>
            <a:ext cx="22738080" cy="86868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3C98FE"/>
                </a:solidFill>
                <a:latin typeface="Arial"/>
                <a:ea typeface="Arial"/>
                <a:cs typeface="Arial"/>
                <a:sym typeface="Arial"/>
              </a:rPr>
              <a:t>El trabajo del hunter: </a:t>
            </a: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pasar lo amarillo a verde, y usar lo que encuentra para achicar lo naranja.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/>
          <p:nvPr/>
        </p:nvSpPr>
        <p:spPr>
          <a:xfrm>
            <a:off x="2721" y="11658600"/>
            <a:ext cx="24384000" cy="148590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36" name="Google Shape;136;p9"/>
          <p:cNvCxnSpPr/>
          <p:nvPr/>
        </p:nvCxnSpPr>
        <p:spPr>
          <a:xfrm>
            <a:off x="0" y="13490725"/>
            <a:ext cx="23865900" cy="0"/>
          </a:xfrm>
          <a:prstGeom prst="straightConnector1">
            <a:avLst/>
          </a:prstGeom>
          <a:noFill/>
          <a:ln cap="flat" cmpd="sng" w="38100">
            <a:solidFill>
              <a:srgbClr val="22166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37" name="Google Shape;137;p9"/>
          <p:cNvCxnSpPr/>
          <p:nvPr/>
        </p:nvCxnSpPr>
        <p:spPr>
          <a:xfrm flipH="1" rot="10800000">
            <a:off x="5" y="1498290"/>
            <a:ext cx="24383995" cy="17584"/>
          </a:xfrm>
          <a:prstGeom prst="straightConnector1">
            <a:avLst/>
          </a:prstGeom>
          <a:noFill/>
          <a:ln cap="flat" cmpd="sng" w="114300">
            <a:solidFill>
              <a:srgbClr val="221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9"/>
          <p:cNvSpPr/>
          <p:nvPr/>
        </p:nvSpPr>
        <p:spPr>
          <a:xfrm flipH="1" rot="10800000">
            <a:off x="22505" y="1629340"/>
            <a:ext cx="7310400" cy="305100"/>
          </a:xfrm>
          <a:prstGeom prst="parallelogram">
            <a:avLst>
              <a:gd fmla="val 6725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868680" y="384048"/>
            <a:ext cx="20574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¿Qué NO es threat hunting?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548640" y="12024360"/>
            <a:ext cx="1645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Cazando lo que no sabés que no sabés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David Pérez  ·  Hacking Day Paraná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9"/>
          <p:cNvSpPr txBox="1"/>
          <p:nvPr/>
        </p:nvSpPr>
        <p:spPr>
          <a:xfrm>
            <a:off x="22128480" y="120243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822960" y="11109960"/>
            <a:ext cx="2011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Fuente: definición adaptada de Sqrrl, “A Framework for Cyber Threat Hunting” · D. Bianco et al., PEAK Threat Hunting Framework, Splunk SURGe (2023). Links en el anexo de fuentes.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822960" y="2011680"/>
            <a:ext cx="2194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Cuatro cosas que se confunden con cazar, antes de seguir.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822960" y="2880360"/>
            <a:ext cx="5257800" cy="868680"/>
          </a:xfrm>
          <a:prstGeom prst="rect">
            <a:avLst/>
          </a:prstGeom>
          <a:solidFill>
            <a:srgbClr val="555B6E"/>
          </a:solidFill>
          <a:ln>
            <a:noFill/>
          </a:ln>
        </p:spPr>
        <p:txBody>
          <a:bodyPr anchorCtr="0" anchor="ctr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es esperar la alerta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822960" y="3749040"/>
            <a:ext cx="5257800" cy="233172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Si arrancás cuando suena la alarma, estás respondiendo, no cazando.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6400800" y="2880360"/>
            <a:ext cx="5257800" cy="868680"/>
          </a:xfrm>
          <a:prstGeom prst="rect">
            <a:avLst/>
          </a:prstGeom>
          <a:solidFill>
            <a:srgbClr val="555B6E"/>
          </a:solidFill>
          <a:ln>
            <a:noFill/>
          </a:ln>
        </p:spPr>
        <p:txBody>
          <a:bodyPr anchorCtr="0" anchor="ctr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es hacer triage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6400800" y="3749040"/>
            <a:ext cx="5257800" cy="233172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Revisar la cola del SIEM es necesario. Pero son alertas que alguien ya escribió.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11978640" y="2880360"/>
            <a:ext cx="5257800" cy="868680"/>
          </a:xfrm>
          <a:prstGeom prst="rect">
            <a:avLst/>
          </a:prstGeom>
          <a:solidFill>
            <a:srgbClr val="555B6E"/>
          </a:solidFill>
          <a:ln>
            <a:noFill/>
          </a:ln>
        </p:spPr>
        <p:txBody>
          <a:bodyPr anchorCtr="0" anchor="ctr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es barrer IOCs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11978640" y="3749040"/>
            <a:ext cx="5257800" cy="233172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Buscar los hashes de un feed es un barrido: sirve, dura poco y no requiere hipótesis.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17556480" y="2880360"/>
            <a:ext cx="5257800" cy="868680"/>
          </a:xfrm>
          <a:prstGeom prst="rect">
            <a:avLst/>
          </a:prstGeom>
          <a:solidFill>
            <a:srgbClr val="555B6E"/>
          </a:solidFill>
          <a:ln>
            <a:noFill/>
          </a:ln>
        </p:spPr>
        <p:txBody>
          <a:bodyPr anchorCtr="0" anchor="ctr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es respuesta a incidentes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7556480" y="3749040"/>
            <a:ext cx="5257800" cy="233172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IR arranca con una certeza (pasó algo). El hunting arranca con una duda.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822960" y="6400800"/>
            <a:ext cx="22402800" cy="164592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411475" lIns="411475" spcFirstLastPara="1" rIns="411475" wrap="square" tIns="4114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3C98FE"/>
                </a:solidFill>
                <a:latin typeface="Oswald"/>
                <a:ea typeface="Oswald"/>
                <a:cs typeface="Oswald"/>
                <a:sym typeface="Oswald"/>
              </a:rPr>
              <a:t>Threat hunting ES </a:t>
            </a: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proceso proactivo e iterativo de buscar, en redes y endpoints, amenazas que evadieron los controles existentes.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822960" y="8275320"/>
            <a:ext cx="7254240" cy="16002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Asume la brecha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Parte de que algo ya pasó los controles.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8397240" y="8275320"/>
            <a:ext cx="7254240" cy="16002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Arranca de una hipótesis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Una pregunta que los datos pueden confirmar o refutar.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15971520" y="8275320"/>
            <a:ext cx="7254240" cy="16002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Termina en algo nuevo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Una detección, visibilidad que no tenías o una contención.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/>
          <p:nvPr/>
        </p:nvSpPr>
        <p:spPr>
          <a:xfrm>
            <a:off x="2721" y="11658600"/>
            <a:ext cx="24384000" cy="148590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61" name="Google Shape;161;p10"/>
          <p:cNvCxnSpPr/>
          <p:nvPr/>
        </p:nvCxnSpPr>
        <p:spPr>
          <a:xfrm>
            <a:off x="0" y="13490725"/>
            <a:ext cx="23865900" cy="0"/>
          </a:xfrm>
          <a:prstGeom prst="straightConnector1">
            <a:avLst/>
          </a:prstGeom>
          <a:noFill/>
          <a:ln cap="flat" cmpd="sng" w="38100">
            <a:solidFill>
              <a:srgbClr val="22166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62" name="Google Shape;162;p10"/>
          <p:cNvCxnSpPr/>
          <p:nvPr/>
        </p:nvCxnSpPr>
        <p:spPr>
          <a:xfrm flipH="1" rot="10800000">
            <a:off x="5" y="1498290"/>
            <a:ext cx="24383995" cy="17584"/>
          </a:xfrm>
          <a:prstGeom prst="straightConnector1">
            <a:avLst/>
          </a:prstGeom>
          <a:noFill/>
          <a:ln cap="flat" cmpd="sng" w="114300">
            <a:solidFill>
              <a:srgbClr val="221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10"/>
          <p:cNvSpPr/>
          <p:nvPr/>
        </p:nvSpPr>
        <p:spPr>
          <a:xfrm flipH="1" rot="10800000">
            <a:off x="22505" y="1629340"/>
            <a:ext cx="7310400" cy="305100"/>
          </a:xfrm>
          <a:prstGeom prst="parallelogram">
            <a:avLst>
              <a:gd fmla="val 6725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4" name="Google Shape;164;p10"/>
          <p:cNvSpPr txBox="1"/>
          <p:nvPr/>
        </p:nvSpPr>
        <p:spPr>
          <a:xfrm>
            <a:off x="868680" y="384048"/>
            <a:ext cx="20574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Tres formas de cazar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"/>
          <p:cNvSpPr txBox="1"/>
          <p:nvPr/>
        </p:nvSpPr>
        <p:spPr>
          <a:xfrm>
            <a:off x="548640" y="12024360"/>
            <a:ext cx="1645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Cazando lo que no sabés que no sabés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David Pérez  ·  Hacking Day Paraná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 txBox="1"/>
          <p:nvPr/>
        </p:nvSpPr>
        <p:spPr>
          <a:xfrm>
            <a:off x="22128480" y="120243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822960" y="11109960"/>
            <a:ext cx="2011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Adaptado de PEAK (Bianco et al., Splunk SURGe, 2023), que trata la inteligencia como fuente de hipótesis y suma un tercer tipo: asistida por modelos (M-ATH). Links en el anexo de fuentes.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822960" y="2926080"/>
            <a:ext cx="7223760" cy="690372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t" bIns="365750" lIns="365750" spcFirstLastPara="1" rIns="365750" wrap="square" tIns="365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POR INTELIGENCIA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1" lang="en-US" sz="2300" u="none" cap="none" strike="noStrike">
                <a:solidFill>
                  <a:srgbClr val="C9D3F5"/>
                </a:solidFill>
                <a:latin typeface="Arial"/>
                <a:ea typeface="Arial"/>
                <a:cs typeface="Arial"/>
                <a:sym typeface="Arial"/>
              </a:rPr>
              <a:t>Intelligence-driven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C98FE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Arranca de afuera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reporte, un feed o un PIR te dice qué está pasando en el mundo. Traducís sus TTPs, no sus IOCs, en una pregunta para tu flota.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9D3F5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Microsoft: ClickFix es el 47 % de los accesos iniciales. ¿Alguien de la flota pegó un comando?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5029200" y="3200400"/>
            <a:ext cx="2743200" cy="548640"/>
          </a:xfrm>
          <a:prstGeom prst="roundRect">
            <a:avLst>
              <a:gd fmla="val 16667" name="adj"/>
            </a:avLst>
          </a:prstGeom>
          <a:solidFill>
            <a:srgbClr val="3C98F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LA DE HOY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8412480" y="2926080"/>
            <a:ext cx="7223760" cy="690372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365750" lIns="365750" spcFirstLastPara="1" rIns="365750" wrap="square" tIns="365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POR HIPÓTESIS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1" lang="en-US" sz="23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Hypothesis-driven · ATT&amp;CK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C98FE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1" i="0" lang="en-US" sz="24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Arranca de una idea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Sin un reporte que la dispare: partís de ATT&amp;CK o de tu experiencia. “Si el adversario hizo X, lo veo en Y.”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Si alguien persiste en el navegador, un proceso que no es Chrome va a escribir su perfil.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16002000" y="2926080"/>
            <a:ext cx="7223760" cy="690372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365750" lIns="365750" spcFirstLastPara="1" rIns="365750" wrap="square" tIns="365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POR LÍNEA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1" lang="en-US" sz="23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Baseline · análisis exploratorio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C98FE"/>
                </a:solidFill>
                <a:latin typeface="Arial"/>
                <a:ea typeface="Arial"/>
                <a:cs typeface="Arial"/>
                <a:sym typeface="Arial"/>
              </a:rPr>
              <a:t>●  </a:t>
            </a:r>
            <a:r>
              <a:rPr b="1" i="0" lang="en-US" sz="24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Arranca de los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Definís lo normal y cazás lo raro: stack counting, rareza en la flota, lo que aparece una sola vez.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¿Cuántas veces al mes corre csc.exe sin argumentos en 3.000 equipos?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/>
          <p:nvPr/>
        </p:nvSpPr>
        <p:spPr>
          <a:xfrm>
            <a:off x="2721" y="11658600"/>
            <a:ext cx="24384000" cy="148590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77" name="Google Shape;177;p11"/>
          <p:cNvCxnSpPr/>
          <p:nvPr/>
        </p:nvCxnSpPr>
        <p:spPr>
          <a:xfrm>
            <a:off x="0" y="13490725"/>
            <a:ext cx="23865900" cy="0"/>
          </a:xfrm>
          <a:prstGeom prst="straightConnector1">
            <a:avLst/>
          </a:prstGeom>
          <a:noFill/>
          <a:ln cap="flat" cmpd="sng" w="38100">
            <a:solidFill>
              <a:srgbClr val="221666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78" name="Google Shape;178;p11"/>
          <p:cNvSpPr/>
          <p:nvPr/>
        </p:nvSpPr>
        <p:spPr>
          <a:xfrm flipH="1" rot="10800000">
            <a:off x="22505" y="1629340"/>
            <a:ext cx="7310400" cy="305100"/>
          </a:xfrm>
          <a:prstGeom prst="parallelogram">
            <a:avLst>
              <a:gd fmla="val 6725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548640" y="12024360"/>
            <a:ext cx="1645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Cazando lo que no sabés que no sabés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David Pérez  ·  Hacking Day Paraná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22128480" y="120243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822960" y="11109960"/>
            <a:ext cx="2011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Fuente: D. J. Bianco, “The Pyramid of Pain” (2013). Links en el anexo de fuentes.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11"/>
          <p:cNvCxnSpPr/>
          <p:nvPr/>
        </p:nvCxnSpPr>
        <p:spPr>
          <a:xfrm flipH="1" rot="10800000">
            <a:off x="5" y="1498174"/>
            <a:ext cx="24384000" cy="17700"/>
          </a:xfrm>
          <a:prstGeom prst="straightConnector1">
            <a:avLst/>
          </a:prstGeom>
          <a:noFill/>
          <a:ln cap="flat" cmpd="sng" w="114300">
            <a:solidFill>
              <a:srgbClr val="221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11"/>
          <p:cNvSpPr txBox="1"/>
          <p:nvPr/>
        </p:nvSpPr>
        <p:spPr>
          <a:xfrm>
            <a:off x="868680" y="384048"/>
            <a:ext cx="20574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Threat Hunting la pirámide del Dolor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50" y="2510592"/>
            <a:ext cx="12095874" cy="8153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70950" y="3414875"/>
            <a:ext cx="5791185" cy="6810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/>
          <p:nvPr/>
        </p:nvSpPr>
        <p:spPr>
          <a:xfrm>
            <a:off x="2721" y="11658600"/>
            <a:ext cx="24384000" cy="148590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91" name="Google Shape;191;p12"/>
          <p:cNvCxnSpPr/>
          <p:nvPr/>
        </p:nvCxnSpPr>
        <p:spPr>
          <a:xfrm>
            <a:off x="0" y="13490725"/>
            <a:ext cx="23865900" cy="0"/>
          </a:xfrm>
          <a:prstGeom prst="straightConnector1">
            <a:avLst/>
          </a:prstGeom>
          <a:noFill/>
          <a:ln cap="flat" cmpd="sng" w="38100">
            <a:solidFill>
              <a:srgbClr val="22166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192" name="Google Shape;192;p12"/>
          <p:cNvCxnSpPr/>
          <p:nvPr/>
        </p:nvCxnSpPr>
        <p:spPr>
          <a:xfrm flipH="1" rot="10800000">
            <a:off x="5" y="1498290"/>
            <a:ext cx="24383995" cy="17584"/>
          </a:xfrm>
          <a:prstGeom prst="straightConnector1">
            <a:avLst/>
          </a:prstGeom>
          <a:noFill/>
          <a:ln cap="flat" cmpd="sng" w="114300">
            <a:solidFill>
              <a:srgbClr val="221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12"/>
          <p:cNvSpPr/>
          <p:nvPr/>
        </p:nvSpPr>
        <p:spPr>
          <a:xfrm flipH="1" rot="10800000">
            <a:off x="22505" y="1629340"/>
            <a:ext cx="7310400" cy="305100"/>
          </a:xfrm>
          <a:prstGeom prst="parallelogram">
            <a:avLst>
              <a:gd fmla="val 6725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868680" y="384048"/>
            <a:ext cx="20574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El ciclo de una hunt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548640" y="12024360"/>
            <a:ext cx="1645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Cazando lo que no sabés que no sabés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David Pérez  ·  Hacking Day Paraná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22128480" y="120243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822960" y="11109960"/>
            <a:ext cx="2011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Fuente: fases Preparar / Ejecutar / Actuar del framework PEAK (Splunk SURGe, 2023), con ejemplos del caso de la demo. Links en el anexo de fuentes.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822960" y="2011680"/>
            <a:ext cx="2194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Cinco pasos, tres fases. El último alimenta al primero.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822960" y="2788920"/>
            <a:ext cx="8732520" cy="594360"/>
          </a:xfrm>
          <a:prstGeom prst="rect">
            <a:avLst/>
          </a:prstGeom>
          <a:solidFill>
            <a:srgbClr val="6C84EC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PREPARAR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9966960" y="2788920"/>
            <a:ext cx="8732520" cy="594360"/>
          </a:xfrm>
          <a:prstGeom prst="rect">
            <a:avLst/>
          </a:prstGeom>
          <a:solidFill>
            <a:srgbClr val="6C84EC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EJECUTAR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19110960" y="2788920"/>
            <a:ext cx="4160520" cy="594360"/>
          </a:xfrm>
          <a:prstGeom prst="rect">
            <a:avLst/>
          </a:prstGeom>
          <a:solidFill>
            <a:srgbClr val="6C84EC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ACTUAR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822960" y="3611880"/>
            <a:ext cx="4160520" cy="45720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3C98FE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Hipótesis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¿Qué haría el adversario y dónde lo vería?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EN EL CASO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1" lang="en-US" sz="23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Usuarios pegaron un comando ClickFix.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5029200" y="5715000"/>
            <a:ext cx="320040" cy="4114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216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5394960" y="3611880"/>
            <a:ext cx="4160520" cy="45720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3C98FE"/>
                </a:solidFill>
                <a:latin typeface="Oswald"/>
                <a:ea typeface="Oswald"/>
                <a:cs typeface="Oswald"/>
                <a:sym typeface="Oswald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¿Tengo la telemetría? ¿Qué no veo?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EN EL CASO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1" lang="en-US" sz="23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RunMRU, procesos y scripts del EDR. El portapapeles, 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9601200" y="5715000"/>
            <a:ext cx="320040" cy="4114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216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9966960" y="3611880"/>
            <a:ext cx="4160520" cy="45720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3C98FE"/>
                </a:solidFill>
                <a:latin typeface="Oswald"/>
                <a:ea typeface="Oswald"/>
                <a:cs typeface="Oswald"/>
                <a:sym typeface="Oswald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Query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¿Encuentra lo que sé que existe?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EN EL CASO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1" lang="en-US" sz="23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Probada contra un evento conocido.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14173200" y="5715000"/>
            <a:ext cx="320040" cy="4114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216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14538960" y="3611880"/>
            <a:ext cx="4160520" cy="45720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3C98FE"/>
                </a:solidFill>
                <a:latin typeface="Oswald"/>
                <a:ea typeface="Oswald"/>
                <a:cs typeface="Oswald"/>
                <a:sym typeface="Oswald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Análisis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¿Malicioso, benigno o no concluyente?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EN EL CASO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1" lang="en-US" sz="23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1 equipo confirmado, 4 aciertos.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18745200" y="5715000"/>
            <a:ext cx="320040" cy="4114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216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19110960" y="3611880"/>
            <a:ext cx="4160520" cy="45720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3C98FE"/>
                </a:solidFill>
                <a:latin typeface="Oswald"/>
                <a:ea typeface="Oswald"/>
                <a:cs typeface="Oswald"/>
                <a:sym typeface="Oswald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Reporte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¿Qué cambia mañana?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EN EL CASO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1" lang="en-US" sz="23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3 detecciones, 1 brecha, 1 hipótesis nueva.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822960" y="8503920"/>
            <a:ext cx="22402800" cy="118872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365750" lIns="365750" spcFirstLastPara="1" rIns="365750" wrap="square" tIns="365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3C98FE"/>
                </a:solidFill>
                <a:latin typeface="Arial"/>
                <a:ea typeface="Arial"/>
                <a:cs typeface="Arial"/>
                <a:sym typeface="Arial"/>
              </a:rPr>
              <a:t>↺  </a:t>
            </a: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reporte vuelve al paso 1: </a:t>
            </a: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cada hunt deja la próxima hipótesis. En el caso, la extensión del navegador nos dio una.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/>
          <p:nvPr/>
        </p:nvSpPr>
        <p:spPr>
          <a:xfrm>
            <a:off x="2721" y="11658600"/>
            <a:ext cx="24384000" cy="148590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7" name="Google Shape;217;p13"/>
          <p:cNvCxnSpPr/>
          <p:nvPr/>
        </p:nvCxnSpPr>
        <p:spPr>
          <a:xfrm>
            <a:off x="0" y="13490725"/>
            <a:ext cx="23865900" cy="0"/>
          </a:xfrm>
          <a:prstGeom prst="straightConnector1">
            <a:avLst/>
          </a:prstGeom>
          <a:noFill/>
          <a:ln cap="flat" cmpd="sng" w="38100">
            <a:solidFill>
              <a:srgbClr val="22166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18" name="Google Shape;218;p13"/>
          <p:cNvCxnSpPr/>
          <p:nvPr/>
        </p:nvCxnSpPr>
        <p:spPr>
          <a:xfrm flipH="1" rot="10800000">
            <a:off x="5" y="1498290"/>
            <a:ext cx="24383995" cy="17584"/>
          </a:xfrm>
          <a:prstGeom prst="straightConnector1">
            <a:avLst/>
          </a:prstGeom>
          <a:noFill/>
          <a:ln cap="flat" cmpd="sng" w="114300">
            <a:solidFill>
              <a:srgbClr val="221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13"/>
          <p:cNvSpPr/>
          <p:nvPr/>
        </p:nvSpPr>
        <p:spPr>
          <a:xfrm flipH="1" rot="10800000">
            <a:off x="22505" y="1629340"/>
            <a:ext cx="7310400" cy="305100"/>
          </a:xfrm>
          <a:prstGeom prst="parallelogram">
            <a:avLst>
              <a:gd fmla="val 6725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0" name="Google Shape;220;p13"/>
          <p:cNvSpPr txBox="1"/>
          <p:nvPr/>
        </p:nvSpPr>
        <p:spPr>
          <a:xfrm>
            <a:off x="868680" y="384048"/>
            <a:ext cx="20574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ClickFix: por qué es la hipótesis de hoy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3"/>
          <p:cNvSpPr txBox="1"/>
          <p:nvPr/>
        </p:nvSpPr>
        <p:spPr>
          <a:xfrm>
            <a:off x="548640" y="12024360"/>
            <a:ext cx="1645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Cazando lo que no sabés que no sabés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David Pérez  ·  Hacking Day Paraná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3"/>
          <p:cNvSpPr txBox="1"/>
          <p:nvPr/>
        </p:nvSpPr>
        <p:spPr>
          <a:xfrm>
            <a:off x="22128480" y="120243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3"/>
          <p:cNvSpPr txBox="1"/>
          <p:nvPr/>
        </p:nvSpPr>
        <p:spPr>
          <a:xfrm>
            <a:off x="822960" y="11109960"/>
            <a:ext cx="2011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Fuentes: Microsoft, Digital Defense Report 2025 (p. 37) · ESET Threat Report H1 2025 · Push Security, “The state of ClickFix” (sep. 2026) · CTM360, vía SecNews (sep. 2026). Links en el anexo de fuentes.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822960" y="2103120"/>
            <a:ext cx="5360670" cy="420624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t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47 %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los accesos iniciales que vio Microsoft Defender Experts en el último año fueron ClickFix. Phishing: 35 %.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C98FE"/>
                </a:solidFill>
                <a:latin typeface="Arial"/>
                <a:ea typeface="Arial"/>
                <a:cs typeface="Arial"/>
                <a:sym typeface="Arial"/>
              </a:rPr>
              <a:t>Microsoft, MDDR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6503670" y="2103120"/>
            <a:ext cx="5360670" cy="420624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+517 %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entre el 2.º semestre de 2024 y el 1.º de 2025. Pasó a ser el segundo vector, detrás del phishing.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ESET, H1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12184380" y="2103120"/>
            <a:ext cx="5360670" cy="420624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4 de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payloads de ClickFix interceptados en 2026 llegaron desde un buscador (Google, Bing), no desde el mail.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Push Security,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17865090" y="2103120"/>
            <a:ext cx="5360670" cy="420624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17.000+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URLs con páginas falsas de verificación analizadas; unas 3.000 activas al momento del estudio.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CTM360 vía SecNews, sep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3"/>
          <p:cNvSpPr txBox="1"/>
          <p:nvPr/>
        </p:nvSpPr>
        <p:spPr>
          <a:xfrm>
            <a:off x="822960" y="6583680"/>
            <a:ext cx="2194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CÓMO FUNCIONA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822960" y="7178040"/>
            <a:ext cx="5360670" cy="21031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6C8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3C98FE"/>
                </a:solidFill>
                <a:latin typeface="Oswald"/>
                <a:ea typeface="Oswald"/>
                <a:cs typeface="Oswald"/>
                <a:sym typeface="Oswald"/>
              </a:rPr>
              <a:t>1  </a:t>
            </a:r>
            <a:r>
              <a:rPr b="1" i="0" lang="en-US" sz="26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Buscás algo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Música, un software, un "fix". Resultado en Google.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6503670" y="7178040"/>
            <a:ext cx="5360670" cy="21031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6C8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3C98FE"/>
                </a:solidFill>
                <a:latin typeface="Oswald"/>
                <a:ea typeface="Oswald"/>
                <a:cs typeface="Oswald"/>
                <a:sym typeface="Oswald"/>
              </a:rPr>
              <a:t>2  </a:t>
            </a:r>
            <a:r>
              <a:rPr b="1" i="0" lang="en-US" sz="26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Un error falso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CAPTCHA, "verificá que sos humano", "no se pudo cargar".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12184380" y="7178040"/>
            <a:ext cx="5360670" cy="21031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6C8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3C98FE"/>
                </a:solidFill>
                <a:latin typeface="Oswald"/>
                <a:ea typeface="Oswald"/>
                <a:cs typeface="Oswald"/>
                <a:sym typeface="Oswald"/>
              </a:rPr>
              <a:t>3  </a:t>
            </a:r>
            <a:r>
              <a:rPr b="1" i="0" lang="en-US" sz="26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Copia al portapapeles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La página ya copió un comando de PowerShell.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17865090" y="7178040"/>
            <a:ext cx="5360670" cy="21031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6C8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3C98FE"/>
                </a:solidFill>
                <a:latin typeface="Oswald"/>
                <a:ea typeface="Oswald"/>
                <a:cs typeface="Oswald"/>
                <a:sym typeface="Oswald"/>
              </a:rPr>
              <a:t>4  </a:t>
            </a:r>
            <a:r>
              <a:rPr b="1" i="0" lang="en-US" sz="26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Win+R · Ctrl+V · Enter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La víctima ejecuta. No hay adjunto ni exploit.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3"/>
          <p:cNvSpPr txBox="1"/>
          <p:nvPr/>
        </p:nvSpPr>
        <p:spPr>
          <a:xfrm>
            <a:off x="822960" y="9418320"/>
            <a:ext cx="2240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Para un hunter: </a:t>
            </a:r>
            <a:r>
              <a:rPr b="0" i="0" lang="en-US" sz="23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entra por la búsqueda, no por el mail. El gateway de correo no lo ve; el EDR sí, pero lo registra como actividad del usuario.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/>
          <p:nvPr/>
        </p:nvSpPr>
        <p:spPr>
          <a:xfrm>
            <a:off x="2721" y="11658600"/>
            <a:ext cx="24384000" cy="148590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39" name="Google Shape;239;p14"/>
          <p:cNvCxnSpPr/>
          <p:nvPr/>
        </p:nvCxnSpPr>
        <p:spPr>
          <a:xfrm>
            <a:off x="0" y="13490725"/>
            <a:ext cx="23865900" cy="0"/>
          </a:xfrm>
          <a:prstGeom prst="straightConnector1">
            <a:avLst/>
          </a:prstGeom>
          <a:noFill/>
          <a:ln cap="flat" cmpd="sng" w="38100">
            <a:solidFill>
              <a:srgbClr val="22166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40" name="Google Shape;240;p14"/>
          <p:cNvCxnSpPr/>
          <p:nvPr/>
        </p:nvCxnSpPr>
        <p:spPr>
          <a:xfrm flipH="1" rot="10800000">
            <a:off x="5" y="1498174"/>
            <a:ext cx="24384000" cy="17700"/>
          </a:xfrm>
          <a:prstGeom prst="straightConnector1">
            <a:avLst/>
          </a:prstGeom>
          <a:noFill/>
          <a:ln cap="flat" cmpd="sng" w="114300">
            <a:solidFill>
              <a:srgbClr val="221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14"/>
          <p:cNvSpPr/>
          <p:nvPr/>
        </p:nvSpPr>
        <p:spPr>
          <a:xfrm flipH="1" rot="10800000">
            <a:off x="22505" y="1629340"/>
            <a:ext cx="7310400" cy="305100"/>
          </a:xfrm>
          <a:prstGeom prst="parallelogram">
            <a:avLst>
              <a:gd fmla="val 6725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2" name="Google Shape;242;p14"/>
          <p:cNvSpPr txBox="1"/>
          <p:nvPr/>
        </p:nvSpPr>
        <p:spPr>
          <a:xfrm>
            <a:off x="868680" y="384048"/>
            <a:ext cx="20574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ClickFix: por qué es la hipótesis de hoy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4"/>
          <p:cNvSpPr txBox="1"/>
          <p:nvPr/>
        </p:nvSpPr>
        <p:spPr>
          <a:xfrm>
            <a:off x="548640" y="12024360"/>
            <a:ext cx="16459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Cazando lo que no sabés que no sabés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David Pérez  ·  Hacking Day Paraná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4"/>
          <p:cNvSpPr txBox="1"/>
          <p:nvPr/>
        </p:nvSpPr>
        <p:spPr>
          <a:xfrm>
            <a:off x="22128480" y="12024360"/>
            <a:ext cx="173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4"/>
          <p:cNvSpPr txBox="1"/>
          <p:nvPr/>
        </p:nvSpPr>
        <p:spPr>
          <a:xfrm>
            <a:off x="822960" y="11109960"/>
            <a:ext cx="20116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Fuentes: Microsoft, Digital Defense Report 2025 (p. 37) · ESET Threat Report H1 2025 · Push Security, “The state of ClickFix” (sep. 2026) · CTM360, vía SecNews (sep. 2026). Links en el anexo de fuentes.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0" y="2047925"/>
            <a:ext cx="9740775" cy="89006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mirante Ackbar: es una trampa" id="247" name="Google Shape;24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53325" y="2047925"/>
            <a:ext cx="12608325" cy="89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4"/>
          <p:cNvSpPr txBox="1"/>
          <p:nvPr/>
        </p:nvSpPr>
        <p:spPr>
          <a:xfrm>
            <a:off x="9458822" y="8595100"/>
            <a:ext cx="159105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¡ES UNA TRAMPA!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"/>
          <p:cNvSpPr/>
          <p:nvPr/>
        </p:nvSpPr>
        <p:spPr>
          <a:xfrm>
            <a:off x="2721" y="11658600"/>
            <a:ext cx="24384000" cy="148590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54" name="Google Shape;254;p15"/>
          <p:cNvCxnSpPr/>
          <p:nvPr/>
        </p:nvCxnSpPr>
        <p:spPr>
          <a:xfrm>
            <a:off x="0" y="13490725"/>
            <a:ext cx="23865900" cy="0"/>
          </a:xfrm>
          <a:prstGeom prst="straightConnector1">
            <a:avLst/>
          </a:prstGeom>
          <a:noFill/>
          <a:ln cap="flat" cmpd="sng" w="38100">
            <a:solidFill>
              <a:srgbClr val="22166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55" name="Google Shape;255;p15"/>
          <p:cNvCxnSpPr/>
          <p:nvPr/>
        </p:nvCxnSpPr>
        <p:spPr>
          <a:xfrm flipH="1" rot="10800000">
            <a:off x="5" y="1498290"/>
            <a:ext cx="24383995" cy="17584"/>
          </a:xfrm>
          <a:prstGeom prst="straightConnector1">
            <a:avLst/>
          </a:prstGeom>
          <a:noFill/>
          <a:ln cap="flat" cmpd="sng" w="114300">
            <a:solidFill>
              <a:srgbClr val="221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5"/>
          <p:cNvSpPr/>
          <p:nvPr/>
        </p:nvSpPr>
        <p:spPr>
          <a:xfrm flipH="1" rot="10800000">
            <a:off x="22505" y="1629340"/>
            <a:ext cx="7310400" cy="305100"/>
          </a:xfrm>
          <a:prstGeom prst="parallelogram">
            <a:avLst>
              <a:gd fmla="val 6725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7" name="Google Shape;257;p15"/>
          <p:cNvSpPr txBox="1"/>
          <p:nvPr/>
        </p:nvSpPr>
        <p:spPr>
          <a:xfrm>
            <a:off x="868680" y="384048"/>
            <a:ext cx="20574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La hipótesis del ejercicio</a:t>
            </a:r>
            <a:r>
              <a:rPr lang="en-US" sz="4600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: Este hunt se construye sobre un caso real.</a:t>
            </a:r>
            <a:endParaRPr sz="4600">
              <a:solidFill>
                <a:srgbClr val="22166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8" name="Google Shape;258;p15"/>
          <p:cNvSpPr txBox="1"/>
          <p:nvPr/>
        </p:nvSpPr>
        <p:spPr>
          <a:xfrm>
            <a:off x="548640" y="12024360"/>
            <a:ext cx="1645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Cazando lo que no sabés que no sabés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David Pérez  ·  Hacking Day Paraná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5"/>
          <p:cNvSpPr txBox="1"/>
          <p:nvPr/>
        </p:nvSpPr>
        <p:spPr>
          <a:xfrm>
            <a:off x="22128480" y="120243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5"/>
          <p:cNvSpPr txBox="1"/>
          <p:nvPr/>
        </p:nvSpPr>
        <p:spPr>
          <a:xfrm>
            <a:off x="822960" y="11109960"/>
            <a:ext cx="2011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ATT&amp;CK: T1204.004 (Malicious Copy and Paste) → T1059.001 (PowerShell). Evidencia: HKCU\…\Explorer\RunMRU. Alcance: toda la flota con EDR, últimos 30 días.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5"/>
          <p:cNvSpPr txBox="1"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EL EJERCICIO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822960" y="2514600"/>
            <a:ext cx="7366000" cy="132588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ctr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3C98FE"/>
                </a:solidFill>
                <a:latin typeface="Oswald"/>
                <a:ea typeface="Oswald"/>
                <a:cs typeface="Oswald"/>
                <a:sym typeface="Oswald"/>
              </a:rPr>
              <a:t>1  </a:t>
            </a:r>
            <a:r>
              <a:rPr b="1" i="0" lang="en-US" sz="25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Telemetría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Un día de eventos del EDR de una flota real, anonimizado.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8509000" y="2514600"/>
            <a:ext cx="7366000" cy="132588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ctr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3C98FE"/>
                </a:solidFill>
                <a:latin typeface="Oswald"/>
                <a:ea typeface="Oswald"/>
                <a:cs typeface="Oswald"/>
                <a:sym typeface="Oswald"/>
              </a:rPr>
              <a:t>2  </a:t>
            </a:r>
            <a:r>
              <a:rPr b="1" i="0" lang="en-US" sz="25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Sin mirar alertas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Hacemos de cuenta que el SOC no recibió ninguna.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16195040" y="2514600"/>
            <a:ext cx="7366000" cy="13258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3C98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3C98FE"/>
                </a:solidFill>
                <a:latin typeface="Oswald"/>
                <a:ea typeface="Oswald"/>
                <a:cs typeface="Oswald"/>
                <a:sym typeface="Oswald"/>
              </a:rPr>
              <a:t>3  </a:t>
            </a:r>
            <a:r>
              <a:rPr b="1" i="0" lang="en-US" sz="25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Solo la inteligencia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ClickFix es masivo y llega por buscadores. ¿Nos pasó?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822960" y="4069080"/>
            <a:ext cx="22738080" cy="1874519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411475" lIns="411475" spcFirstLastPara="1" rIns="411475" wrap="square" tIns="4114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C98FE"/>
                </a:solidFill>
                <a:latin typeface="Arial"/>
                <a:ea typeface="Arial"/>
                <a:cs typeface="Arial"/>
                <a:sym typeface="Arial"/>
              </a:rPr>
              <a:t>HIPÓTESIS   </a:t>
            </a:r>
            <a:r>
              <a:rPr b="0" i="1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 algún usuario de la flota pegó en Win+R un comando desde un señuelo ClickFix, vamos a ver en el EDR una escritura de explorer.exe en la clave RunMRU con un comando de descarga (PowerShell, mshta, curl), y ese mismo comando ejecutándose segundos después.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822960" y="6172200"/>
            <a:ext cx="4754880" cy="585216"/>
          </a:xfrm>
          <a:prstGeom prst="rect">
            <a:avLst/>
          </a:prstGeom>
          <a:solidFill>
            <a:srgbClr val="6C84EC"/>
          </a:solidFill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 qué es creíble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5715000" y="6172200"/>
            <a:ext cx="17846040" cy="585216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Llega por buscadores, no por mail: le puede pasar a cualquiera. Y Win+R deja rastro en RunMRU aunque cambien IPs y hashes.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822960" y="6830568"/>
            <a:ext cx="4754880" cy="585216"/>
          </a:xfrm>
          <a:prstGeom prst="rect">
            <a:avLst/>
          </a:prstGeom>
          <a:solidFill>
            <a:srgbClr val="6C84EC"/>
          </a:solidFill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Fuente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5715000" y="6830568"/>
            <a:ext cx="17846040" cy="585216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Registro (RunMRU) y procesos del EDR, en toda la flota: los eventos, no las alertas.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822960" y="7488936"/>
            <a:ext cx="4754880" cy="585216"/>
          </a:xfrm>
          <a:prstGeom prst="rect">
            <a:avLst/>
          </a:prstGeom>
          <a:solidFill>
            <a:srgbClr val="3C98FE"/>
          </a:solidFill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 positivo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5715000" y="7488936"/>
            <a:ext cx="17846040" cy="585216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Antes de dar algo por refutado, probar la query con un Win+R de prueba en un equipo de laboratorio.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822960" y="8147304"/>
            <a:ext cx="4754880" cy="585216"/>
          </a:xfrm>
          <a:prstGeom prst="rect">
            <a:avLst/>
          </a:prstGeom>
          <a:solidFill>
            <a:srgbClr val="6C84EC"/>
          </a:solidFill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confirma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5715000" y="8147304"/>
            <a:ext cx="17846040" cy="585216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Un equipo con un comando de descarga en RunMRU, seguido del proceso que ese comando lanza.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822960" y="8805672"/>
            <a:ext cx="4754880" cy="585216"/>
          </a:xfrm>
          <a:prstGeom prst="rect">
            <a:avLst/>
          </a:prstGeom>
          <a:solidFill>
            <a:srgbClr val="6C84EC"/>
          </a:solidFill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refuta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5715000" y="8805672"/>
            <a:ext cx="17846040" cy="585216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Cero escrituras sospechosas en RunMRU, con la query ya probada contra un control positivo.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822960" y="9464040"/>
            <a:ext cx="4754880" cy="585216"/>
          </a:xfrm>
          <a:prstGeom prst="rect">
            <a:avLst/>
          </a:prstGeom>
          <a:solidFill>
            <a:srgbClr val="555B6E"/>
          </a:solidFill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Brecha conocida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5715000" y="9464040"/>
            <a:ext cx="17846040" cy="585216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RunMRU solo ve lo que se pega en Win+R. Si lo pegan en el Explorador (FileFix) </a:t>
            </a:r>
            <a:r>
              <a:rPr lang="en-US" sz="2200">
                <a:solidFill>
                  <a:srgbClr val="221666"/>
                </a:solidFill>
              </a:rPr>
              <a:t>no veremos nada en una alerta.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1666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rth Vader señalando" id="282" name="Google Shape;2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9352" y="822960"/>
            <a:ext cx="16459200" cy="1152144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6"/>
          <p:cNvSpPr txBox="1"/>
          <p:nvPr/>
        </p:nvSpPr>
        <p:spPr>
          <a:xfrm>
            <a:off x="4233672" y="1097280"/>
            <a:ext cx="15910559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ENCUENTRO PERTURBADORA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6"/>
          <p:cNvSpPr txBox="1"/>
          <p:nvPr/>
        </p:nvSpPr>
        <p:spPr>
          <a:xfrm>
            <a:off x="4233672" y="9235440"/>
            <a:ext cx="15910559" cy="2834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TU FALTA DE CONTROL POSITIVO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6"/>
          <p:cNvSpPr txBox="1"/>
          <p:nvPr/>
        </p:nvSpPr>
        <p:spPr>
          <a:xfrm>
            <a:off x="1371600" y="12664440"/>
            <a:ext cx="216438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9C6E0"/>
                </a:solidFill>
                <a:latin typeface="Arial"/>
                <a:ea typeface="Arial"/>
                <a:cs typeface="Arial"/>
                <a:sym typeface="Arial"/>
              </a:rPr>
              <a:t>Cero resultados sin control positivo no prueban nada.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1666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"/>
          <p:cNvSpPr txBox="1"/>
          <p:nvPr/>
        </p:nvSpPr>
        <p:spPr>
          <a:xfrm>
            <a:off x="1371600" y="2743200"/>
            <a:ext cx="21579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3C98FE"/>
                </a:solidFill>
                <a:latin typeface="Arial"/>
                <a:ea typeface="Arial"/>
                <a:cs typeface="Arial"/>
                <a:sym typeface="Arial"/>
              </a:rPr>
              <a:t>EL EJERCICIO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7"/>
          <p:cNvSpPr txBox="1"/>
          <p:nvPr/>
        </p:nvSpPr>
        <p:spPr>
          <a:xfrm>
            <a:off x="1371600" y="3840480"/>
            <a:ext cx="2157984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Telemetría real. Cero alertas.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3C98FE"/>
                </a:solidFill>
                <a:latin typeface="Oswald"/>
                <a:ea typeface="Oswald"/>
                <a:cs typeface="Oswald"/>
                <a:sym typeface="Oswald"/>
              </a:rPr>
              <a:t>¿Lo encontramos?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7"/>
          <p:cNvSpPr txBox="1"/>
          <p:nvPr/>
        </p:nvSpPr>
        <p:spPr>
          <a:xfrm>
            <a:off x="1371600" y="8503920"/>
            <a:ext cx="215799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rgbClr val="C9D3F5"/>
                </a:solidFill>
                <a:latin typeface="Arial"/>
                <a:ea typeface="Arial"/>
                <a:cs typeface="Arial"/>
                <a:sym typeface="Arial"/>
              </a:rPr>
              <a:t>Los eventos del EDR de una empresa de LATAM, de un día real. Hagamos de cuenta que el SOC no recibió ninguna alerta, y salgamos a cazar con la hipótesis.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1371600" y="11338560"/>
            <a:ext cx="21579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8A93B8"/>
                </a:solidFill>
                <a:latin typeface="Arial"/>
                <a:ea typeface="Arial"/>
                <a:cs typeface="Arial"/>
                <a:sym typeface="Arial"/>
              </a:rPr>
              <a:t>Datos reales, anonimizados: usuarios, equipos, IPs y dominios reemplazados.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"/>
          <p:cNvSpPr/>
          <p:nvPr/>
        </p:nvSpPr>
        <p:spPr>
          <a:xfrm>
            <a:off x="2721" y="11658600"/>
            <a:ext cx="24384000" cy="148590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99" name="Google Shape;299;p18"/>
          <p:cNvCxnSpPr/>
          <p:nvPr/>
        </p:nvCxnSpPr>
        <p:spPr>
          <a:xfrm>
            <a:off x="0" y="13490725"/>
            <a:ext cx="23865900" cy="0"/>
          </a:xfrm>
          <a:prstGeom prst="straightConnector1">
            <a:avLst/>
          </a:prstGeom>
          <a:noFill/>
          <a:ln cap="flat" cmpd="sng" w="38100">
            <a:solidFill>
              <a:srgbClr val="22166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300" name="Google Shape;300;p18"/>
          <p:cNvCxnSpPr/>
          <p:nvPr/>
        </p:nvCxnSpPr>
        <p:spPr>
          <a:xfrm flipH="1" rot="10800000">
            <a:off x="5" y="1498174"/>
            <a:ext cx="24384000" cy="17700"/>
          </a:xfrm>
          <a:prstGeom prst="straightConnector1">
            <a:avLst/>
          </a:prstGeom>
          <a:noFill/>
          <a:ln cap="flat" cmpd="sng" w="114300">
            <a:solidFill>
              <a:srgbClr val="221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18"/>
          <p:cNvSpPr/>
          <p:nvPr/>
        </p:nvSpPr>
        <p:spPr>
          <a:xfrm flipH="1" rot="10800000">
            <a:off x="22505" y="1629340"/>
            <a:ext cx="7310400" cy="305100"/>
          </a:xfrm>
          <a:prstGeom prst="parallelogram">
            <a:avLst>
              <a:gd fmla="val 6725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2" name="Google Shape;302;p18"/>
          <p:cNvSpPr txBox="1"/>
          <p:nvPr/>
        </p:nvSpPr>
        <p:spPr>
          <a:xfrm>
            <a:off x="868680" y="384048"/>
            <a:ext cx="20574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¿Alguien pegó un comando?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8"/>
          <p:cNvSpPr txBox="1"/>
          <p:nvPr/>
        </p:nvSpPr>
        <p:spPr>
          <a:xfrm>
            <a:off x="548640" y="12024360"/>
            <a:ext cx="16459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Cazando lo que no sabés que no sabés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David Pérez  ·  Hacking Day Paraná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8"/>
          <p:cNvSpPr txBox="1"/>
          <p:nvPr/>
        </p:nvSpPr>
        <p:spPr>
          <a:xfrm>
            <a:off x="22128480" y="12024360"/>
            <a:ext cx="173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8"/>
          <p:cNvSpPr txBox="1"/>
          <p:nvPr/>
        </p:nvSpPr>
        <p:spPr>
          <a:xfrm>
            <a:off x="7147560" y="2413193"/>
            <a:ext cx="1060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QUERY  ·  SentinelOne (Singularity Data Lake)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p18" title="s1 posta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2150" y="3214988"/>
            <a:ext cx="19507200" cy="8496300"/>
          </a:xfrm>
          <a:prstGeom prst="rect">
            <a:avLst/>
          </a:prstGeom>
          <a:solidFill>
            <a:srgbClr val="14103D"/>
          </a:solidFill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"/>
          <p:cNvSpPr/>
          <p:nvPr/>
        </p:nvSpPr>
        <p:spPr>
          <a:xfrm>
            <a:off x="2721" y="12199132"/>
            <a:ext cx="24384000" cy="148590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12" name="Google Shape;312;p19"/>
          <p:cNvCxnSpPr/>
          <p:nvPr/>
        </p:nvCxnSpPr>
        <p:spPr>
          <a:xfrm flipH="1" rot="10800000">
            <a:off x="5" y="1107790"/>
            <a:ext cx="24384000" cy="17700"/>
          </a:xfrm>
          <a:prstGeom prst="straightConnector1">
            <a:avLst/>
          </a:prstGeom>
          <a:noFill/>
          <a:ln cap="flat" cmpd="sng" w="114300">
            <a:solidFill>
              <a:srgbClr val="221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19"/>
          <p:cNvSpPr txBox="1"/>
          <p:nvPr/>
        </p:nvSpPr>
        <p:spPr>
          <a:xfrm>
            <a:off x="868680" y="23693"/>
            <a:ext cx="20574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¿Alguien pegó un comando?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9"/>
          <p:cNvSpPr txBox="1"/>
          <p:nvPr/>
        </p:nvSpPr>
        <p:spPr>
          <a:xfrm>
            <a:off x="548640" y="12504833"/>
            <a:ext cx="16459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Cazando lo que no sabés que no sabés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David Pérez  ·  Hacking Day Paraná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9"/>
          <p:cNvSpPr txBox="1"/>
          <p:nvPr/>
        </p:nvSpPr>
        <p:spPr>
          <a:xfrm>
            <a:off x="22128480" y="12685010"/>
            <a:ext cx="173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438160" y="1243083"/>
            <a:ext cx="23122800" cy="3886200"/>
          </a:xfrm>
          <a:prstGeom prst="rect">
            <a:avLst/>
          </a:prstGeom>
          <a:solidFill>
            <a:srgbClr val="14103D"/>
          </a:solidFill>
          <a:ln>
            <a:noFill/>
          </a:ln>
        </p:spPr>
        <p:txBody>
          <a:bodyPr anchorCtr="0" anchor="t" bIns="320025" lIns="320025" spcFirstLastPara="1" rIns="320025" wrap="square" tIns="320025">
            <a:noAutofit/>
          </a:bodyPr>
          <a:lstStyle/>
          <a:p>
            <a:pPr indent="-2457450" lvl="0" marL="2457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Etapa 1 </a:t>
            </a:r>
            <a:r>
              <a:rPr b="0" i="0" lang="en-US" sz="19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b="0" i="0" lang="en-US" sz="19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Carga funciones de Windows y oculta la ventana de la consola. Por eso el user no vio nada y reintentó</a:t>
            </a:r>
            <a:endParaRPr b="0" i="0" sz="1900" u="none" cap="none" strike="noStrike">
              <a:solidFill>
                <a:srgbClr val="E8EEF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457450" lvl="0" marL="2457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8FB8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457450" lvl="0" marL="2457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Etapa 2 </a:t>
            </a:r>
            <a:r>
              <a:rPr b="0" i="0" lang="en-US" sz="19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b="0" i="0" lang="en-US" sz="19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Anula las advertencias de Windows para archivos descargados descargar un MSI de</a:t>
            </a:r>
            <a:r>
              <a:rPr b="1" i="0" lang="en-US" sz="1900" u="none" cap="none" strike="noStrike">
                <a:solidFill>
                  <a:srgbClr val="FFC857"/>
                </a:solidFill>
                <a:latin typeface="Courier New"/>
                <a:ea typeface="Courier New"/>
                <a:cs typeface="Courier New"/>
                <a:sym typeface="Courier New"/>
              </a:rPr>
              <a:t> http://86.109.75.7/app/40152518488f/235235.msi</a:t>
            </a:r>
            <a:r>
              <a:rPr b="0" i="0" lang="en-US" sz="19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. Lo guarda en %TEMP%, le quita la marca de descargado de internet (Unblock-File) y lo instala con msiexec /i /qn /norestart con la ventana oculta. Al final se borra a sí mismo</a:t>
            </a:r>
            <a:endParaRPr b="0" i="0" sz="1900" u="none" cap="none" strike="noStrike">
              <a:solidFill>
                <a:srgbClr val="E8EEF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E8EEF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457450" lvl="0" marL="2457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Etapa 3 </a:t>
            </a:r>
            <a:r>
              <a:rPr b="0" i="0" lang="en-US" sz="19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b="0" i="0" lang="en-US" sz="19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Modifica Chrome e instala una Extensión maliciosa cargada como unpacked y que no viene de la Chrome Web Store (</a:t>
            </a:r>
            <a:r>
              <a:rPr b="1" i="0" lang="en-US" sz="1900" u="none" cap="none" strike="noStrike">
                <a:solidFill>
                  <a:srgbClr val="FFC857"/>
                </a:solidFill>
                <a:latin typeface="Courier New"/>
                <a:ea typeface="Courier New"/>
                <a:cs typeface="Courier New"/>
                <a:sym typeface="Courier New"/>
              </a:rPr>
              <a:t>from_webstore: false</a:t>
            </a:r>
            <a:r>
              <a:rPr b="0" i="0" lang="en-US" sz="19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). Inyecta content scripts en  en todos los frames  lo que le permite</a:t>
            </a:r>
            <a:r>
              <a:rPr b="1" i="0" lang="en-US" sz="1900" u="none" cap="none" strike="noStrike">
                <a:solidFill>
                  <a:srgbClr val="FFC857"/>
                </a:solidFill>
                <a:latin typeface="Courier New"/>
                <a:ea typeface="Courier New"/>
                <a:cs typeface="Courier New"/>
                <a:sym typeface="Courier New"/>
              </a:rPr>
              <a:t> leer y modificar cualquier página</a:t>
            </a:r>
            <a:r>
              <a:rPr b="0" i="0" lang="en-US" sz="19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. La extensión se comunica a un host en el puerto 4343, y puede:</a:t>
            </a:r>
            <a:r>
              <a:rPr b="1" i="0" lang="en-US" sz="1900" u="none" cap="none" strike="noStrike">
                <a:solidFill>
                  <a:srgbClr val="FFC857"/>
                </a:solidFill>
                <a:latin typeface="Courier New"/>
                <a:ea typeface="Courier New"/>
                <a:cs typeface="Courier New"/>
                <a:sym typeface="Courier New"/>
              </a:rPr>
              <a:t> robar cookies, el historial, los marcadores, las descargas, la lista de pestañas y capturas de pantalla del navegador; también puede escribir cookies, lo que habilita el secuestro de sesiones</a:t>
            </a:r>
            <a:r>
              <a:rPr b="0" i="0" lang="en-US" sz="19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b="0" i="0" sz="1900" u="none" cap="none" strike="noStrike">
              <a:solidFill>
                <a:srgbClr val="E8EEF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457450" lvl="0" marL="2457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E8EEF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E8EEF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342487" y="5974155"/>
            <a:ext cx="7365900" cy="20574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Una IP en decimal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3405803783 = 203.0.113.7. Conviértanla en vivo: evade filtros que buscan “x.x.x.x”.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19" title="Arbol Mej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7100" y="5129275"/>
            <a:ext cx="8987850" cy="7069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pider-Man señalando a Spider-Man" id="319" name="Google Shape;31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2750" y="5710100"/>
            <a:ext cx="7365901" cy="64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9"/>
          <p:cNvSpPr txBox="1"/>
          <p:nvPr/>
        </p:nvSpPr>
        <p:spPr>
          <a:xfrm>
            <a:off x="15986791" y="11408370"/>
            <a:ext cx="3329700" cy="64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 to Google Drive (Google LLC)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9"/>
          <p:cNvSpPr txBox="1"/>
          <p:nvPr/>
        </p:nvSpPr>
        <p:spPr>
          <a:xfrm>
            <a:off x="19424750" y="11408375"/>
            <a:ext cx="3984000" cy="64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 to Google Drive (Google inc.)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/>
          <p:nvPr/>
        </p:nvSpPr>
        <p:spPr>
          <a:xfrm>
            <a:off x="2721" y="11658600"/>
            <a:ext cx="24384000" cy="148590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27" name="Google Shape;327;p20"/>
          <p:cNvCxnSpPr/>
          <p:nvPr/>
        </p:nvCxnSpPr>
        <p:spPr>
          <a:xfrm>
            <a:off x="0" y="13490725"/>
            <a:ext cx="23865900" cy="0"/>
          </a:xfrm>
          <a:prstGeom prst="straightConnector1">
            <a:avLst/>
          </a:prstGeom>
          <a:noFill/>
          <a:ln cap="flat" cmpd="sng" w="38100">
            <a:solidFill>
              <a:srgbClr val="22166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328" name="Google Shape;328;p20"/>
          <p:cNvCxnSpPr/>
          <p:nvPr/>
        </p:nvCxnSpPr>
        <p:spPr>
          <a:xfrm flipH="1" rot="10800000">
            <a:off x="5" y="1498290"/>
            <a:ext cx="24383995" cy="17584"/>
          </a:xfrm>
          <a:prstGeom prst="straightConnector1">
            <a:avLst/>
          </a:prstGeom>
          <a:noFill/>
          <a:ln cap="flat" cmpd="sng" w="114300">
            <a:solidFill>
              <a:srgbClr val="221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20"/>
          <p:cNvSpPr/>
          <p:nvPr/>
        </p:nvSpPr>
        <p:spPr>
          <a:xfrm flipH="1" rot="10800000">
            <a:off x="22505" y="1629340"/>
            <a:ext cx="7310400" cy="305100"/>
          </a:xfrm>
          <a:prstGeom prst="parallelogram">
            <a:avLst>
              <a:gd fmla="val 6725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0" name="Google Shape;330;p20"/>
          <p:cNvSpPr txBox="1"/>
          <p:nvPr/>
        </p:nvSpPr>
        <p:spPr>
          <a:xfrm>
            <a:off x="868680" y="384048"/>
            <a:ext cx="20574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¿Cómo se queda? Persistencia en el navegador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0"/>
          <p:cNvSpPr txBox="1"/>
          <p:nvPr/>
        </p:nvSpPr>
        <p:spPr>
          <a:xfrm>
            <a:off x="548640" y="12024360"/>
            <a:ext cx="1645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Cazando lo que no sabés que no sabés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David Pérez  ·  Hacking Day Paraná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22128480" y="120243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822960" y="224028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QUERY  ·  SentinelOne (Singularity Data Lake)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822960" y="2834640"/>
            <a:ext cx="10607040" cy="3886200"/>
          </a:xfrm>
          <a:prstGeom prst="rect">
            <a:avLst/>
          </a:prstGeom>
          <a:solidFill>
            <a:srgbClr val="14103D"/>
          </a:solidFill>
          <a:ln>
            <a:noFill/>
          </a:ln>
        </p:spPr>
        <p:txBody>
          <a:bodyPr anchorCtr="0" anchor="t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event.type = 'File Modification'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and tgt.file.path contains:anycase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  'User Data'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and tgt.file.path contains 'Preferences'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and not src.process.name in:anycase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  ('chrome.exe','msedge.exe',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  'setup.exe','GoogleUpdater.exe')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0"/>
          <p:cNvSpPr txBox="1"/>
          <p:nvPr/>
        </p:nvSpPr>
        <p:spPr>
          <a:xfrm>
            <a:off x="11841480" y="2240280"/>
            <a:ext cx="11719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RESULTADO  ·  campos relevantes, anonimizados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11841480" y="2834640"/>
            <a:ext cx="11719560" cy="3886200"/>
          </a:xfrm>
          <a:prstGeom prst="rect">
            <a:avLst/>
          </a:prstGeom>
          <a:solidFill>
            <a:srgbClr val="14103D"/>
          </a:solidFill>
          <a:ln>
            <a:noFill/>
          </a:ln>
        </p:spPr>
        <p:txBody>
          <a:bodyPr anchorCtr="0" anchor="t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src.process.name  </a:t>
            </a:r>
            <a:r>
              <a:rPr b="1" i="0" lang="en-US" sz="1900" u="none" cap="none" strike="noStrike">
                <a:solidFill>
                  <a:srgbClr val="FFC857"/>
                </a:solidFill>
                <a:latin typeface="Courier New"/>
                <a:ea typeface="Courier New"/>
                <a:cs typeface="Courier New"/>
                <a:sym typeface="Courier New"/>
              </a:rPr>
              <a:t>csc.exe   (inyectado, sin argumentos)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tgt.file.path     </a:t>
            </a:r>
            <a:r>
              <a:rPr b="0" i="0" lang="en-US" sz="19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…\Chrome\User Data\Default\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</a:t>
            </a:r>
            <a:r>
              <a:rPr b="1" i="0" lang="en-US" sz="1900" u="none" cap="none" strike="noStrike">
                <a:solidFill>
                  <a:srgbClr val="FFC857"/>
                </a:solidFill>
                <a:latin typeface="Courier New"/>
                <a:ea typeface="Courier New"/>
                <a:cs typeface="Courier New"/>
                <a:sym typeface="Courier New"/>
              </a:rPr>
              <a:t>Secure Preferences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qué cambió        </a:t>
            </a:r>
            <a:r>
              <a:rPr b="0" i="0" lang="en-US" sz="19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registra una extensión y recalcula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</a:t>
            </a:r>
            <a:r>
              <a:rPr b="0" i="0" lang="en-US" sz="19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la firma que la protege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persistencia      </a:t>
            </a:r>
            <a:r>
              <a:rPr b="1" i="0" lang="en-US" sz="1900" u="none" cap="none" strike="noStrike">
                <a:solidFill>
                  <a:srgbClr val="FFC857"/>
                </a:solidFill>
                <a:latin typeface="Courier New"/>
                <a:ea typeface="Courier New"/>
                <a:cs typeface="Courier New"/>
                <a:sym typeface="Courier New"/>
              </a:rPr>
              <a:t>la única del incidente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0"/>
          <p:cNvSpPr/>
          <p:nvPr/>
        </p:nvSpPr>
        <p:spPr>
          <a:xfrm>
            <a:off x="822960" y="6995160"/>
            <a:ext cx="7366000" cy="20574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Una “Save to Google Drive” falsa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Autor “Google inc.”, cargada como unpacked desde una carpeta con nombre al azar en %LOCALAPPDATA%.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8509000" y="6995160"/>
            <a:ext cx="7366000" cy="20574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Qué roba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Cookies, historial, marcadores, pestañas y capturas. También puede escribir cookies: robo de sesión.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16195040" y="6995160"/>
            <a:ext cx="7366000" cy="20574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Y miente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Su fecha de instalación estaba falsificada un año atrás. Los archivos en disco la desmienten.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822960" y="9326880"/>
            <a:ext cx="22738080" cy="109728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365750" lIns="365750" spcFirstLastPara="1" rIns="365750" wrap="square" tIns="365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había persistencia en el sistema operativo. </a:t>
            </a: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Estaba en el navegador, y el canal de la extensión era un tercer C2 distinto.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1"/>
          <p:cNvSpPr/>
          <p:nvPr/>
        </p:nvSpPr>
        <p:spPr>
          <a:xfrm>
            <a:off x="2721" y="11658600"/>
            <a:ext cx="24384000" cy="148590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46" name="Google Shape;346;p21"/>
          <p:cNvCxnSpPr/>
          <p:nvPr/>
        </p:nvCxnSpPr>
        <p:spPr>
          <a:xfrm>
            <a:off x="0" y="13490725"/>
            <a:ext cx="23865900" cy="0"/>
          </a:xfrm>
          <a:prstGeom prst="straightConnector1">
            <a:avLst/>
          </a:prstGeom>
          <a:noFill/>
          <a:ln cap="flat" cmpd="sng" w="38100">
            <a:solidFill>
              <a:srgbClr val="22166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347" name="Google Shape;347;p21"/>
          <p:cNvCxnSpPr/>
          <p:nvPr/>
        </p:nvCxnSpPr>
        <p:spPr>
          <a:xfrm flipH="1" rot="10800000">
            <a:off x="5" y="1498290"/>
            <a:ext cx="24383995" cy="17584"/>
          </a:xfrm>
          <a:prstGeom prst="straightConnector1">
            <a:avLst/>
          </a:prstGeom>
          <a:noFill/>
          <a:ln cap="flat" cmpd="sng" w="114300">
            <a:solidFill>
              <a:srgbClr val="221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p21"/>
          <p:cNvSpPr/>
          <p:nvPr/>
        </p:nvSpPr>
        <p:spPr>
          <a:xfrm flipH="1" rot="10800000">
            <a:off x="22505" y="1629340"/>
            <a:ext cx="7310400" cy="305100"/>
          </a:xfrm>
          <a:prstGeom prst="parallelogram">
            <a:avLst>
              <a:gd fmla="val 6725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868680" y="384048"/>
            <a:ext cx="20574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Sandbox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548640" y="12024360"/>
            <a:ext cx="1645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Cazando lo que no sabés que no sabés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David Pérez  ·  Hacking Day Paraná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22128480" y="120243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21" title="AMSI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00" y="2241800"/>
            <a:ext cx="11178525" cy="9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1" title="sanbox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2000" y="2241800"/>
            <a:ext cx="11369051" cy="94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"/>
          <p:cNvSpPr/>
          <p:nvPr/>
        </p:nvSpPr>
        <p:spPr>
          <a:xfrm>
            <a:off x="2721" y="11658600"/>
            <a:ext cx="24384000" cy="148590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59" name="Google Shape;359;p22"/>
          <p:cNvCxnSpPr/>
          <p:nvPr/>
        </p:nvCxnSpPr>
        <p:spPr>
          <a:xfrm>
            <a:off x="0" y="13490725"/>
            <a:ext cx="23865900" cy="0"/>
          </a:xfrm>
          <a:prstGeom prst="straightConnector1">
            <a:avLst/>
          </a:prstGeom>
          <a:noFill/>
          <a:ln cap="flat" cmpd="sng" w="38100">
            <a:solidFill>
              <a:srgbClr val="22166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360" name="Google Shape;360;p22"/>
          <p:cNvCxnSpPr/>
          <p:nvPr/>
        </p:nvCxnSpPr>
        <p:spPr>
          <a:xfrm flipH="1" rot="10800000">
            <a:off x="5" y="1498174"/>
            <a:ext cx="24384000" cy="17700"/>
          </a:xfrm>
          <a:prstGeom prst="straightConnector1">
            <a:avLst/>
          </a:prstGeom>
          <a:noFill/>
          <a:ln cap="flat" cmpd="sng" w="114300">
            <a:solidFill>
              <a:srgbClr val="221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22"/>
          <p:cNvSpPr/>
          <p:nvPr/>
        </p:nvSpPr>
        <p:spPr>
          <a:xfrm flipH="1" rot="10800000">
            <a:off x="22505" y="1629340"/>
            <a:ext cx="7310400" cy="305100"/>
          </a:xfrm>
          <a:prstGeom prst="parallelogram">
            <a:avLst>
              <a:gd fmla="val 6725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868680" y="384048"/>
            <a:ext cx="20574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La realidad: la alerta llegó en el paso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548640" y="12024360"/>
            <a:ext cx="16459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Cazando lo que no sabés que no sabés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David Pérez  ·  Hacking Day Paraná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22128480" y="12024360"/>
            <a:ext cx="173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>
            <a:off x="822960" y="11109960"/>
            <a:ext cx="20116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Tiempos relativos al primer pegado (T+0:00), según la telemetría del EDR. Los pasos 1 a 5 quedaron registrados, sin alerta.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2349137" y="3703320"/>
            <a:ext cx="19685700" cy="73200"/>
          </a:xfrm>
          <a:prstGeom prst="rect">
            <a:avLst/>
          </a:prstGeom>
          <a:solidFill>
            <a:srgbClr val="6C84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2"/>
          <p:cNvSpPr/>
          <p:nvPr/>
        </p:nvSpPr>
        <p:spPr>
          <a:xfrm>
            <a:off x="2029097" y="3419856"/>
            <a:ext cx="640200" cy="640200"/>
          </a:xfrm>
          <a:prstGeom prst="ellipse">
            <a:avLst/>
          </a:prstGeom>
          <a:solidFill>
            <a:srgbClr val="22166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2"/>
          <p:cNvSpPr txBox="1"/>
          <p:nvPr/>
        </p:nvSpPr>
        <p:spPr>
          <a:xfrm>
            <a:off x="822960" y="2331720"/>
            <a:ext cx="3052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T+0:00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2"/>
          <p:cNvSpPr/>
          <p:nvPr/>
        </p:nvSpPr>
        <p:spPr>
          <a:xfrm>
            <a:off x="822960" y="4526280"/>
            <a:ext cx="3052500" cy="40233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Pega el comando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Queda en RunMRU; PowerShell descarga un script.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2"/>
          <p:cNvSpPr/>
          <p:nvPr/>
        </p:nvSpPr>
        <p:spPr>
          <a:xfrm>
            <a:off x="1051560" y="7863840"/>
            <a:ext cx="2595300" cy="502800"/>
          </a:xfrm>
          <a:prstGeom prst="roundRect">
            <a:avLst>
              <a:gd fmla="val 16667" name="adj"/>
            </a:avLst>
          </a:prstGeom>
          <a:solidFill>
            <a:srgbClr val="555B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5310051" y="3419856"/>
            <a:ext cx="640200" cy="640200"/>
          </a:xfrm>
          <a:prstGeom prst="ellipse">
            <a:avLst/>
          </a:prstGeom>
          <a:solidFill>
            <a:srgbClr val="22166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2"/>
          <p:cNvSpPr txBox="1"/>
          <p:nvPr/>
        </p:nvSpPr>
        <p:spPr>
          <a:xfrm>
            <a:off x="4103914" y="2331720"/>
            <a:ext cx="3052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T+0:03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4103914" y="4526280"/>
            <a:ext cx="3052500" cy="40233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Consola oculta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La ventana desaparece. La usuaria cree que falló.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4332514" y="7863840"/>
            <a:ext cx="2595300" cy="502800"/>
          </a:xfrm>
          <a:prstGeom prst="roundRect">
            <a:avLst>
              <a:gd fmla="val 16667" name="adj"/>
            </a:avLst>
          </a:prstGeom>
          <a:solidFill>
            <a:srgbClr val="555B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8591005" y="3419856"/>
            <a:ext cx="640200" cy="640200"/>
          </a:xfrm>
          <a:prstGeom prst="ellipse">
            <a:avLst/>
          </a:prstGeom>
          <a:solidFill>
            <a:srgbClr val="22166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7384868" y="2331720"/>
            <a:ext cx="3052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T+0:05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7384868" y="4526280"/>
            <a:ext cx="3052500" cy="40233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MSI silencioso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Un instalador desde %TEMP%, sin ventanas.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7613468" y="7863840"/>
            <a:ext cx="2595300" cy="502800"/>
          </a:xfrm>
          <a:prstGeom prst="roundRect">
            <a:avLst>
              <a:gd fmla="val 16667" name="adj"/>
            </a:avLst>
          </a:prstGeom>
          <a:solidFill>
            <a:srgbClr val="555B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11871960" y="3419856"/>
            <a:ext cx="640200" cy="640200"/>
          </a:xfrm>
          <a:prstGeom prst="ellipse">
            <a:avLst/>
          </a:prstGeom>
          <a:solidFill>
            <a:srgbClr val="22166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2"/>
          <p:cNvSpPr txBox="1"/>
          <p:nvPr/>
        </p:nvSpPr>
        <p:spPr>
          <a:xfrm>
            <a:off x="10665822" y="2331720"/>
            <a:ext cx="3052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T+0:07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10665822" y="4526280"/>
            <a:ext cx="3052500" cy="40233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PowerShell oculto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Lo lanza el propio instalador.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10894422" y="7863840"/>
            <a:ext cx="2595300" cy="502800"/>
          </a:xfrm>
          <a:prstGeom prst="roundRect">
            <a:avLst>
              <a:gd fmla="val 16667" name="adj"/>
            </a:avLst>
          </a:prstGeom>
          <a:solidFill>
            <a:srgbClr val="555B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15152914" y="3419856"/>
            <a:ext cx="640200" cy="640200"/>
          </a:xfrm>
          <a:prstGeom prst="ellipse">
            <a:avLst/>
          </a:prstGeom>
          <a:solidFill>
            <a:srgbClr val="22166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2"/>
          <p:cNvSpPr txBox="1"/>
          <p:nvPr/>
        </p:nvSpPr>
        <p:spPr>
          <a:xfrm>
            <a:off x="13946777" y="2331720"/>
            <a:ext cx="3052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T+0:24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13946777" y="4526280"/>
            <a:ext cx="3052500" cy="40233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Persistencia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Un binario de .NET registra una extensión en Chrome.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14175377" y="7863840"/>
            <a:ext cx="2595300" cy="502800"/>
          </a:xfrm>
          <a:prstGeom prst="roundRect">
            <a:avLst>
              <a:gd fmla="val 16667" name="adj"/>
            </a:avLst>
          </a:prstGeom>
          <a:solidFill>
            <a:srgbClr val="555B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18433868" y="3419856"/>
            <a:ext cx="640200" cy="640200"/>
          </a:xfrm>
          <a:prstGeom prst="ellipse">
            <a:avLst/>
          </a:prstGeom>
          <a:solidFill>
            <a:srgbClr val="2E9E4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2"/>
          <p:cNvSpPr txBox="1"/>
          <p:nvPr/>
        </p:nvSpPr>
        <p:spPr>
          <a:xfrm>
            <a:off x="17227731" y="2331720"/>
            <a:ext cx="3052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T+0:26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17227731" y="4526280"/>
            <a:ext cx="3052500" cy="40233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Conexión al 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Otro binario de .NET sale por HTTP. Bloqueada: la IP estaba en una lista.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17456331" y="7863840"/>
            <a:ext cx="2595300" cy="502800"/>
          </a:xfrm>
          <a:prstGeom prst="roundRect">
            <a:avLst>
              <a:gd fmla="val 16667" name="adj"/>
            </a:avLst>
          </a:prstGeom>
          <a:solidFill>
            <a:srgbClr val="2E9E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BLOQUEO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21714822" y="3419856"/>
            <a:ext cx="640200" cy="640200"/>
          </a:xfrm>
          <a:prstGeom prst="ellipse">
            <a:avLst/>
          </a:prstGeom>
          <a:solidFill>
            <a:srgbClr val="E25B1F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2"/>
          <p:cNvSpPr txBox="1"/>
          <p:nvPr/>
        </p:nvSpPr>
        <p:spPr>
          <a:xfrm>
            <a:off x="20508685" y="2331720"/>
            <a:ext cx="3052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T+4:51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20508685" y="4526280"/>
            <a:ext cx="3052500" cy="40233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La alerta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Llega a la consola del SOC.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2"/>
          <p:cNvSpPr/>
          <p:nvPr/>
        </p:nvSpPr>
        <p:spPr>
          <a:xfrm>
            <a:off x="20737285" y="7863840"/>
            <a:ext cx="2595300" cy="502800"/>
          </a:xfrm>
          <a:prstGeom prst="roundRect">
            <a:avLst>
              <a:gd fmla="val 16667" name="adj"/>
            </a:avLst>
          </a:prstGeom>
          <a:solidFill>
            <a:srgbClr val="E25B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ALERTA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822960" y="8686800"/>
            <a:ext cx="22738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Mientras tanto: </a:t>
            </a:r>
            <a:r>
              <a:rPr b="0" i="0" lang="en-US" sz="23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tres reintentos del pegado y una conexión HTTPS a un segundo C2, sin bloqueo ni alerta.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822960" y="9326880"/>
            <a:ext cx="22738200" cy="109740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365750" lIns="365750" spcFirstLastPara="1" rIns="365750" wrap="square" tIns="365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 único que alertó fue un IOC conocido. </a:t>
            </a: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Todo lo demás estaba en la telemetría como “info”, esperando que alguien lo buscara.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1666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kin y Padmé en el picnic, 4 paneles" id="401" name="Google Shape;40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8232" y="822960"/>
            <a:ext cx="11521440" cy="1152144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3"/>
          <p:cNvSpPr txBox="1"/>
          <p:nvPr/>
        </p:nvSpPr>
        <p:spPr>
          <a:xfrm>
            <a:off x="6519672" y="4983480"/>
            <a:ext cx="55778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BLOQUEAMOS LA IP DEL 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3"/>
          <p:cNvSpPr txBox="1"/>
          <p:nvPr/>
        </p:nvSpPr>
        <p:spPr>
          <a:xfrm>
            <a:off x="12280392" y="4983480"/>
            <a:ext cx="55778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Y LOS OTROS DOS C2 TAMBIÉN, ¿NO?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3"/>
          <p:cNvSpPr txBox="1"/>
          <p:nvPr/>
        </p:nvSpPr>
        <p:spPr>
          <a:xfrm>
            <a:off x="12280392" y="10744200"/>
            <a:ext cx="55778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BLOQUEARON LOS OTROS DOS, ¿NO?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3"/>
          <p:cNvSpPr txBox="1"/>
          <p:nvPr/>
        </p:nvSpPr>
        <p:spPr>
          <a:xfrm>
            <a:off x="1371600" y="12664440"/>
            <a:ext cx="216438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9C6E0"/>
                </a:solidFill>
                <a:latin typeface="Arial"/>
                <a:ea typeface="Arial"/>
                <a:cs typeface="Arial"/>
                <a:sym typeface="Arial"/>
              </a:rPr>
              <a:t>Un C2 bloqueado por reputación. Los otros dos salieron sin alerta.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4"/>
          <p:cNvSpPr/>
          <p:nvPr/>
        </p:nvSpPr>
        <p:spPr>
          <a:xfrm>
            <a:off x="2721" y="11658600"/>
            <a:ext cx="24384000" cy="148590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11" name="Google Shape;411;p24"/>
          <p:cNvCxnSpPr/>
          <p:nvPr/>
        </p:nvCxnSpPr>
        <p:spPr>
          <a:xfrm>
            <a:off x="0" y="13490725"/>
            <a:ext cx="23865900" cy="0"/>
          </a:xfrm>
          <a:prstGeom prst="straightConnector1">
            <a:avLst/>
          </a:prstGeom>
          <a:noFill/>
          <a:ln cap="flat" cmpd="sng" w="38100">
            <a:solidFill>
              <a:srgbClr val="22166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412" name="Google Shape;412;p24"/>
          <p:cNvCxnSpPr/>
          <p:nvPr/>
        </p:nvCxnSpPr>
        <p:spPr>
          <a:xfrm flipH="1" rot="10800000">
            <a:off x="5" y="1498290"/>
            <a:ext cx="24383995" cy="17584"/>
          </a:xfrm>
          <a:prstGeom prst="straightConnector1">
            <a:avLst/>
          </a:prstGeom>
          <a:noFill/>
          <a:ln cap="flat" cmpd="sng" w="114300">
            <a:solidFill>
              <a:srgbClr val="221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3" name="Google Shape;413;p24"/>
          <p:cNvSpPr/>
          <p:nvPr/>
        </p:nvSpPr>
        <p:spPr>
          <a:xfrm flipH="1" rot="10800000">
            <a:off x="22505" y="1629340"/>
            <a:ext cx="7310400" cy="305100"/>
          </a:xfrm>
          <a:prstGeom prst="parallelogram">
            <a:avLst>
              <a:gd fmla="val 6725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4" name="Google Shape;414;p24"/>
          <p:cNvSpPr txBox="1"/>
          <p:nvPr/>
        </p:nvSpPr>
        <p:spPr>
          <a:xfrm>
            <a:off x="868680" y="384048"/>
            <a:ext cx="20574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Lo que se encontró, y cómo lo encontró la hunt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4"/>
          <p:cNvSpPr txBox="1"/>
          <p:nvPr/>
        </p:nvSpPr>
        <p:spPr>
          <a:xfrm>
            <a:off x="548640" y="12024360"/>
            <a:ext cx="1645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Cazando lo que no sabés que no sabés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David Pérez  ·  Hacking Day Paraná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4"/>
          <p:cNvSpPr txBox="1"/>
          <p:nvPr/>
        </p:nvSpPr>
        <p:spPr>
          <a:xfrm>
            <a:off x="22128480" y="120243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4"/>
          <p:cNvSpPr txBox="1"/>
          <p:nvPr/>
        </p:nvSpPr>
        <p:spPr>
          <a:xfrm>
            <a:off x="822960" y="11109960"/>
            <a:ext cx="2011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Resumen ejecutivo de la demo: cada hallazgo, la hunt que lo encontró y la detección que dejó.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4"/>
          <p:cNvSpPr/>
          <p:nvPr/>
        </p:nvSpPr>
        <p:spPr>
          <a:xfrm>
            <a:off x="822960" y="2103120"/>
            <a:ext cx="7589520" cy="82296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 QUE SE ENCONTRÓ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8686800" y="2103120"/>
            <a:ext cx="7589520" cy="82296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CÓMO LO ENCONTRÓ LA HUNT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4"/>
          <p:cNvSpPr/>
          <p:nvPr/>
        </p:nvSpPr>
        <p:spPr>
          <a:xfrm>
            <a:off x="16550640" y="2103120"/>
            <a:ext cx="6675120" cy="82296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QUÉ QUEDÓ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822960" y="3108960"/>
            <a:ext cx="7589520" cy="16002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Un usuario ejecutó un comando pegado desde una web falsa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8686800" y="3108960"/>
            <a:ext cx="7589520" cy="16002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Explorer escribiendo en RunMRU un comando de descarga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16550640" y="3108960"/>
            <a:ext cx="6675120" cy="16002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2E9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E9E4F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1" i="0" lang="en-US" sz="24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Detección de ClickFix en RunMRU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8439912" y="3744468"/>
            <a:ext cx="219456" cy="3291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98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16303752" y="3744468"/>
            <a:ext cx="219456" cy="3291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98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822960" y="4892040"/>
            <a:ext cx="7589520" cy="16002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Programas legítimos de Windows usados para conectarse afuera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8686800" y="4892040"/>
            <a:ext cx="7589520" cy="16002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Binarios del sistema que no deberían tener tráfico de 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16550640" y="4892040"/>
            <a:ext cx="6675120" cy="16002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2E9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E9E4F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1" i="0" lang="en-US" sz="24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Detección por comportamiento, no por 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8439912" y="5527548"/>
            <a:ext cx="219456" cy="3291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98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16303752" y="5527548"/>
            <a:ext cx="219456" cy="3291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98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4"/>
          <p:cNvSpPr/>
          <p:nvPr/>
        </p:nvSpPr>
        <p:spPr>
          <a:xfrm>
            <a:off x="822960" y="6675120"/>
            <a:ext cx="7589520" cy="16002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Una extensión falsa en el navegador que se quedó como persistencia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4"/>
          <p:cNvSpPr/>
          <p:nvPr/>
        </p:nvSpPr>
        <p:spPr>
          <a:xfrm>
            <a:off x="8686800" y="6675120"/>
            <a:ext cx="7589520" cy="16002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Un programa que no es el navegador modificando su configuración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4"/>
          <p:cNvSpPr/>
          <p:nvPr/>
        </p:nvSpPr>
        <p:spPr>
          <a:xfrm>
            <a:off x="16550640" y="6675120"/>
            <a:ext cx="6675120" cy="16002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2E9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E9E4F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1" i="0" lang="en-US" sz="24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Detección sobre el perfil de Chrome y 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4"/>
          <p:cNvSpPr/>
          <p:nvPr/>
        </p:nvSpPr>
        <p:spPr>
          <a:xfrm>
            <a:off x="8439912" y="7310628"/>
            <a:ext cx="219456" cy="3291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98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4"/>
          <p:cNvSpPr/>
          <p:nvPr/>
        </p:nvSpPr>
        <p:spPr>
          <a:xfrm>
            <a:off x="16303752" y="7310628"/>
            <a:ext cx="219456" cy="3291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98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5"/>
          <p:cNvSpPr/>
          <p:nvPr/>
        </p:nvSpPr>
        <p:spPr>
          <a:xfrm>
            <a:off x="2721" y="11658600"/>
            <a:ext cx="24384000" cy="148590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41" name="Google Shape;441;p25"/>
          <p:cNvCxnSpPr/>
          <p:nvPr/>
        </p:nvCxnSpPr>
        <p:spPr>
          <a:xfrm>
            <a:off x="0" y="13490725"/>
            <a:ext cx="23865900" cy="0"/>
          </a:xfrm>
          <a:prstGeom prst="straightConnector1">
            <a:avLst/>
          </a:prstGeom>
          <a:noFill/>
          <a:ln cap="flat" cmpd="sng" w="38100">
            <a:solidFill>
              <a:srgbClr val="22166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442" name="Google Shape;442;p25"/>
          <p:cNvCxnSpPr/>
          <p:nvPr/>
        </p:nvCxnSpPr>
        <p:spPr>
          <a:xfrm flipH="1" rot="10800000">
            <a:off x="5" y="1498290"/>
            <a:ext cx="24383995" cy="17584"/>
          </a:xfrm>
          <a:prstGeom prst="straightConnector1">
            <a:avLst/>
          </a:prstGeom>
          <a:noFill/>
          <a:ln cap="flat" cmpd="sng" w="114300">
            <a:solidFill>
              <a:srgbClr val="221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25"/>
          <p:cNvSpPr/>
          <p:nvPr/>
        </p:nvSpPr>
        <p:spPr>
          <a:xfrm flipH="1" rot="10800000">
            <a:off x="22505" y="1629340"/>
            <a:ext cx="7310400" cy="305100"/>
          </a:xfrm>
          <a:prstGeom prst="parallelogram">
            <a:avLst>
              <a:gd fmla="val 6725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4" name="Google Shape;444;p25"/>
          <p:cNvSpPr txBox="1"/>
          <p:nvPr/>
        </p:nvSpPr>
        <p:spPr>
          <a:xfrm>
            <a:off x="868680" y="384048"/>
            <a:ext cx="20574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Una hunt sin informe no existió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5"/>
          <p:cNvSpPr txBox="1"/>
          <p:nvPr/>
        </p:nvSpPr>
        <p:spPr>
          <a:xfrm>
            <a:off x="548640" y="12024360"/>
            <a:ext cx="1645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Cazando lo que no sabés que no sabés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David Pérez  ·  Hacking Day Paraná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5"/>
          <p:cNvSpPr txBox="1"/>
          <p:nvPr/>
        </p:nvSpPr>
        <p:spPr>
          <a:xfrm>
            <a:off x="22128480" y="120243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5"/>
          <p:cNvSpPr txBox="1"/>
          <p:nvPr/>
        </p:nvSpPr>
        <p:spPr>
          <a:xfrm>
            <a:off x="822960" y="11109960"/>
            <a:ext cx="2011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Informe de ejemplo y plantilla: github.com/Ank1nskywalker/talks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5"/>
          <p:cNvSpPr txBox="1"/>
          <p:nvPr/>
        </p:nvSpPr>
        <p:spPr>
          <a:xfrm>
            <a:off x="822960" y="2011680"/>
            <a:ext cx="2194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El informe es el entregable de la caza. La query se pierde; el informe queda.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5"/>
          <p:cNvSpPr/>
          <p:nvPr/>
        </p:nvSpPr>
        <p:spPr>
          <a:xfrm>
            <a:off x="822960" y="2880360"/>
            <a:ext cx="5257800" cy="868680"/>
          </a:xfrm>
          <a:prstGeom prst="rect">
            <a:avLst/>
          </a:prstGeom>
          <a:solidFill>
            <a:srgbClr val="555B6E"/>
          </a:solidFill>
          <a:ln>
            <a:noFill/>
          </a:ln>
        </p:spPr>
        <p:txBody>
          <a:bodyPr anchorCtr="0" anchor="ctr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 lee el que decide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5"/>
          <p:cNvSpPr/>
          <p:nvPr/>
        </p:nvSpPr>
        <p:spPr>
          <a:xfrm>
            <a:off x="822960" y="3749040"/>
            <a:ext cx="5257800" cy="233172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Gerencia o CISO: qué pasó, qué riesgo hay y qué tiene que aprobar. Lee una página.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5"/>
          <p:cNvSpPr/>
          <p:nvPr/>
        </p:nvSpPr>
        <p:spPr>
          <a:xfrm>
            <a:off x="6400800" y="2880360"/>
            <a:ext cx="5257800" cy="868680"/>
          </a:xfrm>
          <a:prstGeom prst="rect">
            <a:avLst/>
          </a:prstGeom>
          <a:solidFill>
            <a:srgbClr val="555B6E"/>
          </a:solidFill>
          <a:ln>
            <a:noFill/>
          </a:ln>
        </p:spPr>
        <p:txBody>
          <a:bodyPr anchorCtr="0" anchor="ctr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 usa el SOC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5"/>
          <p:cNvSpPr/>
          <p:nvPr/>
        </p:nvSpPr>
        <p:spPr>
          <a:xfrm>
            <a:off x="6400800" y="3749040"/>
            <a:ext cx="5257800" cy="233172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Analistas e ingeniería de detección: las queries, los IOCs y las reglas que quedan.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5"/>
          <p:cNvSpPr/>
          <p:nvPr/>
        </p:nvSpPr>
        <p:spPr>
          <a:xfrm>
            <a:off x="11978640" y="2880360"/>
            <a:ext cx="5257800" cy="868680"/>
          </a:xfrm>
          <a:prstGeom prst="rect">
            <a:avLst/>
          </a:prstGeom>
          <a:solidFill>
            <a:srgbClr val="555B6E"/>
          </a:solidFill>
          <a:ln>
            <a:noFill/>
          </a:ln>
        </p:spPr>
        <p:txBody>
          <a:bodyPr anchorCtr="0" anchor="ctr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 hereda el próximo hunter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5"/>
          <p:cNvSpPr/>
          <p:nvPr/>
        </p:nvSpPr>
        <p:spPr>
          <a:xfrm>
            <a:off x="11978640" y="3749040"/>
            <a:ext cx="5257800" cy="233172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Quien repita la caza en seis meses: qué se buscó, cómo, y qué no se pudo ver.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5"/>
          <p:cNvSpPr/>
          <p:nvPr/>
        </p:nvSpPr>
        <p:spPr>
          <a:xfrm>
            <a:off x="17556480" y="2880360"/>
            <a:ext cx="5257800" cy="868680"/>
          </a:xfrm>
          <a:prstGeom prst="rect">
            <a:avLst/>
          </a:prstGeom>
          <a:solidFill>
            <a:srgbClr val="555B6E"/>
          </a:solidFill>
          <a:ln>
            <a:noFill/>
          </a:ln>
        </p:spPr>
        <p:txBody>
          <a:bodyPr anchorCtr="0" anchor="ctr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 audita el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5"/>
          <p:cNvSpPr/>
          <p:nvPr/>
        </p:nvSpPr>
        <p:spPr>
          <a:xfrm>
            <a:off x="17556480" y="3749040"/>
            <a:ext cx="5257800" cy="233172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Cliente o compliance: la prueba de que se buscó, aunque no se haya encontrado nada.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5"/>
          <p:cNvSpPr/>
          <p:nvPr/>
        </p:nvSpPr>
        <p:spPr>
          <a:xfrm>
            <a:off x="822960" y="6400800"/>
            <a:ext cx="22402800" cy="164592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411475" lIns="411475" spcFirstLastPara="1" rIns="411475" wrap="square" tIns="4114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3C98FE"/>
                </a:solidFill>
                <a:latin typeface="Oswald"/>
                <a:ea typeface="Oswald"/>
                <a:cs typeface="Oswald"/>
                <a:sym typeface="Oswald"/>
              </a:rPr>
              <a:t>Un informe de hunting </a:t>
            </a:r>
            <a:r>
              <a:rPr b="0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responde tres preguntas, encuentre algo o 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5"/>
          <p:cNvSpPr/>
          <p:nvPr/>
        </p:nvSpPr>
        <p:spPr>
          <a:xfrm>
            <a:off x="822960" y="8275320"/>
            <a:ext cx="7254240" cy="16002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¿Qué pasó?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Hallazgos con veredicto y evidencia.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5"/>
          <p:cNvSpPr/>
          <p:nvPr/>
        </p:nvSpPr>
        <p:spPr>
          <a:xfrm>
            <a:off x="8397240" y="8275320"/>
            <a:ext cx="7254240" cy="16002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¿Qué no vimos?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Alcance, limitaciones y nivel de confianza.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5"/>
          <p:cNvSpPr/>
          <p:nvPr/>
        </p:nvSpPr>
        <p:spPr>
          <a:xfrm>
            <a:off x="15971520" y="8275320"/>
            <a:ext cx="7254240" cy="1600200"/>
          </a:xfrm>
          <a:prstGeom prst="rect">
            <a:avLst/>
          </a:prstGeom>
          <a:solidFill>
            <a:srgbClr val="E8EEFB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21666"/>
                </a:solidFill>
                <a:latin typeface="Arial"/>
                <a:ea typeface="Arial"/>
                <a:cs typeface="Arial"/>
                <a:sym typeface="Arial"/>
              </a:rPr>
              <a:t>¿Qué cambia mañana?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Detecciones, acciones con dueño y la próxima hipótesis.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D05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6"/>
          <p:cNvSpPr/>
          <p:nvPr/>
        </p:nvSpPr>
        <p:spPr>
          <a:xfrm>
            <a:off x="0" y="320040"/>
            <a:ext cx="24384000" cy="685800"/>
          </a:xfrm>
          <a:prstGeom prst="rect">
            <a:avLst/>
          </a:prstGeom>
          <a:solidFill>
            <a:srgbClr val="081208"/>
          </a:solidFill>
          <a:ln cap="flat" cmpd="sng" w="127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0B8A0"/>
                </a:solidFill>
                <a:latin typeface="Courier New"/>
                <a:ea typeface="Courier New"/>
                <a:cs typeface="Courier New"/>
                <a:sym typeface="Courier New"/>
              </a:rPr>
              <a:t>HACKING DAY  ·  PARANÁ  ·  GRATUITO  ·  OCTUBRE 2026  ·  HACKING DAY  ·  PARANÁ  ·  GRATUITO  ·  OCTUBRE 2026  ·  HACKING DAY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6"/>
          <p:cNvSpPr txBox="1"/>
          <p:nvPr/>
        </p:nvSpPr>
        <p:spPr>
          <a:xfrm>
            <a:off x="1097280" y="2377440"/>
            <a:ext cx="2194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5A7A5A"/>
                </a:solidFill>
                <a:latin typeface="Courier New"/>
                <a:ea typeface="Courier New"/>
                <a:cs typeface="Courier New"/>
                <a:sym typeface="Courier New"/>
              </a:rPr>
              <a:t>$ exit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6"/>
          <p:cNvSpPr txBox="1"/>
          <p:nvPr/>
        </p:nvSpPr>
        <p:spPr>
          <a:xfrm>
            <a:off x="1097280" y="3474720"/>
            <a:ext cx="222199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1" i="0" lang="en-US" sz="15000" u="none" cap="none" strike="noStrike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¡GRACIAS!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6"/>
          <p:cNvSpPr txBox="1"/>
          <p:nvPr/>
        </p:nvSpPr>
        <p:spPr>
          <a:xfrm>
            <a:off x="1097280" y="7223760"/>
            <a:ext cx="2103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E8F5E8"/>
                </a:solidFill>
                <a:latin typeface="Courier New"/>
                <a:ea typeface="Courier New"/>
                <a:cs typeface="Courier New"/>
                <a:sym typeface="Courier New"/>
              </a:rPr>
              <a:t>Preguntas, dudas, debate.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6"/>
          <p:cNvSpPr/>
          <p:nvPr/>
        </p:nvSpPr>
        <p:spPr>
          <a:xfrm>
            <a:off x="1097280" y="8778240"/>
            <a:ext cx="21945600" cy="2194560"/>
          </a:xfrm>
          <a:prstGeom prst="roundRect">
            <a:avLst>
              <a:gd fmla="val 16667" name="adj"/>
            </a:avLst>
          </a:prstGeom>
          <a:solidFill>
            <a:srgbClr val="111E11"/>
          </a:solidFill>
          <a:ln cap="flat" cmpd="sng" w="254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David Pérez  ·  @anakinswal  ·  perez.edav@gmail.com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A0B8A0"/>
                </a:solidFill>
                <a:latin typeface="Courier New"/>
                <a:ea typeface="Courier New"/>
                <a:cs typeface="Courier New"/>
                <a:sym typeface="Courier New"/>
              </a:rPr>
              <a:t>Deck, queries y reporte de ejemplo: github.com/Ank1nskywalker/talks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6"/>
          <p:cNvSpPr/>
          <p:nvPr/>
        </p:nvSpPr>
        <p:spPr>
          <a:xfrm>
            <a:off x="0" y="12664440"/>
            <a:ext cx="24384000" cy="685800"/>
          </a:xfrm>
          <a:prstGeom prst="rect">
            <a:avLst/>
          </a:prstGeom>
          <a:solidFill>
            <a:srgbClr val="081208"/>
          </a:solidFill>
          <a:ln cap="flat" cmpd="sng" w="127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0B8A0"/>
                </a:solidFill>
                <a:latin typeface="Courier New"/>
                <a:ea typeface="Courier New"/>
                <a:cs typeface="Courier New"/>
                <a:sym typeface="Courier New"/>
              </a:rPr>
              <a:t>THREAT HUNTING  ·  CTI  ·  CLICKFIX  ·  DEMO  ·  THREAT HUNTING  ·  CTI  ·  CLICKFIX  ·  DEMO  ·  THREAT HUNTING  ·  CTI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7"/>
          <p:cNvSpPr/>
          <p:nvPr/>
        </p:nvSpPr>
        <p:spPr>
          <a:xfrm>
            <a:off x="2721" y="11658600"/>
            <a:ext cx="24384000" cy="148590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76" name="Google Shape;476;p27"/>
          <p:cNvCxnSpPr/>
          <p:nvPr/>
        </p:nvCxnSpPr>
        <p:spPr>
          <a:xfrm>
            <a:off x="0" y="13490725"/>
            <a:ext cx="23865900" cy="0"/>
          </a:xfrm>
          <a:prstGeom prst="straightConnector1">
            <a:avLst/>
          </a:prstGeom>
          <a:noFill/>
          <a:ln cap="flat" cmpd="sng" w="38100">
            <a:solidFill>
              <a:srgbClr val="22166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477" name="Google Shape;477;p27"/>
          <p:cNvCxnSpPr/>
          <p:nvPr/>
        </p:nvCxnSpPr>
        <p:spPr>
          <a:xfrm flipH="1" rot="10800000">
            <a:off x="5" y="1498290"/>
            <a:ext cx="24383995" cy="17584"/>
          </a:xfrm>
          <a:prstGeom prst="straightConnector1">
            <a:avLst/>
          </a:prstGeom>
          <a:noFill/>
          <a:ln cap="flat" cmpd="sng" w="114300">
            <a:solidFill>
              <a:srgbClr val="221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8" name="Google Shape;478;p27"/>
          <p:cNvSpPr/>
          <p:nvPr/>
        </p:nvSpPr>
        <p:spPr>
          <a:xfrm flipH="1" rot="10800000">
            <a:off x="22505" y="1629340"/>
            <a:ext cx="7310400" cy="305100"/>
          </a:xfrm>
          <a:prstGeom prst="parallelogram">
            <a:avLst>
              <a:gd fmla="val 6725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9" name="Google Shape;479;p27"/>
          <p:cNvSpPr txBox="1"/>
          <p:nvPr/>
        </p:nvSpPr>
        <p:spPr>
          <a:xfrm>
            <a:off x="868680" y="384048"/>
            <a:ext cx="20574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Anexo · Las queries de la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7"/>
          <p:cNvSpPr txBox="1"/>
          <p:nvPr/>
        </p:nvSpPr>
        <p:spPr>
          <a:xfrm>
            <a:off x="548640" y="12024360"/>
            <a:ext cx="1645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Cazando lo que no sabés que no sabés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David Pérez  ·  Hacking Day Paraná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7"/>
          <p:cNvSpPr txBox="1"/>
          <p:nvPr/>
        </p:nvSpPr>
        <p:spPr>
          <a:xfrm>
            <a:off x="22128480" y="120243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7"/>
          <p:cNvSpPr txBox="1"/>
          <p:nvPr/>
        </p:nvSpPr>
        <p:spPr>
          <a:xfrm>
            <a:off x="822960" y="11109960"/>
            <a:ext cx="2011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SentinelOne, Singularity Data Lake (S1QL). Validá campos y operadores con el autocompletado de la consola: pueden variar entre versiones.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7"/>
          <p:cNvSpPr/>
          <p:nvPr/>
        </p:nvSpPr>
        <p:spPr>
          <a:xfrm>
            <a:off x="822960" y="2103120"/>
            <a:ext cx="22738080" cy="7863840"/>
          </a:xfrm>
          <a:prstGeom prst="rect">
            <a:avLst/>
          </a:prstGeom>
          <a:solidFill>
            <a:srgbClr val="14103D"/>
          </a:solidFill>
          <a:ln>
            <a:noFill/>
          </a:ln>
        </p:spPr>
        <p:txBody>
          <a:bodyPr anchorCtr="0" anchor="t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# 1 · ClickFix en Win+R (RunMRU)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event.type in ('Registry Value Create','Registry Value Modified') and src.process.name = 'explorer.exe' and registry.keyPath contains:anycase 'RunMRU' and registry.value contains:anycase ('powershell','mshta','curl','iwr','irm','http')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# 2 · Consola oculta (AMSI · Command Script)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event.type = 'Command Script' and cmdScript.content contains:anycase 'GetConsoleWindow' and cmdScript.content contains:anycase ('ShowWindow','FreeConsole')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# 3 · PowerShell oculto hijo de msiexec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event.type = 'Process Creation' and src.process.name = 'msiexec.exe' and tgt.process.name = 'powershell.exe' and tgt.process.cmdline contains:anycase 'hidden'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# 4 · .NET con conexión saliente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event.type = 'IP Connect' and event.network.direction = 'OUTGOING' and src.process.name in:anycase ('csc.exe','ilasm.exe','MSBuild.exe','RegAsm.exe','InstallUtil.exe','AddInProcess.exe')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# 5 · Chequeo de IP pública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event.type = 'DNS Resolved' and src.process.name in:anycase ('powershell.exe','msiexec.exe','csc.exe','ilasm.exe') and event.dns.request in:anycase ('ipinfo.io','ip-api.com','api.ipify.org','ifconfig.me')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# 6 · Perfil del navegador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event.type = 'File Modification' and tgt.file.path contains:anycase 'User Data' and tgt.file.path contains 'Preferences' and not src.process.name in:anycase ('chrome.exe','msedge.exe','setup.exe','GoogleUpdater.exe')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# 7 · Próxima hunt: extensión fuera del navegador (borrador)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8EEFB"/>
                </a:solidFill>
                <a:latin typeface="Courier New"/>
                <a:ea typeface="Courier New"/>
                <a:cs typeface="Courier New"/>
                <a:sym typeface="Courier New"/>
              </a:rPr>
              <a:t>event.type = 'File Creation' and tgt.file.path contains:anycase 'manifest.json' and tgt.file.path contains:anycase 'AppData' and not src.process.name in:anycase ('chrome.exe','msedge.exe','setup.exe','GoogleUpdater.exe')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8"/>
          <p:cNvSpPr/>
          <p:nvPr/>
        </p:nvSpPr>
        <p:spPr>
          <a:xfrm>
            <a:off x="2721" y="11658600"/>
            <a:ext cx="24384000" cy="1485900"/>
          </a:xfrm>
          <a:prstGeom prst="rect">
            <a:avLst/>
          </a:prstGeom>
          <a:solidFill>
            <a:srgbClr val="221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89" name="Google Shape;489;p28"/>
          <p:cNvCxnSpPr/>
          <p:nvPr/>
        </p:nvCxnSpPr>
        <p:spPr>
          <a:xfrm>
            <a:off x="0" y="13490725"/>
            <a:ext cx="23865900" cy="0"/>
          </a:xfrm>
          <a:prstGeom prst="straightConnector1">
            <a:avLst/>
          </a:prstGeom>
          <a:noFill/>
          <a:ln cap="flat" cmpd="sng" w="38100">
            <a:solidFill>
              <a:srgbClr val="221666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490" name="Google Shape;490;p28"/>
          <p:cNvCxnSpPr/>
          <p:nvPr/>
        </p:nvCxnSpPr>
        <p:spPr>
          <a:xfrm flipH="1" rot="10800000">
            <a:off x="5" y="1498290"/>
            <a:ext cx="24383995" cy="17584"/>
          </a:xfrm>
          <a:prstGeom prst="straightConnector1">
            <a:avLst/>
          </a:prstGeom>
          <a:noFill/>
          <a:ln cap="flat" cmpd="sng" w="114300">
            <a:solidFill>
              <a:srgbClr val="221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1" name="Google Shape;491;p28"/>
          <p:cNvSpPr/>
          <p:nvPr/>
        </p:nvSpPr>
        <p:spPr>
          <a:xfrm flipH="1" rot="10800000">
            <a:off x="22505" y="1629340"/>
            <a:ext cx="7310400" cy="305100"/>
          </a:xfrm>
          <a:prstGeom prst="parallelogram">
            <a:avLst>
              <a:gd fmla="val 6725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2" name="Google Shape;492;p28"/>
          <p:cNvSpPr txBox="1"/>
          <p:nvPr/>
        </p:nvSpPr>
        <p:spPr>
          <a:xfrm>
            <a:off x="868680" y="384048"/>
            <a:ext cx="20574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rgbClr val="221666"/>
                </a:solidFill>
                <a:latin typeface="Oswald"/>
                <a:ea typeface="Oswald"/>
                <a:cs typeface="Oswald"/>
                <a:sym typeface="Oswald"/>
              </a:rPr>
              <a:t>Anexo · Fuentes y referencias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8"/>
          <p:cNvSpPr txBox="1"/>
          <p:nvPr/>
        </p:nvSpPr>
        <p:spPr>
          <a:xfrm>
            <a:off x="548640" y="12024360"/>
            <a:ext cx="1645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Cazando lo que no sabés que no sabés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·  David Pérez  ·  Hacking Day Paraná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8"/>
          <p:cNvSpPr txBox="1"/>
          <p:nvPr/>
        </p:nvSpPr>
        <p:spPr>
          <a:xfrm>
            <a:off x="22128480" y="1202436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8"/>
          <p:cNvSpPr txBox="1"/>
          <p:nvPr/>
        </p:nvSpPr>
        <p:spPr>
          <a:xfrm>
            <a:off x="822960" y="11109960"/>
            <a:ext cx="2011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55B6E"/>
                </a:solidFill>
                <a:latin typeface="Arial"/>
                <a:ea typeface="Arial"/>
                <a:cs typeface="Arial"/>
                <a:sym typeface="Arial"/>
              </a:rPr>
              <a:t>Links consultados el 2 de octubre de 2026. Deck, informe de ejemplo y queries: github.com/Ank1nskywalker/talks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8"/>
          <p:cNvSpPr/>
          <p:nvPr/>
        </p:nvSpPr>
        <p:spPr>
          <a:xfrm>
            <a:off x="822960" y="2103120"/>
            <a:ext cx="22738080" cy="7863840"/>
          </a:xfrm>
          <a:prstGeom prst="rect">
            <a:avLst/>
          </a:prstGeom>
          <a:solidFill>
            <a:srgbClr val="14103D"/>
          </a:solidFill>
          <a:ln>
            <a:noFill/>
          </a:ln>
        </p:spPr>
        <p:txBody>
          <a:bodyPr anchorCtr="0" anchor="t" bIns="320025" lIns="320025" spcFirstLastPara="1" rIns="320025" wrap="square" tIns="320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# 1 · Slide 3 · Rumsfeld, “known knowns” (conferencia de prensa, 12/02/2002)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https://en.wikipedia.org/wiki/There_are_unknown_unknowns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# 2 · Slide 6 · Sqrrl, “A Framework for Cyber Threat Hunting” (archivo)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https://www.threathunting.net/sqrrl-archive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# 3 · Slides 6, 7 y 9 · Bianco et al., PEAK Threat Hunting Framework (Splunk SURGe)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https://www.splunk.com/en_us/blog/security/peak-threat-hunting-framework.html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# 4 · Slide 8 · D. J. Bianco, “The Pyramid of Pain” (2013)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6"/>
              </a:rPr>
              <a:t>http://detect-respond.blogspot.com/2013/03/the-pyramid-of-pain.html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# 5 · Slide 10 · 47 % de los accesos iniciales · Microsoft, Digital Defense Report 2025, p. 37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7"/>
              </a:rPr>
              <a:t>https://cdn-dynmedia-1.microsoft.com/is/content/microsoftcorp/microsoft/msc/documents/presentations/CSR/Microsoft-Digital-Defense-Report-2025.pdf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# 6 · Slide 10 · +517 % y segundo vector · ESET Threat Report H1 2025 (vía Infosecurity Magazine)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8"/>
              </a:rPr>
              <a:t>https://www.infosecurity-magazine.com/news/clickfix-attacks-surge-2025/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# 7 · Slide 10 · 4 de 5 desde un buscador · Push Security, “The state of ClickFix” (sep. 2026)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9"/>
              </a:rPr>
              <a:t>https://pushsecurity.com/blog/the-state-of-clickfix-by-detection-data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# 8 · Slide 10 · 17.000+ URLs, 3.000 activas · CTM360 (vía SecNews, sep. 2026)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10"/>
              </a:rPr>
              <a:t>https://www.secnews.gr/en/735682/clickfix-istoselides-pagides-malware/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# 9 · ATT&amp;CK · T1204.004, User Execution: Malicious Copy and Paste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11"/>
              </a:rPr>
              <a:t>https://attack.mitre.org/techniques/T1204/004/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FB8FF"/>
                </a:solidFill>
                <a:latin typeface="Courier New"/>
                <a:ea typeface="Courier New"/>
                <a:cs typeface="Courier New"/>
                <a:sym typeface="Courier New"/>
              </a:rPr>
              <a:t># 10 · ATT&amp;CK · T1176.001, Browser Extensions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12"/>
              </a:rPr>
              <a:t>https://attack.mitre.org/techniques/T1176/001/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Conference_base_color">
      <a:dk1>
        <a:srgbClr val="3A4862"/>
      </a:dk1>
      <a:lt1>
        <a:srgbClr val="FEFFFE"/>
      </a:lt1>
      <a:dk2>
        <a:srgbClr val="899AA0"/>
      </a:dk2>
      <a:lt2>
        <a:srgbClr val="F7F6FD"/>
      </a:lt2>
      <a:accent1>
        <a:srgbClr val="6B84EB"/>
      </a:accent1>
      <a:accent2>
        <a:srgbClr val="6C84EC"/>
      </a:accent2>
      <a:accent3>
        <a:srgbClr val="3C98FE"/>
      </a:accent3>
      <a:accent4>
        <a:srgbClr val="3C97FE"/>
      </a:accent4>
      <a:accent5>
        <a:srgbClr val="6C84EC"/>
      </a:accent5>
      <a:accent6>
        <a:srgbClr val="6B84EC"/>
      </a:accent6>
      <a:hlink>
        <a:srgbClr val="6B84EC"/>
      </a:hlink>
      <a:folHlink>
        <a:srgbClr val="6C84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